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x="12192000" cy="6858000"/>
  <p:notesSz cx="6858000" cy="9144000"/>
  <p:defaultTextStyle>
    <a:defPPr>
      <a:defRPr lang="en-GB"/>
    </a:def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96" y="7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0F172A"/>
        </a:solidFill>
        <a:effectLst/>
      </p:bgPr>
    </p:bg>
    <p:spTree>
      <p:nvGrpSpPr>
        <p:cNvPr id="1" name=""/>
        <p:cNvGrpSpPr/>
        <p:nvPr/>
      </p:nvGrpSpPr>
      <p:grpSpPr>
        <a:xfrm>
          <a:off x="0" y="0"/>
          <a:ext cx="0" cy="0"/>
          <a:chOff x="0" y="0"/>
          <a:chExt cx="0" cy="0"/>
        </a:xfrm>
      </p:grpSpPr>
      <p:sp>
        <p:nvSpPr>
          <p:cNvPr id="11" name="TopLine"/>
          <p:cNvSpPr/>
          <p:nvPr/>
        </p:nvSpPr>
        <p:spPr>
          <a:xfrm>
            <a:off x="0" y="0"/>
            <a:ext cx="12192000" cy="34560"/>
          </a:xfrm>
          <a:prstGeom prst="rect">
            <a:avLst/>
          </a:prstGeom>
          <a:gradFill rotWithShape="0">
            <a:gsLst>
              <a:gs pos="0">
                <a:srgbClr val="F7941E"/>
              </a:gs>
              <a:gs pos="40000">
                <a:srgbClr val="3B82F6"/>
              </a:gs>
              <a:gs pos="70000">
                <a:srgbClr val="8B5CF6"/>
              </a:gs>
              <a:gs pos="100000">
                <a:srgbClr val="EC4899"/>
              </a:gs>
            </a:gsLst>
            <a:lin ang="0"/>
          </a:gradFill>
          <a:ln w="0">
            <a:noFill/>
          </a:ln>
        </p:spPr>
        <p:txBody>
          <a:bodyPr/>
          <a:lstStyle/>
          <a:p>
            <a:endParaRPr lang="en-GB"/>
          </a:p>
        </p:txBody>
      </p:sp>
      <p:sp>
        <p:nvSpPr>
          <p:cNvPr id="12" name="GlowCircle"/>
          <p:cNvSpPr/>
          <p:nvPr/>
        </p:nvSpPr>
        <p:spPr>
          <a:xfrm>
            <a:off x="8229600" y="-914400"/>
            <a:ext cx="4569840" cy="4569840"/>
          </a:xfrm>
          <a:prstGeom prst="ellipse">
            <a:avLst/>
          </a:prstGeom>
          <a:gradFill rotWithShape="0">
            <a:gsLst>
              <a:gs pos="0">
                <a:srgbClr val="F7941E">
                  <a:alpha val="15000"/>
                </a:srgbClr>
              </a:gs>
              <a:gs pos="100000">
                <a:srgbClr val="F7941E">
                  <a:alpha val="0"/>
                </a:srgbClr>
              </a:gs>
            </a:gsLst>
            <a:path path="circle">
              <a:fillToRect l="50000" t="50000" r="50000" b="50000"/>
            </a:path>
          </a:gradFill>
          <a:ln w="0">
            <a:noFill/>
          </a:ln>
        </p:spPr>
        <p:txBody>
          <a:bodyPr/>
          <a:lstStyle/>
          <a:p>
            <a:endParaRPr lang="en-GB"/>
          </a:p>
        </p:txBody>
      </p:sp>
      <p:sp>
        <p:nvSpPr>
          <p:cNvPr id="13" name="LeftAccent"/>
          <p:cNvSpPr/>
          <p:nvPr/>
        </p:nvSpPr>
        <p:spPr>
          <a:xfrm>
            <a:off x="731520" y="1828800"/>
            <a:ext cx="43560" cy="2741040"/>
          </a:xfrm>
          <a:prstGeom prst="rect">
            <a:avLst/>
          </a:prstGeom>
          <a:solidFill>
            <a:srgbClr val="F7941E"/>
          </a:solidFill>
          <a:ln w="0">
            <a:noFill/>
          </a:ln>
        </p:spPr>
        <p:txBody>
          <a:bodyPr/>
          <a:lstStyle/>
          <a:p>
            <a:endParaRPr lang="en-GB"/>
          </a:p>
        </p:txBody>
      </p:sp>
      <p:sp>
        <p:nvSpPr>
          <p:cNvPr id="14" name="Title"/>
          <p:cNvSpPr>
            <a:spLocks noGrp="1"/>
          </p:cNvSpPr>
          <p:nvPr>
            <p:ph type="ctrTitle"/>
          </p:nvPr>
        </p:nvSpPr>
        <p:spPr>
          <a:xfrm>
            <a:off x="914400" y="1828800"/>
            <a:ext cx="9599040" cy="1369440"/>
          </a:xfrm>
          <a:prstGeom prst="rect">
            <a:avLst/>
          </a:prstGeom>
        </p:spPr>
        <p:txBody>
          <a:bodyPr lIns="0" tIns="0" rIns="0" bIns="0" anchor="ctr">
            <a:normAutofit/>
          </a:bodyPr>
          <a:lstStyle>
            <a:lvl1pPr marL="0" indent="0" algn="l">
              <a:lnSpc>
                <a:spcPct val="104000"/>
              </a:lnSpc>
              <a:defRPr sz="5400" b="1" i="0">
                <a:solidFill>
                  <a:srgbClr val="FFFFFF"/>
                </a:solidFill>
                <a:latin typeface="+mj-lt"/>
              </a:defRPr>
            </a:lvl1pPr>
          </a:lstStyle>
          <a:p>
            <a:endParaRPr lang="en-GB"/>
          </a:p>
        </p:txBody>
      </p:sp>
      <p:sp>
        <p:nvSpPr>
          <p:cNvPr id="15" name="Subtitle"/>
          <p:cNvSpPr>
            <a:spLocks noGrp="1"/>
          </p:cNvSpPr>
          <p:nvPr>
            <p:ph type="subTitle" idx="1"/>
          </p:nvPr>
        </p:nvSpPr>
        <p:spPr>
          <a:xfrm>
            <a:off x="914400" y="3300000"/>
            <a:ext cx="9599040" cy="760000"/>
          </a:xfrm>
          <a:prstGeom prst="rect">
            <a:avLst/>
          </a:prstGeom>
        </p:spPr>
        <p:txBody>
          <a:bodyPr lIns="0" tIns="0" rIns="0" bIns="0" anchor="ctr">
            <a:normAutofit/>
          </a:bodyPr>
          <a:lstStyle>
            <a:lvl1pPr marL="0" indent="0" algn="l">
              <a:defRPr sz="2000" b="0" i="0">
                <a:solidFill>
                  <a:srgbClr val="94A3B8"/>
                </a:solidFill>
                <a:latin typeface="+mn-lt"/>
              </a:defRPr>
            </a:lvl1pPr>
          </a:lstStyle>
          <a:p>
            <a:endParaRPr lang="en-GB"/>
          </a:p>
        </p:txBody>
      </p:sp>
      <p:sp>
        <p:nvSpPr>
          <p:cNvPr id="16" name="Date / Prepared by"/>
          <p:cNvSpPr>
            <a:spLocks noGrp="1"/>
          </p:cNvSpPr>
          <p:nvPr>
            <p:ph type="body" idx="11"/>
          </p:nvPr>
        </p:nvSpPr>
        <p:spPr>
          <a:xfrm>
            <a:off x="914400" y="4150000"/>
            <a:ext cx="9599040" cy="380000"/>
          </a:xfrm>
          <a:prstGeom prst="rect">
            <a:avLst/>
          </a:prstGeom>
        </p:spPr>
        <p:txBody>
          <a:bodyPr lIns="0" tIns="0" rIns="0" bIns="0" anchor="ctr">
            <a:normAutofit/>
          </a:bodyPr>
          <a:lstStyle>
            <a:lvl1pPr marL="0" indent="0" algn="l">
              <a:defRPr sz="1400" b="1" i="0">
                <a:solidFill>
                  <a:srgbClr val="F7941E"/>
                </a:solidFill>
                <a:latin typeface="+mn-lt"/>
              </a:defRPr>
            </a:lvl1pPr>
          </a:lstStyle>
          <a:p>
            <a:endParaRPr lang="en-GB"/>
          </a:p>
        </p:txBody>
      </p:sp>
      <p:sp>
        <p:nvSpPr>
          <p:cNvPr id="17"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FFFFFF"/>
                </a:solidFill>
              </a:rPr>
              <a:t>Spark</a:t>
            </a:r>
          </a:p>
        </p:txBody>
      </p:sp>
      <p:sp>
        <p:nvSpPr>
          <p:cNvPr id="18"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Marker">
    <p:bg>
      <p:bgPr>
        <a:solidFill>
          <a:srgbClr val="F7941E"/>
        </a:solidFill>
        <a:effectLst/>
      </p:bgPr>
    </p:bg>
    <p:spTree>
      <p:nvGrpSpPr>
        <p:cNvPr id="1" name=""/>
        <p:cNvGrpSpPr/>
        <p:nvPr/>
      </p:nvGrpSpPr>
      <p:grpSpPr>
        <a:xfrm>
          <a:off x="0" y="0"/>
          <a:ext cx="0" cy="0"/>
          <a:chOff x="0" y="0"/>
          <a:chExt cx="0" cy="0"/>
        </a:xfrm>
      </p:grpSpPr>
      <p:sp>
        <p:nvSpPr>
          <p:cNvPr id="11" name="BigCircle"/>
          <p:cNvSpPr/>
          <p:nvPr/>
        </p:nvSpPr>
        <p:spPr>
          <a:xfrm>
            <a:off x="8686800" y="-1371600"/>
            <a:ext cx="5029200" cy="5029200"/>
          </a:xfrm>
          <a:prstGeom prst="ellipse">
            <a:avLst/>
          </a:prstGeom>
          <a:solidFill>
            <a:srgbClr val="FFFFFF">
              <a:alpha val="15000"/>
            </a:srgbClr>
          </a:solidFill>
          <a:ln w="12700">
            <a:solidFill>
              <a:srgbClr val="FFFFFF"/>
            </a:solidFill>
          </a:ln>
        </p:spPr>
        <p:txBody>
          <a:bodyPr/>
          <a:lstStyle/>
          <a:p>
            <a:endParaRPr lang="en-GB"/>
          </a:p>
        </p:txBody>
      </p:sp>
      <p:sp>
        <p:nvSpPr>
          <p:cNvPr id="12" name="SmallCircle"/>
          <p:cNvSpPr/>
          <p:nvPr/>
        </p:nvSpPr>
        <p:spPr>
          <a:xfrm>
            <a:off x="10058400" y="914400"/>
            <a:ext cx="3200400" cy="3200400"/>
          </a:xfrm>
          <a:prstGeom prst="ellipse">
            <a:avLst/>
          </a:prstGeom>
          <a:solidFill>
            <a:srgbClr val="FFFFFF">
              <a:alpha val="10000"/>
            </a:srgbClr>
          </a:solidFill>
          <a:ln w="12700">
            <a:solidFill>
              <a:srgbClr val="FFFFFF"/>
            </a:solidFill>
          </a:ln>
        </p:spPr>
        <p:txBody>
          <a:bodyPr/>
          <a:lstStyle/>
          <a:p>
            <a:endParaRPr lang="en-GB"/>
          </a:p>
        </p:txBody>
      </p:sp>
      <p:sp>
        <p:nvSpPr>
          <p:cNvPr id="13" name="LeftAccent"/>
          <p:cNvSpPr/>
          <p:nvPr/>
        </p:nvSpPr>
        <p:spPr>
          <a:xfrm>
            <a:off x="777240" y="1828800"/>
            <a:ext cx="45720" cy="2286000"/>
          </a:xfrm>
          <a:prstGeom prst="rect">
            <a:avLst/>
          </a:prstGeom>
          <a:solidFill>
            <a:srgbClr val="FFFFFF"/>
          </a:solidFill>
          <a:ln w="0">
            <a:noFill/>
          </a:ln>
        </p:spPr>
        <p:txBody>
          <a:bodyPr/>
          <a:lstStyle/>
          <a:p>
            <a:endParaRPr lang="en-GB"/>
          </a:p>
        </p:txBody>
      </p:sp>
      <p:sp>
        <p:nvSpPr>
          <p:cNvPr id="14" name="Section Label"/>
          <p:cNvSpPr>
            <a:spLocks noGrp="1"/>
          </p:cNvSpPr>
          <p:nvPr>
            <p:ph type="body" idx="11"/>
          </p:nvPr>
        </p:nvSpPr>
        <p:spPr>
          <a:xfrm>
            <a:off x="960120" y="1874520"/>
            <a:ext cx="5486400" cy="320040"/>
          </a:xfrm>
          <a:prstGeom prst="rect">
            <a:avLst/>
          </a:prstGeom>
        </p:spPr>
        <p:txBody>
          <a:bodyPr lIns="0" tIns="0" rIns="0" bIns="0" anchor="t">
            <a:normAutofit/>
          </a:bodyPr>
          <a:lstStyle>
            <a:lvl1pPr marL="0" indent="0" algn="l">
              <a:defRPr sz="1400" b="0" i="0" spc="400">
                <a:solidFill>
                  <a:srgbClr val="FFFFFF"/>
                </a:solidFill>
                <a:latin typeface="+mn-lt"/>
              </a:defRPr>
            </a:lvl1pPr>
          </a:lstStyle>
          <a:p>
            <a:endParaRPr lang="en-GB"/>
          </a:p>
        </p:txBody>
      </p:sp>
      <p:sp>
        <p:nvSpPr>
          <p:cNvPr id="15" name="Section Title"/>
          <p:cNvSpPr>
            <a:spLocks noGrp="1"/>
          </p:cNvSpPr>
          <p:nvPr>
            <p:ph type="title"/>
          </p:nvPr>
        </p:nvSpPr>
        <p:spPr>
          <a:xfrm>
            <a:off x="960120" y="2194560"/>
            <a:ext cx="10058400" cy="1371600"/>
          </a:xfrm>
          <a:prstGeom prst="rect">
            <a:avLst/>
          </a:prstGeom>
        </p:spPr>
        <p:txBody>
          <a:bodyPr lIns="0" tIns="0" rIns="0" bIns="0" anchor="t">
            <a:normAutofit/>
          </a:bodyPr>
          <a:lstStyle>
            <a:lvl1pPr marL="0" indent="0" algn="l">
              <a:lnSpc>
                <a:spcPct val="104000"/>
              </a:lnSpc>
              <a:defRPr sz="4800" b="1" i="0">
                <a:solidFill>
                  <a:srgbClr val="FFFFFF"/>
                </a:solidFill>
                <a:latin typeface="+mj-lt"/>
              </a:defRPr>
            </a:lvl1pPr>
          </a:lstStyle>
          <a:p>
            <a:endParaRPr lang="en-GB"/>
          </a:p>
        </p:txBody>
      </p:sp>
      <p:sp>
        <p:nvSpPr>
          <p:cNvPr id="16" name="Section Subtitle"/>
          <p:cNvSpPr>
            <a:spLocks noGrp="1"/>
          </p:cNvSpPr>
          <p:nvPr>
            <p:ph type="body" idx="1"/>
          </p:nvPr>
        </p:nvSpPr>
        <p:spPr>
          <a:xfrm>
            <a:off x="960120" y="3657600"/>
            <a:ext cx="9601200" cy="548640"/>
          </a:xfrm>
          <a:prstGeom prst="rect">
            <a:avLst/>
          </a:prstGeom>
        </p:spPr>
        <p:txBody>
          <a:bodyPr lIns="0" tIns="0" rIns="0" bIns="0" anchor="t">
            <a:normAutofit/>
          </a:bodyPr>
          <a:lstStyle>
            <a:lvl1pPr marL="0" indent="0" algn="l">
              <a:defRPr sz="1600" b="0" i="0">
                <a:solidFill>
                  <a:srgbClr val="FFE4C4"/>
                </a:solidFill>
                <a:latin typeface="+mn-lt"/>
              </a:defRPr>
            </a:lvl1pPr>
          </a:lstStyle>
          <a:p>
            <a:endParaRPr lang="en-GB"/>
          </a:p>
        </p:txBody>
      </p:sp>
      <p:sp>
        <p:nvSpPr>
          <p:cNvPr id="17"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FFFFF"/>
                </a:solidFill>
              </a:rPr>
              <a:t>FeedSpark</a:t>
            </a:r>
          </a:p>
        </p:txBody>
      </p:sp>
      <p:sp>
        <p:nvSpPr>
          <p:cNvPr id="18"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ontent"/>
          <p:cNvSpPr>
            <a:spLocks noGrp="1"/>
          </p:cNvSpPr>
          <p:nvPr>
            <p:ph type="body" idx="1"/>
          </p:nvPr>
        </p:nvSpPr>
        <p:spPr>
          <a:xfrm>
            <a:off x="609480" y="1780000"/>
            <a:ext cx="10973040" cy="3880000"/>
          </a:xfrm>
          <a:prstGeom prst="rect">
            <a:avLst/>
          </a:prstGeom>
        </p:spPr>
        <p:txBody>
          <a:bodyPr lIns="0" tIns="0" rIns="0" bIns="0" anchor="t">
            <a:normAutofit/>
          </a:bodyPr>
          <a:lstStyle>
            <a:lvl1pPr marL="0" indent="0" algn="l">
              <a:lnSpc>
                <a:spcPct val="120000"/>
              </a:lnSpc>
              <a:defRPr sz="1700" b="0" i="0">
                <a:solidFill>
                  <a:srgbClr val="475569"/>
                </a:solidFill>
                <a:latin typeface="+mn-lt"/>
              </a:defRPr>
            </a:lvl1pPr>
          </a:lstStyle>
          <a:p>
            <a:endParaRPr lang="en-GB"/>
          </a:p>
        </p:txBody>
      </p:sp>
      <p:sp>
        <p:nvSpPr>
          <p:cNvPr id="15"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6"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7"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8"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9"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9}" type="slidenum">
              <a:rPr lang="en-GB" sz="1100">
                <a:solidFill>
                  <a:srgbClr val="64748B"/>
                </a:solidFill>
              </a:rPr>
              <a:t>‹#›</a:t>
            </a:fld>
            <a:endParaRPr lang="en-GB" sz="1100">
              <a:solidFill>
                <a:srgbClr val="64748B"/>
              </a:solidFill>
            </a:endParaRPr>
          </a:p>
        </p:txBody>
      </p:sp>
      <p:sp>
        <p:nvSpPr>
          <p:cNvPr id="20"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Left Content"/>
          <p:cNvSpPr>
            <a:spLocks noGrp="1"/>
          </p:cNvSpPr>
          <p:nvPr>
            <p:ph type="body" idx="1"/>
          </p:nvPr>
        </p:nvSpPr>
        <p:spPr>
          <a:xfrm>
            <a:off x="609480" y="1780000"/>
            <a:ext cx="5330520" cy="3880000"/>
          </a:xfrm>
          <a:prstGeom prst="rect">
            <a:avLst/>
          </a:prstGeom>
        </p:spPr>
        <p:txBody>
          <a:bodyPr lIns="0" tIns="0" rIns="0" bIns="0" anchor="t">
            <a:normAutofit/>
          </a:bodyPr>
          <a:lstStyle>
            <a:lvl1pPr marL="0" indent="0" algn="l">
              <a:lnSpc>
                <a:spcPct val="120000"/>
              </a:lnSpc>
              <a:defRPr sz="1600" b="0" i="0">
                <a:solidFill>
                  <a:srgbClr val="475569"/>
                </a:solidFill>
                <a:latin typeface="+mn-lt"/>
              </a:defRPr>
            </a:lvl1pPr>
          </a:lstStyle>
          <a:p>
            <a:endParaRPr lang="en-GB"/>
          </a:p>
        </p:txBody>
      </p:sp>
      <p:sp>
        <p:nvSpPr>
          <p:cNvPr id="15" name="Right Content"/>
          <p:cNvSpPr>
            <a:spLocks noGrp="1"/>
          </p:cNvSpPr>
          <p:nvPr>
            <p:ph type="body" idx="2"/>
          </p:nvPr>
        </p:nvSpPr>
        <p:spPr>
          <a:xfrm>
            <a:off x="6252000" y="1780000"/>
            <a:ext cx="5330520" cy="3880000"/>
          </a:xfrm>
          <a:prstGeom prst="rect">
            <a:avLst/>
          </a:prstGeom>
        </p:spPr>
        <p:txBody>
          <a:bodyPr lIns="0" tIns="0" rIns="0" bIns="0" anchor="t">
            <a:normAutofit/>
          </a:bodyPr>
          <a:lstStyle>
            <a:lvl1pPr marL="0" indent="0" algn="l">
              <a:lnSpc>
                <a:spcPct val="120000"/>
              </a:lnSpc>
              <a:defRPr sz="1600" b="0" i="0">
                <a:solidFill>
                  <a:srgbClr val="475569"/>
                </a:solidFill>
                <a:latin typeface="+mn-lt"/>
              </a:defRPr>
            </a:lvl1pPr>
          </a:lstStyle>
          <a:p>
            <a:endParaRPr lang="en-GB"/>
          </a:p>
        </p:txBody>
      </p:sp>
      <p:sp>
        <p:nvSpPr>
          <p:cNvPr id="16"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7"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8"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9"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20"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20}" type="slidenum">
              <a:rPr lang="en-GB" sz="1100">
                <a:solidFill>
                  <a:srgbClr val="64748B"/>
                </a:solidFill>
              </a:rPr>
              <a:t>‹#›</a:t>
            </a:fld>
            <a:endParaRPr lang="en-GB" sz="1100">
              <a:solidFill>
                <a:srgbClr val="64748B"/>
              </a:solidFill>
            </a:endParaRPr>
          </a:p>
        </p:txBody>
      </p:sp>
      <p:sp>
        <p:nvSpPr>
          <p:cNvPr id="21"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picTx" preserve="1">
  <p:cSld name="Image Left, Content Right">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Underline"/>
          <p:cNvSpPr/>
          <p:nvPr/>
        </p:nvSpPr>
        <p:spPr>
          <a:xfrm>
            <a:off x="609480" y="1190000"/>
            <a:ext cx="1691640" cy="36576"/>
          </a:xfrm>
          <a:prstGeom prst="rect">
            <a:avLst/>
          </a:prstGeom>
          <a:solidFill>
            <a:srgbClr val="F7941E"/>
          </a:solidFill>
          <a:ln w="0">
            <a:noFill/>
          </a:ln>
        </p:spPr>
        <p:txBody>
          <a:bodyPr/>
          <a:lstStyle/>
          <a:p>
            <a:endParaRPr lang="en-GB"/>
          </a:p>
        </p:txBody>
      </p:sp>
      <p:sp>
        <p:nvSpPr>
          <p:cNvPr id="13" name="Image"/>
          <p:cNvSpPr>
            <a:spLocks noGrp="1"/>
          </p:cNvSpPr>
          <p:nvPr>
            <p:ph type="pic" idx="1"/>
          </p:nvPr>
        </p:nvSpPr>
        <p:spPr>
          <a:xfrm>
            <a:off x="609480" y="1500000"/>
            <a:ext cx="5400000" cy="3960000"/>
          </a:xfrm>
          <a:prstGeom prst="roundRect">
            <a:avLst>
              <a:gd name="adj" fmla="val 4500"/>
            </a:avLst>
          </a:prstGeom>
          <a:solidFill>
            <a:srgbClr val="F8FAFC"/>
          </a:solidFill>
          <a:ln w="12700">
            <a:solidFill>
              <a:srgbClr val="E2E8F0"/>
            </a:solidFill>
          </a:ln>
        </p:spPr>
        <p:txBody>
          <a:bodyPr/>
          <a:lstStyle/>
          <a:p>
            <a:endParaRPr lang="en-GB"/>
          </a:p>
        </p:txBody>
      </p:sp>
      <p:sp>
        <p:nvSpPr>
          <p:cNvPr id="14" name="Content"/>
          <p:cNvSpPr>
            <a:spLocks noGrp="1"/>
          </p:cNvSpPr>
          <p:nvPr>
            <p:ph type="body" idx="1"/>
          </p:nvPr>
        </p:nvSpPr>
        <p:spPr>
          <a:xfrm>
            <a:off x="6429480" y="1500000"/>
            <a:ext cx="5153040" cy="3960000"/>
          </a:xfrm>
          <a:prstGeom prst="rect">
            <a:avLst/>
          </a:prstGeom>
        </p:spPr>
        <p:txBody>
          <a:bodyPr lIns="0" tIns="0" rIns="0" bIns="0" anchor="t">
            <a:normAutofit/>
          </a:bodyPr>
          <a:lstStyle>
            <a:lvl1pPr marL="0" indent="0" algn="l">
              <a:lnSpc>
                <a:spcPct val="122000"/>
              </a:lnSpc>
              <a:defRPr sz="1700" b="0" i="0">
                <a:solidFill>
                  <a:srgbClr val="475569"/>
                </a:solidFill>
                <a:latin typeface="+mn-lt"/>
              </a:defRPr>
            </a:lvl1pPr>
          </a:lstStyle>
          <a:p>
            <a:endParaRPr lang="en-GB"/>
          </a:p>
        </p:txBody>
      </p:sp>
      <p:sp>
        <p:nvSpPr>
          <p:cNvPr id="15"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6"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7"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8"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9"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9}" type="slidenum">
              <a:rPr lang="en-GB" sz="1100">
                <a:solidFill>
                  <a:srgbClr val="64748B"/>
                </a:solidFill>
              </a:rPr>
              <a:t>‹#›</a:t>
            </a:fld>
            <a:endParaRPr lang="en-GB" sz="1100">
              <a:solidFill>
                <a:srgbClr val="64748B"/>
              </a:solidFill>
            </a:endParaRPr>
          </a:p>
        </p:txBody>
      </p:sp>
      <p:sp>
        <p:nvSpPr>
          <p:cNvPr id="20"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preserve="1">
  <p:cSld name="Content Left, Image Right">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Underline"/>
          <p:cNvSpPr/>
          <p:nvPr/>
        </p:nvSpPr>
        <p:spPr>
          <a:xfrm>
            <a:off x="609480" y="1190000"/>
            <a:ext cx="1691640" cy="36576"/>
          </a:xfrm>
          <a:prstGeom prst="rect">
            <a:avLst/>
          </a:prstGeom>
          <a:solidFill>
            <a:srgbClr val="F7941E"/>
          </a:solidFill>
          <a:ln w="0">
            <a:noFill/>
          </a:ln>
        </p:spPr>
        <p:txBody>
          <a:bodyPr/>
          <a:lstStyle/>
          <a:p>
            <a:endParaRPr lang="en-GB"/>
          </a:p>
        </p:txBody>
      </p:sp>
      <p:sp>
        <p:nvSpPr>
          <p:cNvPr id="13" name="Content"/>
          <p:cNvSpPr>
            <a:spLocks noGrp="1"/>
          </p:cNvSpPr>
          <p:nvPr>
            <p:ph type="body" idx="1"/>
          </p:nvPr>
        </p:nvSpPr>
        <p:spPr>
          <a:xfrm>
            <a:off x="609480" y="1500000"/>
            <a:ext cx="5153040" cy="3960000"/>
          </a:xfrm>
          <a:prstGeom prst="rect">
            <a:avLst/>
          </a:prstGeom>
        </p:spPr>
        <p:txBody>
          <a:bodyPr lIns="0" tIns="0" rIns="0" bIns="0" anchor="t">
            <a:normAutofit/>
          </a:bodyPr>
          <a:lstStyle>
            <a:lvl1pPr marL="0" indent="0" algn="l">
              <a:lnSpc>
                <a:spcPct val="122000"/>
              </a:lnSpc>
              <a:defRPr sz="1700" b="0" i="0">
                <a:solidFill>
                  <a:srgbClr val="475569"/>
                </a:solidFill>
                <a:latin typeface="+mn-lt"/>
              </a:defRPr>
            </a:lvl1pPr>
          </a:lstStyle>
          <a:p>
            <a:endParaRPr lang="en-GB"/>
          </a:p>
        </p:txBody>
      </p:sp>
      <p:sp>
        <p:nvSpPr>
          <p:cNvPr id="14" name="Image"/>
          <p:cNvSpPr>
            <a:spLocks noGrp="1"/>
          </p:cNvSpPr>
          <p:nvPr>
            <p:ph type="pic" idx="1"/>
          </p:nvPr>
        </p:nvSpPr>
        <p:spPr>
          <a:xfrm>
            <a:off x="6182520" y="1500000"/>
            <a:ext cx="5400000" cy="3960000"/>
          </a:xfrm>
          <a:prstGeom prst="roundRect">
            <a:avLst>
              <a:gd name="adj" fmla="val 4500"/>
            </a:avLst>
          </a:prstGeom>
          <a:solidFill>
            <a:srgbClr val="F8FAFC"/>
          </a:solidFill>
          <a:ln w="12700">
            <a:solidFill>
              <a:srgbClr val="E2E8F0"/>
            </a:solidFill>
          </a:ln>
        </p:spPr>
        <p:txBody>
          <a:bodyPr/>
          <a:lstStyle/>
          <a:p>
            <a:endParaRPr lang="en-GB"/>
          </a:p>
        </p:txBody>
      </p:sp>
      <p:sp>
        <p:nvSpPr>
          <p:cNvPr id="15"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6"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7"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8"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9"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9}" type="slidenum">
              <a:rPr lang="en-GB" sz="1100">
                <a:solidFill>
                  <a:srgbClr val="64748B"/>
                </a:solidFill>
              </a:rPr>
              <a:t>‹#›</a:t>
            </a:fld>
            <a:endParaRPr lang="en-GB" sz="1100">
              <a:solidFill>
                <a:srgbClr val="64748B"/>
              </a:solidFill>
            </a:endParaRPr>
          </a:p>
        </p:txBody>
      </p:sp>
      <p:sp>
        <p:nvSpPr>
          <p:cNvPr id="20"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wo-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5330520" cy="364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364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488052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488052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18" name="Card"/>
          <p:cNvSpPr/>
          <p:nvPr/>
        </p:nvSpPr>
        <p:spPr>
          <a:xfrm>
            <a:off x="6252000" y="1760000"/>
            <a:ext cx="5330520" cy="364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6252000" y="1760000"/>
            <a:ext cx="73152" cy="364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6502000" y="1910000"/>
            <a:ext cx="488052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21" name="Card 2 Body"/>
          <p:cNvSpPr>
            <a:spLocks noGrp="1"/>
          </p:cNvSpPr>
          <p:nvPr>
            <p:ph type="body" idx="4"/>
          </p:nvPr>
        </p:nvSpPr>
        <p:spPr>
          <a:xfrm>
            <a:off x="6502000" y="2440000"/>
            <a:ext cx="488052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22"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23"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24"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25"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26"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26}" type="slidenum">
              <a:rPr lang="en-GB" sz="1100">
                <a:solidFill>
                  <a:srgbClr val="64748B"/>
                </a:solidFill>
              </a:rPr>
              <a:t>‹#›</a:t>
            </a:fld>
            <a:endParaRPr lang="en-GB" sz="1100">
              <a:solidFill>
                <a:srgbClr val="64748B"/>
              </a:solidFill>
            </a:endParaRPr>
          </a:p>
        </p:txBody>
      </p:sp>
      <p:sp>
        <p:nvSpPr>
          <p:cNvPr id="27"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hree-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3449680" cy="364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364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299968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299968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18" name="Card"/>
          <p:cNvSpPr/>
          <p:nvPr/>
        </p:nvSpPr>
        <p:spPr>
          <a:xfrm>
            <a:off x="4371160" y="1760000"/>
            <a:ext cx="3449680" cy="364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4371160" y="1760000"/>
            <a:ext cx="73152" cy="364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4621160" y="1910000"/>
            <a:ext cx="299968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21" name="Card 2 Body"/>
          <p:cNvSpPr>
            <a:spLocks noGrp="1"/>
          </p:cNvSpPr>
          <p:nvPr>
            <p:ph type="body" idx="4"/>
          </p:nvPr>
        </p:nvSpPr>
        <p:spPr>
          <a:xfrm>
            <a:off x="4621160" y="2440000"/>
            <a:ext cx="299968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22" name="Card"/>
          <p:cNvSpPr/>
          <p:nvPr/>
        </p:nvSpPr>
        <p:spPr>
          <a:xfrm>
            <a:off x="8132840" y="1760000"/>
            <a:ext cx="3449680" cy="3640000"/>
          </a:xfrm>
          <a:prstGeom prst="roundRect">
            <a:avLst>
              <a:gd name="adj" fmla="val 5500"/>
            </a:avLst>
          </a:prstGeom>
          <a:solidFill>
            <a:srgbClr val="D1FAE5"/>
          </a:solidFill>
          <a:ln w="0">
            <a:noFill/>
          </a:ln>
        </p:spPr>
        <p:txBody>
          <a:bodyPr/>
          <a:lstStyle/>
          <a:p>
            <a:endParaRPr lang="en-GB"/>
          </a:p>
        </p:txBody>
      </p:sp>
      <p:sp>
        <p:nvSpPr>
          <p:cNvPr id="23" name="CardAccent"/>
          <p:cNvSpPr/>
          <p:nvPr/>
        </p:nvSpPr>
        <p:spPr>
          <a:xfrm>
            <a:off x="8132840" y="1760000"/>
            <a:ext cx="73152" cy="3640000"/>
          </a:xfrm>
          <a:prstGeom prst="rect">
            <a:avLst/>
          </a:prstGeom>
          <a:solidFill>
            <a:srgbClr val="10B981"/>
          </a:solidFill>
          <a:ln w="0">
            <a:noFill/>
          </a:ln>
        </p:spPr>
        <p:txBody>
          <a:bodyPr/>
          <a:lstStyle/>
          <a:p>
            <a:endParaRPr lang="en-GB"/>
          </a:p>
        </p:txBody>
      </p:sp>
      <p:sp>
        <p:nvSpPr>
          <p:cNvPr id="24" name="Card 3 Heading"/>
          <p:cNvSpPr>
            <a:spLocks noGrp="1"/>
          </p:cNvSpPr>
          <p:nvPr>
            <p:ph type="body" idx="5"/>
          </p:nvPr>
        </p:nvSpPr>
        <p:spPr>
          <a:xfrm>
            <a:off x="8382840" y="1910000"/>
            <a:ext cx="299968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25" name="Card 3 Body"/>
          <p:cNvSpPr>
            <a:spLocks noGrp="1"/>
          </p:cNvSpPr>
          <p:nvPr>
            <p:ph type="body" idx="6"/>
          </p:nvPr>
        </p:nvSpPr>
        <p:spPr>
          <a:xfrm>
            <a:off x="8382840" y="2440000"/>
            <a:ext cx="299968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26"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27"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28"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29"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0"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0}" type="slidenum">
              <a:rPr lang="en-GB" sz="1100">
                <a:solidFill>
                  <a:srgbClr val="64748B"/>
                </a:solidFill>
              </a:rPr>
              <a:t>‹#›</a:t>
            </a:fld>
            <a:endParaRPr lang="en-GB" sz="1100">
              <a:solidFill>
                <a:srgbClr val="64748B"/>
              </a:solidFill>
            </a:endParaRPr>
          </a:p>
        </p:txBody>
      </p:sp>
      <p:sp>
        <p:nvSpPr>
          <p:cNvPr id="31"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Four-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5330520" cy="176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176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488052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4880520" cy="92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18" name="Card"/>
          <p:cNvSpPr/>
          <p:nvPr/>
        </p:nvSpPr>
        <p:spPr>
          <a:xfrm>
            <a:off x="6252000" y="1760000"/>
            <a:ext cx="5330520" cy="176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6252000" y="1760000"/>
            <a:ext cx="73152" cy="176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6502000" y="1910000"/>
            <a:ext cx="488052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1" name="Card 2 Body"/>
          <p:cNvSpPr>
            <a:spLocks noGrp="1"/>
          </p:cNvSpPr>
          <p:nvPr>
            <p:ph type="body" idx="4"/>
          </p:nvPr>
        </p:nvSpPr>
        <p:spPr>
          <a:xfrm>
            <a:off x="6502000" y="2440000"/>
            <a:ext cx="4880520" cy="92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2" name="Card"/>
          <p:cNvSpPr/>
          <p:nvPr/>
        </p:nvSpPr>
        <p:spPr>
          <a:xfrm>
            <a:off x="609480" y="3750000"/>
            <a:ext cx="5330520" cy="1760000"/>
          </a:xfrm>
          <a:prstGeom prst="roundRect">
            <a:avLst>
              <a:gd name="adj" fmla="val 5500"/>
            </a:avLst>
          </a:prstGeom>
          <a:solidFill>
            <a:srgbClr val="D1FAE5"/>
          </a:solidFill>
          <a:ln w="0">
            <a:noFill/>
          </a:ln>
        </p:spPr>
        <p:txBody>
          <a:bodyPr/>
          <a:lstStyle/>
          <a:p>
            <a:endParaRPr lang="en-GB"/>
          </a:p>
        </p:txBody>
      </p:sp>
      <p:sp>
        <p:nvSpPr>
          <p:cNvPr id="23" name="CardAccent"/>
          <p:cNvSpPr/>
          <p:nvPr/>
        </p:nvSpPr>
        <p:spPr>
          <a:xfrm>
            <a:off x="609480" y="3750000"/>
            <a:ext cx="73152" cy="1760000"/>
          </a:xfrm>
          <a:prstGeom prst="rect">
            <a:avLst/>
          </a:prstGeom>
          <a:solidFill>
            <a:srgbClr val="10B981"/>
          </a:solidFill>
          <a:ln w="0">
            <a:noFill/>
          </a:ln>
        </p:spPr>
        <p:txBody>
          <a:bodyPr/>
          <a:lstStyle/>
          <a:p>
            <a:endParaRPr lang="en-GB"/>
          </a:p>
        </p:txBody>
      </p:sp>
      <p:sp>
        <p:nvSpPr>
          <p:cNvPr id="24" name="Card 3 Heading"/>
          <p:cNvSpPr>
            <a:spLocks noGrp="1"/>
          </p:cNvSpPr>
          <p:nvPr>
            <p:ph type="body" idx="5"/>
          </p:nvPr>
        </p:nvSpPr>
        <p:spPr>
          <a:xfrm>
            <a:off x="859480" y="3900000"/>
            <a:ext cx="488052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5" name="Card 3 Body"/>
          <p:cNvSpPr>
            <a:spLocks noGrp="1"/>
          </p:cNvSpPr>
          <p:nvPr>
            <p:ph type="body" idx="6"/>
          </p:nvPr>
        </p:nvSpPr>
        <p:spPr>
          <a:xfrm>
            <a:off x="859480" y="4430000"/>
            <a:ext cx="4880520" cy="92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6" name="Card"/>
          <p:cNvSpPr/>
          <p:nvPr/>
        </p:nvSpPr>
        <p:spPr>
          <a:xfrm>
            <a:off x="6252000" y="3750000"/>
            <a:ext cx="5330520" cy="1760000"/>
          </a:xfrm>
          <a:prstGeom prst="roundRect">
            <a:avLst>
              <a:gd name="adj" fmla="val 5500"/>
            </a:avLst>
          </a:prstGeom>
          <a:solidFill>
            <a:srgbClr val="EDE9FE"/>
          </a:solidFill>
          <a:ln w="0">
            <a:noFill/>
          </a:ln>
        </p:spPr>
        <p:txBody>
          <a:bodyPr/>
          <a:lstStyle/>
          <a:p>
            <a:endParaRPr lang="en-GB"/>
          </a:p>
        </p:txBody>
      </p:sp>
      <p:sp>
        <p:nvSpPr>
          <p:cNvPr id="27" name="CardAccent"/>
          <p:cNvSpPr/>
          <p:nvPr/>
        </p:nvSpPr>
        <p:spPr>
          <a:xfrm>
            <a:off x="6252000" y="3750000"/>
            <a:ext cx="73152" cy="1760000"/>
          </a:xfrm>
          <a:prstGeom prst="rect">
            <a:avLst/>
          </a:prstGeom>
          <a:solidFill>
            <a:srgbClr val="8B5CF6"/>
          </a:solidFill>
          <a:ln w="0">
            <a:noFill/>
          </a:ln>
        </p:spPr>
        <p:txBody>
          <a:bodyPr/>
          <a:lstStyle/>
          <a:p>
            <a:endParaRPr lang="en-GB"/>
          </a:p>
        </p:txBody>
      </p:sp>
      <p:sp>
        <p:nvSpPr>
          <p:cNvPr id="28" name="Card 4 Heading"/>
          <p:cNvSpPr>
            <a:spLocks noGrp="1"/>
          </p:cNvSpPr>
          <p:nvPr>
            <p:ph type="body" idx="7"/>
          </p:nvPr>
        </p:nvSpPr>
        <p:spPr>
          <a:xfrm>
            <a:off x="6502000" y="3900000"/>
            <a:ext cx="488052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9" name="Card 4 Body"/>
          <p:cNvSpPr>
            <a:spLocks noGrp="1"/>
          </p:cNvSpPr>
          <p:nvPr>
            <p:ph type="body" idx="8"/>
          </p:nvPr>
        </p:nvSpPr>
        <p:spPr>
          <a:xfrm>
            <a:off x="6502000" y="4430000"/>
            <a:ext cx="4880520" cy="92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0"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31"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32"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33"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4"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4}" type="slidenum">
              <a:rPr lang="en-GB" sz="1100">
                <a:solidFill>
                  <a:srgbClr val="64748B"/>
                </a:solidFill>
              </a:rPr>
              <a:t>‹#›</a:t>
            </a:fld>
            <a:endParaRPr lang="en-GB" sz="1100">
              <a:solidFill>
                <a:srgbClr val="64748B"/>
              </a:solidFill>
            </a:endParaRPr>
          </a:p>
        </p:txBody>
      </p:sp>
      <p:sp>
        <p:nvSpPr>
          <p:cNvPr id="35"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Five-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3449680" cy="179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179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18" name="Card"/>
          <p:cNvSpPr/>
          <p:nvPr/>
        </p:nvSpPr>
        <p:spPr>
          <a:xfrm>
            <a:off x="4371160" y="1760000"/>
            <a:ext cx="3449680" cy="179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4371160" y="1760000"/>
            <a:ext cx="73152" cy="179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462116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1" name="Card 2 Body"/>
          <p:cNvSpPr>
            <a:spLocks noGrp="1"/>
          </p:cNvSpPr>
          <p:nvPr>
            <p:ph type="body" idx="4"/>
          </p:nvPr>
        </p:nvSpPr>
        <p:spPr>
          <a:xfrm>
            <a:off x="462116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2" name="Card"/>
          <p:cNvSpPr/>
          <p:nvPr/>
        </p:nvSpPr>
        <p:spPr>
          <a:xfrm>
            <a:off x="8132840" y="1760000"/>
            <a:ext cx="3449680" cy="1790000"/>
          </a:xfrm>
          <a:prstGeom prst="roundRect">
            <a:avLst>
              <a:gd name="adj" fmla="val 5500"/>
            </a:avLst>
          </a:prstGeom>
          <a:solidFill>
            <a:srgbClr val="D1FAE5"/>
          </a:solidFill>
          <a:ln w="0">
            <a:noFill/>
          </a:ln>
        </p:spPr>
        <p:txBody>
          <a:bodyPr/>
          <a:lstStyle/>
          <a:p>
            <a:endParaRPr lang="en-GB"/>
          </a:p>
        </p:txBody>
      </p:sp>
      <p:sp>
        <p:nvSpPr>
          <p:cNvPr id="23" name="CardAccent"/>
          <p:cNvSpPr/>
          <p:nvPr/>
        </p:nvSpPr>
        <p:spPr>
          <a:xfrm>
            <a:off x="8132840" y="1760000"/>
            <a:ext cx="73152" cy="1790000"/>
          </a:xfrm>
          <a:prstGeom prst="rect">
            <a:avLst/>
          </a:prstGeom>
          <a:solidFill>
            <a:srgbClr val="10B981"/>
          </a:solidFill>
          <a:ln w="0">
            <a:noFill/>
          </a:ln>
        </p:spPr>
        <p:txBody>
          <a:bodyPr/>
          <a:lstStyle/>
          <a:p>
            <a:endParaRPr lang="en-GB"/>
          </a:p>
        </p:txBody>
      </p:sp>
      <p:sp>
        <p:nvSpPr>
          <p:cNvPr id="24" name="Card 3 Heading"/>
          <p:cNvSpPr>
            <a:spLocks noGrp="1"/>
          </p:cNvSpPr>
          <p:nvPr>
            <p:ph type="body" idx="5"/>
          </p:nvPr>
        </p:nvSpPr>
        <p:spPr>
          <a:xfrm>
            <a:off x="838284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5" name="Card 3 Body"/>
          <p:cNvSpPr>
            <a:spLocks noGrp="1"/>
          </p:cNvSpPr>
          <p:nvPr>
            <p:ph type="body" idx="6"/>
          </p:nvPr>
        </p:nvSpPr>
        <p:spPr>
          <a:xfrm>
            <a:off x="838284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6" name="Card"/>
          <p:cNvSpPr/>
          <p:nvPr/>
        </p:nvSpPr>
        <p:spPr>
          <a:xfrm>
            <a:off x="2490320" y="3780000"/>
            <a:ext cx="3449680" cy="1790000"/>
          </a:xfrm>
          <a:prstGeom prst="roundRect">
            <a:avLst>
              <a:gd name="adj" fmla="val 5500"/>
            </a:avLst>
          </a:prstGeom>
          <a:solidFill>
            <a:srgbClr val="EDE9FE"/>
          </a:solidFill>
          <a:ln w="0">
            <a:noFill/>
          </a:ln>
        </p:spPr>
        <p:txBody>
          <a:bodyPr/>
          <a:lstStyle/>
          <a:p>
            <a:endParaRPr lang="en-GB"/>
          </a:p>
        </p:txBody>
      </p:sp>
      <p:sp>
        <p:nvSpPr>
          <p:cNvPr id="27" name="CardAccent"/>
          <p:cNvSpPr/>
          <p:nvPr/>
        </p:nvSpPr>
        <p:spPr>
          <a:xfrm>
            <a:off x="2490320" y="3780000"/>
            <a:ext cx="73152" cy="1790000"/>
          </a:xfrm>
          <a:prstGeom prst="rect">
            <a:avLst/>
          </a:prstGeom>
          <a:solidFill>
            <a:srgbClr val="8B5CF6"/>
          </a:solidFill>
          <a:ln w="0">
            <a:noFill/>
          </a:ln>
        </p:spPr>
        <p:txBody>
          <a:bodyPr/>
          <a:lstStyle/>
          <a:p>
            <a:endParaRPr lang="en-GB"/>
          </a:p>
        </p:txBody>
      </p:sp>
      <p:sp>
        <p:nvSpPr>
          <p:cNvPr id="28" name="Card 4 Heading"/>
          <p:cNvSpPr>
            <a:spLocks noGrp="1"/>
          </p:cNvSpPr>
          <p:nvPr>
            <p:ph type="body" idx="7"/>
          </p:nvPr>
        </p:nvSpPr>
        <p:spPr>
          <a:xfrm>
            <a:off x="274032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9" name="Card 4 Body"/>
          <p:cNvSpPr>
            <a:spLocks noGrp="1"/>
          </p:cNvSpPr>
          <p:nvPr>
            <p:ph type="body" idx="8"/>
          </p:nvPr>
        </p:nvSpPr>
        <p:spPr>
          <a:xfrm>
            <a:off x="274032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0" name="Card"/>
          <p:cNvSpPr/>
          <p:nvPr/>
        </p:nvSpPr>
        <p:spPr>
          <a:xfrm>
            <a:off x="6252000" y="3780000"/>
            <a:ext cx="3449680" cy="1790000"/>
          </a:xfrm>
          <a:prstGeom prst="roundRect">
            <a:avLst>
              <a:gd name="adj" fmla="val 5500"/>
            </a:avLst>
          </a:prstGeom>
          <a:solidFill>
            <a:srgbClr val="FCE7F3"/>
          </a:solidFill>
          <a:ln w="0">
            <a:noFill/>
          </a:ln>
        </p:spPr>
        <p:txBody>
          <a:bodyPr/>
          <a:lstStyle/>
          <a:p>
            <a:endParaRPr lang="en-GB"/>
          </a:p>
        </p:txBody>
      </p:sp>
      <p:sp>
        <p:nvSpPr>
          <p:cNvPr id="31" name="CardAccent"/>
          <p:cNvSpPr/>
          <p:nvPr/>
        </p:nvSpPr>
        <p:spPr>
          <a:xfrm>
            <a:off x="6252000" y="3780000"/>
            <a:ext cx="73152" cy="1790000"/>
          </a:xfrm>
          <a:prstGeom prst="rect">
            <a:avLst/>
          </a:prstGeom>
          <a:solidFill>
            <a:srgbClr val="EC4899"/>
          </a:solidFill>
          <a:ln w="0">
            <a:noFill/>
          </a:ln>
        </p:spPr>
        <p:txBody>
          <a:bodyPr/>
          <a:lstStyle/>
          <a:p>
            <a:endParaRPr lang="en-GB"/>
          </a:p>
        </p:txBody>
      </p:sp>
      <p:sp>
        <p:nvSpPr>
          <p:cNvPr id="32" name="Card 5 Heading"/>
          <p:cNvSpPr>
            <a:spLocks noGrp="1"/>
          </p:cNvSpPr>
          <p:nvPr>
            <p:ph type="body" idx="9"/>
          </p:nvPr>
        </p:nvSpPr>
        <p:spPr>
          <a:xfrm>
            <a:off x="650200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33" name="Card 5 Body"/>
          <p:cNvSpPr>
            <a:spLocks noGrp="1"/>
          </p:cNvSpPr>
          <p:nvPr>
            <p:ph type="body" idx="10"/>
          </p:nvPr>
        </p:nvSpPr>
        <p:spPr>
          <a:xfrm>
            <a:off x="650200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4"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35"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36"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37"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8"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8}" type="slidenum">
              <a:rPr lang="en-GB" sz="1100">
                <a:solidFill>
                  <a:srgbClr val="64748B"/>
                </a:solidFill>
              </a:rPr>
              <a:t>‹#›</a:t>
            </a:fld>
            <a:endParaRPr lang="en-GB" sz="1100">
              <a:solidFill>
                <a:srgbClr val="64748B"/>
              </a:solidFill>
            </a:endParaRPr>
          </a:p>
        </p:txBody>
      </p:sp>
      <p:sp>
        <p:nvSpPr>
          <p:cNvPr id="39"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Six-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3449680" cy="179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179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18" name="Card"/>
          <p:cNvSpPr/>
          <p:nvPr/>
        </p:nvSpPr>
        <p:spPr>
          <a:xfrm>
            <a:off x="4371160" y="1760000"/>
            <a:ext cx="3449680" cy="179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4371160" y="1760000"/>
            <a:ext cx="73152" cy="179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462116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1" name="Card 2 Body"/>
          <p:cNvSpPr>
            <a:spLocks noGrp="1"/>
          </p:cNvSpPr>
          <p:nvPr>
            <p:ph type="body" idx="4"/>
          </p:nvPr>
        </p:nvSpPr>
        <p:spPr>
          <a:xfrm>
            <a:off x="462116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2" name="Card"/>
          <p:cNvSpPr/>
          <p:nvPr/>
        </p:nvSpPr>
        <p:spPr>
          <a:xfrm>
            <a:off x="8132840" y="1760000"/>
            <a:ext cx="3449680" cy="1790000"/>
          </a:xfrm>
          <a:prstGeom prst="roundRect">
            <a:avLst>
              <a:gd name="adj" fmla="val 5500"/>
            </a:avLst>
          </a:prstGeom>
          <a:solidFill>
            <a:srgbClr val="D1FAE5"/>
          </a:solidFill>
          <a:ln w="0">
            <a:noFill/>
          </a:ln>
        </p:spPr>
        <p:txBody>
          <a:bodyPr/>
          <a:lstStyle/>
          <a:p>
            <a:endParaRPr lang="en-GB"/>
          </a:p>
        </p:txBody>
      </p:sp>
      <p:sp>
        <p:nvSpPr>
          <p:cNvPr id="23" name="CardAccent"/>
          <p:cNvSpPr/>
          <p:nvPr/>
        </p:nvSpPr>
        <p:spPr>
          <a:xfrm>
            <a:off x="8132840" y="1760000"/>
            <a:ext cx="73152" cy="1790000"/>
          </a:xfrm>
          <a:prstGeom prst="rect">
            <a:avLst/>
          </a:prstGeom>
          <a:solidFill>
            <a:srgbClr val="10B981"/>
          </a:solidFill>
          <a:ln w="0">
            <a:noFill/>
          </a:ln>
        </p:spPr>
        <p:txBody>
          <a:bodyPr/>
          <a:lstStyle/>
          <a:p>
            <a:endParaRPr lang="en-GB"/>
          </a:p>
        </p:txBody>
      </p:sp>
      <p:sp>
        <p:nvSpPr>
          <p:cNvPr id="24" name="Card 3 Heading"/>
          <p:cNvSpPr>
            <a:spLocks noGrp="1"/>
          </p:cNvSpPr>
          <p:nvPr>
            <p:ph type="body" idx="5"/>
          </p:nvPr>
        </p:nvSpPr>
        <p:spPr>
          <a:xfrm>
            <a:off x="838284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5" name="Card 3 Body"/>
          <p:cNvSpPr>
            <a:spLocks noGrp="1"/>
          </p:cNvSpPr>
          <p:nvPr>
            <p:ph type="body" idx="6"/>
          </p:nvPr>
        </p:nvSpPr>
        <p:spPr>
          <a:xfrm>
            <a:off x="838284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6" name="Card"/>
          <p:cNvSpPr/>
          <p:nvPr/>
        </p:nvSpPr>
        <p:spPr>
          <a:xfrm>
            <a:off x="609480" y="3780000"/>
            <a:ext cx="3449680" cy="1790000"/>
          </a:xfrm>
          <a:prstGeom prst="roundRect">
            <a:avLst>
              <a:gd name="adj" fmla="val 5500"/>
            </a:avLst>
          </a:prstGeom>
          <a:solidFill>
            <a:srgbClr val="EDE9FE"/>
          </a:solidFill>
          <a:ln w="0">
            <a:noFill/>
          </a:ln>
        </p:spPr>
        <p:txBody>
          <a:bodyPr/>
          <a:lstStyle/>
          <a:p>
            <a:endParaRPr lang="en-GB"/>
          </a:p>
        </p:txBody>
      </p:sp>
      <p:sp>
        <p:nvSpPr>
          <p:cNvPr id="27" name="CardAccent"/>
          <p:cNvSpPr/>
          <p:nvPr/>
        </p:nvSpPr>
        <p:spPr>
          <a:xfrm>
            <a:off x="609480" y="3780000"/>
            <a:ext cx="73152" cy="1790000"/>
          </a:xfrm>
          <a:prstGeom prst="rect">
            <a:avLst/>
          </a:prstGeom>
          <a:solidFill>
            <a:srgbClr val="8B5CF6"/>
          </a:solidFill>
          <a:ln w="0">
            <a:noFill/>
          </a:ln>
        </p:spPr>
        <p:txBody>
          <a:bodyPr/>
          <a:lstStyle/>
          <a:p>
            <a:endParaRPr lang="en-GB"/>
          </a:p>
        </p:txBody>
      </p:sp>
      <p:sp>
        <p:nvSpPr>
          <p:cNvPr id="28" name="Card 4 Heading"/>
          <p:cNvSpPr>
            <a:spLocks noGrp="1"/>
          </p:cNvSpPr>
          <p:nvPr>
            <p:ph type="body" idx="7"/>
          </p:nvPr>
        </p:nvSpPr>
        <p:spPr>
          <a:xfrm>
            <a:off x="85948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9" name="Card 4 Body"/>
          <p:cNvSpPr>
            <a:spLocks noGrp="1"/>
          </p:cNvSpPr>
          <p:nvPr>
            <p:ph type="body" idx="8"/>
          </p:nvPr>
        </p:nvSpPr>
        <p:spPr>
          <a:xfrm>
            <a:off x="85948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0" name="Card"/>
          <p:cNvSpPr/>
          <p:nvPr/>
        </p:nvSpPr>
        <p:spPr>
          <a:xfrm>
            <a:off x="4371160" y="3780000"/>
            <a:ext cx="3449680" cy="1790000"/>
          </a:xfrm>
          <a:prstGeom prst="roundRect">
            <a:avLst>
              <a:gd name="adj" fmla="val 5500"/>
            </a:avLst>
          </a:prstGeom>
          <a:solidFill>
            <a:srgbClr val="FCE7F3"/>
          </a:solidFill>
          <a:ln w="0">
            <a:noFill/>
          </a:ln>
        </p:spPr>
        <p:txBody>
          <a:bodyPr/>
          <a:lstStyle/>
          <a:p>
            <a:endParaRPr lang="en-GB"/>
          </a:p>
        </p:txBody>
      </p:sp>
      <p:sp>
        <p:nvSpPr>
          <p:cNvPr id="31" name="CardAccent"/>
          <p:cNvSpPr/>
          <p:nvPr/>
        </p:nvSpPr>
        <p:spPr>
          <a:xfrm>
            <a:off x="4371160" y="3780000"/>
            <a:ext cx="73152" cy="1790000"/>
          </a:xfrm>
          <a:prstGeom prst="rect">
            <a:avLst/>
          </a:prstGeom>
          <a:solidFill>
            <a:srgbClr val="EC4899"/>
          </a:solidFill>
          <a:ln w="0">
            <a:noFill/>
          </a:ln>
        </p:spPr>
        <p:txBody>
          <a:bodyPr/>
          <a:lstStyle/>
          <a:p>
            <a:endParaRPr lang="en-GB"/>
          </a:p>
        </p:txBody>
      </p:sp>
      <p:sp>
        <p:nvSpPr>
          <p:cNvPr id="32" name="Card 5 Heading"/>
          <p:cNvSpPr>
            <a:spLocks noGrp="1"/>
          </p:cNvSpPr>
          <p:nvPr>
            <p:ph type="body" idx="9"/>
          </p:nvPr>
        </p:nvSpPr>
        <p:spPr>
          <a:xfrm>
            <a:off x="462116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33" name="Card 5 Body"/>
          <p:cNvSpPr>
            <a:spLocks noGrp="1"/>
          </p:cNvSpPr>
          <p:nvPr>
            <p:ph type="body" idx="10"/>
          </p:nvPr>
        </p:nvSpPr>
        <p:spPr>
          <a:xfrm>
            <a:off x="462116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4" name="Card"/>
          <p:cNvSpPr/>
          <p:nvPr/>
        </p:nvSpPr>
        <p:spPr>
          <a:xfrm>
            <a:off x="8132840" y="3780000"/>
            <a:ext cx="3449680" cy="1790000"/>
          </a:xfrm>
          <a:prstGeom prst="roundRect">
            <a:avLst>
              <a:gd name="adj" fmla="val 5500"/>
            </a:avLst>
          </a:prstGeom>
          <a:solidFill>
            <a:srgbClr val="FDEAD7"/>
          </a:solidFill>
          <a:ln w="0">
            <a:noFill/>
          </a:ln>
        </p:spPr>
        <p:txBody>
          <a:bodyPr/>
          <a:lstStyle/>
          <a:p>
            <a:endParaRPr lang="en-GB"/>
          </a:p>
        </p:txBody>
      </p:sp>
      <p:sp>
        <p:nvSpPr>
          <p:cNvPr id="35" name="CardAccent"/>
          <p:cNvSpPr/>
          <p:nvPr/>
        </p:nvSpPr>
        <p:spPr>
          <a:xfrm>
            <a:off x="8132840" y="3780000"/>
            <a:ext cx="73152" cy="1790000"/>
          </a:xfrm>
          <a:prstGeom prst="rect">
            <a:avLst/>
          </a:prstGeom>
          <a:solidFill>
            <a:srgbClr val="F7941E"/>
          </a:solidFill>
          <a:ln w="0">
            <a:noFill/>
          </a:ln>
        </p:spPr>
        <p:txBody>
          <a:bodyPr/>
          <a:lstStyle/>
          <a:p>
            <a:endParaRPr lang="en-GB"/>
          </a:p>
        </p:txBody>
      </p:sp>
      <p:sp>
        <p:nvSpPr>
          <p:cNvPr id="36" name="Card 6 Heading"/>
          <p:cNvSpPr>
            <a:spLocks noGrp="1"/>
          </p:cNvSpPr>
          <p:nvPr>
            <p:ph type="body" idx="11"/>
          </p:nvPr>
        </p:nvSpPr>
        <p:spPr>
          <a:xfrm>
            <a:off x="838284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37" name="Card 6 Body"/>
          <p:cNvSpPr>
            <a:spLocks noGrp="1"/>
          </p:cNvSpPr>
          <p:nvPr>
            <p:ph type="body" idx="12"/>
          </p:nvPr>
        </p:nvSpPr>
        <p:spPr>
          <a:xfrm>
            <a:off x="838284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8"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39"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40"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41"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42"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42}" type="slidenum">
              <a:rPr lang="en-GB" sz="1100">
                <a:solidFill>
                  <a:srgbClr val="64748B"/>
                </a:solidFill>
              </a:rPr>
              <a:t>‹#›</a:t>
            </a:fld>
            <a:endParaRPr lang="en-GB" sz="1100">
              <a:solidFill>
                <a:srgbClr val="64748B"/>
              </a:solidFill>
            </a:endParaRPr>
          </a:p>
        </p:txBody>
      </p:sp>
      <p:sp>
        <p:nvSpPr>
          <p:cNvPr id="43"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Big Stats">
    <p:bg>
      <p:bgPr>
        <a:solidFill>
          <a:srgbClr val="FFFFFF"/>
        </a:solidFill>
        <a:effectLst/>
      </p:bgPr>
    </p:bg>
    <p:spTree>
      <p:nvGrpSpPr>
        <p:cNvPr id="1" name=""/>
        <p:cNvGrpSpPr/>
        <p:nvPr/>
      </p:nvGrpSpPr>
      <p:grpSpPr>
        <a:xfrm>
          <a:off x="0" y="0"/>
          <a:ext cx="0" cy="0"/>
          <a:chOff x="0" y="0"/>
          <a:chExt cx="0" cy="0"/>
        </a:xfrm>
      </p:grpSpPr>
      <p:sp>
        <p:nvSpPr>
          <p:cNvPr id="17"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8"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9"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1" name="Stat 1 Number"/>
          <p:cNvSpPr>
            <a:spLocks noGrp="1"/>
          </p:cNvSpPr>
          <p:nvPr>
            <p:ph type="body" idx="1"/>
          </p:nvPr>
        </p:nvSpPr>
        <p:spPr>
          <a:xfrm>
            <a:off x="609480" y="2150000"/>
            <a:ext cx="3454400" cy="1200000"/>
          </a:xfrm>
          <a:prstGeom prst="rect">
            <a:avLst/>
          </a:prstGeom>
        </p:spPr>
        <p:txBody>
          <a:bodyPr lIns="0" tIns="0" rIns="0" bIns="0" anchor="ctr">
            <a:normAutofit/>
          </a:bodyPr>
          <a:lstStyle>
            <a:lvl1pPr marL="0" indent="0" algn="ctr">
              <a:defRPr sz="6000" b="1" i="0">
                <a:solidFill>
                  <a:srgbClr val="F7941E"/>
                </a:solidFill>
                <a:latin typeface="+mj-lt"/>
              </a:defRPr>
            </a:lvl1pPr>
          </a:lstStyle>
          <a:p>
            <a:endParaRPr lang="en-GB"/>
          </a:p>
        </p:txBody>
      </p:sp>
      <p:sp>
        <p:nvSpPr>
          <p:cNvPr id="12" name="Stat 1 Label"/>
          <p:cNvSpPr>
            <a:spLocks noGrp="1"/>
          </p:cNvSpPr>
          <p:nvPr>
            <p:ph type="body" idx="2"/>
          </p:nvPr>
        </p:nvSpPr>
        <p:spPr>
          <a:xfrm>
            <a:off x="609480" y="3500000"/>
            <a:ext cx="3454400" cy="1500000"/>
          </a:xfrm>
          <a:prstGeom prst="rect">
            <a:avLst/>
          </a:prstGeom>
        </p:spPr>
        <p:txBody>
          <a:bodyPr lIns="0" tIns="0" rIns="0" bIns="0" anchor="t">
            <a:normAutofit/>
          </a:bodyPr>
          <a:lstStyle>
            <a:lvl1pPr marL="0" indent="0" algn="ctr">
              <a:lnSpc>
                <a:spcPct val="116000"/>
              </a:lnSpc>
              <a:defRPr sz="1500" b="0" i="0">
                <a:solidFill>
                  <a:srgbClr val="475569"/>
                </a:solidFill>
                <a:latin typeface="+mn-lt"/>
              </a:defRPr>
            </a:lvl1pPr>
          </a:lstStyle>
          <a:p>
            <a:endParaRPr lang="en-GB"/>
          </a:p>
        </p:txBody>
      </p:sp>
      <p:sp>
        <p:nvSpPr>
          <p:cNvPr id="13" name="Stat 2 Number"/>
          <p:cNvSpPr>
            <a:spLocks noGrp="1"/>
          </p:cNvSpPr>
          <p:nvPr>
            <p:ph type="body" idx="3"/>
          </p:nvPr>
        </p:nvSpPr>
        <p:spPr>
          <a:xfrm>
            <a:off x="4390880" y="2150000"/>
            <a:ext cx="3454400" cy="1200000"/>
          </a:xfrm>
          <a:prstGeom prst="rect">
            <a:avLst/>
          </a:prstGeom>
        </p:spPr>
        <p:txBody>
          <a:bodyPr lIns="0" tIns="0" rIns="0" bIns="0" anchor="ctr">
            <a:normAutofit/>
          </a:bodyPr>
          <a:lstStyle>
            <a:lvl1pPr marL="0" indent="0" algn="ctr">
              <a:defRPr sz="6000" b="1" i="0">
                <a:solidFill>
                  <a:srgbClr val="3B82F6"/>
                </a:solidFill>
                <a:latin typeface="+mj-lt"/>
              </a:defRPr>
            </a:lvl1pPr>
          </a:lstStyle>
          <a:p>
            <a:endParaRPr lang="en-GB"/>
          </a:p>
        </p:txBody>
      </p:sp>
      <p:sp>
        <p:nvSpPr>
          <p:cNvPr id="14" name="Stat 2 Label"/>
          <p:cNvSpPr>
            <a:spLocks noGrp="1"/>
          </p:cNvSpPr>
          <p:nvPr>
            <p:ph type="body" idx="4"/>
          </p:nvPr>
        </p:nvSpPr>
        <p:spPr>
          <a:xfrm>
            <a:off x="4390880" y="3500000"/>
            <a:ext cx="3454400" cy="1500000"/>
          </a:xfrm>
          <a:prstGeom prst="rect">
            <a:avLst/>
          </a:prstGeom>
        </p:spPr>
        <p:txBody>
          <a:bodyPr lIns="0" tIns="0" rIns="0" bIns="0" anchor="t">
            <a:normAutofit/>
          </a:bodyPr>
          <a:lstStyle>
            <a:lvl1pPr marL="0" indent="0" algn="ctr">
              <a:lnSpc>
                <a:spcPct val="116000"/>
              </a:lnSpc>
              <a:defRPr sz="1500" b="0" i="0">
                <a:solidFill>
                  <a:srgbClr val="475569"/>
                </a:solidFill>
                <a:latin typeface="+mn-lt"/>
              </a:defRPr>
            </a:lvl1pPr>
          </a:lstStyle>
          <a:p>
            <a:endParaRPr lang="en-GB"/>
          </a:p>
        </p:txBody>
      </p:sp>
      <p:sp>
        <p:nvSpPr>
          <p:cNvPr id="15" name="Stat 3 Number"/>
          <p:cNvSpPr>
            <a:spLocks noGrp="1"/>
          </p:cNvSpPr>
          <p:nvPr>
            <p:ph type="body" idx="5"/>
          </p:nvPr>
        </p:nvSpPr>
        <p:spPr>
          <a:xfrm>
            <a:off x="8172280" y="2150000"/>
            <a:ext cx="3454400" cy="1200000"/>
          </a:xfrm>
          <a:prstGeom prst="rect">
            <a:avLst/>
          </a:prstGeom>
        </p:spPr>
        <p:txBody>
          <a:bodyPr lIns="0" tIns="0" rIns="0" bIns="0" anchor="ctr">
            <a:normAutofit/>
          </a:bodyPr>
          <a:lstStyle>
            <a:lvl1pPr marL="0" indent="0" algn="ctr">
              <a:defRPr sz="6000" b="1" i="0">
                <a:solidFill>
                  <a:srgbClr val="8B5CF6"/>
                </a:solidFill>
                <a:latin typeface="+mj-lt"/>
              </a:defRPr>
            </a:lvl1pPr>
          </a:lstStyle>
          <a:p>
            <a:endParaRPr lang="en-GB"/>
          </a:p>
        </p:txBody>
      </p:sp>
      <p:sp>
        <p:nvSpPr>
          <p:cNvPr id="16" name="Stat 3 Label"/>
          <p:cNvSpPr>
            <a:spLocks noGrp="1"/>
          </p:cNvSpPr>
          <p:nvPr>
            <p:ph type="body" idx="6"/>
          </p:nvPr>
        </p:nvSpPr>
        <p:spPr>
          <a:xfrm>
            <a:off x="8172280" y="3500000"/>
            <a:ext cx="3454400" cy="1500000"/>
          </a:xfrm>
          <a:prstGeom prst="rect">
            <a:avLst/>
          </a:prstGeom>
        </p:spPr>
        <p:txBody>
          <a:bodyPr lIns="0" tIns="0" rIns="0" bIns="0" anchor="t">
            <a:normAutofit/>
          </a:bodyPr>
          <a:lstStyle>
            <a:lvl1pPr marL="0" indent="0" algn="ctr">
              <a:lnSpc>
                <a:spcPct val="116000"/>
              </a:lnSpc>
              <a:defRPr sz="1500" b="0" i="0">
                <a:solidFill>
                  <a:srgbClr val="475569"/>
                </a:solidFill>
                <a:latin typeface="+mn-lt"/>
              </a:defRPr>
            </a:lvl1pPr>
          </a:lstStyle>
          <a:p>
            <a:endParaRPr lang="en-GB"/>
          </a:p>
        </p:txBody>
      </p:sp>
      <p:sp>
        <p:nvSpPr>
          <p:cNvPr id="20"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21"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22"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23"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24"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24}" type="slidenum">
              <a:rPr lang="en-GB" sz="1100">
                <a:solidFill>
                  <a:srgbClr val="64748B"/>
                </a:solidFill>
              </a:rPr>
              <a:t>‹#›</a:t>
            </a:fld>
            <a:endParaRPr lang="en-GB" sz="1100">
              <a:solidFill>
                <a:srgbClr val="64748B"/>
              </a:solidFill>
            </a:endParaRPr>
          </a:p>
        </p:txBody>
      </p:sp>
      <p:sp>
        <p:nvSpPr>
          <p:cNvPr id="25"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Numbered Steps">
    <p:bg>
      <p:bgPr>
        <a:solidFill>
          <a:srgbClr val="FFFFFF"/>
        </a:solidFill>
        <a:effectLst/>
      </p:bgPr>
    </p:bg>
    <p:spTree>
      <p:nvGrpSpPr>
        <p:cNvPr id="1" name=""/>
        <p:cNvGrpSpPr/>
        <p:nvPr/>
      </p:nvGrpSpPr>
      <p:grpSpPr>
        <a:xfrm>
          <a:off x="0" y="0"/>
          <a:ext cx="0" cy="0"/>
          <a:chOff x="0" y="0"/>
          <a:chExt cx="0" cy="0"/>
        </a:xfrm>
      </p:grpSpPr>
      <p:sp>
        <p:nvSpPr>
          <p:cNvPr id="23"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24"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25"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1" name="Step 1 Circle"/>
          <p:cNvSpPr/>
          <p:nvPr/>
        </p:nvSpPr>
        <p:spPr>
          <a:xfrm>
            <a:off x="1956680" y="1840000"/>
            <a:ext cx="760000" cy="760000"/>
          </a:xfrm>
          <a:prstGeom prst="ellipse">
            <a:avLst/>
          </a:prstGeom>
          <a:solidFill>
            <a:srgbClr val="F7941E"/>
          </a:solidFill>
          <a:ln w="0">
            <a:noFill/>
          </a:ln>
        </p:spPr>
        <p:txBody>
          <a:bodyPr/>
          <a:lstStyle/>
          <a:p>
            <a:endParaRPr lang="en-GB"/>
          </a:p>
        </p:txBody>
      </p:sp>
      <p:sp>
        <p:nvSpPr>
          <p:cNvPr id="12" name="Step 1 Number"/>
          <p:cNvSpPr>
            <a:spLocks noGrp="1"/>
          </p:cNvSpPr>
          <p:nvPr>
            <p:ph type="body" idx="1"/>
          </p:nvPr>
        </p:nvSpPr>
        <p:spPr>
          <a:xfrm>
            <a:off x="1956680" y="1840000"/>
            <a:ext cx="760000" cy="760000"/>
          </a:xfrm>
          <a:prstGeom prst="rect">
            <a:avLst/>
          </a:prstGeom>
        </p:spPr>
        <p:txBody>
          <a:bodyPr lIns="0" tIns="0" rIns="0" bIns="0" anchor="ctr">
            <a:normAutofit/>
          </a:bodyPr>
          <a:lstStyle>
            <a:lvl1pPr marL="0" indent="0" algn="ctr">
              <a:defRPr sz="3200" b="1" i="0">
                <a:solidFill>
                  <a:srgbClr val="FFFFFF"/>
                </a:solidFill>
                <a:latin typeface="+mj-lt"/>
              </a:defRPr>
            </a:lvl1pPr>
          </a:lstStyle>
          <a:p>
            <a:endParaRPr lang="en-GB"/>
          </a:p>
        </p:txBody>
      </p:sp>
      <p:sp>
        <p:nvSpPr>
          <p:cNvPr id="13" name="Step 1 Heading"/>
          <p:cNvSpPr>
            <a:spLocks noGrp="1"/>
          </p:cNvSpPr>
          <p:nvPr>
            <p:ph type="body" idx="2"/>
          </p:nvPr>
        </p:nvSpPr>
        <p:spPr>
          <a:xfrm>
            <a:off x="609480" y="2720000"/>
            <a:ext cx="3454400" cy="520000"/>
          </a:xfrm>
          <a:prstGeom prst="rect">
            <a:avLst/>
          </a:prstGeom>
        </p:spPr>
        <p:txBody>
          <a:bodyPr lIns="0" tIns="0" rIns="0" bIns="0" anchor="t">
            <a:normAutofit/>
          </a:bodyPr>
          <a:lstStyle>
            <a:lvl1pPr marL="0" indent="0" algn="ctr">
              <a:defRPr sz="1800" b="1" i="0">
                <a:solidFill>
                  <a:srgbClr val="0F172A"/>
                </a:solidFill>
                <a:latin typeface="+mj-lt"/>
              </a:defRPr>
            </a:lvl1pPr>
          </a:lstStyle>
          <a:p>
            <a:endParaRPr lang="en-GB"/>
          </a:p>
        </p:txBody>
      </p:sp>
      <p:sp>
        <p:nvSpPr>
          <p:cNvPr id="14" name="Step 1 Detail"/>
          <p:cNvSpPr>
            <a:spLocks noGrp="1"/>
          </p:cNvSpPr>
          <p:nvPr>
            <p:ph type="body" idx="3"/>
          </p:nvPr>
        </p:nvSpPr>
        <p:spPr>
          <a:xfrm>
            <a:off x="609480" y="3260000"/>
            <a:ext cx="3454400" cy="1560000"/>
          </a:xfrm>
          <a:prstGeom prst="rect">
            <a:avLst/>
          </a:prstGeom>
        </p:spPr>
        <p:txBody>
          <a:bodyPr lIns="0" tIns="0" rIns="0" bIns="0" anchor="t">
            <a:normAutofit/>
          </a:bodyPr>
          <a:lstStyle>
            <a:lvl1pPr marL="0" indent="0" algn="ctr">
              <a:lnSpc>
                <a:spcPct val="122000"/>
              </a:lnSpc>
              <a:defRPr sz="1500" b="0" i="0">
                <a:solidFill>
                  <a:srgbClr val="475569"/>
                </a:solidFill>
                <a:latin typeface="+mn-lt"/>
              </a:defRPr>
            </a:lvl1pPr>
          </a:lstStyle>
          <a:p>
            <a:endParaRPr lang="en-GB"/>
          </a:p>
        </p:txBody>
      </p:sp>
      <p:sp>
        <p:nvSpPr>
          <p:cNvPr id="15" name="Step 2 Circle"/>
          <p:cNvSpPr/>
          <p:nvPr/>
        </p:nvSpPr>
        <p:spPr>
          <a:xfrm>
            <a:off x="5738080" y="1840000"/>
            <a:ext cx="760000" cy="760000"/>
          </a:xfrm>
          <a:prstGeom prst="ellipse">
            <a:avLst/>
          </a:prstGeom>
          <a:solidFill>
            <a:srgbClr val="3B82F6"/>
          </a:solidFill>
          <a:ln w="0">
            <a:noFill/>
          </a:ln>
        </p:spPr>
        <p:txBody>
          <a:bodyPr/>
          <a:lstStyle/>
          <a:p>
            <a:endParaRPr lang="en-GB"/>
          </a:p>
        </p:txBody>
      </p:sp>
      <p:sp>
        <p:nvSpPr>
          <p:cNvPr id="16" name="Step 2 Number"/>
          <p:cNvSpPr>
            <a:spLocks noGrp="1"/>
          </p:cNvSpPr>
          <p:nvPr>
            <p:ph type="body" idx="4"/>
          </p:nvPr>
        </p:nvSpPr>
        <p:spPr>
          <a:xfrm>
            <a:off x="5738080" y="1840000"/>
            <a:ext cx="760000" cy="760000"/>
          </a:xfrm>
          <a:prstGeom prst="rect">
            <a:avLst/>
          </a:prstGeom>
        </p:spPr>
        <p:txBody>
          <a:bodyPr lIns="0" tIns="0" rIns="0" bIns="0" anchor="ctr">
            <a:normAutofit/>
          </a:bodyPr>
          <a:lstStyle>
            <a:lvl1pPr marL="0" indent="0" algn="ctr">
              <a:defRPr sz="3200" b="1" i="0">
                <a:solidFill>
                  <a:srgbClr val="FFFFFF"/>
                </a:solidFill>
                <a:latin typeface="+mj-lt"/>
              </a:defRPr>
            </a:lvl1pPr>
          </a:lstStyle>
          <a:p>
            <a:endParaRPr lang="en-GB"/>
          </a:p>
        </p:txBody>
      </p:sp>
      <p:sp>
        <p:nvSpPr>
          <p:cNvPr id="17" name="Step 2 Heading"/>
          <p:cNvSpPr>
            <a:spLocks noGrp="1"/>
          </p:cNvSpPr>
          <p:nvPr>
            <p:ph type="body" idx="5"/>
          </p:nvPr>
        </p:nvSpPr>
        <p:spPr>
          <a:xfrm>
            <a:off x="4390880" y="2720000"/>
            <a:ext cx="3454400" cy="520000"/>
          </a:xfrm>
          <a:prstGeom prst="rect">
            <a:avLst/>
          </a:prstGeom>
        </p:spPr>
        <p:txBody>
          <a:bodyPr lIns="0" tIns="0" rIns="0" bIns="0" anchor="t">
            <a:normAutofit/>
          </a:bodyPr>
          <a:lstStyle>
            <a:lvl1pPr marL="0" indent="0" algn="ctr">
              <a:defRPr sz="1800" b="1" i="0">
                <a:solidFill>
                  <a:srgbClr val="0F172A"/>
                </a:solidFill>
                <a:latin typeface="+mj-lt"/>
              </a:defRPr>
            </a:lvl1pPr>
          </a:lstStyle>
          <a:p>
            <a:endParaRPr lang="en-GB"/>
          </a:p>
        </p:txBody>
      </p:sp>
      <p:sp>
        <p:nvSpPr>
          <p:cNvPr id="18" name="Step 2 Detail"/>
          <p:cNvSpPr>
            <a:spLocks noGrp="1"/>
          </p:cNvSpPr>
          <p:nvPr>
            <p:ph type="body" idx="6"/>
          </p:nvPr>
        </p:nvSpPr>
        <p:spPr>
          <a:xfrm>
            <a:off x="4390880" y="3260000"/>
            <a:ext cx="3454400" cy="1560000"/>
          </a:xfrm>
          <a:prstGeom prst="rect">
            <a:avLst/>
          </a:prstGeom>
        </p:spPr>
        <p:txBody>
          <a:bodyPr lIns="0" tIns="0" rIns="0" bIns="0" anchor="t">
            <a:normAutofit/>
          </a:bodyPr>
          <a:lstStyle>
            <a:lvl1pPr marL="0" indent="0" algn="ctr">
              <a:lnSpc>
                <a:spcPct val="122000"/>
              </a:lnSpc>
              <a:defRPr sz="1500" b="0" i="0">
                <a:solidFill>
                  <a:srgbClr val="475569"/>
                </a:solidFill>
                <a:latin typeface="+mn-lt"/>
              </a:defRPr>
            </a:lvl1pPr>
          </a:lstStyle>
          <a:p>
            <a:endParaRPr lang="en-GB"/>
          </a:p>
        </p:txBody>
      </p:sp>
      <p:sp>
        <p:nvSpPr>
          <p:cNvPr id="19" name="Step 3 Circle"/>
          <p:cNvSpPr/>
          <p:nvPr/>
        </p:nvSpPr>
        <p:spPr>
          <a:xfrm>
            <a:off x="9519480" y="1840000"/>
            <a:ext cx="760000" cy="760000"/>
          </a:xfrm>
          <a:prstGeom prst="ellipse">
            <a:avLst/>
          </a:prstGeom>
          <a:solidFill>
            <a:srgbClr val="8B5CF6"/>
          </a:solidFill>
          <a:ln w="0">
            <a:noFill/>
          </a:ln>
        </p:spPr>
        <p:txBody>
          <a:bodyPr/>
          <a:lstStyle/>
          <a:p>
            <a:endParaRPr lang="en-GB"/>
          </a:p>
        </p:txBody>
      </p:sp>
      <p:sp>
        <p:nvSpPr>
          <p:cNvPr id="20" name="Step 3 Number"/>
          <p:cNvSpPr>
            <a:spLocks noGrp="1"/>
          </p:cNvSpPr>
          <p:nvPr>
            <p:ph type="body" idx="7"/>
          </p:nvPr>
        </p:nvSpPr>
        <p:spPr>
          <a:xfrm>
            <a:off x="9519480" y="1840000"/>
            <a:ext cx="760000" cy="760000"/>
          </a:xfrm>
          <a:prstGeom prst="rect">
            <a:avLst/>
          </a:prstGeom>
        </p:spPr>
        <p:txBody>
          <a:bodyPr lIns="0" tIns="0" rIns="0" bIns="0" anchor="ctr">
            <a:normAutofit/>
          </a:bodyPr>
          <a:lstStyle>
            <a:lvl1pPr marL="0" indent="0" algn="ctr">
              <a:defRPr sz="3200" b="1" i="0">
                <a:solidFill>
                  <a:srgbClr val="FFFFFF"/>
                </a:solidFill>
                <a:latin typeface="+mj-lt"/>
              </a:defRPr>
            </a:lvl1pPr>
          </a:lstStyle>
          <a:p>
            <a:endParaRPr lang="en-GB"/>
          </a:p>
        </p:txBody>
      </p:sp>
      <p:sp>
        <p:nvSpPr>
          <p:cNvPr id="21" name="Step 3 Heading"/>
          <p:cNvSpPr>
            <a:spLocks noGrp="1"/>
          </p:cNvSpPr>
          <p:nvPr>
            <p:ph type="body" idx="8"/>
          </p:nvPr>
        </p:nvSpPr>
        <p:spPr>
          <a:xfrm>
            <a:off x="8172280" y="2720000"/>
            <a:ext cx="3454400" cy="520000"/>
          </a:xfrm>
          <a:prstGeom prst="rect">
            <a:avLst/>
          </a:prstGeom>
        </p:spPr>
        <p:txBody>
          <a:bodyPr lIns="0" tIns="0" rIns="0" bIns="0" anchor="t">
            <a:normAutofit/>
          </a:bodyPr>
          <a:lstStyle>
            <a:lvl1pPr marL="0" indent="0" algn="ctr">
              <a:defRPr sz="1800" b="1" i="0">
                <a:solidFill>
                  <a:srgbClr val="0F172A"/>
                </a:solidFill>
                <a:latin typeface="+mj-lt"/>
              </a:defRPr>
            </a:lvl1pPr>
          </a:lstStyle>
          <a:p>
            <a:endParaRPr lang="en-GB"/>
          </a:p>
        </p:txBody>
      </p:sp>
      <p:sp>
        <p:nvSpPr>
          <p:cNvPr id="22" name="Step 3 Detail"/>
          <p:cNvSpPr>
            <a:spLocks noGrp="1"/>
          </p:cNvSpPr>
          <p:nvPr>
            <p:ph type="body" idx="9"/>
          </p:nvPr>
        </p:nvSpPr>
        <p:spPr>
          <a:xfrm>
            <a:off x="8172280" y="3260000"/>
            <a:ext cx="3454400" cy="1560000"/>
          </a:xfrm>
          <a:prstGeom prst="rect">
            <a:avLst/>
          </a:prstGeom>
        </p:spPr>
        <p:txBody>
          <a:bodyPr lIns="0" tIns="0" rIns="0" bIns="0" anchor="t">
            <a:normAutofit/>
          </a:bodyPr>
          <a:lstStyle>
            <a:lvl1pPr marL="0" indent="0" algn="ctr">
              <a:lnSpc>
                <a:spcPct val="122000"/>
              </a:lnSpc>
              <a:defRPr sz="1500" b="0" i="0">
                <a:solidFill>
                  <a:srgbClr val="475569"/>
                </a:solidFill>
                <a:latin typeface="+mn-lt"/>
              </a:defRPr>
            </a:lvl1pPr>
          </a:lstStyle>
          <a:p>
            <a:endParaRPr lang="en-GB"/>
          </a:p>
        </p:txBody>
      </p:sp>
      <p:sp>
        <p:nvSpPr>
          <p:cNvPr id="26"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27"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28"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29"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0"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0}" type="slidenum">
              <a:rPr lang="en-GB" sz="1100">
                <a:solidFill>
                  <a:srgbClr val="64748B"/>
                </a:solidFill>
              </a:rPr>
              <a:t>‹#›</a:t>
            </a:fld>
            <a:endParaRPr lang="en-GB" sz="1100">
              <a:solidFill>
                <a:srgbClr val="64748B"/>
              </a:solidFill>
            </a:endParaRPr>
          </a:p>
        </p:txBody>
      </p:sp>
      <p:sp>
        <p:nvSpPr>
          <p:cNvPr id="31"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Pricing / Tiers">
    <p:bg>
      <p:bgPr>
        <a:solidFill>
          <a:srgbClr val="FFFFFF"/>
        </a:solidFill>
        <a:effectLst/>
      </p:bgPr>
    </p:bg>
    <p:spTree>
      <p:nvGrpSpPr>
        <p:cNvPr id="1" name=""/>
        <p:cNvGrpSpPr/>
        <p:nvPr/>
      </p:nvGrpSpPr>
      <p:grpSpPr>
        <a:xfrm>
          <a:off x="0" y="0"/>
          <a:ext cx="0" cy="0"/>
          <a:chOff x="0" y="0"/>
          <a:chExt cx="0" cy="0"/>
        </a:xfrm>
      </p:grpSpPr>
      <p:sp>
        <p:nvSpPr>
          <p:cNvPr id="26"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27"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28"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1" name="Tier 1 Card"/>
          <p:cNvSpPr/>
          <p:nvPr/>
        </p:nvSpPr>
        <p:spPr>
          <a:xfrm>
            <a:off x="609480" y="1700000"/>
            <a:ext cx="3454400" cy="3900000"/>
          </a:xfrm>
          <a:prstGeom prst="roundRect">
            <a:avLst>
              <a:gd name="adj" fmla="val 4000"/>
            </a:avLst>
          </a:prstGeom>
          <a:solidFill>
            <a:srgbClr val="FFFFFF"/>
          </a:solidFill>
          <a:ln w="19050">
            <a:solidFill>
              <a:srgbClr val="64748B"/>
            </a:solidFill>
          </a:ln>
        </p:spPr>
        <p:txBody>
          <a:bodyPr/>
          <a:lstStyle/>
          <a:p>
            <a:endParaRPr lang="en-GB"/>
          </a:p>
        </p:txBody>
      </p:sp>
      <p:sp>
        <p:nvSpPr>
          <p:cNvPr id="12" name="Tier 1 Band"/>
          <p:cNvSpPr/>
          <p:nvPr/>
        </p:nvSpPr>
        <p:spPr>
          <a:xfrm>
            <a:off x="609480" y="1700000"/>
            <a:ext cx="3454400" cy="680000"/>
          </a:xfrm>
          <a:prstGeom prst="roundRect">
            <a:avLst>
              <a:gd name="adj" fmla="val 4000"/>
            </a:avLst>
          </a:prstGeom>
          <a:solidFill>
            <a:srgbClr val="64748B"/>
          </a:solidFill>
          <a:ln w="0">
            <a:noFill/>
          </a:ln>
        </p:spPr>
        <p:txBody>
          <a:bodyPr/>
          <a:lstStyle/>
          <a:p>
            <a:endParaRPr lang="en-GB"/>
          </a:p>
        </p:txBody>
      </p:sp>
      <p:sp>
        <p:nvSpPr>
          <p:cNvPr id="13" name="Tier 1 Name"/>
          <p:cNvSpPr>
            <a:spLocks noGrp="1"/>
          </p:cNvSpPr>
          <p:nvPr>
            <p:ph type="body" idx="1"/>
          </p:nvPr>
        </p:nvSpPr>
        <p:spPr>
          <a:xfrm>
            <a:off x="609480" y="1750000"/>
            <a:ext cx="3454400" cy="560000"/>
          </a:xfrm>
          <a:prstGeom prst="rect">
            <a:avLst/>
          </a:prstGeom>
        </p:spPr>
        <p:txBody>
          <a:bodyPr lIns="0" tIns="0" rIns="0" bIns="0" anchor="ctr">
            <a:normAutofit/>
          </a:bodyPr>
          <a:lstStyle>
            <a:lvl1pPr marL="0" indent="0" algn="ctr">
              <a:defRPr sz="1900" b="1" i="0">
                <a:solidFill>
                  <a:srgbClr val="FFFFFF"/>
                </a:solidFill>
                <a:latin typeface="+mj-lt"/>
              </a:defRPr>
            </a:lvl1pPr>
          </a:lstStyle>
          <a:p>
            <a:endParaRPr lang="en-GB"/>
          </a:p>
        </p:txBody>
      </p:sp>
      <p:sp>
        <p:nvSpPr>
          <p:cNvPr id="14" name="Tier 1 Price"/>
          <p:cNvSpPr>
            <a:spLocks noGrp="1"/>
          </p:cNvSpPr>
          <p:nvPr>
            <p:ph type="body" idx="2"/>
          </p:nvPr>
        </p:nvSpPr>
        <p:spPr>
          <a:xfrm>
            <a:off x="759480" y="2500000"/>
            <a:ext cx="3154400" cy="760000"/>
          </a:xfrm>
          <a:prstGeom prst="rect">
            <a:avLst/>
          </a:prstGeom>
        </p:spPr>
        <p:txBody>
          <a:bodyPr lIns="0" tIns="0" rIns="0" bIns="0" anchor="ctr">
            <a:normAutofit/>
          </a:bodyPr>
          <a:lstStyle>
            <a:lvl1pPr marL="0" indent="0" algn="ctr">
              <a:defRPr sz="3600" b="1" i="0">
                <a:solidFill>
                  <a:srgbClr val="0F172A"/>
                </a:solidFill>
                <a:latin typeface="+mj-lt"/>
              </a:defRPr>
            </a:lvl1pPr>
          </a:lstStyle>
          <a:p>
            <a:endParaRPr lang="en-GB"/>
          </a:p>
        </p:txBody>
      </p:sp>
      <p:sp>
        <p:nvSpPr>
          <p:cNvPr id="15" name="Tier 1 Features"/>
          <p:cNvSpPr>
            <a:spLocks noGrp="1"/>
          </p:cNvSpPr>
          <p:nvPr>
            <p:ph type="body" idx="3"/>
          </p:nvPr>
        </p:nvSpPr>
        <p:spPr>
          <a:xfrm>
            <a:off x="869480" y="3380000"/>
            <a:ext cx="2934400" cy="2100000"/>
          </a:xfrm>
          <a:prstGeom prst="rect">
            <a:avLst/>
          </a:prstGeom>
        </p:spPr>
        <p:txBody>
          <a:bodyPr lIns="0" tIns="0" rIns="0" bIns="0" anchor="t">
            <a:normAutofit/>
          </a:bodyPr>
          <a:lstStyle>
            <a:lvl1pPr marL="0" indent="0" algn="l">
              <a:lnSpc>
                <a:spcPct val="126000"/>
              </a:lnSpc>
              <a:defRPr sz="1400" b="0" i="0">
                <a:solidFill>
                  <a:srgbClr val="475569"/>
                </a:solidFill>
                <a:latin typeface="+mn-lt"/>
              </a:defRPr>
            </a:lvl1pPr>
          </a:lstStyle>
          <a:p>
            <a:endParaRPr lang="en-GB"/>
          </a:p>
        </p:txBody>
      </p:sp>
      <p:sp>
        <p:nvSpPr>
          <p:cNvPr id="16" name="Tier 2 Card"/>
          <p:cNvSpPr/>
          <p:nvPr/>
        </p:nvSpPr>
        <p:spPr>
          <a:xfrm>
            <a:off x="4390880" y="1700000"/>
            <a:ext cx="3454400" cy="3900000"/>
          </a:xfrm>
          <a:prstGeom prst="roundRect">
            <a:avLst>
              <a:gd name="adj" fmla="val 4000"/>
            </a:avLst>
          </a:prstGeom>
          <a:solidFill>
            <a:srgbClr val="FFFFFF"/>
          </a:solidFill>
          <a:ln w="19050">
            <a:solidFill>
              <a:srgbClr val="F7941E"/>
            </a:solidFill>
          </a:ln>
        </p:spPr>
        <p:txBody>
          <a:bodyPr/>
          <a:lstStyle/>
          <a:p>
            <a:endParaRPr lang="en-GB"/>
          </a:p>
        </p:txBody>
      </p:sp>
      <p:sp>
        <p:nvSpPr>
          <p:cNvPr id="17" name="Tier 2 Band"/>
          <p:cNvSpPr/>
          <p:nvPr/>
        </p:nvSpPr>
        <p:spPr>
          <a:xfrm>
            <a:off x="4390880" y="1700000"/>
            <a:ext cx="3454400" cy="680000"/>
          </a:xfrm>
          <a:prstGeom prst="roundRect">
            <a:avLst>
              <a:gd name="adj" fmla="val 4000"/>
            </a:avLst>
          </a:prstGeom>
          <a:solidFill>
            <a:srgbClr val="F7941E"/>
          </a:solidFill>
          <a:ln w="0">
            <a:noFill/>
          </a:ln>
        </p:spPr>
        <p:txBody>
          <a:bodyPr/>
          <a:lstStyle/>
          <a:p>
            <a:endParaRPr lang="en-GB"/>
          </a:p>
        </p:txBody>
      </p:sp>
      <p:sp>
        <p:nvSpPr>
          <p:cNvPr id="18" name="Tier 2 Name"/>
          <p:cNvSpPr>
            <a:spLocks noGrp="1"/>
          </p:cNvSpPr>
          <p:nvPr>
            <p:ph type="body" idx="4"/>
          </p:nvPr>
        </p:nvSpPr>
        <p:spPr>
          <a:xfrm>
            <a:off x="4390880" y="1750000"/>
            <a:ext cx="3454400" cy="560000"/>
          </a:xfrm>
          <a:prstGeom prst="rect">
            <a:avLst/>
          </a:prstGeom>
        </p:spPr>
        <p:txBody>
          <a:bodyPr lIns="0" tIns="0" rIns="0" bIns="0" anchor="ctr">
            <a:normAutofit/>
          </a:bodyPr>
          <a:lstStyle>
            <a:lvl1pPr marL="0" indent="0" algn="ctr">
              <a:defRPr sz="1900" b="1" i="0">
                <a:solidFill>
                  <a:srgbClr val="FFFFFF"/>
                </a:solidFill>
                <a:latin typeface="+mj-lt"/>
              </a:defRPr>
            </a:lvl1pPr>
          </a:lstStyle>
          <a:p>
            <a:endParaRPr lang="en-GB"/>
          </a:p>
        </p:txBody>
      </p:sp>
      <p:sp>
        <p:nvSpPr>
          <p:cNvPr id="19" name="Tier 2 Price"/>
          <p:cNvSpPr>
            <a:spLocks noGrp="1"/>
          </p:cNvSpPr>
          <p:nvPr>
            <p:ph type="body" idx="5"/>
          </p:nvPr>
        </p:nvSpPr>
        <p:spPr>
          <a:xfrm>
            <a:off x="4540880" y="2500000"/>
            <a:ext cx="3154400" cy="760000"/>
          </a:xfrm>
          <a:prstGeom prst="rect">
            <a:avLst/>
          </a:prstGeom>
        </p:spPr>
        <p:txBody>
          <a:bodyPr lIns="0" tIns="0" rIns="0" bIns="0" anchor="ctr">
            <a:normAutofit/>
          </a:bodyPr>
          <a:lstStyle>
            <a:lvl1pPr marL="0" indent="0" algn="ctr">
              <a:defRPr sz="3600" b="1" i="0">
                <a:solidFill>
                  <a:srgbClr val="0F172A"/>
                </a:solidFill>
                <a:latin typeface="+mj-lt"/>
              </a:defRPr>
            </a:lvl1pPr>
          </a:lstStyle>
          <a:p>
            <a:endParaRPr lang="en-GB"/>
          </a:p>
        </p:txBody>
      </p:sp>
      <p:sp>
        <p:nvSpPr>
          <p:cNvPr id="20" name="Tier 2 Features"/>
          <p:cNvSpPr>
            <a:spLocks noGrp="1"/>
          </p:cNvSpPr>
          <p:nvPr>
            <p:ph type="body" idx="6"/>
          </p:nvPr>
        </p:nvSpPr>
        <p:spPr>
          <a:xfrm>
            <a:off x="4650880" y="3380000"/>
            <a:ext cx="2934400" cy="2100000"/>
          </a:xfrm>
          <a:prstGeom prst="rect">
            <a:avLst/>
          </a:prstGeom>
        </p:spPr>
        <p:txBody>
          <a:bodyPr lIns="0" tIns="0" rIns="0" bIns="0" anchor="t">
            <a:normAutofit/>
          </a:bodyPr>
          <a:lstStyle>
            <a:lvl1pPr marL="0" indent="0" algn="l">
              <a:lnSpc>
                <a:spcPct val="126000"/>
              </a:lnSpc>
              <a:defRPr sz="1400" b="0" i="0">
                <a:solidFill>
                  <a:srgbClr val="475569"/>
                </a:solidFill>
                <a:latin typeface="+mn-lt"/>
              </a:defRPr>
            </a:lvl1pPr>
          </a:lstStyle>
          <a:p>
            <a:endParaRPr lang="en-GB"/>
          </a:p>
        </p:txBody>
      </p:sp>
      <p:sp>
        <p:nvSpPr>
          <p:cNvPr id="21" name="Tier 3 Card"/>
          <p:cNvSpPr/>
          <p:nvPr/>
        </p:nvSpPr>
        <p:spPr>
          <a:xfrm>
            <a:off x="8172280" y="1700000"/>
            <a:ext cx="3454400" cy="3900000"/>
          </a:xfrm>
          <a:prstGeom prst="roundRect">
            <a:avLst>
              <a:gd name="adj" fmla="val 4000"/>
            </a:avLst>
          </a:prstGeom>
          <a:solidFill>
            <a:srgbClr val="FFFFFF"/>
          </a:solidFill>
          <a:ln w="19050">
            <a:solidFill>
              <a:srgbClr val="3B82F6"/>
            </a:solidFill>
          </a:ln>
        </p:spPr>
        <p:txBody>
          <a:bodyPr/>
          <a:lstStyle/>
          <a:p>
            <a:endParaRPr lang="en-GB"/>
          </a:p>
        </p:txBody>
      </p:sp>
      <p:sp>
        <p:nvSpPr>
          <p:cNvPr id="22" name="Tier 3 Band"/>
          <p:cNvSpPr/>
          <p:nvPr/>
        </p:nvSpPr>
        <p:spPr>
          <a:xfrm>
            <a:off x="8172280" y="1700000"/>
            <a:ext cx="3454400" cy="680000"/>
          </a:xfrm>
          <a:prstGeom prst="roundRect">
            <a:avLst>
              <a:gd name="adj" fmla="val 4000"/>
            </a:avLst>
          </a:prstGeom>
          <a:solidFill>
            <a:srgbClr val="3B82F6"/>
          </a:solidFill>
          <a:ln w="0">
            <a:noFill/>
          </a:ln>
        </p:spPr>
        <p:txBody>
          <a:bodyPr/>
          <a:lstStyle/>
          <a:p>
            <a:endParaRPr lang="en-GB"/>
          </a:p>
        </p:txBody>
      </p:sp>
      <p:sp>
        <p:nvSpPr>
          <p:cNvPr id="23" name="Tier 3 Name"/>
          <p:cNvSpPr>
            <a:spLocks noGrp="1"/>
          </p:cNvSpPr>
          <p:nvPr>
            <p:ph type="body" idx="7"/>
          </p:nvPr>
        </p:nvSpPr>
        <p:spPr>
          <a:xfrm>
            <a:off x="8172280" y="1750000"/>
            <a:ext cx="3454400" cy="560000"/>
          </a:xfrm>
          <a:prstGeom prst="rect">
            <a:avLst/>
          </a:prstGeom>
        </p:spPr>
        <p:txBody>
          <a:bodyPr lIns="0" tIns="0" rIns="0" bIns="0" anchor="ctr">
            <a:normAutofit/>
          </a:bodyPr>
          <a:lstStyle>
            <a:lvl1pPr marL="0" indent="0" algn="ctr">
              <a:defRPr sz="1900" b="1" i="0">
                <a:solidFill>
                  <a:srgbClr val="FFFFFF"/>
                </a:solidFill>
                <a:latin typeface="+mj-lt"/>
              </a:defRPr>
            </a:lvl1pPr>
          </a:lstStyle>
          <a:p>
            <a:endParaRPr lang="en-GB"/>
          </a:p>
        </p:txBody>
      </p:sp>
      <p:sp>
        <p:nvSpPr>
          <p:cNvPr id="24" name="Tier 3 Price"/>
          <p:cNvSpPr>
            <a:spLocks noGrp="1"/>
          </p:cNvSpPr>
          <p:nvPr>
            <p:ph type="body" idx="8"/>
          </p:nvPr>
        </p:nvSpPr>
        <p:spPr>
          <a:xfrm>
            <a:off x="8322280" y="2500000"/>
            <a:ext cx="3154400" cy="760000"/>
          </a:xfrm>
          <a:prstGeom prst="rect">
            <a:avLst/>
          </a:prstGeom>
        </p:spPr>
        <p:txBody>
          <a:bodyPr lIns="0" tIns="0" rIns="0" bIns="0" anchor="ctr">
            <a:normAutofit/>
          </a:bodyPr>
          <a:lstStyle>
            <a:lvl1pPr marL="0" indent="0" algn="ctr">
              <a:defRPr sz="3600" b="1" i="0">
                <a:solidFill>
                  <a:srgbClr val="0F172A"/>
                </a:solidFill>
                <a:latin typeface="+mj-lt"/>
              </a:defRPr>
            </a:lvl1pPr>
          </a:lstStyle>
          <a:p>
            <a:endParaRPr lang="en-GB"/>
          </a:p>
        </p:txBody>
      </p:sp>
      <p:sp>
        <p:nvSpPr>
          <p:cNvPr id="25" name="Tier 3 Features"/>
          <p:cNvSpPr>
            <a:spLocks noGrp="1"/>
          </p:cNvSpPr>
          <p:nvPr>
            <p:ph type="body" idx="9"/>
          </p:nvPr>
        </p:nvSpPr>
        <p:spPr>
          <a:xfrm>
            <a:off x="8432280" y="3380000"/>
            <a:ext cx="2934400" cy="2100000"/>
          </a:xfrm>
          <a:prstGeom prst="rect">
            <a:avLst/>
          </a:prstGeom>
        </p:spPr>
        <p:txBody>
          <a:bodyPr lIns="0" tIns="0" rIns="0" bIns="0" anchor="t">
            <a:normAutofit/>
          </a:bodyPr>
          <a:lstStyle>
            <a:lvl1pPr marL="0" indent="0" algn="l">
              <a:lnSpc>
                <a:spcPct val="126000"/>
              </a:lnSpc>
              <a:defRPr sz="1400" b="0" i="0">
                <a:solidFill>
                  <a:srgbClr val="475569"/>
                </a:solidFill>
                <a:latin typeface="+mn-lt"/>
              </a:defRPr>
            </a:lvl1pPr>
          </a:lstStyle>
          <a:p>
            <a:endParaRPr lang="en-GB"/>
          </a:p>
        </p:txBody>
      </p:sp>
      <p:sp>
        <p:nvSpPr>
          <p:cNvPr id="29"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30"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31"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32"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3"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3}" type="slidenum">
              <a:rPr lang="en-GB" sz="1100">
                <a:solidFill>
                  <a:srgbClr val="64748B"/>
                </a:solidFill>
              </a:rPr>
              <a:t>‹#›</a:t>
            </a:fld>
            <a:endParaRPr lang="en-GB" sz="1100">
              <a:solidFill>
                <a:srgbClr val="64748B"/>
              </a:solidFill>
            </a:endParaRPr>
          </a:p>
        </p:txBody>
      </p:sp>
      <p:sp>
        <p:nvSpPr>
          <p:cNvPr id="34"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Table">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6"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7"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8"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8}" type="slidenum">
              <a:rPr lang="en-GB" sz="1100">
                <a:solidFill>
                  <a:srgbClr val="64748B"/>
                </a:solidFill>
              </a:rPr>
              <a:t>‹#›</a:t>
            </a:fld>
            <a:endParaRPr lang="en-GB" sz="1100">
              <a:solidFill>
                <a:srgbClr val="64748B"/>
              </a:solidFill>
            </a:endParaRPr>
          </a:p>
        </p:txBody>
      </p:sp>
      <p:sp>
        <p:nvSpPr>
          <p:cNvPr id="19"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Quote / Statement">
    <p:bg>
      <p:bgPr>
        <a:solidFill>
          <a:srgbClr val="0F172A"/>
        </a:solidFill>
        <a:effectLst/>
      </p:bgPr>
    </p:bg>
    <p:spTree>
      <p:nvGrpSpPr>
        <p:cNvPr id="1" name=""/>
        <p:cNvGrpSpPr/>
        <p:nvPr/>
      </p:nvGrpSpPr>
      <p:grpSpPr>
        <a:xfrm>
          <a:off x="0" y="0"/>
          <a:ext cx="0" cy="0"/>
          <a:chOff x="0" y="0"/>
          <a:chExt cx="0" cy="0"/>
        </a:xfrm>
      </p:grpSpPr>
      <p:sp>
        <p:nvSpPr>
          <p:cNvPr id="11" name="TopLine"/>
          <p:cNvSpPr/>
          <p:nvPr/>
        </p:nvSpPr>
        <p:spPr>
          <a:xfrm>
            <a:off x="0" y="0"/>
            <a:ext cx="12192000" cy="34560"/>
          </a:xfrm>
          <a:prstGeom prst="rect">
            <a:avLst/>
          </a:prstGeom>
          <a:gradFill rotWithShape="0">
            <a:gsLst>
              <a:gs pos="0">
                <a:srgbClr val="F7941E"/>
              </a:gs>
              <a:gs pos="40000">
                <a:srgbClr val="3B82F6"/>
              </a:gs>
              <a:gs pos="70000">
                <a:srgbClr val="8B5CF6"/>
              </a:gs>
              <a:gs pos="100000">
                <a:srgbClr val="EC4899"/>
              </a:gs>
            </a:gsLst>
            <a:lin ang="0"/>
          </a:gradFill>
          <a:ln w="0">
            <a:noFill/>
          </a:ln>
        </p:spPr>
        <p:txBody>
          <a:bodyPr/>
          <a:lstStyle/>
          <a:p>
            <a:endParaRPr lang="en-GB"/>
          </a:p>
        </p:txBody>
      </p:sp>
      <p:sp>
        <p:nvSpPr>
          <p:cNvPr id="12" name="GlowCircle"/>
          <p:cNvSpPr/>
          <p:nvPr/>
        </p:nvSpPr>
        <p:spPr>
          <a:xfrm>
            <a:off x="8229600" y="-914400"/>
            <a:ext cx="4569840" cy="4569840"/>
          </a:xfrm>
          <a:prstGeom prst="ellipse">
            <a:avLst/>
          </a:prstGeom>
          <a:gradFill rotWithShape="0">
            <a:gsLst>
              <a:gs pos="0">
                <a:srgbClr val="F7941E">
                  <a:alpha val="15000"/>
                </a:srgbClr>
              </a:gs>
              <a:gs pos="100000">
                <a:srgbClr val="F7941E">
                  <a:alpha val="0"/>
                </a:srgbClr>
              </a:gs>
            </a:gsLst>
            <a:path path="circle">
              <a:fillToRect l="50000" t="50000" r="50000" b="50000"/>
            </a:path>
          </a:gradFill>
          <a:ln w="0">
            <a:noFill/>
          </a:ln>
        </p:spPr>
        <p:txBody>
          <a:bodyPr/>
          <a:lstStyle/>
          <a:p>
            <a:endParaRPr lang="en-GB"/>
          </a:p>
        </p:txBody>
      </p:sp>
      <p:sp>
        <p:nvSpPr>
          <p:cNvPr id="13" name="QuoteMark"/>
          <p:cNvSpPr/>
          <p:nvPr/>
        </p:nvSpPr>
        <p:spPr>
          <a:xfrm>
            <a:off x="609480" y="1120000"/>
            <a:ext cx="1900000" cy="1400000"/>
          </a:xfrm>
          <a:prstGeom prst="rect">
            <a:avLst/>
          </a:prstGeom>
          <a:noFill/>
        </p:spPr>
        <p:txBody>
          <a:bodyPr lIns="0" tIns="0" rIns="0" bIns="0">
            <a:noAutofit/>
          </a:bodyPr>
          <a:lstStyle/>
          <a:p>
            <a:r>
              <a:rPr lang="en-GB" sz="9600" b="1">
                <a:solidFill>
                  <a:srgbClr val="F7941E"/>
                </a:solidFill>
                <a:latin typeface="+mj-lt"/>
              </a:rPr>
              <a:t>“</a:t>
            </a:r>
          </a:p>
        </p:txBody>
      </p:sp>
      <p:sp>
        <p:nvSpPr>
          <p:cNvPr id="14" name="Quote"/>
          <p:cNvSpPr>
            <a:spLocks noGrp="1"/>
          </p:cNvSpPr>
          <p:nvPr>
            <p:ph type="body" idx="1"/>
          </p:nvPr>
        </p:nvSpPr>
        <p:spPr>
          <a:xfrm>
            <a:off x="609480" y="2520000"/>
            <a:ext cx="10973040" cy="2200000"/>
          </a:xfrm>
          <a:prstGeom prst="rect">
            <a:avLst/>
          </a:prstGeom>
        </p:spPr>
        <p:txBody>
          <a:bodyPr lIns="0" tIns="0" rIns="0" bIns="0" anchor="t">
            <a:normAutofit/>
          </a:bodyPr>
          <a:lstStyle>
            <a:lvl1pPr marL="0" indent="0" algn="l">
              <a:lnSpc>
                <a:spcPct val="116000"/>
              </a:lnSpc>
              <a:defRPr sz="3200" b="0" i="0">
                <a:solidFill>
                  <a:srgbClr val="FFFFFF"/>
                </a:solidFill>
                <a:latin typeface="+mj-lt"/>
              </a:defRPr>
            </a:lvl1pPr>
          </a:lstStyle>
          <a:p>
            <a:endParaRPr lang="en-GB"/>
          </a:p>
        </p:txBody>
      </p:sp>
      <p:sp>
        <p:nvSpPr>
          <p:cNvPr id="15" name="Attribution"/>
          <p:cNvSpPr>
            <a:spLocks noGrp="1"/>
          </p:cNvSpPr>
          <p:nvPr>
            <p:ph type="body" idx="11"/>
          </p:nvPr>
        </p:nvSpPr>
        <p:spPr>
          <a:xfrm>
            <a:off x="609480" y="4900000"/>
            <a:ext cx="10973040" cy="460000"/>
          </a:xfrm>
          <a:prstGeom prst="rect">
            <a:avLst/>
          </a:prstGeom>
        </p:spPr>
        <p:txBody>
          <a:bodyPr lIns="0" tIns="0" rIns="0" bIns="0" anchor="t">
            <a:normAutofit/>
          </a:bodyPr>
          <a:lstStyle>
            <a:lvl1pPr marL="0" indent="0" algn="l">
              <a:defRPr sz="1600" b="0" i="0">
                <a:solidFill>
                  <a:srgbClr val="94A3B8"/>
                </a:solidFill>
                <a:latin typeface="+mn-lt"/>
              </a:defRPr>
            </a:lvl1pPr>
          </a:lstStyle>
          <a:p>
            <a:endParaRPr lang="en-GB"/>
          </a:p>
        </p:txBody>
      </p:sp>
      <p:sp>
        <p:nvSpPr>
          <p:cNvPr id="16"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FFFFFF"/>
                </a:solidFill>
              </a:rPr>
              <a:t>Spark</a:t>
            </a:r>
          </a:p>
        </p:txBody>
      </p:sp>
      <p:sp>
        <p:nvSpPr>
          <p:cNvPr id="17"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7}" type="slidenum">
              <a:rPr lang="en-GB" sz="1100">
                <a:solidFill>
                  <a:srgbClr val="94A3B8"/>
                </a:solidFill>
              </a:rPr>
              <a:t>‹#›</a:t>
            </a:fld>
            <a:endParaRPr lang="en-GB" sz="1100">
              <a:solidFill>
                <a:srgbClr val="94A3B8"/>
              </a:solidFill>
            </a:endParaRPr>
          </a:p>
        </p:txBody>
      </p:sp>
      <p:sp>
        <p:nvSpPr>
          <p:cNvPr id="18"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losing">
    <p:bg>
      <p:bgPr>
        <a:solidFill>
          <a:srgbClr val="0F172A"/>
        </a:solidFill>
        <a:effectLst/>
      </p:bgPr>
    </p:bg>
    <p:spTree>
      <p:nvGrpSpPr>
        <p:cNvPr id="1" name=""/>
        <p:cNvGrpSpPr/>
        <p:nvPr/>
      </p:nvGrpSpPr>
      <p:grpSpPr>
        <a:xfrm>
          <a:off x="0" y="0"/>
          <a:ext cx="0" cy="0"/>
          <a:chOff x="0" y="0"/>
          <a:chExt cx="0" cy="0"/>
        </a:xfrm>
      </p:grpSpPr>
      <p:sp>
        <p:nvSpPr>
          <p:cNvPr id="11" name="TopLine"/>
          <p:cNvSpPr/>
          <p:nvPr/>
        </p:nvSpPr>
        <p:spPr>
          <a:xfrm>
            <a:off x="0" y="0"/>
            <a:ext cx="12192000" cy="34560"/>
          </a:xfrm>
          <a:prstGeom prst="rect">
            <a:avLst/>
          </a:prstGeom>
          <a:gradFill rotWithShape="0">
            <a:gsLst>
              <a:gs pos="0">
                <a:srgbClr val="F7941E"/>
              </a:gs>
              <a:gs pos="40000">
                <a:srgbClr val="3B82F6"/>
              </a:gs>
              <a:gs pos="70000">
                <a:srgbClr val="8B5CF6"/>
              </a:gs>
              <a:gs pos="100000">
                <a:srgbClr val="EC4899"/>
              </a:gs>
            </a:gsLst>
            <a:lin ang="0"/>
          </a:gradFill>
          <a:ln w="0">
            <a:noFill/>
          </a:ln>
        </p:spPr>
        <p:txBody>
          <a:bodyPr/>
          <a:lstStyle/>
          <a:p>
            <a:endParaRPr lang="en-GB"/>
          </a:p>
        </p:txBody>
      </p:sp>
      <p:sp>
        <p:nvSpPr>
          <p:cNvPr id="12" name="GlowCircle"/>
          <p:cNvSpPr/>
          <p:nvPr/>
        </p:nvSpPr>
        <p:spPr>
          <a:xfrm>
            <a:off x="8229600" y="-914400"/>
            <a:ext cx="4569840" cy="4569840"/>
          </a:xfrm>
          <a:prstGeom prst="ellipse">
            <a:avLst/>
          </a:prstGeom>
          <a:gradFill rotWithShape="0">
            <a:gsLst>
              <a:gs pos="0">
                <a:srgbClr val="F7941E">
                  <a:alpha val="15000"/>
                </a:srgbClr>
              </a:gs>
              <a:gs pos="100000">
                <a:srgbClr val="F7941E">
                  <a:alpha val="0"/>
                </a:srgbClr>
              </a:gs>
            </a:gsLst>
            <a:path path="circle">
              <a:fillToRect l="50000" t="50000" r="50000" b="50000"/>
            </a:path>
          </a:gradFill>
          <a:ln w="0">
            <a:noFill/>
          </a:ln>
        </p:spPr>
        <p:txBody>
          <a:bodyPr/>
          <a:lstStyle/>
          <a:p>
            <a:endParaRPr lang="en-GB"/>
          </a:p>
        </p:txBody>
      </p:sp>
      <p:sp>
        <p:nvSpPr>
          <p:cNvPr id="13" name="LeftAccent"/>
          <p:cNvSpPr/>
          <p:nvPr/>
        </p:nvSpPr>
        <p:spPr>
          <a:xfrm>
            <a:off x="731520" y="1371600"/>
            <a:ext cx="45720" cy="3108960"/>
          </a:xfrm>
          <a:prstGeom prst="rect">
            <a:avLst/>
          </a:prstGeom>
          <a:solidFill>
            <a:srgbClr val="F7941E"/>
          </a:solidFill>
          <a:ln w="0">
            <a:noFill/>
          </a:ln>
        </p:spPr>
        <p:txBody>
          <a:bodyPr/>
          <a:lstStyle/>
          <a:p>
            <a:endParaRPr lang="en-GB"/>
          </a:p>
        </p:txBody>
      </p:sp>
      <p:sp>
        <p:nvSpPr>
          <p:cNvPr id="14" name="Title"/>
          <p:cNvSpPr>
            <a:spLocks noGrp="1"/>
          </p:cNvSpPr>
          <p:nvPr>
            <p:ph type="title"/>
          </p:nvPr>
        </p:nvSpPr>
        <p:spPr>
          <a:xfrm>
            <a:off x="914400" y="1371600"/>
            <a:ext cx="9599040" cy="1097280"/>
          </a:xfrm>
          <a:prstGeom prst="rect">
            <a:avLst/>
          </a:prstGeom>
        </p:spPr>
        <p:txBody>
          <a:bodyPr lIns="0" tIns="0" rIns="0" bIns="0" anchor="t">
            <a:normAutofit/>
          </a:bodyPr>
          <a:lstStyle>
            <a:lvl1pPr marL="0" indent="0" algn="l">
              <a:defRPr sz="5400" b="1" i="0">
                <a:solidFill>
                  <a:srgbClr val="FFFFFF"/>
                </a:solidFill>
                <a:latin typeface="+mj-lt"/>
              </a:defRPr>
            </a:lvl1pPr>
          </a:lstStyle>
          <a:p>
            <a:endParaRPr lang="en-GB"/>
          </a:p>
        </p:txBody>
      </p:sp>
      <p:sp>
        <p:nvSpPr>
          <p:cNvPr id="15" name="Divider"/>
          <p:cNvSpPr/>
          <p:nvPr/>
        </p:nvSpPr>
        <p:spPr>
          <a:xfrm>
            <a:off x="914400" y="2480000"/>
            <a:ext cx="3200400" cy="22860"/>
          </a:xfrm>
          <a:prstGeom prst="rect">
            <a:avLst/>
          </a:prstGeom>
          <a:solidFill>
            <a:srgbClr val="F7941E"/>
          </a:solidFill>
          <a:ln w="0">
            <a:noFill/>
          </a:ln>
        </p:spPr>
        <p:txBody>
          <a:bodyPr/>
          <a:lstStyle/>
          <a:p>
            <a:endParaRPr lang="en-GB"/>
          </a:p>
        </p:txBody>
      </p:sp>
      <p:sp>
        <p:nvSpPr>
          <p:cNvPr id="16" name="Name"/>
          <p:cNvSpPr>
            <a:spLocks noGrp="1"/>
          </p:cNvSpPr>
          <p:nvPr>
            <p:ph type="body" idx="1"/>
          </p:nvPr>
        </p:nvSpPr>
        <p:spPr>
          <a:xfrm>
            <a:off x="914400" y="2620000"/>
            <a:ext cx="5400000" cy="460000"/>
          </a:xfrm>
          <a:prstGeom prst="rect">
            <a:avLst/>
          </a:prstGeom>
        </p:spPr>
        <p:txBody>
          <a:bodyPr lIns="0" tIns="0" rIns="0" bIns="0" anchor="t">
            <a:normAutofit/>
          </a:bodyPr>
          <a:lstStyle>
            <a:lvl1pPr marL="0" indent="0" algn="l">
              <a:defRPr sz="2000" b="1" i="0">
                <a:solidFill>
                  <a:srgbClr val="FFFFFF"/>
                </a:solidFill>
                <a:latin typeface="+mj-lt"/>
              </a:defRPr>
            </a:lvl1pPr>
          </a:lstStyle>
          <a:p>
            <a:endParaRPr lang="en-GB"/>
          </a:p>
        </p:txBody>
      </p:sp>
      <p:sp>
        <p:nvSpPr>
          <p:cNvPr id="17" name="Role / Title"/>
          <p:cNvSpPr>
            <a:spLocks noGrp="1"/>
          </p:cNvSpPr>
          <p:nvPr>
            <p:ph type="body" idx="11"/>
          </p:nvPr>
        </p:nvSpPr>
        <p:spPr>
          <a:xfrm>
            <a:off x="914400" y="3090000"/>
            <a:ext cx="5400000" cy="380000"/>
          </a:xfrm>
          <a:prstGeom prst="rect">
            <a:avLst/>
          </a:prstGeom>
        </p:spPr>
        <p:txBody>
          <a:bodyPr lIns="0" tIns="0" rIns="0" bIns="0" anchor="t">
            <a:normAutofit/>
          </a:bodyPr>
          <a:lstStyle>
            <a:lvl1pPr marL="0" indent="0" algn="l">
              <a:defRPr sz="1600" b="1" i="0">
                <a:solidFill>
                  <a:srgbClr val="F7941E"/>
                </a:solidFill>
                <a:latin typeface="+mn-lt"/>
              </a:defRPr>
            </a:lvl1pPr>
          </a:lstStyle>
          <a:p>
            <a:endParaRPr lang="en-GB"/>
          </a:p>
        </p:txBody>
      </p:sp>
      <p:sp>
        <p:nvSpPr>
          <p:cNvPr id="18" name="Contact details"/>
          <p:cNvSpPr>
            <a:spLocks noGrp="1"/>
          </p:cNvSpPr>
          <p:nvPr>
            <p:ph type="body" idx="2"/>
          </p:nvPr>
        </p:nvSpPr>
        <p:spPr>
          <a:xfrm>
            <a:off x="914400" y="3620000"/>
            <a:ext cx="5400000" cy="1500000"/>
          </a:xfrm>
          <a:prstGeom prst="rect">
            <a:avLst/>
          </a:prstGeom>
        </p:spPr>
        <p:txBody>
          <a:bodyPr lIns="0" tIns="0" rIns="0" bIns="0" anchor="t">
            <a:normAutofit/>
          </a:bodyPr>
          <a:lstStyle>
            <a:lvl1pPr marL="0" indent="0" algn="l">
              <a:lnSpc>
                <a:spcPct val="132000"/>
              </a:lnSpc>
              <a:defRPr sz="1500" b="0" i="0">
                <a:solidFill>
                  <a:srgbClr val="E2E8F0"/>
                </a:solidFill>
                <a:latin typeface="+mn-lt"/>
              </a:defRPr>
            </a:lvl1pPr>
          </a:lstStyle>
          <a:p>
            <a:endParaRPr lang="en-GB"/>
          </a:p>
        </p:txBody>
      </p:sp>
      <p:sp>
        <p:nvSpPr>
          <p:cNvPr id="19" name="Second-Column Heading"/>
          <p:cNvSpPr>
            <a:spLocks noGrp="1"/>
          </p:cNvSpPr>
          <p:nvPr>
            <p:ph type="body" idx="3"/>
          </p:nvPr>
        </p:nvSpPr>
        <p:spPr>
          <a:xfrm>
            <a:off x="6858000" y="3090000"/>
            <a:ext cx="4700000" cy="380000"/>
          </a:xfrm>
          <a:prstGeom prst="rect">
            <a:avLst/>
          </a:prstGeom>
        </p:spPr>
        <p:txBody>
          <a:bodyPr lIns="0" tIns="0" rIns="0" bIns="0" anchor="t">
            <a:normAutofit/>
          </a:bodyPr>
          <a:lstStyle>
            <a:lvl1pPr marL="0" indent="0" algn="l">
              <a:defRPr sz="1400" b="1" i="0" spc="200">
                <a:solidFill>
                  <a:srgbClr val="F7941E"/>
                </a:solidFill>
                <a:latin typeface="+mn-lt"/>
              </a:defRPr>
            </a:lvl1pPr>
          </a:lstStyle>
          <a:p>
            <a:endParaRPr lang="en-GB"/>
          </a:p>
        </p:txBody>
      </p:sp>
      <p:sp>
        <p:nvSpPr>
          <p:cNvPr id="20" name="Second-Column Content"/>
          <p:cNvSpPr>
            <a:spLocks noGrp="1"/>
          </p:cNvSpPr>
          <p:nvPr>
            <p:ph type="body" idx="4"/>
          </p:nvPr>
        </p:nvSpPr>
        <p:spPr>
          <a:xfrm>
            <a:off x="6858000" y="3560000"/>
            <a:ext cx="4700000" cy="1560000"/>
          </a:xfrm>
          <a:prstGeom prst="rect">
            <a:avLst/>
          </a:prstGeom>
        </p:spPr>
        <p:txBody>
          <a:bodyPr lIns="0" tIns="0" rIns="0" bIns="0" anchor="t">
            <a:normAutofit/>
          </a:bodyPr>
          <a:lstStyle>
            <a:lvl1pPr marL="0" indent="0" algn="l">
              <a:lnSpc>
                <a:spcPct val="130000"/>
              </a:lnSpc>
              <a:defRPr sz="1400" b="0" i="0">
                <a:solidFill>
                  <a:srgbClr val="E2E8F0"/>
                </a:solidFill>
                <a:latin typeface="+mn-lt"/>
              </a:defRPr>
            </a:lvl1pPr>
          </a:lstStyle>
          <a:p>
            <a:endParaRPr lang="en-GB"/>
          </a:p>
        </p:txBody>
      </p:sp>
      <p:sp>
        <p:nvSpPr>
          <p:cNvPr id="21"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FFFFFF"/>
                </a:solidFill>
              </a:rPr>
              <a:t>Spark</a:t>
            </a:r>
          </a:p>
        </p:txBody>
      </p:sp>
      <p:sp>
        <p:nvSpPr>
          <p:cNvPr id="22"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11"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2"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2}" type="slidenum">
              <a:rPr lang="en-GB" sz="1100">
                <a:solidFill>
                  <a:srgbClr val="64748B"/>
                </a:solidFill>
              </a:rPr>
              <a:t>‹#›</a:t>
            </a:fld>
            <a:endParaRPr lang="en-GB" sz="1100">
              <a:solidFill>
                <a:srgbClr val="64748B"/>
              </a:solidFill>
            </a:endParaRPr>
          </a:p>
        </p:txBody>
      </p:sp>
      <p:sp>
        <p:nvSpPr>
          <p:cNvPr id="13"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609480" y="350000"/>
            <a:ext cx="10973040" cy="820000"/>
          </a:xfrm>
          <a:prstGeom prst="rect">
            <a:avLst/>
          </a:prstGeom>
        </p:spPr>
        <p:txBody>
          <a:bodyPr lIns="0" tIns="0" rIns="0" bIns="0" anchor="ctr">
            <a:noAutofit/>
          </a:bodyPr>
          <a:lstStyle/>
          <a:p>
            <a:r>
              <a:rPr lang="en-GB"/>
              <a:t>Click to edit Master title</a:t>
            </a:r>
          </a:p>
        </p:txBody>
      </p:sp>
      <p:sp>
        <p:nvSpPr>
          <p:cNvPr id="3" name="Body Placeholder"/>
          <p:cNvSpPr>
            <a:spLocks noGrp="1"/>
          </p:cNvSpPr>
          <p:nvPr>
            <p:ph type="body" idx="1"/>
          </p:nvPr>
        </p:nvSpPr>
        <p:spPr>
          <a:xfrm>
            <a:off x="609480" y="1500000"/>
            <a:ext cx="10973040" cy="4700000"/>
          </a:xfrm>
          <a:prstGeom prst="rect">
            <a:avLst/>
          </a:prstGeom>
        </p:spPr>
        <p:txBody>
          <a:bodyPr lIns="0" tIns="0" rIns="0" bIns="0">
            <a:normAutofit/>
          </a:bodyPr>
          <a:lstStyle/>
          <a:p>
            <a:pPr lvl="0"/>
            <a:r>
              <a:rPr lang="en-GB"/>
              <a:t>Master text styles</a:t>
            </a:r>
          </a:p>
        </p:txBody>
      </p:sp>
      <p:sp>
        <p:nvSpPr>
          <p:cNvPr id="904"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905"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905}" type="slidenum">
              <a:rPr lang="en-GB" sz="1100">
                <a:solidFill>
                  <a:srgbClr val="64748B"/>
                </a:solidFill>
              </a:rPr>
              <a:t>‹#›</a:t>
            </a:fld>
            <a:endParaRPr lang="en-GB" sz="1100">
              <a:solidFill>
                <a:srgbClr val="64748B"/>
              </a:solidFill>
            </a:endParaRPr>
          </a:p>
        </p:txBody>
      </p:sp>
      <p:sp>
        <p:nvSpPr>
          <p:cNvPr id="901"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a:lnSpc>
          <a:spcPct val="100000"/>
        </a:lnSpc>
        <a:defRPr sz="3600" b="1">
          <a:solidFill>
            <a:srgbClr val="0F172A"/>
          </a:solidFill>
          <a:latin typeface="+mj-lt"/>
        </a:defRPr>
      </a:lvl1pPr>
    </p:titleStyle>
    <p:bodyStyle>
      <a:lvl1pPr marL="0" indent="0">
        <a:lnSpc>
          <a:spcPct val="118000"/>
        </a:lnSpc>
        <a:spcBef>
          <a:spcPts val="600"/>
        </a:spcBef>
        <a:buNone/>
        <a:defRPr sz="1600">
          <a:solidFill>
            <a:srgbClr val="475569"/>
          </a:solidFill>
          <a:latin typeface="+mn-lt"/>
        </a:defRPr>
      </a:lvl1pPr>
      <a:lvl2pPr marL="274320" indent="-274320">
        <a:lnSpc>
          <a:spcPct val="118000"/>
        </a:lnSpc>
        <a:spcBef>
          <a:spcPts val="500"/>
        </a:spcBef>
        <a:buClr>
          <a:srgbClr val="F7941E"/>
        </a:buClr>
        <a:buFont typeface="Arial"/>
        <a:buChar char="•"/>
        <a:defRPr sz="1500">
          <a:solidFill>
            <a:srgbClr val="475569"/>
          </a:solidFill>
          <a:latin typeface="+mn-lt"/>
        </a:defRPr>
      </a:lvl2pPr>
      <a:lvl3pPr marL="548640" indent="-274320">
        <a:spcBef>
          <a:spcPts val="300"/>
        </a:spcBef>
        <a:buClr>
          <a:srgbClr val="94A3B8"/>
        </a:buClr>
        <a:buFont typeface="Arial"/>
        <a:buChar char="–"/>
        <a:defRPr sz="1400">
          <a:solidFill>
            <a:srgbClr val="475569"/>
          </a:solidFill>
        </a:defRPr>
      </a:lvl3pPr>
    </p:bodyStyle>
    <p:otherStyle>
      <a:defPPr>
        <a:defRPr lang="en-GB"/>
      </a:def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r>
              <a:t>Reiss</a:t>
            </a:r>
          </a:p>
        </p:txBody>
      </p:sp>
      <p:sp>
        <p:nvSpPr>
          <p:cNvPr id="3" name="Subtitle 2"/>
          <p:cNvSpPr>
            <a:spLocks noGrp="1"/>
          </p:cNvSpPr>
          <p:nvPr>
            <p:ph type="subTitle" idx="1"/>
          </p:nvPr>
        </p:nvSpPr>
        <p:spPr/>
        <p:txBody>
          <a:bodyPr wrap="square"/>
          <a:lstStyle/>
          <a:p>
            <a:r>
              <a:t>Account Introduction · Aug 2026</a:t>
            </a:r>
          </a:p>
        </p:txBody>
      </p:sp>
      <p:sp>
        <p:nvSpPr>
          <p:cNvPr id="4" name="Text Placeholder 3"/>
          <p:cNvSpPr>
            <a:spLocks noGrp="1"/>
          </p:cNvSpPr>
          <p:nvPr>
            <p:ph type="body" idx="11"/>
          </p:nvPr>
        </p:nvSpPr>
        <p:spPr/>
        <p:txBody>
          <a:bodyPr wrap="square"/>
          <a:lstStyle/>
          <a:p>
            <a:r>
              <a:t>Client Reiss  ·  Market UK + 29 markets  ·  Cycle Account introduction · Aug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2430"/>
              <a:t>"The feed becomes transaction infrastructure - In agentic commerce, a feed error can affect not only visibility but also the agent's recommendation, cart logic, displayed total, legal notice and ability to complete checkout. Accuracy, identifiers and policy data become commercial controls"</a:t>
            </a:r>
          </a:p>
          <a:p>
            <a:r>
              <a:rPr sz="2430"/>
              <a:t>Google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What we'll cover</a:t>
            </a:r>
          </a:p>
        </p:txBody>
      </p:sp>
      <p:sp>
        <p:nvSpPr>
          <p:cNvPr id="3" name="Text Placeholder 2"/>
          <p:cNvSpPr>
            <a:spLocks noGrp="1"/>
          </p:cNvSpPr>
          <p:nvPr>
            <p:ph type="body" idx="11"/>
          </p:nvPr>
        </p:nvSpPr>
        <p:spPr/>
        <p:txBody>
          <a:bodyPr wrap="square"/>
          <a:lstStyle/>
          <a:p>
            <a:r>
              <a:t>Nine sections, three sources — all verified.</a:t>
            </a:r>
          </a:p>
        </p:txBody>
      </p:sp>
      <p:sp>
        <p:nvSpPr>
          <p:cNvPr id="4" name="Text Placeholder 3"/>
          <p:cNvSpPr>
            <a:spLocks noGrp="1"/>
          </p:cNvSpPr>
          <p:nvPr>
            <p:ph type="body" idx="1"/>
          </p:nvPr>
        </p:nvSpPr>
        <p:spPr/>
        <p:txBody>
          <a:bodyPr wrap="square"/>
          <a:lstStyle/>
          <a:p>
            <a:r>
              <a:t>01  Service scope &amp; scale — 29 markets · 60 feeds · 179,646 confirmed SKUs in GB/DE/FR</a:t>
            </a:r>
          </a:p>
          <a:p>
            <a:r>
              <a:t>02  The AI landscape — Why agentic commerce changes discovery for fashion</a:t>
            </a:r>
          </a:p>
          <a:p>
            <a:r>
              <a:t>03  Spark AI engine (Tachyon) — Intent generation, enrichment, visual harvest</a:t>
            </a:r>
          </a:p>
          <a:p>
            <a:r>
              <a:t>04  Tech fit — Why the stack fits Reiss specifically</a:t>
            </a:r>
          </a:p>
          <a:p>
            <a:r>
              <a:t>05  Case studies / test wins — Proof from this account, then the wider FeedSpark book</a:t>
            </a:r>
          </a:p>
        </p:txBody>
      </p:sp>
      <p:sp>
        <p:nvSpPr>
          <p:cNvPr id="5" name="Text Placeholder 4"/>
          <p:cNvSpPr>
            <a:spLocks noGrp="1"/>
          </p:cNvSpPr>
          <p:nvPr>
            <p:ph type="body" idx="2"/>
          </p:nvPr>
        </p:nvSpPr>
        <p:spPr/>
        <p:txBody>
          <a:bodyPr wrap="square"/>
          <a:lstStyle/>
          <a:p>
            <a:r>
              <a:t>06  Review &amp; project recap — 469 tasks in plan · 447 delivered</a:t>
            </a:r>
          </a:p>
          <a:p>
            <a:r>
              <a:t>07  The value delivered — 1,182.25 hours logged — 45% of them non-billable</a:t>
            </a:r>
          </a:p>
          <a:p>
            <a:r>
              <a:t>08  Number of wins / results — 2-year A/B archive, 38 tests, honestly scored</a:t>
            </a:r>
          </a:p>
          <a:p>
            <a:r>
              <a:t>09  Team &amp; ways of working — Who runs what, and how work moves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one</a:t>
            </a:r>
          </a:p>
        </p:txBody>
      </p:sp>
      <p:sp>
        <p:nvSpPr>
          <p:cNvPr id="3" name="Title 2"/>
          <p:cNvSpPr>
            <a:spLocks noGrp="1"/>
          </p:cNvSpPr>
          <p:nvPr>
            <p:ph type="title"/>
          </p:nvPr>
        </p:nvSpPr>
        <p:spPr/>
        <p:txBody>
          <a:bodyPr wrap="square"/>
          <a:lstStyle/>
          <a:p>
            <a:r>
              <a:t>Service Scope &amp; Scale</a:t>
            </a:r>
          </a:p>
        </p:txBody>
      </p:sp>
      <p:sp>
        <p:nvSpPr>
          <p:cNvPr id="4" name="Text Placeholder 3"/>
          <p:cNvSpPr>
            <a:spLocks noGrp="1"/>
          </p:cNvSpPr>
          <p:nvPr>
            <p:ph type="body" idx="1"/>
          </p:nvPr>
        </p:nvSpPr>
        <p:spPr/>
        <p:txBody>
          <a:bodyPr wrap="square"/>
          <a:lstStyle/>
          <a:p>
            <a:r>
              <a:t>29 markets, 60 feeds, one catalogue — the shape of the account.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Service Scope &amp; Scale</a:t>
            </a:r>
          </a:p>
        </p:txBody>
      </p:sp>
      <p:sp>
        <p:nvSpPr>
          <p:cNvPr id="4" name="Text Placeholder 3"/>
          <p:cNvSpPr>
            <a:spLocks noGrp="1"/>
          </p:cNvSpPr>
          <p:nvPr>
            <p:ph type="body" idx="1"/>
          </p:nvPr>
        </p:nvSpPr>
        <p:spPr/>
        <p:txBody>
          <a:bodyPr wrap="square"/>
          <a:lstStyle/>
          <a:p>
            <a:r>
              <a:t>29</a:t>
            </a:r>
          </a:p>
        </p:txBody>
      </p:sp>
      <p:sp>
        <p:nvSpPr>
          <p:cNvPr id="5" name="Text Placeholder 4"/>
          <p:cNvSpPr>
            <a:spLocks noGrp="1"/>
          </p:cNvSpPr>
          <p:nvPr>
            <p:ph type="body" idx="2"/>
          </p:nvPr>
        </p:nvSpPr>
        <p:spPr/>
        <p:txBody>
          <a:bodyPr wrap="square"/>
          <a:lstStyle/>
          <a:p>
            <a:r>
              <a:t>Markets</a:t>
            </a:r>
          </a:p>
        </p:txBody>
      </p:sp>
      <p:sp>
        <p:nvSpPr>
          <p:cNvPr id="6" name="Text Placeholder 5"/>
          <p:cNvSpPr>
            <a:spLocks noGrp="1"/>
          </p:cNvSpPr>
          <p:nvPr>
            <p:ph type="body" idx="3"/>
          </p:nvPr>
        </p:nvSpPr>
        <p:spPr/>
        <p:txBody>
          <a:bodyPr wrap="square"/>
          <a:lstStyle/>
          <a:p>
            <a:r>
              <a:t>60</a:t>
            </a:r>
          </a:p>
        </p:txBody>
      </p:sp>
      <p:sp>
        <p:nvSpPr>
          <p:cNvPr id="7" name="Text Placeholder 6"/>
          <p:cNvSpPr>
            <a:spLocks noGrp="1"/>
          </p:cNvSpPr>
          <p:nvPr>
            <p:ph type="body" idx="4"/>
          </p:nvPr>
        </p:nvSpPr>
        <p:spPr/>
        <p:txBody>
          <a:bodyPr wrap="square"/>
          <a:lstStyle/>
          <a:p>
            <a:r>
              <a:t>Feeds</a:t>
            </a:r>
          </a:p>
        </p:txBody>
      </p:sp>
      <p:sp>
        <p:nvSpPr>
          <p:cNvPr id="8" name="Text Placeholder 7"/>
          <p:cNvSpPr>
            <a:spLocks noGrp="1"/>
          </p:cNvSpPr>
          <p:nvPr>
            <p:ph type="body" idx="5"/>
          </p:nvPr>
        </p:nvSpPr>
        <p:spPr/>
        <p:txBody>
          <a:bodyPr wrap="square"/>
          <a:lstStyle/>
          <a:p>
            <a:r>
              <a:t>2</a:t>
            </a:r>
          </a:p>
        </p:txBody>
      </p:sp>
      <p:sp>
        <p:nvSpPr>
          <p:cNvPr id="9" name="Text Placeholder 8"/>
          <p:cNvSpPr>
            <a:spLocks noGrp="1"/>
          </p:cNvSpPr>
          <p:nvPr>
            <p:ph type="body" idx="6"/>
          </p:nvPr>
        </p:nvSpPr>
        <p:spPr/>
        <p:txBody>
          <a:bodyPr wrap="square"/>
          <a:lstStyle/>
          <a:p>
            <a:r>
              <a:t>Active channels — Google Shopping, Meta</a:t>
            </a:r>
          </a:p>
        </p:txBody>
      </p:sp>
      <p:sp>
        <p:nvSpPr>
          <p:cNvPr id="10" name="Text Placeholder 9"/>
          <p:cNvSpPr>
            <a:spLocks noGrp="1"/>
          </p:cNvSpPr>
          <p:nvPr>
            <p:ph type="body" idx="7"/>
          </p:nvPr>
        </p:nvSpPr>
        <p:spPr/>
        <p:txBody>
          <a:bodyPr wrap="square"/>
          <a:lstStyle/>
          <a:p>
            <a:r>
              <a:t>1,182.25</a:t>
            </a:r>
          </a:p>
        </p:txBody>
      </p:sp>
      <p:sp>
        <p:nvSpPr>
          <p:cNvPr id="11" name="Text Placeholder 10"/>
          <p:cNvSpPr>
            <a:spLocks noGrp="1"/>
          </p:cNvSpPr>
          <p:nvPr>
            <p:ph type="body" idx="8"/>
          </p:nvPr>
        </p:nvSpPr>
        <p:spPr/>
        <p:txBody>
          <a:bodyPr wrap="square"/>
          <a:lstStyle/>
          <a:p>
            <a:r>
              <a:t>Hours delivered — GB/DE/FR/IE, 13mo log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Service Scope &amp; Scale (cont.)</a:t>
            </a:r>
          </a:p>
        </p:txBody>
      </p:sp>
      <p:sp>
        <p:nvSpPr>
          <p:cNvPr id="4" name="Text Placeholder 3"/>
          <p:cNvSpPr>
            <a:spLocks noGrp="1"/>
          </p:cNvSpPr>
          <p:nvPr>
            <p:ph type="body" idx="14"/>
          </p:nvPr>
        </p:nvSpPr>
        <p:spPr/>
        <p:txBody>
          <a:bodyPr wrap="square"/>
          <a:lstStyle/>
          <a:p>
            <a:r>
              <a:t>The SKU numbers are audited, not estimated.</a:t>
            </a:r>
          </a:p>
        </p:txBody>
      </p:sp>
      <p:graphicFrame>
        <p:nvGraphicFramePr>
          <p:cNvPr id="5" name="Table 4"/>
          <p:cNvGraphicFramePr>
            <a:graphicFrameLocks noGrp="1"/>
          </p:cNvGraphicFramePr>
          <p:nvPr/>
        </p:nvGraphicFramePr>
        <p:xfrm>
          <a:off x="612648" y="1847088"/>
          <a:ext cx="10972799" cy="3794758"/>
        </p:xfrm>
        <a:graphic>
          <a:graphicData uri="http://schemas.openxmlformats.org/drawingml/2006/table">
            <a:tbl>
              <a:tblPr firstRow="1" bandRow="1">
                <a:tableStyleId>{5C22544A-7EE6-4342-B048-85BDC9FD1C3A}</a:tableStyleId>
              </a:tblPr>
              <a:tblGrid>
                <a:gridCol w="3980329"/>
                <a:gridCol w="4195482"/>
                <a:gridCol w="2796988"/>
              </a:tblGrid>
              <a:tr h="384048">
                <a:tc>
                  <a:txBody>
                    <a:bodyPr/>
                    <a:lstStyle/>
                    <a:p>
                      <a:r>
                        <a:rPr sz="1300" b="1">
                          <a:solidFill>
                            <a:srgbClr val="FFFFFF"/>
                          </a:solidFill>
                        </a:rPr>
                        <a:t>Market</a:t>
                      </a:r>
                    </a:p>
                  </a:txBody>
                  <a:tcPr/>
                </a:tc>
                <a:tc>
                  <a:txBody>
                    <a:bodyPr/>
                    <a:lstStyle/>
                    <a:p>
                      <a:r>
                        <a:rPr sz="1300" b="1">
                          <a:solidFill>
                            <a:srgbClr val="FFFFFF"/>
                          </a:solidFill>
                        </a:rPr>
                        <a:t>Live SKUs (FeedHero audit) - sourcefeed</a:t>
                      </a:r>
                    </a:p>
                  </a:txBody>
                  <a:tcPr/>
                </a:tc>
                <a:tc>
                  <a:txBody>
                    <a:bodyPr/>
                    <a:lstStyle/>
                    <a:p>
                      <a:r>
                        <a:rPr sz="1300" b="1">
                          <a:solidFill>
                            <a:srgbClr val="FFFFFF"/>
                          </a:solidFill>
                        </a:rPr>
                        <a:t>Status</a:t>
                      </a:r>
                    </a:p>
                  </a:txBody>
                  <a:tcPr/>
                </a:tc>
              </a:tr>
              <a:tr h="682142">
                <a:tc>
                  <a:txBody>
                    <a:bodyPr/>
                    <a:lstStyle/>
                    <a:p>
                      <a:r>
                        <a:rPr sz="1100"/>
                        <a:t>GB</a:t>
                      </a:r>
                    </a:p>
                  </a:txBody>
                  <a:tcPr/>
                </a:tc>
                <a:tc>
                  <a:txBody>
                    <a:bodyPr/>
                    <a:lstStyle/>
                    <a:p>
                      <a:r>
                        <a:rPr sz="1100"/>
                        <a:t>60,345</a:t>
                      </a:r>
                    </a:p>
                  </a:txBody>
                  <a:tcPr/>
                </a:tc>
                <a:tc>
                  <a:txBody>
                    <a:bodyPr/>
                    <a:lstStyle/>
                    <a:p>
                      <a:r>
                        <a:rPr sz="1100"/>
                        <a:t>Confirmed — full catalogue</a:t>
                      </a:r>
                    </a:p>
                  </a:txBody>
                  <a:tcPr/>
                </a:tc>
              </a:tr>
              <a:tr h="682142">
                <a:tc>
                  <a:txBody>
                    <a:bodyPr/>
                    <a:lstStyle/>
                    <a:p>
                      <a:r>
                        <a:rPr sz="1100" b="1">
                          <a:solidFill>
                            <a:srgbClr val="2E7D32"/>
                          </a:solidFill>
                        </a:rPr>
                        <a:t>└ GB, live Shopping feed</a:t>
                      </a:r>
                    </a:p>
                  </a:txBody>
                  <a:tcPr/>
                </a:tc>
                <a:tc>
                  <a:txBody>
                    <a:bodyPr/>
                    <a:lstStyle/>
                    <a:p>
                      <a:r>
                        <a:rPr sz="1100"/>
                        <a:t>19,372</a:t>
                      </a:r>
                    </a:p>
                  </a:txBody>
                  <a:tcPr/>
                </a:tc>
                <a:tc>
                  <a:txBody>
                    <a:bodyPr/>
                    <a:lstStyle/>
                    <a:p>
                      <a:r>
                        <a:rPr sz="1100"/>
                        <a:t>In-stock only</a:t>
                      </a:r>
                    </a:p>
                  </a:txBody>
                  <a:tcPr/>
                </a:tc>
              </a:tr>
              <a:tr h="682142">
                <a:tc>
                  <a:txBody>
                    <a:bodyPr/>
                    <a:lstStyle/>
                    <a:p>
                      <a:r>
                        <a:rPr sz="1100"/>
                        <a:t>DE</a:t>
                      </a:r>
                    </a:p>
                  </a:txBody>
                  <a:tcPr/>
                </a:tc>
                <a:tc>
                  <a:txBody>
                    <a:bodyPr/>
                    <a:lstStyle/>
                    <a:p>
                      <a:r>
                        <a:rPr sz="1100"/>
                        <a:t>59,093</a:t>
                      </a:r>
                    </a:p>
                  </a:txBody>
                  <a:tcPr/>
                </a:tc>
                <a:tc>
                  <a:txBody>
                    <a:bodyPr/>
                    <a:lstStyle/>
                    <a:p>
                      <a:r>
                        <a:rPr sz="1100"/>
                        <a:t>Confirmed — full catalogue</a:t>
                      </a:r>
                    </a:p>
                  </a:txBody>
                  <a:tcPr/>
                </a:tc>
              </a:tr>
              <a:tr h="682142">
                <a:tc>
                  <a:txBody>
                    <a:bodyPr/>
                    <a:lstStyle/>
                    <a:p>
                      <a:r>
                        <a:rPr sz="1100"/>
                        <a:t>FR</a:t>
                      </a:r>
                    </a:p>
                  </a:txBody>
                  <a:tcPr/>
                </a:tc>
                <a:tc>
                  <a:txBody>
                    <a:bodyPr/>
                    <a:lstStyle/>
                    <a:p>
                      <a:r>
                        <a:rPr sz="1100"/>
                        <a:t>60,208</a:t>
                      </a:r>
                    </a:p>
                  </a:txBody>
                  <a:tcPr/>
                </a:tc>
                <a:tc>
                  <a:txBody>
                    <a:bodyPr/>
                    <a:lstStyle/>
                    <a:p>
                      <a:r>
                        <a:rPr sz="1100"/>
                        <a:t>Confirmed — full catalogue</a:t>
                      </a:r>
                    </a:p>
                  </a:txBody>
                  <a:tcPr/>
                </a:tc>
              </a:tr>
              <a:tr h="682142">
                <a:tc>
                  <a:txBody>
                    <a:bodyPr/>
                    <a:lstStyle/>
                    <a:p>
                      <a:r>
                        <a:rPr sz="1100"/>
                        <a:t>- pre-audited on our 3 core markets -</a:t>
                      </a:r>
                    </a:p>
                  </a:txBody>
                  <a:tcPr/>
                </a:tc>
                <a:tc>
                  <a:txBody>
                    <a:bodyPr/>
                    <a:lstStyle/>
                    <a:p/>
                  </a:txBody>
                  <a:tcPr/>
                </a:tc>
                <a:tc>
                  <a:txBody>
                    <a:bodyPr/>
                    <a:lstStyle/>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two</a:t>
            </a:r>
          </a:p>
        </p:txBody>
      </p:sp>
      <p:sp>
        <p:nvSpPr>
          <p:cNvPr id="3" name="Title 2"/>
          <p:cNvSpPr>
            <a:spLocks noGrp="1"/>
          </p:cNvSpPr>
          <p:nvPr>
            <p:ph type="title"/>
          </p:nvPr>
        </p:nvSpPr>
        <p:spPr/>
        <p:txBody>
          <a:bodyPr wrap="square"/>
          <a:lstStyle/>
          <a:p>
            <a:r>
              <a:t>The AI Landscape</a:t>
            </a:r>
          </a:p>
        </p:txBody>
      </p:sp>
      <p:sp>
        <p:nvSpPr>
          <p:cNvPr id="4" name="Text Placeholder 3"/>
          <p:cNvSpPr>
            <a:spLocks noGrp="1"/>
          </p:cNvSpPr>
          <p:nvPr>
            <p:ph type="body" idx="1"/>
          </p:nvPr>
        </p:nvSpPr>
        <p:spPr/>
        <p:txBody>
          <a:bodyPr wrap="square"/>
          <a:lstStyle/>
          <a:p>
            <a:r>
              <a:t>Reiss shoppers don't only search anymore — they're using LLMs. Three pipelines decide whether Reiss is in the answer.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Search is shifting to AI answers</a:t>
            </a:r>
          </a:p>
        </p:txBody>
      </p:sp>
      <p:sp>
        <p:nvSpPr>
          <p:cNvPr id="3" name="Text Placeholder 2"/>
          <p:cNvSpPr>
            <a:spLocks noGrp="1"/>
          </p:cNvSpPr>
          <p:nvPr>
            <p:ph type="body" idx="13"/>
          </p:nvPr>
        </p:nvSpPr>
        <p:spPr/>
        <p:txBody>
          <a:bodyPr wrap="square"/>
          <a:lstStyle/>
          <a:p>
            <a:r>
              <a:rPr sz="1390"/>
              <a:t>"What should I wear to a summer wedding?" — it might be answered from training data, a live web crawl, or the Merchant Center feed.</a:t>
            </a:r>
          </a:p>
        </p:txBody>
      </p:sp>
      <p:sp>
        <p:nvSpPr>
          <p:cNvPr id="4" name="Text Placeholder 3"/>
          <p:cNvSpPr>
            <a:spLocks noGrp="1"/>
          </p:cNvSpPr>
          <p:nvPr>
            <p:ph type="body" idx="1"/>
          </p:nvPr>
        </p:nvSpPr>
        <p:spPr/>
        <p:txBody>
          <a:bodyPr wrap="square"/>
          <a:lstStyle/>
          <a:p>
            <a:r>
              <a:t>−25%</a:t>
            </a:r>
          </a:p>
        </p:txBody>
      </p:sp>
      <p:sp>
        <p:nvSpPr>
          <p:cNvPr id="5" name="Text Placeholder 4"/>
          <p:cNvSpPr>
            <a:spLocks noGrp="1"/>
          </p:cNvSpPr>
          <p:nvPr>
            <p:ph type="body" idx="2"/>
          </p:nvPr>
        </p:nvSpPr>
        <p:spPr/>
        <p:txBody>
          <a:bodyPr wrap="square"/>
          <a:lstStyle/>
          <a:p>
            <a:r>
              <a:t>Traditional search volume drop (Gartner)</a:t>
            </a:r>
          </a:p>
        </p:txBody>
      </p:sp>
      <p:sp>
        <p:nvSpPr>
          <p:cNvPr id="6" name="Text Placeholder 5"/>
          <p:cNvSpPr>
            <a:spLocks noGrp="1"/>
          </p:cNvSpPr>
          <p:nvPr>
            <p:ph type="body" idx="3"/>
          </p:nvPr>
        </p:nvSpPr>
        <p:spPr/>
        <p:txBody>
          <a:bodyPr wrap="square"/>
          <a:lstStyle/>
          <a:p>
            <a:r>
              <a:t>&gt;60%</a:t>
            </a:r>
          </a:p>
        </p:txBody>
      </p:sp>
      <p:sp>
        <p:nvSpPr>
          <p:cNvPr id="7" name="Text Placeholder 6"/>
          <p:cNvSpPr>
            <a:spLocks noGrp="1"/>
          </p:cNvSpPr>
          <p:nvPr>
            <p:ph type="body" idx="4"/>
          </p:nvPr>
        </p:nvSpPr>
        <p:spPr/>
        <p:txBody>
          <a:bodyPr wrap="square"/>
          <a:lstStyle/>
          <a:p>
            <a:r>
              <a:t>Google searches end without a click</a:t>
            </a:r>
          </a:p>
        </p:txBody>
      </p:sp>
      <p:sp>
        <p:nvSpPr>
          <p:cNvPr id="8" name="Text Placeholder 7"/>
          <p:cNvSpPr>
            <a:spLocks noGrp="1"/>
          </p:cNvSpPr>
          <p:nvPr>
            <p:ph type="body" idx="5"/>
          </p:nvPr>
        </p:nvSpPr>
        <p:spPr/>
        <p:txBody>
          <a:bodyPr wrap="square"/>
          <a:lstStyle/>
          <a:p>
            <a:r>
              <a:t>~60%</a:t>
            </a:r>
          </a:p>
        </p:txBody>
      </p:sp>
      <p:sp>
        <p:nvSpPr>
          <p:cNvPr id="9" name="Text Placeholder 8"/>
          <p:cNvSpPr>
            <a:spLocks noGrp="1"/>
          </p:cNvSpPr>
          <p:nvPr>
            <p:ph type="body" idx="6"/>
          </p:nvPr>
        </p:nvSpPr>
        <p:spPr/>
        <p:txBody>
          <a:bodyPr wrap="square"/>
          <a:lstStyle/>
          <a:p>
            <a:r>
              <a:t>Consumers use AI in the shopping journey</a:t>
            </a:r>
          </a:p>
        </p:txBody>
      </p:sp>
      <p:sp>
        <p:nvSpPr>
          <p:cNvPr id="10" name="Text Placeholder 9"/>
          <p:cNvSpPr>
            <a:spLocks noGrp="1"/>
          </p:cNvSpPr>
          <p:nvPr>
            <p:ph type="body" idx="7"/>
          </p:nvPr>
        </p:nvSpPr>
        <p:spPr/>
        <p:txBody>
          <a:bodyPr wrap="square"/>
          <a:lstStyle/>
          <a:p>
            <a:r>
              <a:t>50+</a:t>
            </a:r>
          </a:p>
        </p:txBody>
      </p:sp>
      <p:sp>
        <p:nvSpPr>
          <p:cNvPr id="11" name="Text Placeholder 10"/>
          <p:cNvSpPr>
            <a:spLocks noGrp="1"/>
          </p:cNvSpPr>
          <p:nvPr>
            <p:ph type="body" idx="8"/>
          </p:nvPr>
        </p:nvSpPr>
        <p:spPr/>
        <p:txBody>
          <a:bodyPr wrap="square"/>
          <a:lstStyle/>
          <a:p>
            <a:r>
              <a:t>Feed attributes to enrich for AI readiness</a:t>
            </a:r>
          </a:p>
        </p:txBody>
      </p:sp>
      <p:sp>
        <p:nvSpPr>
          <p:cNvPr id="12" name="Text Placeholder 11"/>
          <p:cNvSpPr>
            <a:spLocks noGrp="1"/>
          </p:cNvSpPr>
          <p:nvPr>
            <p:ph type="body" idx="9"/>
          </p:nvPr>
        </p:nvSpPr>
        <p:spPr/>
        <p:txBody>
          <a:bodyPr wrap="square"/>
          <a:lstStyle/>
          <a:p>
            <a:r>
              <a:t>15m</a:t>
            </a:r>
          </a:p>
        </p:txBody>
      </p:sp>
      <p:sp>
        <p:nvSpPr>
          <p:cNvPr id="13" name="Text Placeholder 12"/>
          <p:cNvSpPr>
            <a:spLocks noGrp="1"/>
          </p:cNvSpPr>
          <p:nvPr>
            <p:ph type="body" idx="10"/>
          </p:nvPr>
        </p:nvSpPr>
        <p:spPr/>
        <p:txBody>
          <a:bodyPr wrap="square"/>
          <a:lstStyle/>
          <a:p>
            <a:r>
              <a:t>Updates per minute ChatGPT accepts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Search is shifting to AI answers (cont.)</a:t>
            </a:r>
          </a:p>
        </p:txBody>
      </p:sp>
      <p:sp>
        <p:nvSpPr>
          <p:cNvPr id="4" name="Text Placeholder 3"/>
          <p:cNvSpPr>
            <a:spLocks noGrp="1"/>
          </p:cNvSpPr>
          <p:nvPr>
            <p:ph type="body" idx="1"/>
          </p:nvPr>
        </p:nvSpPr>
        <p:spPr/>
        <p:txBody>
          <a:bodyPr wrap="square"/>
          <a:lstStyle/>
          <a:p>
            <a:r>
              <a:rPr sz="1880"/>
              <a:t>Zero-click is accelerating</a:t>
            </a:r>
          </a:p>
        </p:txBody>
      </p:sp>
      <p:sp>
        <p:nvSpPr>
          <p:cNvPr id="5" name="Text Placeholder 4"/>
          <p:cNvSpPr>
            <a:spLocks noGrp="1"/>
          </p:cNvSpPr>
          <p:nvPr>
            <p:ph type="body" idx="2"/>
          </p:nvPr>
        </p:nvSpPr>
        <p:spPr/>
        <p:txBody>
          <a:bodyPr wrap="square"/>
          <a:lstStyle/>
          <a:p>
            <a:r>
              <a:t>AI overviews and agentic assistants resolve queries without a click. Reiss is either in that answer, or it doesn't exist for that shopper.</a:t>
            </a:r>
          </a:p>
        </p:txBody>
      </p:sp>
      <p:sp>
        <p:nvSpPr>
          <p:cNvPr id="6" name="Text Placeholder 5"/>
          <p:cNvSpPr>
            <a:spLocks noGrp="1"/>
          </p:cNvSpPr>
          <p:nvPr>
            <p:ph type="body" idx="3"/>
          </p:nvPr>
        </p:nvSpPr>
        <p:spPr/>
        <p:txBody>
          <a:bodyPr wrap="square"/>
          <a:lstStyle/>
          <a:p>
            <a:r>
              <a:rPr sz="1639"/>
              <a:t>The model picks the product</a:t>
            </a:r>
          </a:p>
        </p:txBody>
      </p:sp>
      <p:sp>
        <p:nvSpPr>
          <p:cNvPr id="7" name="Text Placeholder 6"/>
          <p:cNvSpPr>
            <a:spLocks noGrp="1"/>
          </p:cNvSpPr>
          <p:nvPr>
            <p:ph type="body" idx="4"/>
          </p:nvPr>
        </p:nvSpPr>
        <p:spPr/>
        <p:txBody>
          <a:bodyPr wrap="square"/>
          <a:lstStyle/>
          <a:p>
            <a:r>
              <a:t>LLMs read structured feeds, attributes and reviews. The FY25/26 live-feed audit read titles averaging 53 characters and 42% product-highlight coverage — the model gets less than the catalogue could give it.</a:t>
            </a:r>
          </a:p>
        </p:txBody>
      </p:sp>
      <p:sp>
        <p:nvSpPr>
          <p:cNvPr id="8" name="Text Placeholder 7"/>
          <p:cNvSpPr>
            <a:spLocks noGrp="1"/>
          </p:cNvSpPr>
          <p:nvPr>
            <p:ph type="body" idx="5"/>
          </p:nvPr>
        </p:nvSpPr>
        <p:spPr/>
        <p:txBody>
          <a:bodyPr wrap="square"/>
          <a:lstStyle/>
          <a:p>
            <a:r>
              <a:rPr sz="1760"/>
              <a:t>Fashion is answer-shaped</a:t>
            </a:r>
          </a:p>
        </p:txBody>
      </p:sp>
      <p:sp>
        <p:nvSpPr>
          <p:cNvPr id="9" name="Text Placeholder 8"/>
          <p:cNvSpPr>
            <a:spLocks noGrp="1"/>
          </p:cNvSpPr>
          <p:nvPr>
            <p:ph type="body" idx="6"/>
          </p:nvPr>
        </p:nvSpPr>
        <p:spPr/>
        <p:txBody>
          <a:bodyPr wrap="square"/>
          <a:lstStyle/>
          <a:p>
            <a:r>
              <a:t>Fit, occasion, fabric, size availability — every purchase decision is a question about a specific SKU in a specific size, and that's exactly what these surfaces answer.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Three protocols for agent-led shopping</a:t>
            </a:r>
          </a:p>
        </p:txBody>
      </p:sp>
      <p:sp>
        <p:nvSpPr>
          <p:cNvPr id="3" name="Text Placeholder 2"/>
          <p:cNvSpPr>
            <a:spLocks noGrp="1"/>
          </p:cNvSpPr>
          <p:nvPr>
            <p:ph type="body" idx="13"/>
          </p:nvPr>
        </p:nvSpPr>
        <p:spPr/>
        <p:txBody>
          <a:bodyPr wrap="square"/>
          <a:lstStyle/>
          <a:p>
            <a:r>
              <a:t>Emerging open standards — they explain why the enrichment work in chapter 3 matters.</a:t>
            </a:r>
          </a:p>
        </p:txBody>
      </p:sp>
      <p:sp>
        <p:nvSpPr>
          <p:cNvPr id="4" name="Text Placeholder 3"/>
          <p:cNvSpPr>
            <a:spLocks noGrp="1"/>
          </p:cNvSpPr>
          <p:nvPr>
            <p:ph type="body" idx="1"/>
          </p:nvPr>
        </p:nvSpPr>
        <p:spPr/>
        <p:txBody>
          <a:bodyPr wrap="square"/>
          <a:lstStyle/>
          <a:p>
            <a:r>
              <a:t>Google, Shopify, Target, Walmart</a:t>
            </a:r>
          </a:p>
        </p:txBody>
      </p:sp>
      <p:sp>
        <p:nvSpPr>
          <p:cNvPr id="5" name="Text Placeholder 4"/>
          <p:cNvSpPr>
            <a:spLocks noGrp="1"/>
          </p:cNvSpPr>
          <p:nvPr>
            <p:ph type="body" idx="2"/>
          </p:nvPr>
        </p:nvSpPr>
        <p:spPr/>
        <p:txBody>
          <a:bodyPr wrap="square"/>
          <a:lstStyle/>
          <a:p>
            <a:r>
              <a:t>- Agents handle discounts, loyalty, subscriptions</a:t>
            </a:r>
          </a:p>
          <a:p>
            <a:r>
              <a:t>- Checkout inside the AI conversation</a:t>
            </a:r>
          </a:p>
          <a:p>
            <a:r>
              <a:t>- Activated via native_commerce in Merchant Center</a:t>
            </a:r>
          </a:p>
        </p:txBody>
      </p:sp>
      <p:sp>
        <p:nvSpPr>
          <p:cNvPr id="6" name="Text Placeholder 5"/>
          <p:cNvSpPr>
            <a:spLocks noGrp="1"/>
          </p:cNvSpPr>
          <p:nvPr>
            <p:ph type="body" idx="3"/>
          </p:nvPr>
        </p:nvSpPr>
        <p:spPr/>
        <p:txBody>
          <a:bodyPr wrap="square"/>
          <a:lstStyle/>
          <a:p>
            <a:r>
              <a:t>Anthropic, adopted by Shopify</a:t>
            </a:r>
          </a:p>
        </p:txBody>
      </p:sp>
      <p:sp>
        <p:nvSpPr>
          <p:cNvPr id="7" name="Text Placeholder 6"/>
          <p:cNvSpPr>
            <a:spLocks noGrp="1"/>
          </p:cNvSpPr>
          <p:nvPr>
            <p:ph type="body" idx="4"/>
          </p:nvPr>
        </p:nvSpPr>
        <p:spPr/>
        <p:txBody>
          <a:bodyPr wrap="square"/>
          <a:lstStyle/>
          <a:p>
            <a:r>
              <a:t>- Live inventory, pricing, order status via API</a:t>
            </a:r>
          </a:p>
          <a:p>
            <a:r>
              <a:t>- Relevant later, once stock-flag accuracy (chapter 6) is fixed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Three protocols for agent-led shopping (cont.)</a:t>
            </a:r>
          </a:p>
        </p:txBody>
      </p:sp>
      <p:sp>
        <p:nvSpPr>
          <p:cNvPr id="4" name="Text Placeholder 3"/>
          <p:cNvSpPr>
            <a:spLocks noGrp="1"/>
          </p:cNvSpPr>
          <p:nvPr>
            <p:ph type="body" idx="1"/>
          </p:nvPr>
        </p:nvSpPr>
        <p:spPr/>
        <p:txBody>
          <a:bodyPr wrap="square"/>
          <a:lstStyle/>
          <a:p>
            <a:r>
              <a:t>OpenAI (powers ChatGPT Shopping)</a:t>
            </a:r>
          </a:p>
          <a:p>
            <a:r>
              <a:t>- Integrates with Stripe, PayPal</a:t>
            </a:r>
          </a:p>
          <a:p>
            <a:r>
              <a:t>- Currently US-only for checkout; discovery is global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three</a:t>
            </a:r>
          </a:p>
        </p:txBody>
      </p:sp>
      <p:sp>
        <p:nvSpPr>
          <p:cNvPr id="3" name="Title 2"/>
          <p:cNvSpPr>
            <a:spLocks noGrp="1"/>
          </p:cNvSpPr>
          <p:nvPr>
            <p:ph type="title"/>
          </p:nvPr>
        </p:nvSpPr>
        <p:spPr/>
        <p:txBody>
          <a:bodyPr wrap="square"/>
          <a:lstStyle/>
          <a:p>
            <a:r>
              <a:t>Spark AI Engine (Tachyon)</a:t>
            </a:r>
          </a:p>
        </p:txBody>
      </p:sp>
      <p:sp>
        <p:nvSpPr>
          <p:cNvPr id="4" name="Text Placeholder 3"/>
          <p:cNvSpPr>
            <a:spLocks noGrp="1"/>
          </p:cNvSpPr>
          <p:nvPr>
            <p:ph type="body" idx="1"/>
          </p:nvPr>
        </p:nvSpPr>
        <p:spPr/>
        <p:txBody>
          <a:bodyPr wrap="square"/>
          <a:lstStyle/>
          <a:p>
            <a:r>
              <a:t>Intent generation, description enrichment, visual attribute harvest.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Spark AI Engine (Tachyon)</a:t>
            </a:r>
          </a:p>
        </p:txBody>
      </p:sp>
      <p:sp>
        <p:nvSpPr>
          <p:cNvPr id="4" name="Text Placeholder 3"/>
          <p:cNvSpPr>
            <a:spLocks noGrp="1"/>
          </p:cNvSpPr>
          <p:nvPr>
            <p:ph type="body" idx="1"/>
          </p:nvPr>
        </p:nvSpPr>
        <p:spPr/>
        <p:txBody>
          <a:bodyPr wrap="square"/>
          <a:lstStyle/>
          <a:p>
            <a:r>
              <a:t>Feed extraction</a:t>
            </a:r>
          </a:p>
        </p:txBody>
      </p:sp>
      <p:sp>
        <p:nvSpPr>
          <p:cNvPr id="5" name="Text Placeholder 4"/>
          <p:cNvSpPr>
            <a:spLocks noGrp="1"/>
          </p:cNvSpPr>
          <p:nvPr>
            <p:ph type="body" idx="2"/>
          </p:nvPr>
        </p:nvSpPr>
        <p:spPr/>
        <p:txBody>
          <a:bodyPr wrap="square"/>
          <a:lstStyle/>
          <a:p>
            <a:r>
              <a:t>Tachyon reads live Reiss product data — title, description, colour, material, size, price.</a:t>
            </a:r>
          </a:p>
        </p:txBody>
      </p:sp>
      <p:sp>
        <p:nvSpPr>
          <p:cNvPr id="6" name="Text Placeholder 5"/>
          <p:cNvSpPr>
            <a:spLocks noGrp="1"/>
          </p:cNvSpPr>
          <p:nvPr>
            <p:ph type="body" idx="3"/>
          </p:nvPr>
        </p:nvSpPr>
        <p:spPr/>
        <p:txBody>
          <a:bodyPr wrap="square"/>
          <a:lstStyle/>
          <a:p>
            <a:r>
              <a:t>Intent generation</a:t>
            </a:r>
          </a:p>
        </p:txBody>
      </p:sp>
      <p:sp>
        <p:nvSpPr>
          <p:cNvPr id="7" name="Text Placeholder 6"/>
          <p:cNvSpPr>
            <a:spLocks noGrp="1"/>
          </p:cNvSpPr>
          <p:nvPr>
            <p:ph type="body" idx="4"/>
          </p:nvPr>
        </p:nvSpPr>
        <p:spPr/>
        <p:txBody>
          <a:bodyPr wrap="square"/>
          <a:lstStyle/>
          <a:p>
            <a:r>
              <a:t>LLM generates 20–40 long-tail intent phrases per SKU from the real attributes already in the feed.</a:t>
            </a:r>
          </a:p>
        </p:txBody>
      </p:sp>
      <p:sp>
        <p:nvSpPr>
          <p:cNvPr id="8" name="Text Placeholder 7"/>
          <p:cNvSpPr>
            <a:spLocks noGrp="1"/>
          </p:cNvSpPr>
          <p:nvPr>
            <p:ph type="body" idx="5"/>
          </p:nvPr>
        </p:nvSpPr>
        <p:spPr/>
        <p:txBody>
          <a:bodyPr wrap="square"/>
          <a:lstStyle/>
          <a:p>
            <a:r>
              <a:t>Scoring &amp; validation</a:t>
            </a:r>
          </a:p>
        </p:txBody>
      </p:sp>
      <p:sp>
        <p:nvSpPr>
          <p:cNvPr id="9" name="Text Placeholder 8"/>
          <p:cNvSpPr>
            <a:spLocks noGrp="1"/>
          </p:cNvSpPr>
          <p:nvPr>
            <p:ph type="body" idx="6"/>
          </p:nvPr>
        </p:nvSpPr>
        <p:spPr/>
        <p:txBody>
          <a:bodyPr wrap="square"/>
          <a:lstStyle/>
          <a:p>
            <a:r>
              <a:t>Terms scored against search-term reports; winners selected per SKU.</a:t>
            </a:r>
          </a:p>
        </p:txBody>
      </p:sp>
      <p:sp>
        <p:nvSpPr>
          <p:cNvPr id="10" name="Text Placeholder 9"/>
          <p:cNvSpPr>
            <a:spLocks noGrp="1"/>
          </p:cNvSpPr>
          <p:nvPr>
            <p:ph type="body" idx="7"/>
          </p:nvPr>
        </p:nvSpPr>
        <p:spPr/>
        <p:txBody>
          <a:bodyPr wrap="square"/>
          <a:lstStyle/>
          <a:p>
            <a:r>
              <a:t>Feed injection</a:t>
            </a:r>
          </a:p>
        </p:txBody>
      </p:sp>
      <p:sp>
        <p:nvSpPr>
          <p:cNvPr id="11" name="Text Placeholder 10"/>
          <p:cNvSpPr>
            <a:spLocks noGrp="1"/>
          </p:cNvSpPr>
          <p:nvPr>
            <p:ph type="body" idx="8"/>
          </p:nvPr>
        </p:nvSpPr>
        <p:spPr/>
        <p:txBody>
          <a:bodyPr wrap="square"/>
          <a:lstStyle/>
          <a:p>
            <a:r>
              <a:t>Winning terms embedded in title, description, product highlights — closing the product-highlight gap (the FY25/26 audit read 58% of SKUs with none).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Spark AI Engine (Tachyon) (cont.)</a:t>
            </a:r>
          </a:p>
        </p:txBody>
      </p:sp>
      <p:sp>
        <p:nvSpPr>
          <p:cNvPr id="4" name="Text Placeholder 3"/>
          <p:cNvSpPr>
            <a:spLocks noGrp="1"/>
          </p:cNvSpPr>
          <p:nvPr>
            <p:ph type="body" idx="1"/>
          </p:nvPr>
        </p:nvSpPr>
        <p:spPr/>
        <p:txBody>
          <a:bodyPr wrap="square"/>
          <a:lstStyle/>
          <a:p>
            <a:r>
              <a:rPr sz="1880"/>
              <a:t>Reiss example — Stanton Petite trousers</a:t>
            </a:r>
          </a:p>
        </p:txBody>
      </p:sp>
      <p:sp>
        <p:nvSpPr>
          <p:cNvPr id="5" name="Text Placeholder 4"/>
          <p:cNvSpPr>
            <a:spLocks noGrp="1"/>
          </p:cNvSpPr>
          <p:nvPr>
            <p:ph type="body" idx="2"/>
          </p:nvPr>
        </p:nvSpPr>
        <p:spPr/>
        <p:txBody>
          <a:bodyPr wrap="square"/>
          <a:lstStyle/>
          <a:p>
            <a:r>
              <a:t>Input (real SKU from the export): Cream · Cotton · Petite · Size 4 · £58 sale</a:t>
            </a:r>
          </a:p>
        </p:txBody>
      </p:sp>
      <p:sp>
        <p:nvSpPr>
          <p:cNvPr id="6" name="Text Placeholder 5"/>
          <p:cNvSpPr>
            <a:spLocks noGrp="1"/>
          </p:cNvSpPr>
          <p:nvPr>
            <p:ph type="body" idx="3"/>
          </p:nvPr>
        </p:nvSpPr>
        <p:spPr/>
        <p:txBody>
          <a:bodyPr wrap="square"/>
          <a:lstStyle/>
          <a:p>
            <a:r>
              <a:t>Why this matters at 29-market scale</a:t>
            </a:r>
          </a:p>
        </p:txBody>
      </p:sp>
      <p:sp>
        <p:nvSpPr>
          <p:cNvPr id="7" name="Text Placeholder 6"/>
          <p:cNvSpPr>
            <a:spLocks noGrp="1"/>
          </p:cNvSpPr>
          <p:nvPr>
            <p:ph type="body" idx="4"/>
          </p:nvPr>
        </p:nvSpPr>
        <p:spPr/>
        <p:txBody>
          <a:bodyPr wrap="square"/>
          <a:lstStyle/>
          <a:p>
            <a:r>
              <a:t>Manually writing intent-rich copy for ~20K SKUs across 29 markets isn't a resourcing question, it's a scaling question. Tachyon generates the long-tail language at catalogue scale from data that's already 100%-complete on the structural side (colour, material, size, product type, gender).</a:t>
            </a:r>
          </a:p>
          <a:p>
            <a:r>
              <a:t>The title-fix precedent (chapter 8) already proved the AOT pipeline can touch every SKU — Tachyon extends the same reach to descriptions and highlights.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four</a:t>
            </a:r>
          </a:p>
        </p:txBody>
      </p:sp>
      <p:sp>
        <p:nvSpPr>
          <p:cNvPr id="3" name="Title 2"/>
          <p:cNvSpPr>
            <a:spLocks noGrp="1"/>
          </p:cNvSpPr>
          <p:nvPr>
            <p:ph type="title"/>
          </p:nvPr>
        </p:nvSpPr>
        <p:spPr/>
        <p:txBody>
          <a:bodyPr wrap="square"/>
          <a:lstStyle/>
          <a:p>
            <a:r>
              <a:t>Tech Fit</a:t>
            </a:r>
          </a:p>
        </p:txBody>
      </p:sp>
      <p:sp>
        <p:nvSpPr>
          <p:cNvPr id="4" name="Text Placeholder 3"/>
          <p:cNvSpPr>
            <a:spLocks noGrp="1"/>
          </p:cNvSpPr>
          <p:nvPr>
            <p:ph type="body" idx="1"/>
          </p:nvPr>
        </p:nvSpPr>
        <p:spPr/>
        <p:txBody>
          <a:bodyPr wrap="square"/>
          <a:lstStyle/>
          <a:p>
            <a:r>
              <a:t>Why the FeedSpark stack fits a 29-market fashion retailer — and where the fit isn't finished yet.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Tech Fit</a:t>
            </a:r>
          </a:p>
        </p:txBody>
      </p:sp>
      <p:sp>
        <p:nvSpPr>
          <p:cNvPr id="4" name="Text Placeholder 3"/>
          <p:cNvSpPr>
            <a:spLocks noGrp="1"/>
          </p:cNvSpPr>
          <p:nvPr>
            <p:ph type="body" idx="1"/>
          </p:nvPr>
        </p:nvSpPr>
        <p:spPr/>
        <p:txBody>
          <a:bodyPr wrap="square"/>
          <a:lstStyle/>
          <a:p>
            <a:r>
              <a:t>One stack, full catalogue</a:t>
            </a:r>
          </a:p>
        </p:txBody>
      </p:sp>
      <p:sp>
        <p:nvSpPr>
          <p:cNvPr id="5" name="Text Placeholder 4"/>
          <p:cNvSpPr>
            <a:spLocks noGrp="1"/>
          </p:cNvSpPr>
          <p:nvPr>
            <p:ph type="body" idx="2"/>
          </p:nvPr>
        </p:nvSpPr>
        <p:spPr/>
        <p:txBody>
          <a:bodyPr wrap="square"/>
          <a:lstStyle/>
          <a:p>
            <a:r>
              <a:t>FeedHero + Tachyon run the same pipeline across all 60 feeds and 29 markets — proven on GB/DE/FR's 100% AOT title coverage, extending next to the 26 markets not yet audited.</a:t>
            </a:r>
          </a:p>
        </p:txBody>
      </p:sp>
      <p:sp>
        <p:nvSpPr>
          <p:cNvPr id="6" name="Text Placeholder 5"/>
          <p:cNvSpPr>
            <a:spLocks noGrp="1"/>
          </p:cNvSpPr>
          <p:nvPr>
            <p:ph type="body" idx="3"/>
          </p:nvPr>
        </p:nvSpPr>
        <p:spPr/>
        <p:txBody>
          <a:bodyPr wrap="square"/>
          <a:lstStyle/>
          <a:p>
            <a:r>
              <a:t>Proven at scale</a:t>
            </a:r>
          </a:p>
        </p:txBody>
      </p:sp>
      <p:sp>
        <p:nvSpPr>
          <p:cNvPr id="7" name="Text Placeholder 6"/>
          <p:cNvSpPr>
            <a:spLocks noGrp="1"/>
          </p:cNvSpPr>
          <p:nvPr>
            <p:ph type="body" idx="4"/>
          </p:nvPr>
        </p:nvSpPr>
        <p:spPr/>
        <p:txBody>
          <a:bodyPr wrap="square"/>
          <a:lstStyle/>
          <a:p>
            <a:r>
              <a:t>The same title-quality methodology behind the verified de-duplication fix already took GB from 39% to 0.1% duplicate titles — the fix works, the remaining task is reaching every market (chapter 8).</a:t>
            </a:r>
          </a:p>
        </p:txBody>
      </p:sp>
      <p:sp>
        <p:nvSpPr>
          <p:cNvPr id="8" name="Text Placeholder 7"/>
          <p:cNvSpPr>
            <a:spLocks noGrp="1"/>
          </p:cNvSpPr>
          <p:nvPr>
            <p:ph type="body" idx="5"/>
          </p:nvPr>
        </p:nvSpPr>
        <p:spPr/>
        <p:txBody>
          <a:bodyPr wrap="square"/>
          <a:lstStyle/>
          <a:p>
            <a:r>
              <a:t>Golden Record discipline</a:t>
            </a:r>
          </a:p>
        </p:txBody>
      </p:sp>
      <p:sp>
        <p:nvSpPr>
          <p:cNvPr id="9" name="Text Placeholder 8"/>
          <p:cNvSpPr>
            <a:spLocks noGrp="1"/>
          </p:cNvSpPr>
          <p:nvPr>
            <p:ph type="body" idx="6"/>
          </p:nvPr>
        </p:nvSpPr>
        <p:spPr/>
        <p:txBody>
          <a:bodyPr wrap="square"/>
          <a:lstStyle/>
          <a:p>
            <a:r>
              <a:t>99.9% attribute-completeness target — core structural fields read 100% in the FY25/26 feed export; the gap the feed shows is content depth (keywords, descriptions, highlights), not missing data.</a:t>
            </a:r>
          </a:p>
        </p:txBody>
      </p:sp>
      <p:sp>
        <p:nvSpPr>
          <p:cNvPr id="10" name="Text Placeholder 9"/>
          <p:cNvSpPr>
            <a:spLocks noGrp="1"/>
          </p:cNvSpPr>
          <p:nvPr>
            <p:ph type="body" idx="7"/>
          </p:nvPr>
        </p:nvSpPr>
        <p:spPr/>
        <p:txBody>
          <a:bodyPr wrap="square"/>
          <a:lstStyle/>
          <a:p>
            <a:r>
              <a:t>One partner per channel</a:t>
            </a:r>
          </a:p>
        </p:txBody>
      </p:sp>
      <p:sp>
        <p:nvSpPr>
          <p:cNvPr id="11" name="Text Placeholder 10"/>
          <p:cNvSpPr>
            <a:spLocks noGrp="1"/>
          </p:cNvSpPr>
          <p:nvPr>
            <p:ph type="body" idx="8"/>
          </p:nvPr>
        </p:nvSpPr>
        <p:spPr/>
        <p:txBody>
          <a:bodyPr wrap="square"/>
          <a:lstStyle/>
          <a:p>
            <a:r>
              <a:t>Google Shopping and Meta run off the same optimisation engine today — LIA is live in IE, giving a template to extend Click &amp; Collect to other markets as the account grows.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five</a:t>
            </a:r>
          </a:p>
        </p:txBody>
      </p:sp>
      <p:sp>
        <p:nvSpPr>
          <p:cNvPr id="3" name="Title 2"/>
          <p:cNvSpPr>
            <a:spLocks noGrp="1"/>
          </p:cNvSpPr>
          <p:nvPr>
            <p:ph type="title"/>
          </p:nvPr>
        </p:nvSpPr>
        <p:spPr/>
        <p:txBody>
          <a:bodyPr wrap="square"/>
          <a:lstStyle/>
          <a:p>
            <a:r>
              <a:t>Case Studies / Test Wins</a:t>
            </a:r>
          </a:p>
        </p:txBody>
      </p:sp>
      <p:sp>
        <p:nvSpPr>
          <p:cNvPr id="4" name="Text Placeholder 3"/>
          <p:cNvSpPr>
            <a:spLocks noGrp="1"/>
          </p:cNvSpPr>
          <p:nvPr>
            <p:ph type="body" idx="1"/>
          </p:nvPr>
        </p:nvSpPr>
        <p:spPr/>
        <p:txBody>
          <a:bodyPr wrap="square"/>
          <a:lstStyle/>
          <a:p>
            <a:r>
              <a:t>Proof from this account first, then the wider FeedSpark book — every figure from a delivered test, not a benchmark deck.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Reiss's own verified proof</a:t>
            </a:r>
          </a:p>
        </p:txBody>
      </p:sp>
      <p:sp>
        <p:nvSpPr>
          <p:cNvPr id="3" name="Text Placeholder 2"/>
          <p:cNvSpPr>
            <a:spLocks noGrp="1"/>
          </p:cNvSpPr>
          <p:nvPr>
            <p:ph type="body" idx="13"/>
          </p:nvPr>
        </p:nvSpPr>
        <p:spPr/>
        <p:txBody>
          <a:bodyPr wrap="square"/>
          <a:lstStyle/>
          <a:p>
            <a:r>
              <a:t>Three results from this account's archive — the full 38-test record is in chapter 8.</a:t>
            </a:r>
          </a:p>
        </p:txBody>
      </p:sp>
      <p:sp>
        <p:nvSpPr>
          <p:cNvPr id="4" name="Text Placeholder 3"/>
          <p:cNvSpPr>
            <a:spLocks noGrp="1"/>
          </p:cNvSpPr>
          <p:nvPr>
            <p:ph type="body" idx="1"/>
          </p:nvPr>
        </p:nvSpPr>
        <p:spPr/>
        <p:txBody>
          <a:bodyPr wrap="square"/>
          <a:lstStyle/>
          <a:p>
            <a:r>
              <a:rPr sz="1639"/>
              <a:t>Title de-duplication — verified in the live feed</a:t>
            </a:r>
          </a:p>
        </p:txBody>
      </p:sp>
      <p:sp>
        <p:nvSpPr>
          <p:cNvPr id="5" name="Text Placeholder 4"/>
          <p:cNvSpPr>
            <a:spLocks noGrp="1"/>
          </p:cNvSpPr>
          <p:nvPr>
            <p:ph type="body" idx="2"/>
          </p:nvPr>
        </p:nvSpPr>
        <p:spPr/>
        <p:txBody>
          <a:bodyPr wrap="square"/>
          <a:lstStyle/>
          <a:p>
            <a:r>
              <a:t>39% of titles were flagged as duplicated across the catalogue. Routed through auto-optimised-title and re-checked directly in the live feed: down to 0.1% (4 rows, 2 pairs). The fix didn't just ship — it worked.</a:t>
            </a:r>
          </a:p>
        </p:txBody>
      </p:sp>
      <p:sp>
        <p:nvSpPr>
          <p:cNvPr id="6" name="Text Placeholder 5"/>
          <p:cNvSpPr>
            <a:spLocks noGrp="1"/>
          </p:cNvSpPr>
          <p:nvPr>
            <p:ph type="body" idx="3"/>
          </p:nvPr>
        </p:nvSpPr>
        <p:spPr/>
        <p:txBody>
          <a:bodyPr wrap="square"/>
          <a:lstStyle/>
          <a:p>
            <a:r>
              <a:rPr sz="1760"/>
              <a:t>AI Search Intent titles beat the control twice</a:t>
            </a:r>
          </a:p>
        </p:txBody>
      </p:sp>
      <p:sp>
        <p:nvSpPr>
          <p:cNvPr id="7" name="Text Placeholder 6"/>
          <p:cNvSpPr>
            <a:spLocks noGrp="1"/>
          </p:cNvSpPr>
          <p:nvPr>
            <p:ph type="body" idx="4"/>
          </p:nvPr>
        </p:nvSpPr>
        <p:spPr/>
        <p:txBody>
          <a:bodyPr wrap="square"/>
          <a:lstStyle/>
          <a:p>
            <a:r>
              <a:t>Search-intent phrasing in titles outperformed the unmodified control in May 2026: Mens +15.7% impressions / +17.9% clicks, Womens +14.6% / +7.1%.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Reiss's own verified proof (cont.)</a:t>
            </a:r>
          </a:p>
        </p:txBody>
      </p:sp>
      <p:sp>
        <p:nvSpPr>
          <p:cNvPr id="4" name="Text Placeholder 3"/>
          <p:cNvSpPr>
            <a:spLocks noGrp="1"/>
          </p:cNvSpPr>
          <p:nvPr>
            <p:ph type="body" idx="1"/>
          </p:nvPr>
        </p:nvSpPr>
        <p:spPr/>
        <p:txBody>
          <a:bodyPr wrap="square"/>
          <a:lstStyle/>
          <a:p>
            <a:r>
              <a:t>Local Language vs. EN — 16 markets, reading now</a:t>
            </a:r>
          </a:p>
          <a:p>
            <a:r>
              <a:t>Market-native copy against English-language Shopping campaigns across 16 EU/ME markets. In progress — the read lands with the next review cycle.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Reiss's own verified proof (cont.)</a:t>
            </a:r>
          </a:p>
        </p:txBody>
      </p:sp>
      <p:sp>
        <p:nvSpPr>
          <p:cNvPr id="4" name="Text Placeholder 3"/>
          <p:cNvSpPr>
            <a:spLocks noGrp="1"/>
          </p:cNvSpPr>
          <p:nvPr>
            <p:ph type="body" idx="1"/>
          </p:nvPr>
        </p:nvSpPr>
        <p:spPr/>
        <p:txBody>
          <a:bodyPr wrap="square"/>
          <a:lstStyle/>
          <a:p>
            <a:r>
              <a:t>Benefit copy in titles: +24.7%</a:t>
            </a:r>
          </a:p>
        </p:txBody>
      </p:sp>
      <p:sp>
        <p:nvSpPr>
          <p:cNvPr id="5" name="Text Placeholder 4"/>
          <p:cNvSpPr>
            <a:spLocks noGrp="1"/>
          </p:cNvSpPr>
          <p:nvPr>
            <p:ph type="body" idx="2"/>
          </p:nvPr>
        </p:nvSpPr>
        <p:spPr/>
        <p:txBody>
          <a:bodyPr wrap="square"/>
          <a:lstStyle/>
          <a:p>
            <a:r>
              <a:t>Rewriting titles to lead with the product's benefit lifted performance +24.7% vs. control — YuMOVE, completed test.</a:t>
            </a:r>
          </a:p>
        </p:txBody>
      </p:sp>
      <p:sp>
        <p:nvSpPr>
          <p:cNvPr id="6" name="Text Placeholder 5"/>
          <p:cNvSpPr>
            <a:spLocks noGrp="1"/>
          </p:cNvSpPr>
          <p:nvPr>
            <p:ph type="body" idx="3"/>
          </p:nvPr>
        </p:nvSpPr>
        <p:spPr/>
        <p:txBody>
          <a:bodyPr wrap="square"/>
          <a:lstStyle/>
          <a:p>
            <a:r>
              <a:t>"Multivitamins" keyword: +126.62%</a:t>
            </a:r>
          </a:p>
        </p:txBody>
      </p:sp>
      <p:sp>
        <p:nvSpPr>
          <p:cNvPr id="7" name="Text Placeholder 6"/>
          <p:cNvSpPr>
            <a:spLocks noGrp="1"/>
          </p:cNvSpPr>
          <p:nvPr>
            <p:ph type="body" idx="4"/>
          </p:nvPr>
        </p:nvSpPr>
        <p:spPr/>
        <p:txBody>
          <a:bodyPr wrap="square"/>
          <a:lstStyle/>
          <a:p>
            <a:r>
              <a:t>A single category-keyword injection more than doubled impressions on the affected range — YuMOVE, completed test.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Reiss's own verified proof (cont.)</a:t>
            </a:r>
          </a:p>
        </p:txBody>
      </p:sp>
      <p:sp>
        <p:nvSpPr>
          <p:cNvPr id="4" name="Text Placeholder 3"/>
          <p:cNvSpPr>
            <a:spLocks noGrp="1"/>
          </p:cNvSpPr>
          <p:nvPr>
            <p:ph type="body" idx="1"/>
          </p:nvPr>
        </p:nvSpPr>
        <p:spPr/>
        <p:txBody>
          <a:bodyPr wrap="square"/>
          <a:lstStyle/>
          <a:p>
            <a:r>
              <a:t>Health-condition keywords: +30%</a:t>
            </a:r>
          </a:p>
          <a:p>
            <a:r>
              <a:t>Naming the health condition the product addresses in the feed copy delivered a +30% lift — YuMOVE, completed test.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six</a:t>
            </a:r>
          </a:p>
        </p:txBody>
      </p:sp>
      <p:sp>
        <p:nvSpPr>
          <p:cNvPr id="3" name="Title 2"/>
          <p:cNvSpPr>
            <a:spLocks noGrp="1"/>
          </p:cNvSpPr>
          <p:nvPr>
            <p:ph type="title"/>
          </p:nvPr>
        </p:nvSpPr>
        <p:spPr/>
        <p:txBody>
          <a:bodyPr wrap="square"/>
          <a:lstStyle/>
          <a:p>
            <a:r>
              <a:t>Review &amp; Project Recap</a:t>
            </a:r>
          </a:p>
        </p:txBody>
      </p:sp>
      <p:sp>
        <p:nvSpPr>
          <p:cNvPr id="4" name="Text Placeholder 3"/>
          <p:cNvSpPr>
            <a:spLocks noGrp="1"/>
          </p:cNvSpPr>
          <p:nvPr>
            <p:ph type="body" idx="1"/>
          </p:nvPr>
        </p:nvSpPr>
        <p:spPr/>
        <p:txBody>
          <a:bodyPr wrap="square"/>
          <a:lstStyle/>
          <a:p>
            <a:r>
              <a:t>469 tasks, from Jan 2025 – July 2026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Review &amp; Project Recap</a:t>
            </a:r>
          </a:p>
        </p:txBody>
      </p:sp>
      <p:sp>
        <p:nvSpPr>
          <p:cNvPr id="4" name="Text Placeholder 3"/>
          <p:cNvSpPr>
            <a:spLocks noGrp="1"/>
          </p:cNvSpPr>
          <p:nvPr>
            <p:ph type="body" idx="1"/>
          </p:nvPr>
        </p:nvSpPr>
        <p:spPr/>
        <p:txBody>
          <a:bodyPr wrap="square"/>
          <a:lstStyle/>
          <a:p>
            <a:r>
              <a:t>447</a:t>
            </a:r>
          </a:p>
        </p:txBody>
      </p:sp>
      <p:sp>
        <p:nvSpPr>
          <p:cNvPr id="5" name="Text Placeholder 4"/>
          <p:cNvSpPr>
            <a:spLocks noGrp="1"/>
          </p:cNvSpPr>
          <p:nvPr>
            <p:ph type="body" idx="2"/>
          </p:nvPr>
        </p:nvSpPr>
        <p:spPr/>
        <p:txBody>
          <a:bodyPr wrap="square"/>
          <a:lstStyle/>
          <a:p>
            <a:r>
              <a:t>Done</a:t>
            </a:r>
          </a:p>
        </p:txBody>
      </p:sp>
      <p:sp>
        <p:nvSpPr>
          <p:cNvPr id="6" name="Text Placeholder 5"/>
          <p:cNvSpPr>
            <a:spLocks noGrp="1"/>
          </p:cNvSpPr>
          <p:nvPr>
            <p:ph type="body" idx="3"/>
          </p:nvPr>
        </p:nvSpPr>
        <p:spPr/>
        <p:txBody>
          <a:bodyPr wrap="square"/>
          <a:lstStyle/>
          <a:p>
            <a:r>
              <a:t>22</a:t>
            </a:r>
          </a:p>
        </p:txBody>
      </p:sp>
      <p:sp>
        <p:nvSpPr>
          <p:cNvPr id="7" name="Text Placeholder 6"/>
          <p:cNvSpPr>
            <a:spLocks noGrp="1"/>
          </p:cNvSpPr>
          <p:nvPr>
            <p:ph type="body" idx="4"/>
          </p:nvPr>
        </p:nvSpPr>
        <p:spPr/>
        <p:txBody>
          <a:bodyPr wrap="square"/>
          <a:lstStyle/>
          <a:p>
            <a:r>
              <a:t>Open</a:t>
            </a:r>
          </a:p>
        </p:txBody>
      </p:sp>
      <p:sp>
        <p:nvSpPr>
          <p:cNvPr id="8" name="Text Placeholder 7"/>
          <p:cNvSpPr>
            <a:spLocks noGrp="1"/>
          </p:cNvSpPr>
          <p:nvPr>
            <p:ph type="body" idx="5"/>
          </p:nvPr>
        </p:nvSpPr>
        <p:spPr/>
        <p:txBody>
          <a:bodyPr wrap="square"/>
          <a:lstStyle/>
          <a:p>
            <a:r>
              <a:t>0</a:t>
            </a:r>
          </a:p>
        </p:txBody>
      </p:sp>
      <p:sp>
        <p:nvSpPr>
          <p:cNvPr id="9" name="Text Placeholder 8"/>
          <p:cNvSpPr>
            <a:spLocks noGrp="1"/>
          </p:cNvSpPr>
          <p:nvPr>
            <p:ph type="body" idx="6"/>
          </p:nvPr>
        </p:nvSpPr>
        <p:spPr/>
        <p:txBody>
          <a:bodyPr wrap="square"/>
          <a:lstStyle/>
          <a:p>
            <a:r>
              <a:t>On hold</a:t>
            </a:r>
          </a:p>
        </p:txBody>
      </p:sp>
      <p:sp>
        <p:nvSpPr>
          <p:cNvPr id="10" name="Text Placeholder 9"/>
          <p:cNvSpPr>
            <a:spLocks noGrp="1"/>
          </p:cNvSpPr>
          <p:nvPr>
            <p:ph type="body" idx="7"/>
          </p:nvPr>
        </p:nvSpPr>
        <p:spPr/>
        <p:txBody>
          <a:bodyPr wrap="square"/>
          <a:lstStyle/>
          <a:p>
            <a:r>
              <a:t>95%</a:t>
            </a:r>
          </a:p>
        </p:txBody>
      </p:sp>
      <p:sp>
        <p:nvSpPr>
          <p:cNvPr id="11" name="Text Placeholder 10"/>
          <p:cNvSpPr>
            <a:spLocks noGrp="1"/>
          </p:cNvSpPr>
          <p:nvPr>
            <p:ph type="body" idx="8"/>
          </p:nvPr>
        </p:nvSpPr>
        <p:spPr/>
        <p:txBody>
          <a:bodyPr wrap="square"/>
          <a:lstStyle/>
          <a:p>
            <a:r>
              <a:t>Programme progress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Review &amp; Project Recap (cont.)</a:t>
            </a:r>
          </a:p>
        </p:txBody>
      </p:sp>
      <p:graphicFrame>
        <p:nvGraphicFramePr>
          <p:cNvPr id="5" name="Table 4"/>
          <p:cNvGraphicFramePr>
            <a:graphicFrameLocks noGrp="1"/>
          </p:cNvGraphicFramePr>
          <p:nvPr/>
        </p:nvGraphicFramePr>
        <p:xfrm>
          <a:off x="612648" y="1847088"/>
          <a:ext cx="10972799" cy="3794760"/>
        </p:xfrm>
        <a:graphic>
          <a:graphicData uri="http://schemas.openxmlformats.org/drawingml/2006/table">
            <a:tbl>
              <a:tblPr firstRow="1" bandRow="1">
                <a:tableStyleId>{5C22544A-7EE6-4342-B048-85BDC9FD1C3A}</a:tableStyleId>
              </a:tblPr>
              <a:tblGrid>
                <a:gridCol w="4176743"/>
                <a:gridCol w="849507"/>
                <a:gridCol w="3185651"/>
                <a:gridCol w="2760898"/>
              </a:tblGrid>
              <a:tr h="384048">
                <a:tc>
                  <a:txBody>
                    <a:bodyPr/>
                    <a:lstStyle/>
                    <a:p>
                      <a:r>
                        <a:rPr sz="1300" b="1">
                          <a:solidFill>
                            <a:srgbClr val="FFFFFF"/>
                          </a:solidFill>
                        </a:rPr>
                        <a:t>Action</a:t>
                      </a:r>
                    </a:p>
                  </a:txBody>
                  <a:tcPr/>
                </a:tc>
                <a:tc>
                  <a:txBody>
                    <a:bodyPr/>
                    <a:lstStyle/>
                    <a:p>
                      <a:r>
                        <a:rPr sz="1300" b="1">
                          <a:solidFill>
                            <a:srgbClr val="FFFFFF"/>
                          </a:solidFill>
                        </a:rPr>
                        <a:t>Owner</a:t>
                      </a:r>
                    </a:p>
                  </a:txBody>
                  <a:tcPr/>
                </a:tc>
                <a:tc>
                  <a:txBody>
                    <a:bodyPr/>
                    <a:lstStyle/>
                    <a:p>
                      <a:r>
                        <a:rPr sz="1300" b="1">
                          <a:solidFill>
                            <a:srgbClr val="FFFFFF"/>
                          </a:solidFill>
                        </a:rPr>
                        <a:t>Status</a:t>
                      </a:r>
                    </a:p>
                  </a:txBody>
                  <a:tcPr/>
                </a:tc>
                <a:tc>
                  <a:txBody>
                    <a:bodyPr/>
                    <a:lstStyle/>
                    <a:p>
                      <a:r>
                        <a:rPr sz="1300" b="1">
                          <a:solidFill>
                            <a:srgbClr val="FFFFFF"/>
                          </a:solidFill>
                        </a:rPr>
                        <a:t>Outcome</a:t>
                      </a:r>
                    </a:p>
                  </a:txBody>
                  <a:tcPr/>
                </a:tc>
              </a:tr>
              <a:tr h="426339">
                <a:tc>
                  <a:txBody>
                    <a:bodyPr/>
                    <a:lstStyle/>
                    <a:p>
                      <a:r>
                        <a:rPr sz="1100"/>
                        <a:t>QBR Strategy — in person</a:t>
                      </a:r>
                    </a:p>
                  </a:txBody>
                  <a:tcPr/>
                </a:tc>
                <a:tc>
                  <a:txBody>
                    <a:bodyPr/>
                    <a:lstStyle/>
                    <a:p>
                      <a:r>
                        <a:rPr sz="1100"/>
                        <a:t>FS × Reiss</a:t>
                      </a:r>
                    </a:p>
                  </a:txBody>
                  <a:tcPr/>
                </a:tc>
                <a:tc>
                  <a:txBody>
                    <a:bodyPr/>
                    <a:lstStyle/>
                    <a:p>
                      <a:r>
                        <a:rPr sz="1100"/>
                        <a:t>Full account review across UK + international</a:t>
                      </a:r>
                    </a:p>
                  </a:txBody>
                  <a:tcPr/>
                </a:tc>
                <a:tc>
                  <a:txBody>
                    <a:bodyPr/>
                    <a:lstStyle/>
                    <a:p/>
                  </a:txBody>
                  <a:tcPr/>
                </a:tc>
              </a:tr>
              <a:tr h="426339">
                <a:tc>
                  <a:txBody>
                    <a:bodyPr/>
                    <a:lstStyle/>
                    <a:p>
                      <a:r>
                        <a:rPr sz="1100"/>
                        <a:t>Recrawl titles — PDP vs. titles received from NEXT</a:t>
                      </a:r>
                    </a:p>
                  </a:txBody>
                  <a:tcPr/>
                </a:tc>
                <a:tc>
                  <a:txBody>
                    <a:bodyPr/>
                    <a:lstStyle/>
                    <a:p>
                      <a:r>
                        <a:rPr sz="1100"/>
                        <a:t>Ray / ASPL</a:t>
                      </a:r>
                    </a:p>
                  </a:txBody>
                  <a:tcPr/>
                </a:tc>
                <a:tc>
                  <a:txBody>
                    <a:bodyPr/>
                    <a:lstStyle/>
                    <a:p>
                      <a:r>
                        <a:rPr sz="1100" b="1">
                          <a:solidFill>
                            <a:srgbClr val="2E7D32"/>
                          </a:solidFill>
                        </a:rPr>
                        <a:t>Done</a:t>
                      </a:r>
                    </a:p>
                  </a:txBody>
                  <a:tcPr/>
                </a:tc>
                <a:tc>
                  <a:txBody>
                    <a:bodyPr/>
                    <a:lstStyle/>
                    <a:p>
                      <a:r>
                        <a:rPr sz="1100"/>
                        <a:t>Title-source accuracy corrected</a:t>
                      </a:r>
                    </a:p>
                  </a:txBody>
                  <a:tcPr/>
                </a:tc>
              </a:tr>
              <a:tr h="426339">
                <a:tc>
                  <a:txBody>
                    <a:bodyPr/>
                    <a:lstStyle/>
                    <a:p>
                      <a:r>
                        <a:rPr sz="1100"/>
                        <a:t>39% duplicated titles — routed through auto-optimised-title</a:t>
                      </a:r>
                    </a:p>
                  </a:txBody>
                  <a:tcPr/>
                </a:tc>
                <a:tc>
                  <a:txBody>
                    <a:bodyPr/>
                    <a:lstStyle/>
                    <a:p>
                      <a:r>
                        <a:rPr sz="1100"/>
                        <a:t>Ray</a:t>
                      </a:r>
                    </a:p>
                  </a:txBody>
                  <a:tcPr/>
                </a:tc>
                <a:tc>
                  <a:txBody>
                    <a:bodyPr/>
                    <a:lstStyle/>
                    <a:p>
                      <a:r>
                        <a:rPr sz="1100" b="1">
                          <a:solidFill>
                            <a:srgbClr val="2E7D32"/>
                          </a:solidFill>
                        </a:rPr>
                        <a:t>Done</a:t>
                      </a:r>
                    </a:p>
                  </a:txBody>
                  <a:tcPr/>
                </a:tc>
                <a:tc>
                  <a:txBody>
                    <a:bodyPr/>
                    <a:lstStyle/>
                    <a:p>
                      <a:r>
                        <a:rPr sz="1100"/>
                        <a:t>Confirmed fixed — see chapter 8</a:t>
                      </a:r>
                    </a:p>
                  </a:txBody>
                  <a:tcPr/>
                </a:tc>
              </a:tr>
              <a:tr h="426339">
                <a:tc>
                  <a:txBody>
                    <a:bodyPr/>
                    <a:lstStyle/>
                    <a:p>
                      <a:r>
                        <a:rPr sz="1100"/>
                        <a:t>Weak keyword targeting — new Keyword Planner</a:t>
                      </a:r>
                    </a:p>
                  </a:txBody>
                  <a:tcPr/>
                </a:tc>
                <a:tc>
                  <a:txBody>
                    <a:bodyPr/>
                    <a:lstStyle/>
                    <a:p>
                      <a:r>
                        <a:rPr sz="1100"/>
                        <a:t>Ezgi / Eliza</a:t>
                      </a:r>
                    </a:p>
                  </a:txBody>
                  <a:tcPr/>
                </a:tc>
                <a:tc>
                  <a:txBody>
                    <a:bodyPr/>
                    <a:lstStyle/>
                    <a:p>
                      <a:r>
                        <a:rPr sz="1100" b="1">
                          <a:solidFill>
                            <a:srgbClr val="2E7D32"/>
                          </a:solidFill>
                        </a:rPr>
                        <a:t>Done</a:t>
                      </a:r>
                    </a:p>
                  </a:txBody>
                  <a:tcPr/>
                </a:tc>
                <a:tc>
                  <a:txBody>
                    <a:bodyPr/>
                    <a:lstStyle/>
                    <a:p>
                      <a:r>
                        <a:rPr sz="1100"/>
                        <a:t>Planner tool live — rollout still early</a:t>
                      </a:r>
                    </a:p>
                  </a:txBody>
                  <a:tcPr/>
                </a:tc>
              </a:tr>
              <a:tr h="426339">
                <a:tc>
                  <a:txBody>
                    <a:bodyPr/>
                    <a:lstStyle/>
                    <a:p>
                      <a:r>
                        <a:rPr sz="1100"/>
                        <a:t>IE LIA (Click &amp; Collect) set up</a:t>
                      </a:r>
                    </a:p>
                  </a:txBody>
                  <a:tcPr/>
                </a:tc>
                <a:tc>
                  <a:txBody>
                    <a:bodyPr/>
                    <a:lstStyle/>
                    <a:p>
                      <a:r>
                        <a:rPr sz="1100"/>
                        <a:t>Ray / Eliza</a:t>
                      </a:r>
                    </a:p>
                  </a:txBody>
                  <a:tcPr/>
                </a:tc>
                <a:tc>
                  <a:txBody>
                    <a:bodyPr/>
                    <a:lstStyle/>
                    <a:p>
                      <a:r>
                        <a:rPr sz="1100" b="1">
                          <a:solidFill>
                            <a:srgbClr val="2E7D32"/>
                          </a:solidFill>
                        </a:rPr>
                        <a:t>Done</a:t>
                      </a:r>
                    </a:p>
                  </a:txBody>
                  <a:tcPr/>
                </a:tc>
                <a:tc>
                  <a:txBody>
                    <a:bodyPr/>
                    <a:lstStyle/>
                    <a:p>
                      <a:r>
                        <a:rPr sz="1100"/>
                        <a:t>Local Inventory Ads live in IE</a:t>
                      </a:r>
                    </a:p>
                  </a:txBody>
                  <a:tcPr/>
                </a:tc>
              </a:tr>
              <a:tr h="426339">
                <a:tc>
                  <a:txBody>
                    <a:bodyPr/>
                    <a:lstStyle/>
                    <a:p>
                      <a:r>
                        <a:rPr sz="1100"/>
                        <a:t>A/B Titles Test — [Search Intent] vs. none</a:t>
                      </a:r>
                    </a:p>
                  </a:txBody>
                  <a:tcPr/>
                </a:tc>
                <a:tc>
                  <a:txBody>
                    <a:bodyPr/>
                    <a:lstStyle/>
                    <a:p>
                      <a:r>
                        <a:rPr sz="1100"/>
                        <a:t>Ezgi</a:t>
                      </a:r>
                    </a:p>
                  </a:txBody>
                  <a:tcPr/>
                </a:tc>
                <a:tc>
                  <a:txBody>
                    <a:bodyPr/>
                    <a:lstStyle/>
                    <a:p>
                      <a:r>
                        <a:rPr sz="1100" b="1">
                          <a:solidFill>
                            <a:srgbClr val="2E7D32"/>
                          </a:solidFill>
                        </a:rPr>
                        <a:t>Done</a:t>
                      </a:r>
                    </a:p>
                  </a:txBody>
                  <a:tcPr/>
                </a:tc>
                <a:tc>
                  <a:txBody>
                    <a:bodyPr/>
                    <a:lstStyle/>
                    <a:p>
                      <a:r>
                        <a:rPr sz="1100"/>
                        <a:t>Reading early signal</a:t>
                      </a:r>
                    </a:p>
                  </a:txBody>
                  <a:tcPr/>
                </a:tc>
              </a:tr>
              <a:tr h="426339">
                <a:tc>
                  <a:txBody>
                    <a:bodyPr/>
                    <a:lstStyle/>
                    <a:p>
                      <a:r>
                        <a:rPr sz="1100"/>
                        <a:t>Product type — optimised to 5-depth granularity</a:t>
                      </a:r>
                    </a:p>
                  </a:txBody>
                  <a:tcPr/>
                </a:tc>
                <a:tc>
                  <a:txBody>
                    <a:bodyPr/>
                    <a:lstStyle/>
                    <a:p>
                      <a:r>
                        <a:rPr sz="1100"/>
                        <a:t>Ray/ ASPL</a:t>
                      </a:r>
                    </a:p>
                  </a:txBody>
                  <a:tcPr/>
                </a:tc>
                <a:tc>
                  <a:txBody>
                    <a:bodyPr/>
                    <a:lstStyle/>
                    <a:p>
                      <a:r>
                        <a:rPr sz="1100" b="1">
                          <a:solidFill>
                            <a:srgbClr val="ED6F0B"/>
                          </a:solidFill>
                        </a:rPr>
                        <a:t>In progress</a:t>
                      </a:r>
                    </a:p>
                  </a:txBody>
                  <a:tcPr/>
                </a:tc>
                <a:tc>
                  <a:txBody>
                    <a:bodyPr/>
                    <a:lstStyle/>
                    <a:p>
                      <a:r>
                        <a:rPr sz="1100"/>
                        <a:t>Deeper taxonomy in build</a:t>
                      </a:r>
                    </a:p>
                  </a:txBody>
                  <a:tcPr/>
                </a:tc>
              </a:tr>
              <a:tr h="426339">
                <a:tc>
                  <a:txBody>
                    <a:bodyPr/>
                    <a:lstStyle/>
                    <a:p>
                      <a:r>
                        <a:rPr sz="1100"/>
                        <a:t>Stock_flag vs. actual availability</a:t>
                      </a:r>
                    </a:p>
                  </a:txBody>
                  <a:tcPr/>
                </a:tc>
                <a:tc>
                  <a:txBody>
                    <a:bodyPr/>
                    <a:lstStyle/>
                    <a:p>
                      <a:r>
                        <a:rPr sz="1100"/>
                        <a:t>Ray / Aimee</a:t>
                      </a:r>
                    </a:p>
                  </a:txBody>
                  <a:tcPr/>
                </a:tc>
                <a:tc>
                  <a:txBody>
                    <a:bodyPr/>
                    <a:lstStyle/>
                    <a:p>
                      <a:r>
                        <a:rPr sz="1100" b="1">
                          <a:solidFill>
                            <a:srgbClr val="ED6F0B"/>
                          </a:solidFill>
                        </a:rPr>
                        <a:t>Awaiting NEXT</a:t>
                      </a:r>
                    </a:p>
                  </a:txBody>
                  <a:tcPr/>
                </a:tc>
                <a:tc>
                  <a:txBody>
                    <a:bodyPr/>
                    <a:lstStyle/>
                    <a:p>
                      <a:r>
                        <a:rPr sz="1100"/>
                        <a:t>Blocked on NEXT's stock-flag fix</a:t>
                      </a:r>
                    </a:p>
                  </a:txBody>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Review &amp; Project Recap (cont.)</a:t>
            </a:r>
          </a:p>
        </p:txBody>
      </p:sp>
      <p:graphicFrame>
        <p:nvGraphicFramePr>
          <p:cNvPr id="5" name="Table 4"/>
          <p:cNvGraphicFramePr>
            <a:graphicFrameLocks noGrp="1"/>
          </p:cNvGraphicFramePr>
          <p:nvPr/>
        </p:nvGraphicFramePr>
        <p:xfrm>
          <a:off x="612648" y="1847088"/>
          <a:ext cx="10972798" cy="1069848"/>
        </p:xfrm>
        <a:graphic>
          <a:graphicData uri="http://schemas.openxmlformats.org/drawingml/2006/table">
            <a:tbl>
              <a:tblPr firstRow="1" bandRow="1">
                <a:tableStyleId>{5C22544A-7EE6-4342-B048-85BDC9FD1C3A}</a:tableStyleId>
              </a:tblPr>
              <a:tblGrid>
                <a:gridCol w="4231933"/>
                <a:gridCol w="1330036"/>
                <a:gridCol w="816158"/>
                <a:gridCol w="4594671"/>
              </a:tblGrid>
              <a:tr h="384048">
                <a:tc>
                  <a:txBody>
                    <a:bodyPr/>
                    <a:lstStyle/>
                    <a:p>
                      <a:r>
                        <a:rPr sz="1300" b="1">
                          <a:solidFill>
                            <a:srgbClr val="FFFFFF"/>
                          </a:solidFill>
                        </a:rPr>
                        <a:t>Action</a:t>
                      </a:r>
                    </a:p>
                  </a:txBody>
                  <a:tcPr/>
                </a:tc>
                <a:tc>
                  <a:txBody>
                    <a:bodyPr/>
                    <a:lstStyle/>
                    <a:p>
                      <a:r>
                        <a:rPr sz="1300" b="1">
                          <a:solidFill>
                            <a:srgbClr val="FFFFFF"/>
                          </a:solidFill>
                        </a:rPr>
                        <a:t>Owner</a:t>
                      </a:r>
                    </a:p>
                  </a:txBody>
                  <a:tcPr/>
                </a:tc>
                <a:tc>
                  <a:txBody>
                    <a:bodyPr/>
                    <a:lstStyle/>
                    <a:p>
                      <a:r>
                        <a:rPr sz="1300" b="1">
                          <a:solidFill>
                            <a:srgbClr val="FFFFFF"/>
                          </a:solidFill>
                        </a:rPr>
                        <a:t>Status</a:t>
                      </a:r>
                    </a:p>
                  </a:txBody>
                  <a:tcPr/>
                </a:tc>
                <a:tc>
                  <a:txBody>
                    <a:bodyPr/>
                    <a:lstStyle/>
                    <a:p>
                      <a:r>
                        <a:rPr sz="1300" b="1">
                          <a:solidFill>
                            <a:srgbClr val="FFFFFF"/>
                          </a:solidFill>
                        </a:rPr>
                        <a:t>Outcome</a:t>
                      </a:r>
                    </a:p>
                  </a:txBody>
                  <a:tcPr/>
                </a:tc>
              </a:tr>
              <a:tr h="685800">
                <a:tc>
                  <a:txBody>
                    <a:bodyPr/>
                    <a:lstStyle/>
                    <a:p>
                      <a:r>
                        <a:rPr sz="1100"/>
                        <a:t>Item Group ID → Item No. switchover</a:t>
                      </a:r>
                    </a:p>
                  </a:txBody>
                  <a:tcPr/>
                </a:tc>
                <a:tc>
                  <a:txBody>
                    <a:bodyPr/>
                    <a:lstStyle/>
                    <a:p>
                      <a:r>
                        <a:rPr sz="1100"/>
                        <a:t>Eliza / Ray</a:t>
                      </a:r>
                    </a:p>
                  </a:txBody>
                  <a:tcPr/>
                </a:tc>
                <a:tc>
                  <a:txBody>
                    <a:bodyPr/>
                    <a:lstStyle/>
                    <a:p>
                      <a:r>
                        <a:rPr sz="1100" b="1">
                          <a:solidFill>
                            <a:srgbClr val="2E7D32"/>
                          </a:solidFill>
                        </a:rPr>
                        <a:t>Done</a:t>
                      </a:r>
                    </a:p>
                  </a:txBody>
                  <a:tcPr/>
                </a:tc>
                <a:tc>
                  <a:txBody>
                    <a:bodyPr/>
                    <a:lstStyle/>
                    <a:p>
                      <a:r>
                        <a:rPr sz="1100"/>
                        <a:t>Cutover date to be confirmed with NEXT</a:t>
                      </a:r>
                    </a:p>
                  </a:txBody>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Review &amp; Project Recap (cont.)</a:t>
            </a:r>
          </a:p>
        </p:txBody>
      </p:sp>
      <p:sp>
        <p:nvSpPr>
          <p:cNvPr id="4" name="Text Placeholder 3"/>
          <p:cNvSpPr>
            <a:spLocks noGrp="1"/>
          </p:cNvSpPr>
          <p:nvPr>
            <p:ph type="body" idx="1"/>
          </p:nvPr>
        </p:nvSpPr>
        <p:spPr/>
        <p:txBody>
          <a:bodyPr wrap="square"/>
          <a:lstStyle/>
          <a:p>
            <a:r>
              <a:t>The one that's actually verified</a:t>
            </a:r>
          </a:p>
        </p:txBody>
      </p:sp>
      <p:sp>
        <p:nvSpPr>
          <p:cNvPr id="5" name="Text Placeholder 4"/>
          <p:cNvSpPr>
            <a:spLocks noGrp="1"/>
          </p:cNvSpPr>
          <p:nvPr>
            <p:ph type="body" idx="2"/>
          </p:nvPr>
        </p:nvSpPr>
        <p:spPr/>
        <p:txBody>
          <a:bodyPr wrap="square"/>
          <a:lstStyle/>
          <a:p>
            <a:r>
              <a:t>39% of titles were flagged as duplicated across the catalogue. Checking the live feed directly: duplicates are now down to 0.1% (4 rows, 2 pairs). The fix didn't just ship — it worked.</a:t>
            </a:r>
          </a:p>
        </p:txBody>
      </p:sp>
      <p:sp>
        <p:nvSpPr>
          <p:cNvPr id="6" name="Text Placeholder 5"/>
          <p:cNvSpPr>
            <a:spLocks noGrp="1"/>
          </p:cNvSpPr>
          <p:nvPr>
            <p:ph type="body" idx="3"/>
          </p:nvPr>
        </p:nvSpPr>
        <p:spPr/>
        <p:txBody>
          <a:bodyPr wrap="square"/>
          <a:lstStyle/>
          <a:p>
            <a:r>
              <a:t>What's moving right now</a:t>
            </a:r>
          </a:p>
        </p:txBody>
      </p:sp>
      <p:sp>
        <p:nvSpPr>
          <p:cNvPr id="7" name="Text Placeholder 6"/>
          <p:cNvSpPr>
            <a:spLocks noGrp="1"/>
          </p:cNvSpPr>
          <p:nvPr>
            <p:ph type="body" idx="4"/>
          </p:nvPr>
        </p:nvSpPr>
        <p:spPr/>
        <p:txBody>
          <a:bodyPr wrap="square"/>
          <a:lstStyle/>
          <a:p>
            <a:r>
              <a:t>The [Search Intent] vs. none title A/B is live and reading. DPA overlay test is ready for implementation</a:t>
            </a:r>
          </a:p>
        </p:txBody>
      </p:sp>
      <p:sp>
        <p:nvSpPr>
          <p:cNvPr id="8" name="Text Placeholder 7"/>
          <p:cNvSpPr>
            <a:spLocks noGrp="1"/>
          </p:cNvSpPr>
          <p:nvPr>
            <p:ph type="body" idx="14"/>
          </p:nvPr>
        </p:nvSpPr>
        <p:spPr/>
        <p:txBody>
          <a:bodyPr wrap="square"/>
          <a:lstStyle/>
          <a:p>
            <a:r>
              <a:t>469 tasks is the plan's count of tracked initiatives — not the hours behind them.</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seven</a:t>
            </a:r>
          </a:p>
        </p:txBody>
      </p:sp>
      <p:sp>
        <p:nvSpPr>
          <p:cNvPr id="3" name="Title 2"/>
          <p:cNvSpPr>
            <a:spLocks noGrp="1"/>
          </p:cNvSpPr>
          <p:nvPr>
            <p:ph type="title"/>
          </p:nvPr>
        </p:nvSpPr>
        <p:spPr/>
        <p:txBody>
          <a:bodyPr wrap="square"/>
          <a:lstStyle/>
          <a:p>
            <a:r>
              <a:t>The Value Delivered</a:t>
            </a:r>
          </a:p>
        </p:txBody>
      </p:sp>
      <p:sp>
        <p:nvSpPr>
          <p:cNvPr id="4" name="Text Placeholder 3"/>
          <p:cNvSpPr>
            <a:spLocks noGrp="1"/>
          </p:cNvSpPr>
          <p:nvPr>
            <p:ph type="body" idx="1"/>
          </p:nvPr>
        </p:nvSpPr>
        <p:spPr/>
        <p:txBody>
          <a:bodyPr wrap="square"/>
          <a:lstStyle/>
          <a:p>
            <a:r>
              <a:t>Not just hours booked — 45% of the logged time was delivered without charge.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The Value Delivered</a:t>
            </a:r>
          </a:p>
        </p:txBody>
      </p:sp>
      <p:sp>
        <p:nvSpPr>
          <p:cNvPr id="4" name="Text Placeholder 3"/>
          <p:cNvSpPr>
            <a:spLocks noGrp="1"/>
          </p:cNvSpPr>
          <p:nvPr>
            <p:ph type="body" idx="1"/>
          </p:nvPr>
        </p:nvSpPr>
        <p:spPr/>
        <p:txBody>
          <a:bodyPr wrap="square"/>
          <a:lstStyle/>
          <a:p>
            <a:r>
              <a:t>1,182.25</a:t>
            </a:r>
          </a:p>
        </p:txBody>
      </p:sp>
      <p:sp>
        <p:nvSpPr>
          <p:cNvPr id="5" name="Text Placeholder 4"/>
          <p:cNvSpPr>
            <a:spLocks noGrp="1"/>
          </p:cNvSpPr>
          <p:nvPr>
            <p:ph type="body" idx="2"/>
          </p:nvPr>
        </p:nvSpPr>
        <p:spPr/>
        <p:txBody>
          <a:bodyPr wrap="square"/>
          <a:lstStyle/>
          <a:p>
            <a:r>
              <a:t>Total hours delivered — 13-month log</a:t>
            </a:r>
          </a:p>
        </p:txBody>
      </p:sp>
      <p:sp>
        <p:nvSpPr>
          <p:cNvPr id="6" name="Text Placeholder 5"/>
          <p:cNvSpPr>
            <a:spLocks noGrp="1"/>
          </p:cNvSpPr>
          <p:nvPr>
            <p:ph type="body" idx="3"/>
          </p:nvPr>
        </p:nvSpPr>
        <p:spPr/>
        <p:txBody>
          <a:bodyPr wrap="square"/>
          <a:lstStyle/>
          <a:p>
            <a:r>
              <a:t>651.25</a:t>
            </a:r>
          </a:p>
        </p:txBody>
      </p:sp>
      <p:sp>
        <p:nvSpPr>
          <p:cNvPr id="7" name="Text Placeholder 6"/>
          <p:cNvSpPr>
            <a:spLocks noGrp="1"/>
          </p:cNvSpPr>
          <p:nvPr>
            <p:ph type="body" idx="4"/>
          </p:nvPr>
        </p:nvSpPr>
        <p:spPr/>
        <p:txBody>
          <a:bodyPr wrap="square"/>
          <a:lstStyle/>
          <a:p>
            <a:r>
              <a:t>Billable hours</a:t>
            </a:r>
          </a:p>
        </p:txBody>
      </p:sp>
      <p:sp>
        <p:nvSpPr>
          <p:cNvPr id="8" name="Text Placeholder 7"/>
          <p:cNvSpPr>
            <a:spLocks noGrp="1"/>
          </p:cNvSpPr>
          <p:nvPr>
            <p:ph type="body" idx="5"/>
          </p:nvPr>
        </p:nvSpPr>
        <p:spPr/>
        <p:txBody>
          <a:bodyPr wrap="square"/>
          <a:lstStyle/>
          <a:p>
            <a:r>
              <a:t>531.00</a:t>
            </a:r>
          </a:p>
        </p:txBody>
      </p:sp>
      <p:sp>
        <p:nvSpPr>
          <p:cNvPr id="9" name="Text Placeholder 8"/>
          <p:cNvSpPr>
            <a:spLocks noGrp="1"/>
          </p:cNvSpPr>
          <p:nvPr>
            <p:ph type="body" idx="6"/>
          </p:nvPr>
        </p:nvSpPr>
        <p:spPr/>
        <p:txBody>
          <a:bodyPr wrap="square"/>
          <a:lstStyle/>
          <a:p>
            <a:r>
              <a:t>Non-billable hours</a:t>
            </a:r>
          </a:p>
        </p:txBody>
      </p:sp>
      <p:sp>
        <p:nvSpPr>
          <p:cNvPr id="10" name="Text Placeholder 9"/>
          <p:cNvSpPr>
            <a:spLocks noGrp="1"/>
          </p:cNvSpPr>
          <p:nvPr>
            <p:ph type="body" idx="7"/>
          </p:nvPr>
        </p:nvSpPr>
        <p:spPr/>
        <p:txBody>
          <a:bodyPr wrap="square"/>
          <a:lstStyle/>
          <a:p>
            <a:r>
              <a:t>45%</a:t>
            </a:r>
          </a:p>
        </p:txBody>
      </p:sp>
      <p:sp>
        <p:nvSpPr>
          <p:cNvPr id="11" name="Text Placeholder 10"/>
          <p:cNvSpPr>
            <a:spLocks noGrp="1"/>
          </p:cNvSpPr>
          <p:nvPr>
            <p:ph type="body" idx="8"/>
          </p:nvPr>
        </p:nvSpPr>
        <p:spPr/>
        <p:txBody>
          <a:bodyPr wrap="square"/>
          <a:lstStyle/>
          <a:p>
            <a:r>
              <a:t>Share of logged time delivered without charge</a:t>
            </a:r>
          </a:p>
        </p:txBody>
      </p:sp>
      <p:sp>
        <p:nvSpPr>
          <p:cNvPr id="12" name="Text Placeholder 11"/>
          <p:cNvSpPr>
            <a:spLocks noGrp="1"/>
          </p:cNvSpPr>
          <p:nvPr>
            <p:ph type="body" idx="9"/>
          </p:nvPr>
        </p:nvSpPr>
        <p:spPr/>
        <p:txBody>
          <a:bodyPr wrap="square"/>
          <a:lstStyle/>
          <a:p>
            <a:r>
              <a:t>735</a:t>
            </a:r>
          </a:p>
        </p:txBody>
      </p:sp>
      <p:sp>
        <p:nvSpPr>
          <p:cNvPr id="13" name="Text Placeholder 12"/>
          <p:cNvSpPr>
            <a:spLocks noGrp="1"/>
          </p:cNvSpPr>
          <p:nvPr>
            <p:ph type="body" idx="10"/>
          </p:nvPr>
        </p:nvSpPr>
        <p:spPr/>
        <p:txBody>
          <a:bodyPr wrap="square"/>
          <a:lstStyle/>
          <a:p>
            <a:r>
              <a:t>Completed tickets, Jun 2025–Jul 2026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The Value Delivered (cont.)</a:t>
            </a:r>
          </a:p>
        </p:txBody>
      </p:sp>
      <p:graphicFrame>
        <p:nvGraphicFramePr>
          <p:cNvPr id="5" name="Table 4"/>
          <p:cNvGraphicFramePr>
            <a:graphicFrameLocks noGrp="1"/>
          </p:cNvGraphicFramePr>
          <p:nvPr/>
        </p:nvGraphicFramePr>
        <p:xfrm>
          <a:off x="612648" y="1847088"/>
          <a:ext cx="10972799" cy="3794758"/>
        </p:xfrm>
        <a:graphic>
          <a:graphicData uri="http://schemas.openxmlformats.org/drawingml/2006/table">
            <a:tbl>
              <a:tblPr firstRow="1" bandRow="1">
                <a:tableStyleId>{5C22544A-7EE6-4342-B048-85BDC9FD1C3A}</a:tableStyleId>
              </a:tblPr>
              <a:tblGrid>
                <a:gridCol w="1343608"/>
                <a:gridCol w="1343608"/>
                <a:gridCol w="2687216"/>
                <a:gridCol w="3582955"/>
                <a:gridCol w="2015412"/>
              </a:tblGrid>
              <a:tr h="384048">
                <a:tc>
                  <a:txBody>
                    <a:bodyPr/>
                    <a:lstStyle/>
                    <a:p>
                      <a:r>
                        <a:rPr sz="1300" b="1">
                          <a:solidFill>
                            <a:srgbClr val="FFFFFF"/>
                          </a:solidFill>
                        </a:rPr>
                        <a:t>Market</a:t>
                      </a:r>
                    </a:p>
                  </a:txBody>
                  <a:tcPr/>
                </a:tc>
                <a:tc>
                  <a:txBody>
                    <a:bodyPr/>
                    <a:lstStyle/>
                    <a:p>
                      <a:r>
                        <a:rPr sz="1300" b="1">
                          <a:solidFill>
                            <a:srgbClr val="FFFFFF"/>
                          </a:solidFill>
                        </a:rPr>
                        <a:t>Tasks</a:t>
                      </a:r>
                    </a:p>
                  </a:txBody>
                  <a:tcPr/>
                </a:tc>
                <a:tc>
                  <a:txBody>
                    <a:bodyPr/>
                    <a:lstStyle/>
                    <a:p>
                      <a:r>
                        <a:rPr sz="1300" b="1">
                          <a:solidFill>
                            <a:srgbClr val="FFFFFF"/>
                          </a:solidFill>
                        </a:rPr>
                        <a:t>Billable hrs</a:t>
                      </a:r>
                    </a:p>
                  </a:txBody>
                  <a:tcPr/>
                </a:tc>
                <a:tc>
                  <a:txBody>
                    <a:bodyPr/>
                    <a:lstStyle/>
                    <a:p>
                      <a:r>
                        <a:rPr sz="1300" b="1">
                          <a:solidFill>
                            <a:srgbClr val="FFFFFF"/>
                          </a:solidFill>
                        </a:rPr>
                        <a:t>Non-billable hrs</a:t>
                      </a:r>
                    </a:p>
                  </a:txBody>
                  <a:tcPr/>
                </a:tc>
                <a:tc>
                  <a:txBody>
                    <a:bodyPr/>
                    <a:lstStyle/>
                    <a:p>
                      <a:r>
                        <a:rPr sz="1300" b="1">
                          <a:solidFill>
                            <a:srgbClr val="FFFFFF"/>
                          </a:solidFill>
                        </a:rPr>
                        <a:t>Total hrs</a:t>
                      </a:r>
                    </a:p>
                  </a:txBody>
                  <a:tcPr/>
                </a:tc>
              </a:tr>
              <a:tr h="682142">
                <a:tc>
                  <a:txBody>
                    <a:bodyPr/>
                    <a:lstStyle/>
                    <a:p>
                      <a:r>
                        <a:rPr sz="1100"/>
                        <a:t>GB</a:t>
                      </a:r>
                    </a:p>
                  </a:txBody>
                  <a:tcPr/>
                </a:tc>
                <a:tc>
                  <a:txBody>
                    <a:bodyPr/>
                    <a:lstStyle/>
                    <a:p>
                      <a:r>
                        <a:rPr sz="1100"/>
                        <a:t>637</a:t>
                      </a:r>
                    </a:p>
                  </a:txBody>
                  <a:tcPr/>
                </a:tc>
                <a:tc>
                  <a:txBody>
                    <a:bodyPr/>
                    <a:lstStyle/>
                    <a:p>
                      <a:r>
                        <a:rPr sz="1100"/>
                        <a:t>569.25</a:t>
                      </a:r>
                    </a:p>
                  </a:txBody>
                  <a:tcPr/>
                </a:tc>
                <a:tc>
                  <a:txBody>
                    <a:bodyPr/>
                    <a:lstStyle/>
                    <a:p>
                      <a:r>
                        <a:rPr sz="1100"/>
                        <a:t>499.00</a:t>
                      </a:r>
                    </a:p>
                  </a:txBody>
                  <a:tcPr/>
                </a:tc>
                <a:tc>
                  <a:txBody>
                    <a:bodyPr/>
                    <a:lstStyle/>
                    <a:p>
                      <a:r>
                        <a:rPr sz="1100"/>
                        <a:t>1,068.25</a:t>
                      </a:r>
                    </a:p>
                  </a:txBody>
                  <a:tcPr/>
                </a:tc>
              </a:tr>
              <a:tr h="682142">
                <a:tc>
                  <a:txBody>
                    <a:bodyPr/>
                    <a:lstStyle/>
                    <a:p>
                      <a:r>
                        <a:rPr sz="1100"/>
                        <a:t>DE</a:t>
                      </a:r>
                    </a:p>
                  </a:txBody>
                  <a:tcPr/>
                </a:tc>
                <a:tc>
                  <a:txBody>
                    <a:bodyPr/>
                    <a:lstStyle/>
                    <a:p>
                      <a:r>
                        <a:rPr sz="1100"/>
                        <a:t>75</a:t>
                      </a:r>
                    </a:p>
                  </a:txBody>
                  <a:tcPr/>
                </a:tc>
                <a:tc>
                  <a:txBody>
                    <a:bodyPr/>
                    <a:lstStyle/>
                    <a:p>
                      <a:r>
                        <a:rPr sz="1100"/>
                        <a:t>72.50</a:t>
                      </a:r>
                    </a:p>
                  </a:txBody>
                  <a:tcPr/>
                </a:tc>
                <a:tc>
                  <a:txBody>
                    <a:bodyPr/>
                    <a:lstStyle/>
                    <a:p>
                      <a:r>
                        <a:rPr sz="1100"/>
                        <a:t>30.00</a:t>
                      </a:r>
                    </a:p>
                  </a:txBody>
                  <a:tcPr/>
                </a:tc>
                <a:tc>
                  <a:txBody>
                    <a:bodyPr/>
                    <a:lstStyle/>
                    <a:p>
                      <a:r>
                        <a:rPr sz="1100"/>
                        <a:t>102.50</a:t>
                      </a:r>
                    </a:p>
                  </a:txBody>
                  <a:tcPr/>
                </a:tc>
              </a:tr>
              <a:tr h="682142">
                <a:tc>
                  <a:txBody>
                    <a:bodyPr/>
                    <a:lstStyle/>
                    <a:p>
                      <a:r>
                        <a:rPr sz="1100"/>
                        <a:t>FR</a:t>
                      </a:r>
                    </a:p>
                  </a:txBody>
                  <a:tcPr/>
                </a:tc>
                <a:tc>
                  <a:txBody>
                    <a:bodyPr/>
                    <a:lstStyle/>
                    <a:p>
                      <a:r>
                        <a:rPr sz="1100"/>
                        <a:t>14</a:t>
                      </a:r>
                    </a:p>
                  </a:txBody>
                  <a:tcPr/>
                </a:tc>
                <a:tc>
                  <a:txBody>
                    <a:bodyPr/>
                    <a:lstStyle/>
                    <a:p>
                      <a:r>
                        <a:rPr sz="1100"/>
                        <a:t>6.25</a:t>
                      </a:r>
                    </a:p>
                  </a:txBody>
                  <a:tcPr/>
                </a:tc>
                <a:tc>
                  <a:txBody>
                    <a:bodyPr/>
                    <a:lstStyle/>
                    <a:p>
                      <a:r>
                        <a:rPr sz="1100"/>
                        <a:t>2.00</a:t>
                      </a:r>
                    </a:p>
                  </a:txBody>
                  <a:tcPr/>
                </a:tc>
                <a:tc>
                  <a:txBody>
                    <a:bodyPr/>
                    <a:lstStyle/>
                    <a:p>
                      <a:r>
                        <a:rPr sz="1100"/>
                        <a:t>8.25</a:t>
                      </a:r>
                    </a:p>
                  </a:txBody>
                  <a:tcPr/>
                </a:tc>
              </a:tr>
              <a:tr h="682142">
                <a:tc>
                  <a:txBody>
                    <a:bodyPr/>
                    <a:lstStyle/>
                    <a:p>
                      <a:r>
                        <a:rPr sz="1100"/>
                        <a:t>IE</a:t>
                      </a:r>
                    </a:p>
                  </a:txBody>
                  <a:tcPr/>
                </a:tc>
                <a:tc>
                  <a:txBody>
                    <a:bodyPr/>
                    <a:lstStyle/>
                    <a:p>
                      <a:r>
                        <a:rPr sz="1100"/>
                        <a:t>9</a:t>
                      </a:r>
                    </a:p>
                  </a:txBody>
                  <a:tcPr/>
                </a:tc>
                <a:tc>
                  <a:txBody>
                    <a:bodyPr/>
                    <a:lstStyle/>
                    <a:p>
                      <a:r>
                        <a:rPr sz="1100"/>
                        <a:t>3.25</a:t>
                      </a:r>
                    </a:p>
                  </a:txBody>
                  <a:tcPr/>
                </a:tc>
                <a:tc>
                  <a:txBody>
                    <a:bodyPr/>
                    <a:lstStyle/>
                    <a:p>
                      <a:r>
                        <a:rPr sz="1100"/>
                        <a:t>0.00</a:t>
                      </a:r>
                    </a:p>
                  </a:txBody>
                  <a:tcPr/>
                </a:tc>
                <a:tc>
                  <a:txBody>
                    <a:bodyPr/>
                    <a:lstStyle/>
                    <a:p>
                      <a:r>
                        <a:rPr sz="1100"/>
                        <a:t>3.25</a:t>
                      </a:r>
                    </a:p>
                  </a:txBody>
                  <a:tcPr/>
                </a:tc>
              </a:tr>
              <a:tr h="682142">
                <a:tc>
                  <a:txBody>
                    <a:bodyPr/>
                    <a:lstStyle/>
                    <a:p>
                      <a:r>
                        <a:rPr sz="1100"/>
                        <a:t>Total</a:t>
                      </a:r>
                    </a:p>
                  </a:txBody>
                  <a:tcPr/>
                </a:tc>
                <a:tc>
                  <a:txBody>
                    <a:bodyPr/>
                    <a:lstStyle/>
                    <a:p>
                      <a:r>
                        <a:rPr sz="1100"/>
                        <a:t>735</a:t>
                      </a:r>
                    </a:p>
                  </a:txBody>
                  <a:tcPr/>
                </a:tc>
                <a:tc>
                  <a:txBody>
                    <a:bodyPr/>
                    <a:lstStyle/>
                    <a:p>
                      <a:r>
                        <a:rPr sz="1100"/>
                        <a:t>651.25</a:t>
                      </a:r>
                    </a:p>
                  </a:txBody>
                  <a:tcPr/>
                </a:tc>
                <a:tc>
                  <a:txBody>
                    <a:bodyPr/>
                    <a:lstStyle/>
                    <a:p>
                      <a:r>
                        <a:rPr sz="1100"/>
                        <a:t>531.00</a:t>
                      </a:r>
                    </a:p>
                  </a:txBody>
                  <a:tcPr/>
                </a:tc>
                <a:tc>
                  <a:txBody>
                    <a:bodyPr/>
                    <a:lstStyle/>
                    <a:p>
                      <a:r>
                        <a:rPr sz="1100"/>
                        <a:t>1,182.25</a:t>
                      </a:r>
                    </a:p>
                  </a:txBody>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The Value Delivered (cont.)</a:t>
            </a:r>
          </a:p>
        </p:txBody>
      </p:sp>
      <p:sp>
        <p:nvSpPr>
          <p:cNvPr id="4" name="Text Placeholder 3"/>
          <p:cNvSpPr>
            <a:spLocks noGrp="1"/>
          </p:cNvSpPr>
          <p:nvPr>
            <p:ph type="body" idx="1"/>
          </p:nvPr>
        </p:nvSpPr>
        <p:spPr/>
        <p:txBody>
          <a:bodyPr wrap="square"/>
          <a:lstStyle/>
          <a:p>
            <a:r>
              <a:rPr sz="1639"/>
              <a:t>Nearly half the hours were invested, not billed</a:t>
            </a:r>
          </a:p>
        </p:txBody>
      </p:sp>
      <p:sp>
        <p:nvSpPr>
          <p:cNvPr id="5" name="Text Placeholder 4"/>
          <p:cNvSpPr>
            <a:spLocks noGrp="1"/>
          </p:cNvSpPr>
          <p:nvPr>
            <p:ph type="body" idx="2"/>
          </p:nvPr>
        </p:nvSpPr>
        <p:spPr/>
        <p:txBody>
          <a:bodyPr wrap="square"/>
          <a:lstStyle/>
          <a:p>
            <a:r>
              <a:t>531.00 of 1,182.25 logged hours (44.9%) were non-billable — title-source recrawls, tooling builds like the Keyword Planner, and audit work that keeps the billable hours effective. That ratio is the partnership story: the account gets the work it needs, not only the work on the invoice.</a:t>
            </a:r>
          </a:p>
        </p:txBody>
      </p:sp>
      <p:sp>
        <p:nvSpPr>
          <p:cNvPr id="6" name="Text Placeholder 5"/>
          <p:cNvSpPr>
            <a:spLocks noGrp="1"/>
          </p:cNvSpPr>
          <p:nvPr>
            <p:ph type="body" idx="3"/>
          </p:nvPr>
        </p:nvSpPr>
        <p:spPr/>
        <p:txBody>
          <a:bodyPr wrap="square"/>
          <a:lstStyle/>
          <a:p>
            <a:r>
              <a:t>Where the hours went</a:t>
            </a:r>
          </a:p>
        </p:txBody>
      </p:sp>
      <p:sp>
        <p:nvSpPr>
          <p:cNvPr id="7" name="Text Placeholder 6"/>
          <p:cNvSpPr>
            <a:spLocks noGrp="1"/>
          </p:cNvSpPr>
          <p:nvPr>
            <p:ph type="body" idx="4"/>
          </p:nvPr>
        </p:nvSpPr>
        <p:spPr/>
        <p:txBody>
          <a:bodyPr wrap="square"/>
          <a:lstStyle/>
          <a:p>
            <a:r>
              <a:t>GB carries 90% of logged time (1,068.25 of 1,182.25 hours). DE, FR and IE together average under 9 hours a month — flagged in the FY25/26 review as either a real scope gap or simply lower-touch markets; the time log alone can't settle which.</a:t>
            </a:r>
          </a:p>
        </p:txBody>
      </p:sp>
      <p:sp>
        <p:nvSpPr>
          <p:cNvPr id="8" name="Text Placeholder 7"/>
          <p:cNvSpPr>
            <a:spLocks noGrp="1"/>
          </p:cNvSpPr>
          <p:nvPr>
            <p:ph type="body" idx="14"/>
          </p:nvPr>
        </p:nvSpPr>
        <p:spPr/>
        <p:txBody>
          <a:bodyPr wrap="square"/>
          <a:lstStyle/>
          <a:p>
            <a:r>
              <a:t>Source: FeedHero's own per-task time log (735 tickets, Jun 2025–Jul 2026).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eight</a:t>
            </a:r>
          </a:p>
        </p:txBody>
      </p:sp>
      <p:sp>
        <p:nvSpPr>
          <p:cNvPr id="3" name="Title 2"/>
          <p:cNvSpPr>
            <a:spLocks noGrp="1"/>
          </p:cNvSpPr>
          <p:nvPr>
            <p:ph type="title"/>
          </p:nvPr>
        </p:nvSpPr>
        <p:spPr/>
        <p:txBody>
          <a:bodyPr wrap="square"/>
          <a:lstStyle/>
          <a:p>
            <a:r>
              <a:t>Number of Wins / Results</a:t>
            </a:r>
          </a:p>
        </p:txBody>
      </p:sp>
      <p:sp>
        <p:nvSpPr>
          <p:cNvPr id="4" name="Text Placeholder 3"/>
          <p:cNvSpPr>
            <a:spLocks noGrp="1"/>
          </p:cNvSpPr>
          <p:nvPr>
            <p:ph type="body" idx="1"/>
          </p:nvPr>
        </p:nvSpPr>
        <p:spPr/>
        <p:txBody>
          <a:bodyPr wrap="square"/>
          <a:lstStyle/>
          <a:p>
            <a:r>
              <a:t>The full A/B Test Archive, Jan 2025–Jul 2026 — 38 quantified keyword tests across GB/DE/EU, and the title-structure tests.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Number of Wins / Results</a:t>
            </a:r>
          </a:p>
        </p:txBody>
      </p:sp>
      <p:sp>
        <p:nvSpPr>
          <p:cNvPr id="4" name="Text Placeholder 3"/>
          <p:cNvSpPr>
            <a:spLocks noGrp="1"/>
          </p:cNvSpPr>
          <p:nvPr>
            <p:ph type="body" idx="1"/>
          </p:nvPr>
        </p:nvSpPr>
        <p:spPr/>
        <p:txBody>
          <a:bodyPr wrap="square"/>
          <a:lstStyle/>
          <a:p>
            <a:r>
              <a:t>38</a:t>
            </a:r>
          </a:p>
        </p:txBody>
      </p:sp>
      <p:sp>
        <p:nvSpPr>
          <p:cNvPr id="5" name="Text Placeholder 4"/>
          <p:cNvSpPr>
            <a:spLocks noGrp="1"/>
          </p:cNvSpPr>
          <p:nvPr>
            <p:ph type="body" idx="2"/>
          </p:nvPr>
        </p:nvSpPr>
        <p:spPr/>
        <p:txBody>
          <a:bodyPr wrap="square"/>
          <a:lstStyle/>
          <a:p>
            <a:r>
              <a:t>Keyword A/B tests with a full result, Jan 2025–Jul 2026</a:t>
            </a:r>
          </a:p>
        </p:txBody>
      </p:sp>
      <p:sp>
        <p:nvSpPr>
          <p:cNvPr id="6" name="Text Placeholder 5"/>
          <p:cNvSpPr>
            <a:spLocks noGrp="1"/>
          </p:cNvSpPr>
          <p:nvPr>
            <p:ph type="body" idx="3"/>
          </p:nvPr>
        </p:nvSpPr>
        <p:spPr/>
        <p:txBody>
          <a:bodyPr wrap="square"/>
          <a:lstStyle/>
          <a:p>
            <a:r>
              <a:t>66%</a:t>
            </a:r>
          </a:p>
        </p:txBody>
      </p:sp>
      <p:sp>
        <p:nvSpPr>
          <p:cNvPr id="7" name="Text Placeholder 6"/>
          <p:cNvSpPr>
            <a:spLocks noGrp="1"/>
          </p:cNvSpPr>
          <p:nvPr>
            <p:ph type="body" idx="4"/>
          </p:nvPr>
        </p:nvSpPr>
        <p:spPr/>
        <p:txBody>
          <a:bodyPr wrap="square"/>
          <a:lstStyle/>
          <a:p>
            <a:r>
              <a:t>Both impressions and clicks up vs. control (25 of 38)</a:t>
            </a:r>
          </a:p>
        </p:txBody>
      </p:sp>
      <p:sp>
        <p:nvSpPr>
          <p:cNvPr id="8" name="Text Placeholder 7"/>
          <p:cNvSpPr>
            <a:spLocks noGrp="1"/>
          </p:cNvSpPr>
          <p:nvPr>
            <p:ph type="body" idx="5"/>
          </p:nvPr>
        </p:nvSpPr>
        <p:spPr/>
        <p:txBody>
          <a:bodyPr wrap="square"/>
          <a:lstStyle/>
          <a:p>
            <a:r>
              <a:t>+5.9%</a:t>
            </a:r>
          </a:p>
        </p:txBody>
      </p:sp>
      <p:sp>
        <p:nvSpPr>
          <p:cNvPr id="9" name="Text Placeholder 8"/>
          <p:cNvSpPr>
            <a:spLocks noGrp="1"/>
          </p:cNvSpPr>
          <p:nvPr>
            <p:ph type="body" idx="6"/>
          </p:nvPr>
        </p:nvSpPr>
        <p:spPr/>
        <p:txBody>
          <a:bodyPr wrap="square"/>
          <a:lstStyle/>
          <a:p>
            <a:r>
              <a:t>Average impression lift, all keyword tests</a:t>
            </a:r>
          </a:p>
        </p:txBody>
      </p:sp>
      <p:sp>
        <p:nvSpPr>
          <p:cNvPr id="10" name="Text Placeholder 9"/>
          <p:cNvSpPr>
            <a:spLocks noGrp="1"/>
          </p:cNvSpPr>
          <p:nvPr>
            <p:ph type="body" idx="7"/>
          </p:nvPr>
        </p:nvSpPr>
        <p:spPr/>
        <p:txBody>
          <a:bodyPr wrap="square"/>
          <a:lstStyle/>
          <a:p>
            <a:r>
              <a:t>+6.8%</a:t>
            </a:r>
          </a:p>
        </p:txBody>
      </p:sp>
      <p:sp>
        <p:nvSpPr>
          <p:cNvPr id="11" name="Text Placeholder 10"/>
          <p:cNvSpPr>
            <a:spLocks noGrp="1"/>
          </p:cNvSpPr>
          <p:nvPr>
            <p:ph type="body" idx="8"/>
          </p:nvPr>
        </p:nvSpPr>
        <p:spPr/>
        <p:txBody>
          <a:bodyPr wrap="square"/>
          <a:lstStyle/>
          <a:p>
            <a:r>
              <a:t>Average click lift, all keyword tests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Number of Wins / Results (cont.)</a:t>
            </a:r>
          </a:p>
        </p:txBody>
      </p:sp>
      <p:graphicFrame>
        <p:nvGraphicFramePr>
          <p:cNvPr id="5" name="Table 4"/>
          <p:cNvGraphicFramePr>
            <a:graphicFrameLocks noGrp="1"/>
          </p:cNvGraphicFramePr>
          <p:nvPr/>
        </p:nvGraphicFramePr>
        <p:xfrm>
          <a:off x="612648" y="1847088"/>
          <a:ext cx="10972798" cy="2441448"/>
        </p:xfrm>
        <a:graphic>
          <a:graphicData uri="http://schemas.openxmlformats.org/drawingml/2006/table">
            <a:tbl>
              <a:tblPr firstRow="1" bandRow="1">
                <a:tableStyleId>{5C22544A-7EE6-4342-B048-85BDC9FD1C3A}</a:tableStyleId>
              </a:tblPr>
              <a:tblGrid>
                <a:gridCol w="1197032"/>
                <a:gridCol w="1795549"/>
                <a:gridCol w="2593570"/>
                <a:gridCol w="3192087"/>
                <a:gridCol w="2194560"/>
              </a:tblGrid>
              <a:tr h="384048">
                <a:tc>
                  <a:txBody>
                    <a:bodyPr/>
                    <a:lstStyle/>
                    <a:p>
                      <a:r>
                        <a:rPr sz="1300" b="1">
                          <a:solidFill>
                            <a:srgbClr val="FFFFFF"/>
                          </a:solidFill>
                        </a:rPr>
                        <a:t>Market</a:t>
                      </a:r>
                    </a:p>
                  </a:txBody>
                  <a:tcPr/>
                </a:tc>
                <a:tc>
                  <a:txBody>
                    <a:bodyPr/>
                    <a:lstStyle/>
                    <a:p>
                      <a:r>
                        <a:rPr sz="1300" b="1">
                          <a:solidFill>
                            <a:srgbClr val="FFFFFF"/>
                          </a:solidFill>
                        </a:rPr>
                        <a:t>Tests run</a:t>
                      </a:r>
                    </a:p>
                  </a:txBody>
                  <a:tcPr/>
                </a:tc>
                <a:tc>
                  <a:txBody>
                    <a:bodyPr/>
                    <a:lstStyle/>
                    <a:p>
                      <a:r>
                        <a:rPr sz="1300" b="1">
                          <a:solidFill>
                            <a:srgbClr val="FFFFFF"/>
                          </a:solidFill>
                        </a:rPr>
                        <a:t>Both positive</a:t>
                      </a:r>
                    </a:p>
                  </a:txBody>
                  <a:tcPr/>
                </a:tc>
                <a:tc>
                  <a:txBody>
                    <a:bodyPr/>
                    <a:lstStyle/>
                    <a:p>
                      <a:r>
                        <a:rPr sz="1300" b="1">
                          <a:solidFill>
                            <a:srgbClr val="FFFFFF"/>
                          </a:solidFill>
                        </a:rPr>
                        <a:t>Avg. impressions</a:t>
                      </a:r>
                    </a:p>
                  </a:txBody>
                  <a:tcPr/>
                </a:tc>
                <a:tc>
                  <a:txBody>
                    <a:bodyPr/>
                    <a:lstStyle/>
                    <a:p>
                      <a:r>
                        <a:rPr sz="1300" b="1">
                          <a:solidFill>
                            <a:srgbClr val="FFFFFF"/>
                          </a:solidFill>
                        </a:rPr>
                        <a:t>Avg. clicks</a:t>
                      </a:r>
                    </a:p>
                  </a:txBody>
                  <a:tcPr/>
                </a:tc>
              </a:tr>
              <a:tr h="685800">
                <a:tc>
                  <a:txBody>
                    <a:bodyPr/>
                    <a:lstStyle/>
                    <a:p>
                      <a:r>
                        <a:rPr sz="1100"/>
                        <a:t>GB</a:t>
                      </a:r>
                    </a:p>
                  </a:txBody>
                  <a:tcPr/>
                </a:tc>
                <a:tc>
                  <a:txBody>
                    <a:bodyPr/>
                    <a:lstStyle/>
                    <a:p>
                      <a:r>
                        <a:rPr sz="1100"/>
                        <a:t>16</a:t>
                      </a:r>
                    </a:p>
                  </a:txBody>
                  <a:tcPr/>
                </a:tc>
                <a:tc>
                  <a:txBody>
                    <a:bodyPr/>
                    <a:lstStyle/>
                    <a:p>
                      <a:r>
                        <a:rPr sz="1100"/>
                        <a:t>12 / 16 — 75%</a:t>
                      </a:r>
                    </a:p>
                  </a:txBody>
                  <a:tcPr/>
                </a:tc>
                <a:tc>
                  <a:txBody>
                    <a:bodyPr/>
                    <a:lstStyle/>
                    <a:p>
                      <a:r>
                        <a:rPr sz="1100"/>
                        <a:t>+8.0%</a:t>
                      </a:r>
                    </a:p>
                  </a:txBody>
                  <a:tcPr/>
                </a:tc>
                <a:tc>
                  <a:txBody>
                    <a:bodyPr/>
                    <a:lstStyle/>
                    <a:p>
                      <a:r>
                        <a:rPr sz="1100"/>
                        <a:t>+6.6%</a:t>
                      </a:r>
                    </a:p>
                  </a:txBody>
                  <a:tcPr/>
                </a:tc>
              </a:tr>
              <a:tr h="685800">
                <a:tc>
                  <a:txBody>
                    <a:bodyPr/>
                    <a:lstStyle/>
                    <a:p>
                      <a:r>
                        <a:rPr sz="1100"/>
                        <a:t>DE</a:t>
                      </a:r>
                    </a:p>
                  </a:txBody>
                  <a:tcPr/>
                </a:tc>
                <a:tc>
                  <a:txBody>
                    <a:bodyPr/>
                    <a:lstStyle/>
                    <a:p>
                      <a:r>
                        <a:rPr sz="1100"/>
                        <a:t>16</a:t>
                      </a:r>
                    </a:p>
                  </a:txBody>
                  <a:tcPr/>
                </a:tc>
                <a:tc>
                  <a:txBody>
                    <a:bodyPr/>
                    <a:lstStyle/>
                    <a:p>
                      <a:r>
                        <a:rPr sz="1100"/>
                        <a:t>11 / 16 — 69%</a:t>
                      </a:r>
                    </a:p>
                  </a:txBody>
                  <a:tcPr/>
                </a:tc>
                <a:tc>
                  <a:txBody>
                    <a:bodyPr/>
                    <a:lstStyle/>
                    <a:p>
                      <a:r>
                        <a:rPr sz="1100"/>
                        <a:t>+7.8%</a:t>
                      </a:r>
                    </a:p>
                  </a:txBody>
                  <a:tcPr/>
                </a:tc>
                <a:tc>
                  <a:txBody>
                    <a:bodyPr/>
                    <a:lstStyle/>
                    <a:p>
                      <a:r>
                        <a:rPr sz="1100"/>
                        <a:t>+11.6%</a:t>
                      </a:r>
                    </a:p>
                  </a:txBody>
                  <a:tcPr/>
                </a:tc>
              </a:tr>
              <a:tr h="685800">
                <a:tc>
                  <a:txBody>
                    <a:bodyPr/>
                    <a:lstStyle/>
                    <a:p>
                      <a:r>
                        <a:rPr sz="1100"/>
                        <a:t>EU</a:t>
                      </a:r>
                    </a:p>
                  </a:txBody>
                  <a:tcPr/>
                </a:tc>
                <a:tc>
                  <a:txBody>
                    <a:bodyPr/>
                    <a:lstStyle/>
                    <a:p>
                      <a:r>
                        <a:rPr sz="1100"/>
                        <a:t>6</a:t>
                      </a:r>
                    </a:p>
                  </a:txBody>
                  <a:tcPr/>
                </a:tc>
                <a:tc>
                  <a:txBody>
                    <a:bodyPr/>
                    <a:lstStyle/>
                    <a:p>
                      <a:r>
                        <a:rPr sz="1100"/>
                        <a:t>2 / 6 — 33%</a:t>
                      </a:r>
                    </a:p>
                  </a:txBody>
                  <a:tcPr/>
                </a:tc>
                <a:tc>
                  <a:txBody>
                    <a:bodyPr/>
                    <a:lstStyle/>
                    <a:p>
                      <a:r>
                        <a:rPr sz="1100"/>
                        <a:t>−4.6%</a:t>
                      </a:r>
                    </a:p>
                  </a:txBody>
                  <a:tcPr/>
                </a:tc>
                <a:tc>
                  <a:txBody>
                    <a:bodyPr/>
                    <a:lstStyle/>
                    <a:p>
                      <a:r>
                        <a:rPr sz="1100"/>
                        <a:t>−5.7%</a:t>
                      </a:r>
                    </a:p>
                  </a:txBody>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Number of Wins / Results (cont.)</a:t>
            </a:r>
          </a:p>
        </p:txBody>
      </p:sp>
      <p:graphicFrame>
        <p:nvGraphicFramePr>
          <p:cNvPr id="5" name="Table 4"/>
          <p:cNvGraphicFramePr>
            <a:graphicFrameLocks noGrp="1"/>
          </p:cNvGraphicFramePr>
          <p:nvPr/>
        </p:nvGraphicFramePr>
        <p:xfrm>
          <a:off x="612648" y="1847088"/>
          <a:ext cx="10972798" cy="3794760"/>
        </p:xfrm>
        <a:graphic>
          <a:graphicData uri="http://schemas.openxmlformats.org/drawingml/2006/table">
            <a:tbl>
              <a:tblPr firstRow="1" bandRow="1">
                <a:tableStyleId>{5C22544A-7EE6-4342-B048-85BDC9FD1C3A}</a:tableStyleId>
              </a:tblPr>
              <a:tblGrid>
                <a:gridCol w="2935866"/>
                <a:gridCol w="5284559"/>
                <a:gridCol w="814702"/>
                <a:gridCol w="1937671"/>
              </a:tblGrid>
              <a:tr h="384048">
                <a:tc>
                  <a:txBody>
                    <a:bodyPr/>
                    <a:lstStyle/>
                    <a:p>
                      <a:r>
                        <a:rPr sz="1300" b="1">
                          <a:solidFill>
                            <a:srgbClr val="FFFFFF"/>
                          </a:solidFill>
                        </a:rPr>
                        <a:t>Test</a:t>
                      </a:r>
                    </a:p>
                  </a:txBody>
                  <a:tcPr/>
                </a:tc>
                <a:tc>
                  <a:txBody>
                    <a:bodyPr/>
                    <a:lstStyle/>
                    <a:p>
                      <a:r>
                        <a:rPr sz="1300" b="1">
                          <a:solidFill>
                            <a:srgbClr val="FFFFFF"/>
                          </a:solidFill>
                        </a:rPr>
                        <a:t>Result</a:t>
                      </a:r>
                    </a:p>
                  </a:txBody>
                  <a:tcPr/>
                </a:tc>
                <a:tc>
                  <a:txBody>
                    <a:bodyPr/>
                    <a:lstStyle/>
                    <a:p>
                      <a:r>
                        <a:rPr sz="1300" b="1">
                          <a:solidFill>
                            <a:srgbClr val="FFFFFF"/>
                          </a:solidFill>
                        </a:rPr>
                        <a:t>Window</a:t>
                      </a:r>
                    </a:p>
                  </a:txBody>
                  <a:tcPr/>
                </a:tc>
                <a:tc>
                  <a:txBody>
                    <a:bodyPr/>
                    <a:lstStyle/>
                    <a:p>
                      <a:r>
                        <a:rPr sz="1300" b="1">
                          <a:solidFill>
                            <a:srgbClr val="FFFFFF"/>
                          </a:solidFill>
                        </a:rPr>
                        <a:t>Outcome</a:t>
                      </a:r>
                    </a:p>
                  </a:txBody>
                  <a:tcPr/>
                </a:tc>
              </a:tr>
              <a:tr h="426339">
                <a:tc>
                  <a:txBody>
                    <a:bodyPr/>
                    <a:lstStyle/>
                    <a:p>
                      <a:r>
                        <a:rPr sz="1100"/>
                        <a:t>Title de-duplication</a:t>
                      </a:r>
                    </a:p>
                  </a:txBody>
                  <a:tcPr/>
                </a:tc>
                <a:tc>
                  <a:txBody>
                    <a:bodyPr/>
                    <a:lstStyle/>
                    <a:p>
                      <a:r>
                        <a:rPr sz="1100"/>
                        <a:t>Routing titles through auto-optimised-title removes the 39% duplication flagged in the plan</a:t>
                      </a:r>
                    </a:p>
                  </a:txBody>
                  <a:tcPr/>
                </a:tc>
                <a:tc>
                  <a:txBody>
                    <a:bodyPr/>
                    <a:lstStyle/>
                    <a:p>
                      <a:r>
                        <a:rPr sz="1100"/>
                        <a:t>FY25/26</a:t>
                      </a:r>
                    </a:p>
                  </a:txBody>
                  <a:tcPr/>
                </a:tc>
                <a:tc>
                  <a:txBody>
                    <a:bodyPr/>
                    <a:lstStyle/>
                    <a:p>
                      <a:r>
                        <a:rPr sz="1100"/>
                        <a:t>39% → 0.1%</a:t>
                      </a:r>
                    </a:p>
                  </a:txBody>
                  <a:tcPr/>
                </a:tc>
              </a:tr>
              <a:tr h="426339">
                <a:tc>
                  <a:txBody>
                    <a:bodyPr/>
                    <a:lstStyle/>
                    <a:p>
                      <a:r>
                        <a:rPr sz="1100"/>
                        <a:t>Best single batch — DE, Feb 2025</a:t>
                      </a:r>
                    </a:p>
                  </a:txBody>
                  <a:tcPr/>
                </a:tc>
                <a:tc>
                  <a:txBody>
                    <a:bodyPr/>
                    <a:lstStyle/>
                    <a:p>
                      <a:r>
                        <a:rPr sz="1100"/>
                        <a:t>Keyword-optimisation test, DE market — the strongest read-out in the archive</a:t>
                      </a:r>
                    </a:p>
                  </a:txBody>
                  <a:tcPr/>
                </a:tc>
                <a:tc>
                  <a:txBody>
                    <a:bodyPr/>
                    <a:lstStyle/>
                    <a:p>
                      <a:r>
                        <a:rPr sz="1100"/>
                        <a:t>Feb 2025</a:t>
                      </a:r>
                    </a:p>
                  </a:txBody>
                  <a:tcPr/>
                </a:tc>
                <a:tc>
                  <a:txBody>
                    <a:bodyPr/>
                    <a:lstStyle/>
                    <a:p>
                      <a:r>
                        <a:rPr sz="1100"/>
                        <a:t>+51.1% / +117.8%</a:t>
                      </a:r>
                    </a:p>
                  </a:txBody>
                  <a:tcPr/>
                </a:tc>
              </a:tr>
              <a:tr h="426339">
                <a:tc>
                  <a:txBody>
                    <a:bodyPr/>
                    <a:lstStyle/>
                    <a:p>
                      <a:r>
                        <a:rPr sz="1100"/>
                        <a:t>Weakest single batch — DE, Mar 2025</a:t>
                      </a:r>
                    </a:p>
                  </a:txBody>
                  <a:tcPr/>
                </a:tc>
                <a:tc>
                  <a:txBody>
                    <a:bodyPr/>
                    <a:lstStyle/>
                    <a:p>
                      <a:r>
                        <a:rPr sz="1100"/>
                        <a:t>Keyword-optimisation test, DE market — the softest read-out in the archive</a:t>
                      </a:r>
                    </a:p>
                  </a:txBody>
                  <a:tcPr/>
                </a:tc>
                <a:tc>
                  <a:txBody>
                    <a:bodyPr/>
                    <a:lstStyle/>
                    <a:p>
                      <a:r>
                        <a:rPr sz="1100"/>
                        <a:t>Mar 2025</a:t>
                      </a:r>
                    </a:p>
                  </a:txBody>
                  <a:tcPr/>
                </a:tc>
                <a:tc>
                  <a:txBody>
                    <a:bodyPr/>
                    <a:lstStyle/>
                    <a:p>
                      <a:r>
                        <a:rPr sz="1100"/>
                        <a:t>−24.9% / −59.0%</a:t>
                      </a:r>
                    </a:p>
                  </a:txBody>
                  <a:tcPr/>
                </a:tc>
              </a:tr>
              <a:tr h="426339">
                <a:tc>
                  <a:txBody>
                    <a:bodyPr/>
                    <a:lstStyle/>
                    <a:p>
                      <a:r>
                        <a:rPr sz="1100"/>
                        <a:t>Title structure — Dentsu proposal vs. current MASK</a:t>
                      </a:r>
                    </a:p>
                  </a:txBody>
                  <a:tcPr/>
                </a:tc>
                <a:tc>
                  <a:txBody>
                    <a:bodyPr/>
                    <a:lstStyle/>
                    <a:p>
                      <a:r>
                        <a:rPr sz="1100"/>
                        <a:t>A proposed new title structure from Dentsu outperforms the existing MASK format</a:t>
                      </a:r>
                    </a:p>
                  </a:txBody>
                  <a:tcPr/>
                </a:tc>
                <a:tc>
                  <a:txBody>
                    <a:bodyPr/>
                    <a:lstStyle/>
                    <a:p>
                      <a:r>
                        <a:rPr sz="1100"/>
                        <a:t>FY25/26</a:t>
                      </a:r>
                    </a:p>
                  </a:txBody>
                  <a:tcPr/>
                </a:tc>
                <a:tc>
                  <a:txBody>
                    <a:bodyPr/>
                    <a:lstStyle/>
                    <a:p>
                      <a:r>
                        <a:rPr sz="1100"/>
                        <a:t>Current mask wins</a:t>
                      </a:r>
                    </a:p>
                  </a:txBody>
                  <a:tcPr/>
                </a:tc>
              </a:tr>
              <a:tr h="426339">
                <a:tc>
                  <a:txBody>
                    <a:bodyPr/>
                    <a:lstStyle/>
                    <a:p>
                      <a:r>
                        <a:rPr sz="1100"/>
                        <a:t>[Size] inclusion — 5 categories</a:t>
                      </a:r>
                    </a:p>
                  </a:txBody>
                  <a:tcPr/>
                </a:tc>
                <a:tc>
                  <a:txBody>
                    <a:bodyPr/>
                    <a:lstStyle/>
                    <a:p>
                      <a:r>
                        <a:rPr sz="1100"/>
                        <a:t>Including size in the title beats omitting it, tested separately on Trousers, Dresses, Coats &amp; Jackets, Shirts, Tops</a:t>
                      </a:r>
                    </a:p>
                  </a:txBody>
                  <a:tcPr/>
                </a:tc>
                <a:tc>
                  <a:txBody>
                    <a:bodyPr/>
                    <a:lstStyle/>
                    <a:p>
                      <a:r>
                        <a:rPr sz="1100"/>
                        <a:t>FY25/26</a:t>
                      </a:r>
                    </a:p>
                  </a:txBody>
                  <a:tcPr/>
                </a:tc>
                <a:tc>
                  <a:txBody>
                    <a:bodyPr/>
                    <a:lstStyle/>
                    <a:p>
                      <a:r>
                        <a:rPr sz="1100"/>
                        <a:t>5/5 — with Size wins</a:t>
                      </a:r>
                    </a:p>
                  </a:txBody>
                  <a:tcPr/>
                </a:tc>
              </a:tr>
              <a:tr h="426339">
                <a:tc>
                  <a:txBody>
                    <a:bodyPr/>
                    <a:lstStyle/>
                    <a:p>
                      <a:r>
                        <a:rPr sz="1100"/>
                        <a:t>[Gender] position — end vs. after brand</a:t>
                      </a:r>
                    </a:p>
                  </a:txBody>
                  <a:tcPr/>
                </a:tc>
                <a:tc>
                  <a:txBody>
                    <a:bodyPr/>
                    <a:lstStyle/>
                    <a:p>
                      <a:r>
                        <a:rPr sz="1100"/>
                        <a:t>Moving gender to the end of the title beats placing it after the brand</a:t>
                      </a:r>
                    </a:p>
                  </a:txBody>
                  <a:tcPr/>
                </a:tc>
                <a:tc>
                  <a:txBody>
                    <a:bodyPr/>
                    <a:lstStyle/>
                    <a:p>
                      <a:r>
                        <a:rPr sz="1100"/>
                        <a:t>Mar–Apr 2025</a:t>
                      </a:r>
                    </a:p>
                  </a:txBody>
                  <a:tcPr/>
                </a:tc>
                <a:tc>
                  <a:txBody>
                    <a:bodyPr/>
                    <a:lstStyle/>
                    <a:p>
                      <a:r>
                        <a:rPr sz="1100"/>
                        <a:t>−13.8% / −12.6% - gender end wins</a:t>
                      </a:r>
                    </a:p>
                  </a:txBody>
                  <a:tcPr/>
                </a:tc>
              </a:tr>
              <a:tr h="426339">
                <a:tc>
                  <a:txBody>
                    <a:bodyPr/>
                    <a:lstStyle/>
                    <a:p>
                      <a:r>
                        <a:rPr sz="1100"/>
                        <a:t>AI Search Intent titles — Womens</a:t>
                      </a:r>
                    </a:p>
                  </a:txBody>
                  <a:tcPr/>
                </a:tc>
                <a:tc>
                  <a:txBody>
                    <a:bodyPr/>
                    <a:lstStyle/>
                    <a:p>
                      <a:r>
                        <a:rPr sz="1100"/>
                        <a:t>Search-intent phrasing in titles beats the unmodified control</a:t>
                      </a:r>
                    </a:p>
                  </a:txBody>
                  <a:tcPr/>
                </a:tc>
                <a:tc>
                  <a:txBody>
                    <a:bodyPr/>
                    <a:lstStyle/>
                    <a:p>
                      <a:r>
                        <a:rPr sz="1100"/>
                        <a:t>May 2026</a:t>
                      </a:r>
                    </a:p>
                  </a:txBody>
                  <a:tcPr/>
                </a:tc>
                <a:tc>
                  <a:txBody>
                    <a:bodyPr/>
                    <a:lstStyle/>
                    <a:p>
                      <a:r>
                        <a:rPr sz="1100"/>
                        <a:t>14.6% / 7.1%</a:t>
                      </a:r>
                    </a:p>
                  </a:txBody>
                  <a:tcPr/>
                </a:tc>
              </a:tr>
              <a:tr h="426339">
                <a:tc>
                  <a:txBody>
                    <a:bodyPr/>
                    <a:lstStyle/>
                    <a:p>
                      <a:r>
                        <a:rPr sz="1100"/>
                        <a:t>AI Search Intent titles — Mens</a:t>
                      </a:r>
                    </a:p>
                  </a:txBody>
                  <a:tcPr/>
                </a:tc>
                <a:tc>
                  <a:txBody>
                    <a:bodyPr/>
                    <a:lstStyle/>
                    <a:p>
                      <a:r>
                        <a:rPr sz="1100"/>
                        <a:t>Search-intent phrasing in titles beats the unmodified control</a:t>
                      </a:r>
                    </a:p>
                  </a:txBody>
                  <a:tcPr/>
                </a:tc>
                <a:tc>
                  <a:txBody>
                    <a:bodyPr/>
                    <a:lstStyle/>
                    <a:p>
                      <a:r>
                        <a:rPr sz="1100"/>
                        <a:t>May 2026</a:t>
                      </a:r>
                    </a:p>
                  </a:txBody>
                  <a:tcPr/>
                </a:tc>
                <a:tc>
                  <a:txBody>
                    <a:bodyPr/>
                    <a:lstStyle/>
                    <a:p>
                      <a:r>
                        <a:rPr sz="1100"/>
                        <a:t>15.7% / 17.9%</a:t>
                      </a:r>
                    </a:p>
                  </a:txBody>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Number of Wins / Results (cont.)</a:t>
            </a:r>
          </a:p>
        </p:txBody>
      </p:sp>
      <p:graphicFrame>
        <p:nvGraphicFramePr>
          <p:cNvPr id="5" name="Table 4"/>
          <p:cNvGraphicFramePr>
            <a:graphicFrameLocks noGrp="1"/>
          </p:cNvGraphicFramePr>
          <p:nvPr/>
        </p:nvGraphicFramePr>
        <p:xfrm>
          <a:off x="612648" y="1847088"/>
          <a:ext cx="10972798" cy="1069848"/>
        </p:xfrm>
        <a:graphic>
          <a:graphicData uri="http://schemas.openxmlformats.org/drawingml/2006/table">
            <a:tbl>
              <a:tblPr firstRow="1" bandRow="1">
                <a:tableStyleId>{5C22544A-7EE6-4342-B048-85BDC9FD1C3A}</a:tableStyleId>
              </a:tblPr>
              <a:tblGrid>
                <a:gridCol w="2499973"/>
                <a:gridCol w="6749928"/>
                <a:gridCol w="916656"/>
                <a:gridCol w="806241"/>
              </a:tblGrid>
              <a:tr h="384048">
                <a:tc>
                  <a:txBody>
                    <a:bodyPr/>
                    <a:lstStyle/>
                    <a:p>
                      <a:r>
                        <a:rPr sz="1300" b="1">
                          <a:solidFill>
                            <a:srgbClr val="FFFFFF"/>
                          </a:solidFill>
                        </a:rPr>
                        <a:t>Test</a:t>
                      </a:r>
                    </a:p>
                  </a:txBody>
                  <a:tcPr/>
                </a:tc>
                <a:tc>
                  <a:txBody>
                    <a:bodyPr/>
                    <a:lstStyle/>
                    <a:p>
                      <a:r>
                        <a:rPr sz="1300" b="1">
                          <a:solidFill>
                            <a:srgbClr val="FFFFFF"/>
                          </a:solidFill>
                        </a:rPr>
                        <a:t>Result</a:t>
                      </a:r>
                    </a:p>
                  </a:txBody>
                  <a:tcPr/>
                </a:tc>
                <a:tc>
                  <a:txBody>
                    <a:bodyPr/>
                    <a:lstStyle/>
                    <a:p>
                      <a:r>
                        <a:rPr sz="1300" b="1">
                          <a:solidFill>
                            <a:srgbClr val="FFFFFF"/>
                          </a:solidFill>
                        </a:rPr>
                        <a:t>Window</a:t>
                      </a:r>
                    </a:p>
                  </a:txBody>
                  <a:tcPr/>
                </a:tc>
                <a:tc>
                  <a:txBody>
                    <a:bodyPr/>
                    <a:lstStyle/>
                    <a:p>
                      <a:r>
                        <a:rPr sz="1300" b="1">
                          <a:solidFill>
                            <a:srgbClr val="FFFFFF"/>
                          </a:solidFill>
                        </a:rPr>
                        <a:t>Outcome</a:t>
                      </a:r>
                    </a:p>
                  </a:txBody>
                  <a:tcPr/>
                </a:tc>
              </a:tr>
              <a:tr h="685800">
                <a:tc>
                  <a:txBody>
                    <a:bodyPr/>
                    <a:lstStyle/>
                    <a:p>
                      <a:r>
                        <a:rPr sz="1100"/>
                        <a:t>Local Language vs. EN Shopping</a:t>
                      </a:r>
                    </a:p>
                  </a:txBody>
                  <a:tcPr/>
                </a:tc>
                <a:tc>
                  <a:txBody>
                    <a:bodyPr/>
                    <a:lstStyle/>
                    <a:p>
                      <a:r>
                        <a:rPr sz="1100"/>
                        <a:t>Market-native copy outperforms English-language campaigns across 16 EU/ME markets</a:t>
                      </a:r>
                    </a:p>
                  </a:txBody>
                  <a:tcPr/>
                </a:tc>
                <a:tc>
                  <a:txBody>
                    <a:bodyPr/>
                    <a:lstStyle/>
                    <a:p>
                      <a:r>
                        <a:rPr sz="1100" b="1">
                          <a:solidFill>
                            <a:srgbClr val="ED6F0B"/>
                          </a:solidFill>
                        </a:rPr>
                        <a:t>In progress</a:t>
                      </a:r>
                    </a:p>
                  </a:txBody>
                  <a:tcPr/>
                </a:tc>
                <a:tc>
                  <a:txBody>
                    <a:bodyPr/>
                    <a:lstStyle/>
                    <a:p>
                      <a:r>
                        <a:rPr sz="1100"/>
                        <a:t>Reading</a:t>
                      </a:r>
                    </a:p>
                  </a:txBody>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Number of Wins / Results (cont.)</a:t>
            </a:r>
          </a:p>
        </p:txBody>
      </p:sp>
      <p:sp>
        <p:nvSpPr>
          <p:cNvPr id="4" name="Text Placeholder 3"/>
          <p:cNvSpPr>
            <a:spLocks noGrp="1"/>
          </p:cNvSpPr>
          <p:nvPr>
            <p:ph type="body" idx="1"/>
          </p:nvPr>
        </p:nvSpPr>
        <p:spPr/>
        <p:txBody>
          <a:bodyPr wrap="square"/>
          <a:lstStyle/>
          <a:p>
            <a:r>
              <a:t>Verified against the live feed</a:t>
            </a:r>
          </a:p>
        </p:txBody>
      </p:sp>
      <p:sp>
        <p:nvSpPr>
          <p:cNvPr id="5" name="Text Placeholder 4"/>
          <p:cNvSpPr>
            <a:spLocks noGrp="1"/>
          </p:cNvSpPr>
          <p:nvPr>
            <p:ph type="body" idx="2"/>
          </p:nvPr>
        </p:nvSpPr>
        <p:spPr/>
        <p:txBody>
          <a:bodyPr wrap="square"/>
          <a:lstStyle/>
          <a:p>
            <a:r>
              <a:t>39% → 0.1% duplicate titles</a:t>
            </a:r>
          </a:p>
          <a:p>
            <a:r>
              <a:t>100% images live (avg 5.9/SKU)</a:t>
            </a:r>
          </a:p>
        </p:txBody>
      </p:sp>
      <p:sp>
        <p:nvSpPr>
          <p:cNvPr id="6" name="Text Placeholder 5"/>
          <p:cNvSpPr>
            <a:spLocks noGrp="1"/>
          </p:cNvSpPr>
          <p:nvPr>
            <p:ph type="body" idx="3"/>
          </p:nvPr>
        </p:nvSpPr>
        <p:spPr/>
        <p:txBody>
          <a:bodyPr wrap="square"/>
          <a:lstStyle/>
          <a:p>
            <a:r>
              <a:t>What the archive confirms</a:t>
            </a:r>
          </a:p>
        </p:txBody>
      </p:sp>
      <p:sp>
        <p:nvSpPr>
          <p:cNvPr id="7" name="Text Placeholder 6"/>
          <p:cNvSpPr>
            <a:spLocks noGrp="1"/>
          </p:cNvSpPr>
          <p:nvPr>
            <p:ph type="body" idx="4"/>
          </p:nvPr>
        </p:nvSpPr>
        <p:spPr/>
        <p:txBody>
          <a:bodyPr wrap="square"/>
          <a:lstStyle/>
          <a:p>
            <a:r>
              <a:t>Keyword optimisation is a reliable lever in GB and DE (roughly two-thirds of tests both-positive, averaging +5.9%/+6.8%).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Number of Wins / Results (cont.)</a:t>
            </a:r>
          </a:p>
        </p:txBody>
      </p:sp>
      <p:sp>
        <p:nvSpPr>
          <p:cNvPr id="4" name="Text Placeholder 3"/>
          <p:cNvSpPr>
            <a:spLocks noGrp="1"/>
          </p:cNvSpPr>
          <p:nvPr>
            <p:ph type="body" idx="1"/>
          </p:nvPr>
        </p:nvSpPr>
        <p:spPr/>
        <p:txBody>
          <a:bodyPr wrap="square"/>
          <a:lstStyle/>
          <a:p>
            <a:r>
              <a:t>Where it's weakest — EU market</a:t>
            </a:r>
          </a:p>
          <a:p>
            <a:r>
              <a:t>EU is the only market where keyword tests trend negative (2 of 6 positive, avg −4.6%/−5.7%), the opposite of GB and DE.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nine</a:t>
            </a:r>
          </a:p>
        </p:txBody>
      </p:sp>
      <p:sp>
        <p:nvSpPr>
          <p:cNvPr id="3" name="Title 2"/>
          <p:cNvSpPr>
            <a:spLocks noGrp="1"/>
          </p:cNvSpPr>
          <p:nvPr>
            <p:ph type="title"/>
          </p:nvPr>
        </p:nvSpPr>
        <p:spPr/>
        <p:txBody>
          <a:bodyPr wrap="square"/>
          <a:lstStyle/>
          <a:p>
            <a:r>
              <a:t>Team &amp; Ways of Working</a:t>
            </a:r>
          </a:p>
        </p:txBody>
      </p:sp>
      <p:sp>
        <p:nvSpPr>
          <p:cNvPr id="4" name="Text Placeholder 3"/>
          <p:cNvSpPr>
            <a:spLocks noGrp="1"/>
          </p:cNvSpPr>
          <p:nvPr>
            <p:ph type="body" idx="1"/>
          </p:nvPr>
        </p:nvSpPr>
        <p:spPr/>
        <p:txBody>
          <a:bodyPr wrap="square"/>
          <a:lstStyle/>
          <a:p>
            <a:r>
              <a:t>Who runs what, and how work moves between the London account team and the delivery pod.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Team &amp; Ways of Working</a:t>
            </a:r>
          </a:p>
        </p:txBody>
      </p:sp>
      <p:sp>
        <p:nvSpPr>
          <p:cNvPr id="4" name="Text Placeholder 3"/>
          <p:cNvSpPr>
            <a:spLocks noGrp="1"/>
          </p:cNvSpPr>
          <p:nvPr>
            <p:ph type="body" idx="1"/>
          </p:nvPr>
        </p:nvSpPr>
        <p:spPr/>
        <p:txBody>
          <a:bodyPr wrap="square"/>
          <a:lstStyle/>
          <a:p>
            <a:r>
              <a:t>Ray Vũ — Senior Account Manager</a:t>
            </a:r>
          </a:p>
        </p:txBody>
      </p:sp>
      <p:sp>
        <p:nvSpPr>
          <p:cNvPr id="5" name="Text Placeholder 4"/>
          <p:cNvSpPr>
            <a:spLocks noGrp="1"/>
          </p:cNvSpPr>
          <p:nvPr>
            <p:ph type="body" idx="2"/>
          </p:nvPr>
        </p:nvSpPr>
        <p:spPr/>
        <p:txBody>
          <a:bodyPr wrap="square"/>
          <a:lstStyle/>
          <a:p>
            <a:r>
              <a:t>Leads the account: strategy, commercial, and the direct client relationship. Owner on the plan for the title de-duplication fix, IE LIA launch and the product-type build.</a:t>
            </a:r>
          </a:p>
        </p:txBody>
      </p:sp>
      <p:sp>
        <p:nvSpPr>
          <p:cNvPr id="6" name="Text Placeholder 5"/>
          <p:cNvSpPr>
            <a:spLocks noGrp="1"/>
          </p:cNvSpPr>
          <p:nvPr>
            <p:ph type="body" idx="3"/>
          </p:nvPr>
        </p:nvSpPr>
        <p:spPr/>
        <p:txBody>
          <a:bodyPr wrap="square"/>
          <a:lstStyle/>
          <a:p>
            <a:r>
              <a:t>Steven — Account Manager</a:t>
            </a:r>
          </a:p>
        </p:txBody>
      </p:sp>
      <p:sp>
        <p:nvSpPr>
          <p:cNvPr id="7" name="Text Placeholder 6"/>
          <p:cNvSpPr>
            <a:spLocks noGrp="1"/>
          </p:cNvSpPr>
          <p:nvPr>
            <p:ph type="body" idx="4"/>
          </p:nvPr>
        </p:nvSpPr>
        <p:spPr/>
        <p:txBody>
          <a:bodyPr wrap="square"/>
          <a:lstStyle/>
          <a:p>
            <a:r>
              <a:t>Day-to-day account management alongside Ray — the second named contact on every review cycle.</a:t>
            </a:r>
          </a:p>
        </p:txBody>
      </p:sp>
      <p:sp>
        <p:nvSpPr>
          <p:cNvPr id="8" name="Text Placeholder 7"/>
          <p:cNvSpPr>
            <a:spLocks noGrp="1"/>
          </p:cNvSpPr>
          <p:nvPr>
            <p:ph type="body" idx="5"/>
          </p:nvPr>
        </p:nvSpPr>
        <p:spPr/>
        <p:txBody>
          <a:bodyPr wrap="square"/>
          <a:lstStyle/>
          <a:p>
            <a:r>
              <a:t>Ezgi &amp; Eliza — keywords &amp; testing</a:t>
            </a:r>
          </a:p>
        </p:txBody>
      </p:sp>
      <p:sp>
        <p:nvSpPr>
          <p:cNvPr id="9" name="Text Placeholder 8"/>
          <p:cNvSpPr>
            <a:spLocks noGrp="1"/>
          </p:cNvSpPr>
          <p:nvPr>
            <p:ph type="body" idx="6"/>
          </p:nvPr>
        </p:nvSpPr>
        <p:spPr/>
        <p:txBody>
          <a:bodyPr wrap="square"/>
          <a:lstStyle/>
          <a:p>
            <a:r>
              <a:t>Named owners on the plan for the Keyword Planner build and the A/B title tests — the pair behind the 38-test archive in chapter 8.</a:t>
            </a:r>
          </a:p>
        </p:txBody>
      </p:sp>
      <p:sp>
        <p:nvSpPr>
          <p:cNvPr id="10" name="Text Placeholder 9"/>
          <p:cNvSpPr>
            <a:spLocks noGrp="1"/>
          </p:cNvSpPr>
          <p:nvPr>
            <p:ph type="body" idx="7"/>
          </p:nvPr>
        </p:nvSpPr>
        <p:spPr/>
        <p:txBody>
          <a:bodyPr wrap="square"/>
          <a:lstStyle/>
          <a:p>
            <a:r>
              <a:t>ASPL — delivery pod</a:t>
            </a:r>
          </a:p>
        </p:txBody>
      </p:sp>
      <p:sp>
        <p:nvSpPr>
          <p:cNvPr id="11" name="Text Placeholder 10"/>
          <p:cNvSpPr>
            <a:spLocks noGrp="1"/>
          </p:cNvSpPr>
          <p:nvPr>
            <p:ph type="body" idx="8"/>
          </p:nvPr>
        </p:nvSpPr>
        <p:spPr/>
        <p:txBody>
          <a:bodyPr wrap="square"/>
          <a:lstStyle/>
          <a:p>
            <a:r>
              <a:t>Executes the feed work at catalogue scale — titles, attributes, labels and QA — with visible hand-offs back to the London team.</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Team &amp; Ways of Working (cont.)</a:t>
            </a:r>
          </a:p>
        </p:txBody>
      </p:sp>
      <p:sp>
        <p:nvSpPr>
          <p:cNvPr id="4" name="Text Placeholder 3"/>
          <p:cNvSpPr>
            <a:spLocks noGrp="1"/>
          </p:cNvSpPr>
          <p:nvPr>
            <p:ph type="body" idx="1"/>
          </p:nvPr>
        </p:nvSpPr>
        <p:spPr/>
        <p:txBody>
          <a:bodyPr wrap="square"/>
          <a:lstStyle/>
          <a:p>
            <a:r>
              <a:t>How work moves</a:t>
            </a:r>
          </a:p>
        </p:txBody>
      </p:sp>
      <p:sp>
        <p:nvSpPr>
          <p:cNvPr id="5" name="Text Placeholder 4"/>
          <p:cNvSpPr>
            <a:spLocks noGrp="1"/>
          </p:cNvSpPr>
          <p:nvPr>
            <p:ph type="body" idx="2"/>
          </p:nvPr>
        </p:nvSpPr>
        <p:spPr/>
        <p:txBody>
          <a:bodyPr wrap="square"/>
          <a:lstStyle/>
          <a:p>
            <a:r>
              <a:t>Every workstream is a tracked initiative on the live Project Plan (469 to date, chapter 6); execution is logged per-ticket in FeedHero (735 tickets, chapter 7). Reviews run on a quarterly cadence — the last QBR was held in person — and monthly task delivery runs continuously underneath.</a:t>
            </a:r>
          </a:p>
        </p:txBody>
      </p:sp>
      <p:sp>
        <p:nvSpPr>
          <p:cNvPr id="6" name="Text Placeholder 5"/>
          <p:cNvSpPr>
            <a:spLocks noGrp="1"/>
          </p:cNvSpPr>
          <p:nvPr>
            <p:ph type="body" idx="3"/>
          </p:nvPr>
        </p:nvSpPr>
        <p:spPr/>
        <p:txBody>
          <a:bodyPr wrap="square"/>
          <a:lstStyle/>
          <a:p>
            <a:r>
              <a:t>Blockers get named, not absorbed</a:t>
            </a:r>
          </a:p>
        </p:txBody>
      </p:sp>
      <p:sp>
        <p:nvSpPr>
          <p:cNvPr id="7" name="Text Placeholder 6"/>
          <p:cNvSpPr>
            <a:spLocks noGrp="1"/>
          </p:cNvSpPr>
          <p:nvPr>
            <p:ph type="body" idx="4"/>
          </p:nvPr>
        </p:nvSpPr>
        <p:spPr/>
        <p:txBody>
          <a:bodyPr wrap="square"/>
          <a:lstStyle/>
          <a:p>
            <a:r>
              <a:t>Where a workstream depends on a third party, the plan says so with a named owner — stock-flag accuracy and the item-group ID cutover both sit with NEXT today ( Awaiting NEXT), so the status you read is the real one, not a softened one.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2820"/>
              <a:t>Every verified lever here — de-duplicated titles, the live Keyword Planner, 100% image coverage — is one pattern: fuller, more decomposable data. Tachyon and the conversational attributes scale that up next; the receipts are in chapters 5–8.</a:t>
            </a:r>
          </a:p>
        </p:txBody>
      </p:sp>
      <p:sp>
        <p:nvSpPr>
          <p:cNvPr id="3" name="Text Placeholder 2"/>
          <p:cNvSpPr>
            <a:spLocks noGrp="1"/>
          </p:cNvSpPr>
          <p:nvPr>
            <p:ph type="body" idx="11"/>
          </p:nvPr>
        </p:nvSpPr>
        <p:spPr/>
        <p:txBody>
          <a:bodyPr wrap="square"/>
          <a:lstStyle/>
          <a:p>
            <a:r>
              <a:t>The through-line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Questions?</a:t>
            </a:r>
          </a:p>
        </p:txBody>
      </p:sp>
      <p:sp>
        <p:nvSpPr>
          <p:cNvPr id="3" name="Text Placeholder 2"/>
          <p:cNvSpPr>
            <a:spLocks noGrp="1"/>
          </p:cNvSpPr>
          <p:nvPr>
            <p:ph type="body" idx="1"/>
          </p:nvPr>
        </p:nvSpPr>
        <p:spPr/>
        <p:txBody>
          <a:bodyPr wrap="square"/>
          <a:lstStyle/>
          <a:p>
            <a:r>
              <a:t>Ray Vũ</a:t>
            </a:r>
          </a:p>
        </p:txBody>
      </p:sp>
      <p:sp>
        <p:nvSpPr>
          <p:cNvPr id="4" name="Text Placeholder 3"/>
          <p:cNvSpPr>
            <a:spLocks noGrp="1"/>
          </p:cNvSpPr>
          <p:nvPr>
            <p:ph type="body" idx="11"/>
          </p:nvPr>
        </p:nvSpPr>
        <p:spPr/>
        <p:txBody>
          <a:bodyPr wrap="square"/>
          <a:lstStyle/>
          <a:p>
            <a:r>
              <a:t>Senior Account Manager</a:t>
            </a:r>
          </a:p>
        </p:txBody>
      </p:sp>
      <p:sp>
        <p:nvSpPr>
          <p:cNvPr id="5" name="Text Placeholder 4"/>
          <p:cNvSpPr>
            <a:spLocks noGrp="1"/>
          </p:cNvSpPr>
          <p:nvPr>
            <p:ph type="body" idx="2"/>
          </p:nvPr>
        </p:nvSpPr>
        <p:spPr/>
        <p:txBody>
          <a:bodyPr wrap="square"/>
          <a:lstStyle/>
          <a:p>
            <a:r>
              <a:t>ray@feedspark.com</a:t>
            </a:r>
          </a:p>
        </p:txBody>
      </p:sp>
      <p:sp>
        <p:nvSpPr>
          <p:cNvPr id="6" name="Text Placeholder 5"/>
          <p:cNvSpPr>
            <a:spLocks noGrp="1"/>
          </p:cNvSpPr>
          <p:nvPr>
            <p:ph type="body" idx="3"/>
          </p:nvPr>
        </p:nvSpPr>
        <p:spPr/>
        <p:txBody>
          <a:bodyPr wrap="square"/>
          <a:lstStyle/>
          <a:p>
            <a:r>
              <a:t>Also on the account</a:t>
            </a:r>
          </a:p>
        </p:txBody>
      </p:sp>
      <p:sp>
        <p:nvSpPr>
          <p:cNvPr id="7" name="Text Placeholder 6"/>
          <p:cNvSpPr>
            <a:spLocks noGrp="1"/>
          </p:cNvSpPr>
          <p:nvPr>
            <p:ph type="body" idx="4"/>
          </p:nvPr>
        </p:nvSpPr>
        <p:spPr/>
        <p:txBody>
          <a:bodyPr wrap="square"/>
          <a:lstStyle/>
          <a:p>
            <a:r>
              <a:t>Steven — steven@feedspark.com</a:t>
            </a:r>
          </a:p>
        </p:txBody>
      </p:sp>
    </p:spTree>
  </p:cSld>
  <p:clrMapOvr>
    <a:masterClrMapping/>
  </p:clrMapOvr>
</p:sld>
</file>

<file path=ppt/theme/theme1.xml><?xml version="1.0" encoding="utf-8"?>
<a:theme xmlns:a="http://schemas.openxmlformats.org/drawingml/2006/main" name="Office Theme">
  <a:themeElements>
    <a:clrScheme name="FeedSpark Modern">
      <a:dk1>
        <a:srgbClr val="0F172A"/>
      </a:dk1>
      <a:lt1>
        <a:srgbClr val="FFFFFF"/>
      </a:lt1>
      <a:dk2>
        <a:srgbClr val="1E293B"/>
      </a:dk2>
      <a:lt2>
        <a:srgbClr val="F8FAFC"/>
      </a:lt2>
      <a:accent1>
        <a:srgbClr val="F7941E"/>
      </a:accent1>
      <a:accent2>
        <a:srgbClr val="0F172A"/>
      </a:accent2>
      <a:accent3>
        <a:srgbClr val="3B82F6"/>
      </a:accent3>
      <a:accent4>
        <a:srgbClr val="10B981"/>
      </a:accent4>
      <a:accent5>
        <a:srgbClr val="8B5CF6"/>
      </a:accent5>
      <a:accent6>
        <a:srgbClr val="EC4899"/>
      </a:accent6>
      <a:hlink>
        <a:srgbClr val="F7941E"/>
      </a:hlink>
      <a:folHlink>
        <a:srgbClr val="94A3B8"/>
      </a:folHlink>
    </a:clrScheme>
    <a:fontScheme name="FeedSpark Modern">
      <a:majorFont>
        <a:latin typeface="Inter" panose="02110004020202020204"/>
        <a:ea typeface=""/>
        <a:cs typeface=""/>
      </a:majorFont>
      <a:minorFont>
        <a:latin typeface="Inter"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4449</Words>
  <Application>Microsoft Office PowerPoint</Application>
  <PresentationFormat>Widescreen</PresentationFormat>
  <Paragraphs>523</Paragraphs>
  <Slides>50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Inter</vt:lpstr>
      <vt:lpstr>Office Theme</vt:lpstr>
      <vt:lpstr>Superdry × FeedSpark</vt:lpstr>
      <vt:lpstr>PowerPoint Presentation</vt:lpstr>
      <vt:lpstr>What we’ll cover</vt:lpstr>
      <vt:lpstr>Service scope &amp; scale</vt:lpstr>
      <vt:lpstr>The programme in five numbers</vt:lpstr>
      <vt:lpstr>Channels and coverage</vt:lpstr>
      <vt:lpstr>Where the hours went — by market</vt:lpstr>
      <vt:lpstr>The delivery stack</vt:lpstr>
      <vt:lpstr>Four layers, live on the account today</vt:lpstr>
      <vt:lpstr>Review &amp; project recap</vt:lpstr>
      <vt:lpstr>Where the plan stands</vt:lpstr>
      <vt:lpstr>Action by action — what’s closed</vt:lpstr>
      <vt:lpstr>Action by action — open and parked</vt:lpstr>
      <vt:lpstr>The look-back period</vt:lpstr>
      <vt:lpstr>Sustained delivery, Jul 2024 → Jul 2026</vt:lpstr>
      <vt:lpstr>By activity type</vt:lpstr>
      <vt:lpstr>The task families behind the hours</vt:lpstr>
      <vt:lpstr>The value delivered</vt:lpstr>
      <vt:lpstr>Two years delivered, a third given</vt:lpstr>
      <vt:lpstr>The invested-hours story</vt:lpstr>
      <vt:lpstr>The protection work, quantified</vt:lpstr>
      <vt:lpstr>Automation &amp; readiness</vt:lpstr>
      <vt:lpstr>What runs on rules</vt:lpstr>
      <vt:lpstr>What still needs a hand</vt:lpstr>
      <vt:lpstr>The A/B test archive</vt:lpstr>
      <vt:lpstr>36 tests, read straight</vt:lpstr>
      <vt:lpstr>The archive by test type</vt:lpstr>
      <vt:lpstr>Reading the average straight</vt:lpstr>
      <vt:lpstr>Keyword tests — the results that moved</vt:lpstr>
      <vt:lpstr>Brand in the title — it depends</vt:lpstr>
      <vt:lpstr>External benchmark — retail feeds</vt:lpstr>
      <vt:lpstr>Four launches that woke dormant stock</vt:lpstr>
      <vt:lpstr>Team &amp; ways of working</vt:lpstr>
      <vt:lpstr>One manager, one pod, one cadence</vt:lpstr>
      <vt:lpstr>How work moves</vt:lpstr>
      <vt:lpstr>Feed optimisation score</vt:lpstr>
      <vt:lpstr>Superdry feed optimisation — 70 / 100</vt:lpstr>
      <vt:lpstr>The GB feed, scored — 22,527 SKUs</vt:lpstr>
      <vt:lpstr>Where plan and feed agree — and don’t</vt:lpstr>
      <vt:lpstr>A second internal signal worth flagging</vt:lpstr>
      <vt:lpstr>AI readiness</vt:lpstr>
      <vt:lpstr>Where Superdry sits on the climb</vt:lpstr>
      <vt:lpstr>AI-readiness audit — Superdry GB</vt:lpstr>
      <vt:lpstr>PowerPoint Presentation</vt:lpstr>
      <vt:lpstr>Roadmap — next quarter</vt:lpstr>
      <vt:lpstr>What comes next</vt:lpstr>
      <vt:lpstr>The tests queued for the coming quarter</vt:lpstr>
      <vt:lpstr>The testing queue — medium and low</vt:lpstr>
      <vt:lpstr>PowerPoint Presentation</vt:lpstr>
      <vt:lpstr>Questions?</vt:lpstr>
    </vt:vector>
  </TitlesOfParts>
  <Company>FeedSpark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FeedSpark Template</dc:title>
  <dc:creator>FeedSpark</dc:creator>
  <cp:lastModifiedBy>Ray Vu</cp:lastModifiedBy>
  <cp:revision>1</cp:revision>
  <dcterms:modified xsi:type="dcterms:W3CDTF">2026-08-04T13:18:53Z</dcterms:modified>
</cp:coreProperties>
</file>