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x="12192000" cy="6858000"/>
  <p:notesSz cx="6858000" cy="9144000"/>
  <p:defaultTextStyle>
    <a:defPPr>
      <a:defRPr lang="en-GB"/>
    </a:def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96" y="7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0F172A"/>
        </a:solidFill>
        <a:effectLst/>
      </p:bgPr>
    </p:bg>
    <p:spTree>
      <p:nvGrpSpPr>
        <p:cNvPr id="1" name=""/>
        <p:cNvGrpSpPr/>
        <p:nvPr/>
      </p:nvGrpSpPr>
      <p:grpSpPr>
        <a:xfrm>
          <a:off x="0" y="0"/>
          <a:ext cx="0" cy="0"/>
          <a:chOff x="0" y="0"/>
          <a:chExt cx="0" cy="0"/>
        </a:xfrm>
      </p:grpSpPr>
      <p:sp>
        <p:nvSpPr>
          <p:cNvPr id="11" name="TopLine"/>
          <p:cNvSpPr/>
          <p:nvPr/>
        </p:nvSpPr>
        <p:spPr>
          <a:xfrm>
            <a:off x="0" y="0"/>
            <a:ext cx="12192000" cy="34560"/>
          </a:xfrm>
          <a:prstGeom prst="rect">
            <a:avLst/>
          </a:prstGeom>
          <a:gradFill rotWithShape="0">
            <a:gsLst>
              <a:gs pos="0">
                <a:srgbClr val="F7941E"/>
              </a:gs>
              <a:gs pos="40000">
                <a:srgbClr val="3B82F6"/>
              </a:gs>
              <a:gs pos="70000">
                <a:srgbClr val="8B5CF6"/>
              </a:gs>
              <a:gs pos="100000">
                <a:srgbClr val="EC4899"/>
              </a:gs>
            </a:gsLst>
            <a:lin ang="0"/>
          </a:gradFill>
          <a:ln w="0">
            <a:noFill/>
          </a:ln>
        </p:spPr>
        <p:txBody>
          <a:bodyPr/>
          <a:lstStyle/>
          <a:p>
            <a:endParaRPr lang="en-GB"/>
          </a:p>
        </p:txBody>
      </p:sp>
      <p:sp>
        <p:nvSpPr>
          <p:cNvPr id="12" name="GlowCircle"/>
          <p:cNvSpPr/>
          <p:nvPr/>
        </p:nvSpPr>
        <p:spPr>
          <a:xfrm>
            <a:off x="8229600" y="-914400"/>
            <a:ext cx="4569840" cy="4569840"/>
          </a:xfrm>
          <a:prstGeom prst="ellipse">
            <a:avLst/>
          </a:prstGeom>
          <a:gradFill rotWithShape="0">
            <a:gsLst>
              <a:gs pos="0">
                <a:srgbClr val="F7941E">
                  <a:alpha val="15000"/>
                </a:srgbClr>
              </a:gs>
              <a:gs pos="100000">
                <a:srgbClr val="F7941E">
                  <a:alpha val="0"/>
                </a:srgbClr>
              </a:gs>
            </a:gsLst>
            <a:path path="circle">
              <a:fillToRect l="50000" t="50000" r="50000" b="50000"/>
            </a:path>
          </a:gradFill>
          <a:ln w="0">
            <a:noFill/>
          </a:ln>
        </p:spPr>
        <p:txBody>
          <a:bodyPr/>
          <a:lstStyle/>
          <a:p>
            <a:endParaRPr lang="en-GB"/>
          </a:p>
        </p:txBody>
      </p:sp>
      <p:sp>
        <p:nvSpPr>
          <p:cNvPr id="13" name="LeftAccent"/>
          <p:cNvSpPr/>
          <p:nvPr/>
        </p:nvSpPr>
        <p:spPr>
          <a:xfrm>
            <a:off x="731520" y="1828800"/>
            <a:ext cx="43560" cy="2741040"/>
          </a:xfrm>
          <a:prstGeom prst="rect">
            <a:avLst/>
          </a:prstGeom>
          <a:solidFill>
            <a:srgbClr val="F7941E"/>
          </a:solidFill>
          <a:ln w="0">
            <a:noFill/>
          </a:ln>
        </p:spPr>
        <p:txBody>
          <a:bodyPr/>
          <a:lstStyle/>
          <a:p>
            <a:endParaRPr lang="en-GB"/>
          </a:p>
        </p:txBody>
      </p:sp>
      <p:sp>
        <p:nvSpPr>
          <p:cNvPr id="14" name="Title"/>
          <p:cNvSpPr>
            <a:spLocks noGrp="1"/>
          </p:cNvSpPr>
          <p:nvPr>
            <p:ph type="ctrTitle"/>
          </p:nvPr>
        </p:nvSpPr>
        <p:spPr>
          <a:xfrm>
            <a:off x="914400" y="1828800"/>
            <a:ext cx="9599040" cy="1369440"/>
          </a:xfrm>
          <a:prstGeom prst="rect">
            <a:avLst/>
          </a:prstGeom>
        </p:spPr>
        <p:txBody>
          <a:bodyPr lIns="0" tIns="0" rIns="0" bIns="0" anchor="ctr">
            <a:normAutofit/>
          </a:bodyPr>
          <a:lstStyle>
            <a:lvl1pPr marL="0" indent="0" algn="l">
              <a:lnSpc>
                <a:spcPct val="104000"/>
              </a:lnSpc>
              <a:defRPr sz="5400" b="1" i="0">
                <a:solidFill>
                  <a:srgbClr val="FFFFFF"/>
                </a:solidFill>
                <a:latin typeface="+mj-lt"/>
              </a:defRPr>
            </a:lvl1pPr>
          </a:lstStyle>
          <a:p>
            <a:endParaRPr lang="en-GB"/>
          </a:p>
        </p:txBody>
      </p:sp>
      <p:sp>
        <p:nvSpPr>
          <p:cNvPr id="15" name="Subtitle"/>
          <p:cNvSpPr>
            <a:spLocks noGrp="1"/>
          </p:cNvSpPr>
          <p:nvPr>
            <p:ph type="subTitle" idx="1"/>
          </p:nvPr>
        </p:nvSpPr>
        <p:spPr>
          <a:xfrm>
            <a:off x="914400" y="3300000"/>
            <a:ext cx="9599040" cy="760000"/>
          </a:xfrm>
          <a:prstGeom prst="rect">
            <a:avLst/>
          </a:prstGeom>
        </p:spPr>
        <p:txBody>
          <a:bodyPr lIns="0" tIns="0" rIns="0" bIns="0" anchor="ctr">
            <a:normAutofit/>
          </a:bodyPr>
          <a:lstStyle>
            <a:lvl1pPr marL="0" indent="0" algn="l">
              <a:defRPr sz="2000" b="0" i="0">
                <a:solidFill>
                  <a:srgbClr val="94A3B8"/>
                </a:solidFill>
                <a:latin typeface="+mn-lt"/>
              </a:defRPr>
            </a:lvl1pPr>
          </a:lstStyle>
          <a:p>
            <a:endParaRPr lang="en-GB"/>
          </a:p>
        </p:txBody>
      </p:sp>
      <p:sp>
        <p:nvSpPr>
          <p:cNvPr id="16" name="Date / Prepared by"/>
          <p:cNvSpPr>
            <a:spLocks noGrp="1"/>
          </p:cNvSpPr>
          <p:nvPr>
            <p:ph type="body" idx="11"/>
          </p:nvPr>
        </p:nvSpPr>
        <p:spPr>
          <a:xfrm>
            <a:off x="914400" y="4150000"/>
            <a:ext cx="9599040" cy="380000"/>
          </a:xfrm>
          <a:prstGeom prst="rect">
            <a:avLst/>
          </a:prstGeom>
        </p:spPr>
        <p:txBody>
          <a:bodyPr lIns="0" tIns="0" rIns="0" bIns="0" anchor="ctr">
            <a:normAutofit/>
          </a:bodyPr>
          <a:lstStyle>
            <a:lvl1pPr marL="0" indent="0" algn="l">
              <a:defRPr sz="1400" b="1" i="0">
                <a:solidFill>
                  <a:srgbClr val="F7941E"/>
                </a:solidFill>
                <a:latin typeface="+mn-lt"/>
              </a:defRPr>
            </a:lvl1pPr>
          </a:lstStyle>
          <a:p>
            <a:endParaRPr lang="en-GB"/>
          </a:p>
        </p:txBody>
      </p:sp>
      <p:sp>
        <p:nvSpPr>
          <p:cNvPr id="17"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FFFFFF"/>
                </a:solidFill>
              </a:rPr>
              <a:t>Spark</a:t>
            </a:r>
          </a:p>
        </p:txBody>
      </p:sp>
      <p:sp>
        <p:nvSpPr>
          <p:cNvPr id="18"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Marker">
    <p:bg>
      <p:bgPr>
        <a:solidFill>
          <a:srgbClr val="F7941E"/>
        </a:solidFill>
        <a:effectLst/>
      </p:bgPr>
    </p:bg>
    <p:spTree>
      <p:nvGrpSpPr>
        <p:cNvPr id="1" name=""/>
        <p:cNvGrpSpPr/>
        <p:nvPr/>
      </p:nvGrpSpPr>
      <p:grpSpPr>
        <a:xfrm>
          <a:off x="0" y="0"/>
          <a:ext cx="0" cy="0"/>
          <a:chOff x="0" y="0"/>
          <a:chExt cx="0" cy="0"/>
        </a:xfrm>
      </p:grpSpPr>
      <p:sp>
        <p:nvSpPr>
          <p:cNvPr id="11" name="BigCircle"/>
          <p:cNvSpPr/>
          <p:nvPr/>
        </p:nvSpPr>
        <p:spPr>
          <a:xfrm>
            <a:off x="8686800" y="-1371600"/>
            <a:ext cx="5029200" cy="5029200"/>
          </a:xfrm>
          <a:prstGeom prst="ellipse">
            <a:avLst/>
          </a:prstGeom>
          <a:solidFill>
            <a:srgbClr val="FFFFFF">
              <a:alpha val="15000"/>
            </a:srgbClr>
          </a:solidFill>
          <a:ln w="12700">
            <a:solidFill>
              <a:srgbClr val="FFFFFF"/>
            </a:solidFill>
          </a:ln>
        </p:spPr>
        <p:txBody>
          <a:bodyPr/>
          <a:lstStyle/>
          <a:p>
            <a:endParaRPr lang="en-GB"/>
          </a:p>
        </p:txBody>
      </p:sp>
      <p:sp>
        <p:nvSpPr>
          <p:cNvPr id="12" name="SmallCircle"/>
          <p:cNvSpPr/>
          <p:nvPr/>
        </p:nvSpPr>
        <p:spPr>
          <a:xfrm>
            <a:off x="10058400" y="914400"/>
            <a:ext cx="3200400" cy="3200400"/>
          </a:xfrm>
          <a:prstGeom prst="ellipse">
            <a:avLst/>
          </a:prstGeom>
          <a:solidFill>
            <a:srgbClr val="FFFFFF">
              <a:alpha val="10000"/>
            </a:srgbClr>
          </a:solidFill>
          <a:ln w="12700">
            <a:solidFill>
              <a:srgbClr val="FFFFFF"/>
            </a:solidFill>
          </a:ln>
        </p:spPr>
        <p:txBody>
          <a:bodyPr/>
          <a:lstStyle/>
          <a:p>
            <a:endParaRPr lang="en-GB"/>
          </a:p>
        </p:txBody>
      </p:sp>
      <p:sp>
        <p:nvSpPr>
          <p:cNvPr id="13" name="LeftAccent"/>
          <p:cNvSpPr/>
          <p:nvPr/>
        </p:nvSpPr>
        <p:spPr>
          <a:xfrm>
            <a:off x="777240" y="1828800"/>
            <a:ext cx="45720" cy="2286000"/>
          </a:xfrm>
          <a:prstGeom prst="rect">
            <a:avLst/>
          </a:prstGeom>
          <a:solidFill>
            <a:srgbClr val="FFFFFF"/>
          </a:solidFill>
          <a:ln w="0">
            <a:noFill/>
          </a:ln>
        </p:spPr>
        <p:txBody>
          <a:bodyPr/>
          <a:lstStyle/>
          <a:p>
            <a:endParaRPr lang="en-GB"/>
          </a:p>
        </p:txBody>
      </p:sp>
      <p:sp>
        <p:nvSpPr>
          <p:cNvPr id="14" name="Section Label"/>
          <p:cNvSpPr>
            <a:spLocks noGrp="1"/>
          </p:cNvSpPr>
          <p:nvPr>
            <p:ph type="body" idx="11"/>
          </p:nvPr>
        </p:nvSpPr>
        <p:spPr>
          <a:xfrm>
            <a:off x="960120" y="1874520"/>
            <a:ext cx="5486400" cy="320040"/>
          </a:xfrm>
          <a:prstGeom prst="rect">
            <a:avLst/>
          </a:prstGeom>
        </p:spPr>
        <p:txBody>
          <a:bodyPr lIns="0" tIns="0" rIns="0" bIns="0" anchor="t">
            <a:normAutofit/>
          </a:bodyPr>
          <a:lstStyle>
            <a:lvl1pPr marL="0" indent="0" algn="l">
              <a:defRPr sz="1400" b="0" i="0" spc="400">
                <a:solidFill>
                  <a:srgbClr val="FFFFFF"/>
                </a:solidFill>
                <a:latin typeface="+mn-lt"/>
              </a:defRPr>
            </a:lvl1pPr>
          </a:lstStyle>
          <a:p>
            <a:endParaRPr lang="en-GB"/>
          </a:p>
        </p:txBody>
      </p:sp>
      <p:sp>
        <p:nvSpPr>
          <p:cNvPr id="15" name="Section Title"/>
          <p:cNvSpPr>
            <a:spLocks noGrp="1"/>
          </p:cNvSpPr>
          <p:nvPr>
            <p:ph type="title"/>
          </p:nvPr>
        </p:nvSpPr>
        <p:spPr>
          <a:xfrm>
            <a:off x="960120" y="2194560"/>
            <a:ext cx="10058400" cy="1371600"/>
          </a:xfrm>
          <a:prstGeom prst="rect">
            <a:avLst/>
          </a:prstGeom>
        </p:spPr>
        <p:txBody>
          <a:bodyPr lIns="0" tIns="0" rIns="0" bIns="0" anchor="t">
            <a:normAutofit/>
          </a:bodyPr>
          <a:lstStyle>
            <a:lvl1pPr marL="0" indent="0" algn="l">
              <a:lnSpc>
                <a:spcPct val="104000"/>
              </a:lnSpc>
              <a:defRPr sz="4800" b="1" i="0">
                <a:solidFill>
                  <a:srgbClr val="FFFFFF"/>
                </a:solidFill>
                <a:latin typeface="+mj-lt"/>
              </a:defRPr>
            </a:lvl1pPr>
          </a:lstStyle>
          <a:p>
            <a:endParaRPr lang="en-GB"/>
          </a:p>
        </p:txBody>
      </p:sp>
      <p:sp>
        <p:nvSpPr>
          <p:cNvPr id="16" name="Section Subtitle"/>
          <p:cNvSpPr>
            <a:spLocks noGrp="1"/>
          </p:cNvSpPr>
          <p:nvPr>
            <p:ph type="body" idx="1"/>
          </p:nvPr>
        </p:nvSpPr>
        <p:spPr>
          <a:xfrm>
            <a:off x="960120" y="3657600"/>
            <a:ext cx="9601200" cy="548640"/>
          </a:xfrm>
          <a:prstGeom prst="rect">
            <a:avLst/>
          </a:prstGeom>
        </p:spPr>
        <p:txBody>
          <a:bodyPr lIns="0" tIns="0" rIns="0" bIns="0" anchor="t">
            <a:normAutofit/>
          </a:bodyPr>
          <a:lstStyle>
            <a:lvl1pPr marL="0" indent="0" algn="l">
              <a:defRPr sz="1600" b="0" i="0">
                <a:solidFill>
                  <a:srgbClr val="FFE4C4"/>
                </a:solidFill>
                <a:latin typeface="+mn-lt"/>
              </a:defRPr>
            </a:lvl1pPr>
          </a:lstStyle>
          <a:p>
            <a:endParaRPr lang="en-GB"/>
          </a:p>
        </p:txBody>
      </p:sp>
      <p:sp>
        <p:nvSpPr>
          <p:cNvPr id="17"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FFFFF"/>
                </a:solidFill>
              </a:rPr>
              <a:t>FeedSpark</a:t>
            </a:r>
          </a:p>
        </p:txBody>
      </p:sp>
      <p:sp>
        <p:nvSpPr>
          <p:cNvPr id="18"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ontent"/>
          <p:cNvSpPr>
            <a:spLocks noGrp="1"/>
          </p:cNvSpPr>
          <p:nvPr>
            <p:ph type="body" idx="1"/>
          </p:nvPr>
        </p:nvSpPr>
        <p:spPr>
          <a:xfrm>
            <a:off x="609480" y="1780000"/>
            <a:ext cx="10973040" cy="3880000"/>
          </a:xfrm>
          <a:prstGeom prst="rect">
            <a:avLst/>
          </a:prstGeom>
        </p:spPr>
        <p:txBody>
          <a:bodyPr lIns="0" tIns="0" rIns="0" bIns="0" anchor="t">
            <a:normAutofit/>
          </a:bodyPr>
          <a:lstStyle>
            <a:lvl1pPr marL="0" indent="0" algn="l">
              <a:lnSpc>
                <a:spcPct val="120000"/>
              </a:lnSpc>
              <a:defRPr sz="1700" b="0" i="0">
                <a:solidFill>
                  <a:srgbClr val="475569"/>
                </a:solidFill>
                <a:latin typeface="+mn-lt"/>
              </a:defRPr>
            </a:lvl1pPr>
          </a:lstStyle>
          <a:p>
            <a:endParaRPr lang="en-GB"/>
          </a:p>
        </p:txBody>
      </p:sp>
      <p:sp>
        <p:nvSpPr>
          <p:cNvPr id="15"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6"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7"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8"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9"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9}" type="slidenum">
              <a:rPr lang="en-GB" sz="1100">
                <a:solidFill>
                  <a:srgbClr val="64748B"/>
                </a:solidFill>
              </a:rPr>
              <a:t>‹#›</a:t>
            </a:fld>
            <a:endParaRPr lang="en-GB" sz="1100">
              <a:solidFill>
                <a:srgbClr val="64748B"/>
              </a:solidFill>
            </a:endParaRPr>
          </a:p>
        </p:txBody>
      </p:sp>
      <p:sp>
        <p:nvSpPr>
          <p:cNvPr id="20"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Left Content"/>
          <p:cNvSpPr>
            <a:spLocks noGrp="1"/>
          </p:cNvSpPr>
          <p:nvPr>
            <p:ph type="body" idx="1"/>
          </p:nvPr>
        </p:nvSpPr>
        <p:spPr>
          <a:xfrm>
            <a:off x="609480" y="1780000"/>
            <a:ext cx="5330520" cy="3880000"/>
          </a:xfrm>
          <a:prstGeom prst="rect">
            <a:avLst/>
          </a:prstGeom>
        </p:spPr>
        <p:txBody>
          <a:bodyPr lIns="0" tIns="0" rIns="0" bIns="0" anchor="t">
            <a:normAutofit/>
          </a:bodyPr>
          <a:lstStyle>
            <a:lvl1pPr marL="0" indent="0" algn="l">
              <a:lnSpc>
                <a:spcPct val="120000"/>
              </a:lnSpc>
              <a:defRPr sz="1600" b="0" i="0">
                <a:solidFill>
                  <a:srgbClr val="475569"/>
                </a:solidFill>
                <a:latin typeface="+mn-lt"/>
              </a:defRPr>
            </a:lvl1pPr>
          </a:lstStyle>
          <a:p>
            <a:endParaRPr lang="en-GB"/>
          </a:p>
        </p:txBody>
      </p:sp>
      <p:sp>
        <p:nvSpPr>
          <p:cNvPr id="15" name="Right Content"/>
          <p:cNvSpPr>
            <a:spLocks noGrp="1"/>
          </p:cNvSpPr>
          <p:nvPr>
            <p:ph type="body" idx="2"/>
          </p:nvPr>
        </p:nvSpPr>
        <p:spPr>
          <a:xfrm>
            <a:off x="6252000" y="1780000"/>
            <a:ext cx="5330520" cy="3880000"/>
          </a:xfrm>
          <a:prstGeom prst="rect">
            <a:avLst/>
          </a:prstGeom>
        </p:spPr>
        <p:txBody>
          <a:bodyPr lIns="0" tIns="0" rIns="0" bIns="0" anchor="t">
            <a:normAutofit/>
          </a:bodyPr>
          <a:lstStyle>
            <a:lvl1pPr marL="0" indent="0" algn="l">
              <a:lnSpc>
                <a:spcPct val="120000"/>
              </a:lnSpc>
              <a:defRPr sz="1600" b="0" i="0">
                <a:solidFill>
                  <a:srgbClr val="475569"/>
                </a:solidFill>
                <a:latin typeface="+mn-lt"/>
              </a:defRPr>
            </a:lvl1pPr>
          </a:lstStyle>
          <a:p>
            <a:endParaRPr lang="en-GB"/>
          </a:p>
        </p:txBody>
      </p:sp>
      <p:sp>
        <p:nvSpPr>
          <p:cNvPr id="16"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7"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8"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9"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20"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20}" type="slidenum">
              <a:rPr lang="en-GB" sz="1100">
                <a:solidFill>
                  <a:srgbClr val="64748B"/>
                </a:solidFill>
              </a:rPr>
              <a:t>‹#›</a:t>
            </a:fld>
            <a:endParaRPr lang="en-GB" sz="1100">
              <a:solidFill>
                <a:srgbClr val="64748B"/>
              </a:solidFill>
            </a:endParaRPr>
          </a:p>
        </p:txBody>
      </p:sp>
      <p:sp>
        <p:nvSpPr>
          <p:cNvPr id="21"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picTx" preserve="1">
  <p:cSld name="Image Left, Content Right">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Underline"/>
          <p:cNvSpPr/>
          <p:nvPr/>
        </p:nvSpPr>
        <p:spPr>
          <a:xfrm>
            <a:off x="609480" y="1190000"/>
            <a:ext cx="1691640" cy="36576"/>
          </a:xfrm>
          <a:prstGeom prst="rect">
            <a:avLst/>
          </a:prstGeom>
          <a:solidFill>
            <a:srgbClr val="F7941E"/>
          </a:solidFill>
          <a:ln w="0">
            <a:noFill/>
          </a:ln>
        </p:spPr>
        <p:txBody>
          <a:bodyPr/>
          <a:lstStyle/>
          <a:p>
            <a:endParaRPr lang="en-GB"/>
          </a:p>
        </p:txBody>
      </p:sp>
      <p:sp>
        <p:nvSpPr>
          <p:cNvPr id="13" name="Image"/>
          <p:cNvSpPr>
            <a:spLocks noGrp="1"/>
          </p:cNvSpPr>
          <p:nvPr>
            <p:ph type="pic" idx="1"/>
          </p:nvPr>
        </p:nvSpPr>
        <p:spPr>
          <a:xfrm>
            <a:off x="609480" y="1500000"/>
            <a:ext cx="5400000" cy="3960000"/>
          </a:xfrm>
          <a:prstGeom prst="roundRect">
            <a:avLst>
              <a:gd name="adj" fmla="val 4500"/>
            </a:avLst>
          </a:prstGeom>
          <a:solidFill>
            <a:srgbClr val="F8FAFC"/>
          </a:solidFill>
          <a:ln w="12700">
            <a:solidFill>
              <a:srgbClr val="E2E8F0"/>
            </a:solidFill>
          </a:ln>
        </p:spPr>
        <p:txBody>
          <a:bodyPr/>
          <a:lstStyle/>
          <a:p>
            <a:endParaRPr lang="en-GB"/>
          </a:p>
        </p:txBody>
      </p:sp>
      <p:sp>
        <p:nvSpPr>
          <p:cNvPr id="14" name="Content"/>
          <p:cNvSpPr>
            <a:spLocks noGrp="1"/>
          </p:cNvSpPr>
          <p:nvPr>
            <p:ph type="body" idx="1"/>
          </p:nvPr>
        </p:nvSpPr>
        <p:spPr>
          <a:xfrm>
            <a:off x="6429480" y="1500000"/>
            <a:ext cx="5153040" cy="3960000"/>
          </a:xfrm>
          <a:prstGeom prst="rect">
            <a:avLst/>
          </a:prstGeom>
        </p:spPr>
        <p:txBody>
          <a:bodyPr lIns="0" tIns="0" rIns="0" bIns="0" anchor="t">
            <a:normAutofit/>
          </a:bodyPr>
          <a:lstStyle>
            <a:lvl1pPr marL="0" indent="0" algn="l">
              <a:lnSpc>
                <a:spcPct val="122000"/>
              </a:lnSpc>
              <a:defRPr sz="1700" b="0" i="0">
                <a:solidFill>
                  <a:srgbClr val="475569"/>
                </a:solidFill>
                <a:latin typeface="+mn-lt"/>
              </a:defRPr>
            </a:lvl1pPr>
          </a:lstStyle>
          <a:p>
            <a:endParaRPr lang="en-GB"/>
          </a:p>
        </p:txBody>
      </p:sp>
      <p:sp>
        <p:nvSpPr>
          <p:cNvPr id="15"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6"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7"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8"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9"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9}" type="slidenum">
              <a:rPr lang="en-GB" sz="1100">
                <a:solidFill>
                  <a:srgbClr val="64748B"/>
                </a:solidFill>
              </a:rPr>
              <a:t>‹#›</a:t>
            </a:fld>
            <a:endParaRPr lang="en-GB" sz="1100">
              <a:solidFill>
                <a:srgbClr val="64748B"/>
              </a:solidFill>
            </a:endParaRPr>
          </a:p>
        </p:txBody>
      </p:sp>
      <p:sp>
        <p:nvSpPr>
          <p:cNvPr id="20"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AndObj" preserve="1">
  <p:cSld name="Content Left, Image Right">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Underline"/>
          <p:cNvSpPr/>
          <p:nvPr/>
        </p:nvSpPr>
        <p:spPr>
          <a:xfrm>
            <a:off x="609480" y="1190000"/>
            <a:ext cx="1691640" cy="36576"/>
          </a:xfrm>
          <a:prstGeom prst="rect">
            <a:avLst/>
          </a:prstGeom>
          <a:solidFill>
            <a:srgbClr val="F7941E"/>
          </a:solidFill>
          <a:ln w="0">
            <a:noFill/>
          </a:ln>
        </p:spPr>
        <p:txBody>
          <a:bodyPr/>
          <a:lstStyle/>
          <a:p>
            <a:endParaRPr lang="en-GB"/>
          </a:p>
        </p:txBody>
      </p:sp>
      <p:sp>
        <p:nvSpPr>
          <p:cNvPr id="13" name="Content"/>
          <p:cNvSpPr>
            <a:spLocks noGrp="1"/>
          </p:cNvSpPr>
          <p:nvPr>
            <p:ph type="body" idx="1"/>
          </p:nvPr>
        </p:nvSpPr>
        <p:spPr>
          <a:xfrm>
            <a:off x="609480" y="1500000"/>
            <a:ext cx="5153040" cy="3960000"/>
          </a:xfrm>
          <a:prstGeom prst="rect">
            <a:avLst/>
          </a:prstGeom>
        </p:spPr>
        <p:txBody>
          <a:bodyPr lIns="0" tIns="0" rIns="0" bIns="0" anchor="t">
            <a:normAutofit/>
          </a:bodyPr>
          <a:lstStyle>
            <a:lvl1pPr marL="0" indent="0" algn="l">
              <a:lnSpc>
                <a:spcPct val="122000"/>
              </a:lnSpc>
              <a:defRPr sz="1700" b="0" i="0">
                <a:solidFill>
                  <a:srgbClr val="475569"/>
                </a:solidFill>
                <a:latin typeface="+mn-lt"/>
              </a:defRPr>
            </a:lvl1pPr>
          </a:lstStyle>
          <a:p>
            <a:endParaRPr lang="en-GB"/>
          </a:p>
        </p:txBody>
      </p:sp>
      <p:sp>
        <p:nvSpPr>
          <p:cNvPr id="14" name="Image"/>
          <p:cNvSpPr>
            <a:spLocks noGrp="1"/>
          </p:cNvSpPr>
          <p:nvPr>
            <p:ph type="pic" idx="1"/>
          </p:nvPr>
        </p:nvSpPr>
        <p:spPr>
          <a:xfrm>
            <a:off x="6182520" y="1500000"/>
            <a:ext cx="5400000" cy="3960000"/>
          </a:xfrm>
          <a:prstGeom prst="roundRect">
            <a:avLst>
              <a:gd name="adj" fmla="val 4500"/>
            </a:avLst>
          </a:prstGeom>
          <a:solidFill>
            <a:srgbClr val="F8FAFC"/>
          </a:solidFill>
          <a:ln w="12700">
            <a:solidFill>
              <a:srgbClr val="E2E8F0"/>
            </a:solidFill>
          </a:ln>
        </p:spPr>
        <p:txBody>
          <a:bodyPr/>
          <a:lstStyle/>
          <a:p>
            <a:endParaRPr lang="en-GB"/>
          </a:p>
        </p:txBody>
      </p:sp>
      <p:sp>
        <p:nvSpPr>
          <p:cNvPr id="15"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6"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7"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8"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9"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9}" type="slidenum">
              <a:rPr lang="en-GB" sz="1100">
                <a:solidFill>
                  <a:srgbClr val="64748B"/>
                </a:solidFill>
              </a:rPr>
              <a:t>‹#›</a:t>
            </a:fld>
            <a:endParaRPr lang="en-GB" sz="1100">
              <a:solidFill>
                <a:srgbClr val="64748B"/>
              </a:solidFill>
            </a:endParaRPr>
          </a:p>
        </p:txBody>
      </p:sp>
      <p:sp>
        <p:nvSpPr>
          <p:cNvPr id="20"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wo-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5330520" cy="364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364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488052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488052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18" name="Card"/>
          <p:cNvSpPr/>
          <p:nvPr/>
        </p:nvSpPr>
        <p:spPr>
          <a:xfrm>
            <a:off x="6252000" y="1760000"/>
            <a:ext cx="5330520" cy="364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6252000" y="1760000"/>
            <a:ext cx="73152" cy="364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6502000" y="1910000"/>
            <a:ext cx="488052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21" name="Card 2 Body"/>
          <p:cNvSpPr>
            <a:spLocks noGrp="1"/>
          </p:cNvSpPr>
          <p:nvPr>
            <p:ph type="body" idx="4"/>
          </p:nvPr>
        </p:nvSpPr>
        <p:spPr>
          <a:xfrm>
            <a:off x="6502000" y="2440000"/>
            <a:ext cx="488052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22"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23"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24"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25"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26"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26}" type="slidenum">
              <a:rPr lang="en-GB" sz="1100">
                <a:solidFill>
                  <a:srgbClr val="64748B"/>
                </a:solidFill>
              </a:rPr>
              <a:t>‹#›</a:t>
            </a:fld>
            <a:endParaRPr lang="en-GB" sz="1100">
              <a:solidFill>
                <a:srgbClr val="64748B"/>
              </a:solidFill>
            </a:endParaRPr>
          </a:p>
        </p:txBody>
      </p:sp>
      <p:sp>
        <p:nvSpPr>
          <p:cNvPr id="27"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hree-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3449680" cy="364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364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299968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299968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18" name="Card"/>
          <p:cNvSpPr/>
          <p:nvPr/>
        </p:nvSpPr>
        <p:spPr>
          <a:xfrm>
            <a:off x="4371160" y="1760000"/>
            <a:ext cx="3449680" cy="364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4371160" y="1760000"/>
            <a:ext cx="73152" cy="364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4621160" y="1910000"/>
            <a:ext cx="299968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21" name="Card 2 Body"/>
          <p:cNvSpPr>
            <a:spLocks noGrp="1"/>
          </p:cNvSpPr>
          <p:nvPr>
            <p:ph type="body" idx="4"/>
          </p:nvPr>
        </p:nvSpPr>
        <p:spPr>
          <a:xfrm>
            <a:off x="4621160" y="2440000"/>
            <a:ext cx="299968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22" name="Card"/>
          <p:cNvSpPr/>
          <p:nvPr/>
        </p:nvSpPr>
        <p:spPr>
          <a:xfrm>
            <a:off x="8132840" y="1760000"/>
            <a:ext cx="3449680" cy="3640000"/>
          </a:xfrm>
          <a:prstGeom prst="roundRect">
            <a:avLst>
              <a:gd name="adj" fmla="val 5500"/>
            </a:avLst>
          </a:prstGeom>
          <a:solidFill>
            <a:srgbClr val="D1FAE5"/>
          </a:solidFill>
          <a:ln w="0">
            <a:noFill/>
          </a:ln>
        </p:spPr>
        <p:txBody>
          <a:bodyPr/>
          <a:lstStyle/>
          <a:p>
            <a:endParaRPr lang="en-GB"/>
          </a:p>
        </p:txBody>
      </p:sp>
      <p:sp>
        <p:nvSpPr>
          <p:cNvPr id="23" name="CardAccent"/>
          <p:cNvSpPr/>
          <p:nvPr/>
        </p:nvSpPr>
        <p:spPr>
          <a:xfrm>
            <a:off x="8132840" y="1760000"/>
            <a:ext cx="73152" cy="3640000"/>
          </a:xfrm>
          <a:prstGeom prst="rect">
            <a:avLst/>
          </a:prstGeom>
          <a:solidFill>
            <a:srgbClr val="10B981"/>
          </a:solidFill>
          <a:ln w="0">
            <a:noFill/>
          </a:ln>
        </p:spPr>
        <p:txBody>
          <a:bodyPr/>
          <a:lstStyle/>
          <a:p>
            <a:endParaRPr lang="en-GB"/>
          </a:p>
        </p:txBody>
      </p:sp>
      <p:sp>
        <p:nvSpPr>
          <p:cNvPr id="24" name="Card 3 Heading"/>
          <p:cNvSpPr>
            <a:spLocks noGrp="1"/>
          </p:cNvSpPr>
          <p:nvPr>
            <p:ph type="body" idx="5"/>
          </p:nvPr>
        </p:nvSpPr>
        <p:spPr>
          <a:xfrm>
            <a:off x="8382840" y="1910000"/>
            <a:ext cx="299968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25" name="Card 3 Body"/>
          <p:cNvSpPr>
            <a:spLocks noGrp="1"/>
          </p:cNvSpPr>
          <p:nvPr>
            <p:ph type="body" idx="6"/>
          </p:nvPr>
        </p:nvSpPr>
        <p:spPr>
          <a:xfrm>
            <a:off x="8382840" y="2440000"/>
            <a:ext cx="299968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26"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27"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28"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29"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0"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0}" type="slidenum">
              <a:rPr lang="en-GB" sz="1100">
                <a:solidFill>
                  <a:srgbClr val="64748B"/>
                </a:solidFill>
              </a:rPr>
              <a:t>‹#›</a:t>
            </a:fld>
            <a:endParaRPr lang="en-GB" sz="1100">
              <a:solidFill>
                <a:srgbClr val="64748B"/>
              </a:solidFill>
            </a:endParaRPr>
          </a:p>
        </p:txBody>
      </p:sp>
      <p:sp>
        <p:nvSpPr>
          <p:cNvPr id="31"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Four-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5330520" cy="176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176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488052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4880520" cy="92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18" name="Card"/>
          <p:cNvSpPr/>
          <p:nvPr/>
        </p:nvSpPr>
        <p:spPr>
          <a:xfrm>
            <a:off x="6252000" y="1760000"/>
            <a:ext cx="5330520" cy="176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6252000" y="1760000"/>
            <a:ext cx="73152" cy="176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6502000" y="1910000"/>
            <a:ext cx="488052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1" name="Card 2 Body"/>
          <p:cNvSpPr>
            <a:spLocks noGrp="1"/>
          </p:cNvSpPr>
          <p:nvPr>
            <p:ph type="body" idx="4"/>
          </p:nvPr>
        </p:nvSpPr>
        <p:spPr>
          <a:xfrm>
            <a:off x="6502000" y="2440000"/>
            <a:ext cx="4880520" cy="92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2" name="Card"/>
          <p:cNvSpPr/>
          <p:nvPr/>
        </p:nvSpPr>
        <p:spPr>
          <a:xfrm>
            <a:off x="609480" y="3750000"/>
            <a:ext cx="5330520" cy="1760000"/>
          </a:xfrm>
          <a:prstGeom prst="roundRect">
            <a:avLst>
              <a:gd name="adj" fmla="val 5500"/>
            </a:avLst>
          </a:prstGeom>
          <a:solidFill>
            <a:srgbClr val="D1FAE5"/>
          </a:solidFill>
          <a:ln w="0">
            <a:noFill/>
          </a:ln>
        </p:spPr>
        <p:txBody>
          <a:bodyPr/>
          <a:lstStyle/>
          <a:p>
            <a:endParaRPr lang="en-GB"/>
          </a:p>
        </p:txBody>
      </p:sp>
      <p:sp>
        <p:nvSpPr>
          <p:cNvPr id="23" name="CardAccent"/>
          <p:cNvSpPr/>
          <p:nvPr/>
        </p:nvSpPr>
        <p:spPr>
          <a:xfrm>
            <a:off x="609480" y="3750000"/>
            <a:ext cx="73152" cy="1760000"/>
          </a:xfrm>
          <a:prstGeom prst="rect">
            <a:avLst/>
          </a:prstGeom>
          <a:solidFill>
            <a:srgbClr val="10B981"/>
          </a:solidFill>
          <a:ln w="0">
            <a:noFill/>
          </a:ln>
        </p:spPr>
        <p:txBody>
          <a:bodyPr/>
          <a:lstStyle/>
          <a:p>
            <a:endParaRPr lang="en-GB"/>
          </a:p>
        </p:txBody>
      </p:sp>
      <p:sp>
        <p:nvSpPr>
          <p:cNvPr id="24" name="Card 3 Heading"/>
          <p:cNvSpPr>
            <a:spLocks noGrp="1"/>
          </p:cNvSpPr>
          <p:nvPr>
            <p:ph type="body" idx="5"/>
          </p:nvPr>
        </p:nvSpPr>
        <p:spPr>
          <a:xfrm>
            <a:off x="859480" y="3900000"/>
            <a:ext cx="488052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5" name="Card 3 Body"/>
          <p:cNvSpPr>
            <a:spLocks noGrp="1"/>
          </p:cNvSpPr>
          <p:nvPr>
            <p:ph type="body" idx="6"/>
          </p:nvPr>
        </p:nvSpPr>
        <p:spPr>
          <a:xfrm>
            <a:off x="859480" y="4430000"/>
            <a:ext cx="4880520" cy="92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6" name="Card"/>
          <p:cNvSpPr/>
          <p:nvPr/>
        </p:nvSpPr>
        <p:spPr>
          <a:xfrm>
            <a:off x="6252000" y="3750000"/>
            <a:ext cx="5330520" cy="1760000"/>
          </a:xfrm>
          <a:prstGeom prst="roundRect">
            <a:avLst>
              <a:gd name="adj" fmla="val 5500"/>
            </a:avLst>
          </a:prstGeom>
          <a:solidFill>
            <a:srgbClr val="EDE9FE"/>
          </a:solidFill>
          <a:ln w="0">
            <a:noFill/>
          </a:ln>
        </p:spPr>
        <p:txBody>
          <a:bodyPr/>
          <a:lstStyle/>
          <a:p>
            <a:endParaRPr lang="en-GB"/>
          </a:p>
        </p:txBody>
      </p:sp>
      <p:sp>
        <p:nvSpPr>
          <p:cNvPr id="27" name="CardAccent"/>
          <p:cNvSpPr/>
          <p:nvPr/>
        </p:nvSpPr>
        <p:spPr>
          <a:xfrm>
            <a:off x="6252000" y="3750000"/>
            <a:ext cx="73152" cy="1760000"/>
          </a:xfrm>
          <a:prstGeom prst="rect">
            <a:avLst/>
          </a:prstGeom>
          <a:solidFill>
            <a:srgbClr val="8B5CF6"/>
          </a:solidFill>
          <a:ln w="0">
            <a:noFill/>
          </a:ln>
        </p:spPr>
        <p:txBody>
          <a:bodyPr/>
          <a:lstStyle/>
          <a:p>
            <a:endParaRPr lang="en-GB"/>
          </a:p>
        </p:txBody>
      </p:sp>
      <p:sp>
        <p:nvSpPr>
          <p:cNvPr id="28" name="Card 4 Heading"/>
          <p:cNvSpPr>
            <a:spLocks noGrp="1"/>
          </p:cNvSpPr>
          <p:nvPr>
            <p:ph type="body" idx="7"/>
          </p:nvPr>
        </p:nvSpPr>
        <p:spPr>
          <a:xfrm>
            <a:off x="6502000" y="3900000"/>
            <a:ext cx="488052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9" name="Card 4 Body"/>
          <p:cNvSpPr>
            <a:spLocks noGrp="1"/>
          </p:cNvSpPr>
          <p:nvPr>
            <p:ph type="body" idx="8"/>
          </p:nvPr>
        </p:nvSpPr>
        <p:spPr>
          <a:xfrm>
            <a:off x="6502000" y="4430000"/>
            <a:ext cx="4880520" cy="92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0"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31"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32"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33"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4"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4}" type="slidenum">
              <a:rPr lang="en-GB" sz="1100">
                <a:solidFill>
                  <a:srgbClr val="64748B"/>
                </a:solidFill>
              </a:rPr>
              <a:t>‹#›</a:t>
            </a:fld>
            <a:endParaRPr lang="en-GB" sz="1100">
              <a:solidFill>
                <a:srgbClr val="64748B"/>
              </a:solidFill>
            </a:endParaRPr>
          </a:p>
        </p:txBody>
      </p:sp>
      <p:sp>
        <p:nvSpPr>
          <p:cNvPr id="35"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Five-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3449680" cy="179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179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18" name="Card"/>
          <p:cNvSpPr/>
          <p:nvPr/>
        </p:nvSpPr>
        <p:spPr>
          <a:xfrm>
            <a:off x="4371160" y="1760000"/>
            <a:ext cx="3449680" cy="179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4371160" y="1760000"/>
            <a:ext cx="73152" cy="179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462116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1" name="Card 2 Body"/>
          <p:cNvSpPr>
            <a:spLocks noGrp="1"/>
          </p:cNvSpPr>
          <p:nvPr>
            <p:ph type="body" idx="4"/>
          </p:nvPr>
        </p:nvSpPr>
        <p:spPr>
          <a:xfrm>
            <a:off x="462116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2" name="Card"/>
          <p:cNvSpPr/>
          <p:nvPr/>
        </p:nvSpPr>
        <p:spPr>
          <a:xfrm>
            <a:off x="8132840" y="1760000"/>
            <a:ext cx="3449680" cy="1790000"/>
          </a:xfrm>
          <a:prstGeom prst="roundRect">
            <a:avLst>
              <a:gd name="adj" fmla="val 5500"/>
            </a:avLst>
          </a:prstGeom>
          <a:solidFill>
            <a:srgbClr val="D1FAE5"/>
          </a:solidFill>
          <a:ln w="0">
            <a:noFill/>
          </a:ln>
        </p:spPr>
        <p:txBody>
          <a:bodyPr/>
          <a:lstStyle/>
          <a:p>
            <a:endParaRPr lang="en-GB"/>
          </a:p>
        </p:txBody>
      </p:sp>
      <p:sp>
        <p:nvSpPr>
          <p:cNvPr id="23" name="CardAccent"/>
          <p:cNvSpPr/>
          <p:nvPr/>
        </p:nvSpPr>
        <p:spPr>
          <a:xfrm>
            <a:off x="8132840" y="1760000"/>
            <a:ext cx="73152" cy="1790000"/>
          </a:xfrm>
          <a:prstGeom prst="rect">
            <a:avLst/>
          </a:prstGeom>
          <a:solidFill>
            <a:srgbClr val="10B981"/>
          </a:solidFill>
          <a:ln w="0">
            <a:noFill/>
          </a:ln>
        </p:spPr>
        <p:txBody>
          <a:bodyPr/>
          <a:lstStyle/>
          <a:p>
            <a:endParaRPr lang="en-GB"/>
          </a:p>
        </p:txBody>
      </p:sp>
      <p:sp>
        <p:nvSpPr>
          <p:cNvPr id="24" name="Card 3 Heading"/>
          <p:cNvSpPr>
            <a:spLocks noGrp="1"/>
          </p:cNvSpPr>
          <p:nvPr>
            <p:ph type="body" idx="5"/>
          </p:nvPr>
        </p:nvSpPr>
        <p:spPr>
          <a:xfrm>
            <a:off x="838284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5" name="Card 3 Body"/>
          <p:cNvSpPr>
            <a:spLocks noGrp="1"/>
          </p:cNvSpPr>
          <p:nvPr>
            <p:ph type="body" idx="6"/>
          </p:nvPr>
        </p:nvSpPr>
        <p:spPr>
          <a:xfrm>
            <a:off x="838284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6" name="Card"/>
          <p:cNvSpPr/>
          <p:nvPr/>
        </p:nvSpPr>
        <p:spPr>
          <a:xfrm>
            <a:off x="2490320" y="3780000"/>
            <a:ext cx="3449680" cy="1790000"/>
          </a:xfrm>
          <a:prstGeom prst="roundRect">
            <a:avLst>
              <a:gd name="adj" fmla="val 5500"/>
            </a:avLst>
          </a:prstGeom>
          <a:solidFill>
            <a:srgbClr val="EDE9FE"/>
          </a:solidFill>
          <a:ln w="0">
            <a:noFill/>
          </a:ln>
        </p:spPr>
        <p:txBody>
          <a:bodyPr/>
          <a:lstStyle/>
          <a:p>
            <a:endParaRPr lang="en-GB"/>
          </a:p>
        </p:txBody>
      </p:sp>
      <p:sp>
        <p:nvSpPr>
          <p:cNvPr id="27" name="CardAccent"/>
          <p:cNvSpPr/>
          <p:nvPr/>
        </p:nvSpPr>
        <p:spPr>
          <a:xfrm>
            <a:off x="2490320" y="3780000"/>
            <a:ext cx="73152" cy="1790000"/>
          </a:xfrm>
          <a:prstGeom prst="rect">
            <a:avLst/>
          </a:prstGeom>
          <a:solidFill>
            <a:srgbClr val="8B5CF6"/>
          </a:solidFill>
          <a:ln w="0">
            <a:noFill/>
          </a:ln>
        </p:spPr>
        <p:txBody>
          <a:bodyPr/>
          <a:lstStyle/>
          <a:p>
            <a:endParaRPr lang="en-GB"/>
          </a:p>
        </p:txBody>
      </p:sp>
      <p:sp>
        <p:nvSpPr>
          <p:cNvPr id="28" name="Card 4 Heading"/>
          <p:cNvSpPr>
            <a:spLocks noGrp="1"/>
          </p:cNvSpPr>
          <p:nvPr>
            <p:ph type="body" idx="7"/>
          </p:nvPr>
        </p:nvSpPr>
        <p:spPr>
          <a:xfrm>
            <a:off x="274032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9" name="Card 4 Body"/>
          <p:cNvSpPr>
            <a:spLocks noGrp="1"/>
          </p:cNvSpPr>
          <p:nvPr>
            <p:ph type="body" idx="8"/>
          </p:nvPr>
        </p:nvSpPr>
        <p:spPr>
          <a:xfrm>
            <a:off x="274032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0" name="Card"/>
          <p:cNvSpPr/>
          <p:nvPr/>
        </p:nvSpPr>
        <p:spPr>
          <a:xfrm>
            <a:off x="6252000" y="3780000"/>
            <a:ext cx="3449680" cy="1790000"/>
          </a:xfrm>
          <a:prstGeom prst="roundRect">
            <a:avLst>
              <a:gd name="adj" fmla="val 5500"/>
            </a:avLst>
          </a:prstGeom>
          <a:solidFill>
            <a:srgbClr val="FCE7F3"/>
          </a:solidFill>
          <a:ln w="0">
            <a:noFill/>
          </a:ln>
        </p:spPr>
        <p:txBody>
          <a:bodyPr/>
          <a:lstStyle/>
          <a:p>
            <a:endParaRPr lang="en-GB"/>
          </a:p>
        </p:txBody>
      </p:sp>
      <p:sp>
        <p:nvSpPr>
          <p:cNvPr id="31" name="CardAccent"/>
          <p:cNvSpPr/>
          <p:nvPr/>
        </p:nvSpPr>
        <p:spPr>
          <a:xfrm>
            <a:off x="6252000" y="3780000"/>
            <a:ext cx="73152" cy="1790000"/>
          </a:xfrm>
          <a:prstGeom prst="rect">
            <a:avLst/>
          </a:prstGeom>
          <a:solidFill>
            <a:srgbClr val="EC4899"/>
          </a:solidFill>
          <a:ln w="0">
            <a:noFill/>
          </a:ln>
        </p:spPr>
        <p:txBody>
          <a:bodyPr/>
          <a:lstStyle/>
          <a:p>
            <a:endParaRPr lang="en-GB"/>
          </a:p>
        </p:txBody>
      </p:sp>
      <p:sp>
        <p:nvSpPr>
          <p:cNvPr id="32" name="Card 5 Heading"/>
          <p:cNvSpPr>
            <a:spLocks noGrp="1"/>
          </p:cNvSpPr>
          <p:nvPr>
            <p:ph type="body" idx="9"/>
          </p:nvPr>
        </p:nvSpPr>
        <p:spPr>
          <a:xfrm>
            <a:off x="650200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33" name="Card 5 Body"/>
          <p:cNvSpPr>
            <a:spLocks noGrp="1"/>
          </p:cNvSpPr>
          <p:nvPr>
            <p:ph type="body" idx="10"/>
          </p:nvPr>
        </p:nvSpPr>
        <p:spPr>
          <a:xfrm>
            <a:off x="650200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4"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35"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36"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37"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8"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8}" type="slidenum">
              <a:rPr lang="en-GB" sz="1100">
                <a:solidFill>
                  <a:srgbClr val="64748B"/>
                </a:solidFill>
              </a:rPr>
              <a:t>‹#›</a:t>
            </a:fld>
            <a:endParaRPr lang="en-GB" sz="1100">
              <a:solidFill>
                <a:srgbClr val="64748B"/>
              </a:solidFill>
            </a:endParaRPr>
          </a:p>
        </p:txBody>
      </p:sp>
      <p:sp>
        <p:nvSpPr>
          <p:cNvPr id="39"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Six-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3449680" cy="179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179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18" name="Card"/>
          <p:cNvSpPr/>
          <p:nvPr/>
        </p:nvSpPr>
        <p:spPr>
          <a:xfrm>
            <a:off x="4371160" y="1760000"/>
            <a:ext cx="3449680" cy="179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4371160" y="1760000"/>
            <a:ext cx="73152" cy="179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462116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1" name="Card 2 Body"/>
          <p:cNvSpPr>
            <a:spLocks noGrp="1"/>
          </p:cNvSpPr>
          <p:nvPr>
            <p:ph type="body" idx="4"/>
          </p:nvPr>
        </p:nvSpPr>
        <p:spPr>
          <a:xfrm>
            <a:off x="462116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2" name="Card"/>
          <p:cNvSpPr/>
          <p:nvPr/>
        </p:nvSpPr>
        <p:spPr>
          <a:xfrm>
            <a:off x="8132840" y="1760000"/>
            <a:ext cx="3449680" cy="1790000"/>
          </a:xfrm>
          <a:prstGeom prst="roundRect">
            <a:avLst>
              <a:gd name="adj" fmla="val 5500"/>
            </a:avLst>
          </a:prstGeom>
          <a:solidFill>
            <a:srgbClr val="D1FAE5"/>
          </a:solidFill>
          <a:ln w="0">
            <a:noFill/>
          </a:ln>
        </p:spPr>
        <p:txBody>
          <a:bodyPr/>
          <a:lstStyle/>
          <a:p>
            <a:endParaRPr lang="en-GB"/>
          </a:p>
        </p:txBody>
      </p:sp>
      <p:sp>
        <p:nvSpPr>
          <p:cNvPr id="23" name="CardAccent"/>
          <p:cNvSpPr/>
          <p:nvPr/>
        </p:nvSpPr>
        <p:spPr>
          <a:xfrm>
            <a:off x="8132840" y="1760000"/>
            <a:ext cx="73152" cy="1790000"/>
          </a:xfrm>
          <a:prstGeom prst="rect">
            <a:avLst/>
          </a:prstGeom>
          <a:solidFill>
            <a:srgbClr val="10B981"/>
          </a:solidFill>
          <a:ln w="0">
            <a:noFill/>
          </a:ln>
        </p:spPr>
        <p:txBody>
          <a:bodyPr/>
          <a:lstStyle/>
          <a:p>
            <a:endParaRPr lang="en-GB"/>
          </a:p>
        </p:txBody>
      </p:sp>
      <p:sp>
        <p:nvSpPr>
          <p:cNvPr id="24" name="Card 3 Heading"/>
          <p:cNvSpPr>
            <a:spLocks noGrp="1"/>
          </p:cNvSpPr>
          <p:nvPr>
            <p:ph type="body" idx="5"/>
          </p:nvPr>
        </p:nvSpPr>
        <p:spPr>
          <a:xfrm>
            <a:off x="838284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5" name="Card 3 Body"/>
          <p:cNvSpPr>
            <a:spLocks noGrp="1"/>
          </p:cNvSpPr>
          <p:nvPr>
            <p:ph type="body" idx="6"/>
          </p:nvPr>
        </p:nvSpPr>
        <p:spPr>
          <a:xfrm>
            <a:off x="838284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6" name="Card"/>
          <p:cNvSpPr/>
          <p:nvPr/>
        </p:nvSpPr>
        <p:spPr>
          <a:xfrm>
            <a:off x="609480" y="3780000"/>
            <a:ext cx="3449680" cy="1790000"/>
          </a:xfrm>
          <a:prstGeom prst="roundRect">
            <a:avLst>
              <a:gd name="adj" fmla="val 5500"/>
            </a:avLst>
          </a:prstGeom>
          <a:solidFill>
            <a:srgbClr val="EDE9FE"/>
          </a:solidFill>
          <a:ln w="0">
            <a:noFill/>
          </a:ln>
        </p:spPr>
        <p:txBody>
          <a:bodyPr/>
          <a:lstStyle/>
          <a:p>
            <a:endParaRPr lang="en-GB"/>
          </a:p>
        </p:txBody>
      </p:sp>
      <p:sp>
        <p:nvSpPr>
          <p:cNvPr id="27" name="CardAccent"/>
          <p:cNvSpPr/>
          <p:nvPr/>
        </p:nvSpPr>
        <p:spPr>
          <a:xfrm>
            <a:off x="609480" y="3780000"/>
            <a:ext cx="73152" cy="1790000"/>
          </a:xfrm>
          <a:prstGeom prst="rect">
            <a:avLst/>
          </a:prstGeom>
          <a:solidFill>
            <a:srgbClr val="8B5CF6"/>
          </a:solidFill>
          <a:ln w="0">
            <a:noFill/>
          </a:ln>
        </p:spPr>
        <p:txBody>
          <a:bodyPr/>
          <a:lstStyle/>
          <a:p>
            <a:endParaRPr lang="en-GB"/>
          </a:p>
        </p:txBody>
      </p:sp>
      <p:sp>
        <p:nvSpPr>
          <p:cNvPr id="28" name="Card 4 Heading"/>
          <p:cNvSpPr>
            <a:spLocks noGrp="1"/>
          </p:cNvSpPr>
          <p:nvPr>
            <p:ph type="body" idx="7"/>
          </p:nvPr>
        </p:nvSpPr>
        <p:spPr>
          <a:xfrm>
            <a:off x="85948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9" name="Card 4 Body"/>
          <p:cNvSpPr>
            <a:spLocks noGrp="1"/>
          </p:cNvSpPr>
          <p:nvPr>
            <p:ph type="body" idx="8"/>
          </p:nvPr>
        </p:nvSpPr>
        <p:spPr>
          <a:xfrm>
            <a:off x="85948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0" name="Card"/>
          <p:cNvSpPr/>
          <p:nvPr/>
        </p:nvSpPr>
        <p:spPr>
          <a:xfrm>
            <a:off x="4371160" y="3780000"/>
            <a:ext cx="3449680" cy="1790000"/>
          </a:xfrm>
          <a:prstGeom prst="roundRect">
            <a:avLst>
              <a:gd name="adj" fmla="val 5500"/>
            </a:avLst>
          </a:prstGeom>
          <a:solidFill>
            <a:srgbClr val="FCE7F3"/>
          </a:solidFill>
          <a:ln w="0">
            <a:noFill/>
          </a:ln>
        </p:spPr>
        <p:txBody>
          <a:bodyPr/>
          <a:lstStyle/>
          <a:p>
            <a:endParaRPr lang="en-GB"/>
          </a:p>
        </p:txBody>
      </p:sp>
      <p:sp>
        <p:nvSpPr>
          <p:cNvPr id="31" name="CardAccent"/>
          <p:cNvSpPr/>
          <p:nvPr/>
        </p:nvSpPr>
        <p:spPr>
          <a:xfrm>
            <a:off x="4371160" y="3780000"/>
            <a:ext cx="73152" cy="1790000"/>
          </a:xfrm>
          <a:prstGeom prst="rect">
            <a:avLst/>
          </a:prstGeom>
          <a:solidFill>
            <a:srgbClr val="EC4899"/>
          </a:solidFill>
          <a:ln w="0">
            <a:noFill/>
          </a:ln>
        </p:spPr>
        <p:txBody>
          <a:bodyPr/>
          <a:lstStyle/>
          <a:p>
            <a:endParaRPr lang="en-GB"/>
          </a:p>
        </p:txBody>
      </p:sp>
      <p:sp>
        <p:nvSpPr>
          <p:cNvPr id="32" name="Card 5 Heading"/>
          <p:cNvSpPr>
            <a:spLocks noGrp="1"/>
          </p:cNvSpPr>
          <p:nvPr>
            <p:ph type="body" idx="9"/>
          </p:nvPr>
        </p:nvSpPr>
        <p:spPr>
          <a:xfrm>
            <a:off x="462116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33" name="Card 5 Body"/>
          <p:cNvSpPr>
            <a:spLocks noGrp="1"/>
          </p:cNvSpPr>
          <p:nvPr>
            <p:ph type="body" idx="10"/>
          </p:nvPr>
        </p:nvSpPr>
        <p:spPr>
          <a:xfrm>
            <a:off x="462116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4" name="Card"/>
          <p:cNvSpPr/>
          <p:nvPr/>
        </p:nvSpPr>
        <p:spPr>
          <a:xfrm>
            <a:off x="8132840" y="3780000"/>
            <a:ext cx="3449680" cy="1790000"/>
          </a:xfrm>
          <a:prstGeom prst="roundRect">
            <a:avLst>
              <a:gd name="adj" fmla="val 5500"/>
            </a:avLst>
          </a:prstGeom>
          <a:solidFill>
            <a:srgbClr val="FDEAD7"/>
          </a:solidFill>
          <a:ln w="0">
            <a:noFill/>
          </a:ln>
        </p:spPr>
        <p:txBody>
          <a:bodyPr/>
          <a:lstStyle/>
          <a:p>
            <a:endParaRPr lang="en-GB"/>
          </a:p>
        </p:txBody>
      </p:sp>
      <p:sp>
        <p:nvSpPr>
          <p:cNvPr id="35" name="CardAccent"/>
          <p:cNvSpPr/>
          <p:nvPr/>
        </p:nvSpPr>
        <p:spPr>
          <a:xfrm>
            <a:off x="8132840" y="3780000"/>
            <a:ext cx="73152" cy="1790000"/>
          </a:xfrm>
          <a:prstGeom prst="rect">
            <a:avLst/>
          </a:prstGeom>
          <a:solidFill>
            <a:srgbClr val="F7941E"/>
          </a:solidFill>
          <a:ln w="0">
            <a:noFill/>
          </a:ln>
        </p:spPr>
        <p:txBody>
          <a:bodyPr/>
          <a:lstStyle/>
          <a:p>
            <a:endParaRPr lang="en-GB"/>
          </a:p>
        </p:txBody>
      </p:sp>
      <p:sp>
        <p:nvSpPr>
          <p:cNvPr id="36" name="Card 6 Heading"/>
          <p:cNvSpPr>
            <a:spLocks noGrp="1"/>
          </p:cNvSpPr>
          <p:nvPr>
            <p:ph type="body" idx="11"/>
          </p:nvPr>
        </p:nvSpPr>
        <p:spPr>
          <a:xfrm>
            <a:off x="838284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37" name="Card 6 Body"/>
          <p:cNvSpPr>
            <a:spLocks noGrp="1"/>
          </p:cNvSpPr>
          <p:nvPr>
            <p:ph type="body" idx="12"/>
          </p:nvPr>
        </p:nvSpPr>
        <p:spPr>
          <a:xfrm>
            <a:off x="838284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8"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39"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40"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41"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42"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42}" type="slidenum">
              <a:rPr lang="en-GB" sz="1100">
                <a:solidFill>
                  <a:srgbClr val="64748B"/>
                </a:solidFill>
              </a:rPr>
              <a:t>‹#›</a:t>
            </a:fld>
            <a:endParaRPr lang="en-GB" sz="1100">
              <a:solidFill>
                <a:srgbClr val="64748B"/>
              </a:solidFill>
            </a:endParaRPr>
          </a:p>
        </p:txBody>
      </p:sp>
      <p:sp>
        <p:nvSpPr>
          <p:cNvPr id="43"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Big Stats">
    <p:bg>
      <p:bgPr>
        <a:solidFill>
          <a:srgbClr val="FFFFFF"/>
        </a:solidFill>
        <a:effectLst/>
      </p:bgPr>
    </p:bg>
    <p:spTree>
      <p:nvGrpSpPr>
        <p:cNvPr id="1" name=""/>
        <p:cNvGrpSpPr/>
        <p:nvPr/>
      </p:nvGrpSpPr>
      <p:grpSpPr>
        <a:xfrm>
          <a:off x="0" y="0"/>
          <a:ext cx="0" cy="0"/>
          <a:chOff x="0" y="0"/>
          <a:chExt cx="0" cy="0"/>
        </a:xfrm>
      </p:grpSpPr>
      <p:sp>
        <p:nvSpPr>
          <p:cNvPr id="17"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8"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9"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1" name="Stat 1 Number"/>
          <p:cNvSpPr>
            <a:spLocks noGrp="1"/>
          </p:cNvSpPr>
          <p:nvPr>
            <p:ph type="body" idx="1"/>
          </p:nvPr>
        </p:nvSpPr>
        <p:spPr>
          <a:xfrm>
            <a:off x="609480" y="2150000"/>
            <a:ext cx="3454400" cy="1200000"/>
          </a:xfrm>
          <a:prstGeom prst="rect">
            <a:avLst/>
          </a:prstGeom>
        </p:spPr>
        <p:txBody>
          <a:bodyPr lIns="0" tIns="0" rIns="0" bIns="0" anchor="ctr">
            <a:normAutofit/>
          </a:bodyPr>
          <a:lstStyle>
            <a:lvl1pPr marL="0" indent="0" algn="ctr">
              <a:defRPr sz="6000" b="1" i="0">
                <a:solidFill>
                  <a:srgbClr val="F7941E"/>
                </a:solidFill>
                <a:latin typeface="+mj-lt"/>
              </a:defRPr>
            </a:lvl1pPr>
          </a:lstStyle>
          <a:p>
            <a:endParaRPr lang="en-GB"/>
          </a:p>
        </p:txBody>
      </p:sp>
      <p:sp>
        <p:nvSpPr>
          <p:cNvPr id="12" name="Stat 1 Label"/>
          <p:cNvSpPr>
            <a:spLocks noGrp="1"/>
          </p:cNvSpPr>
          <p:nvPr>
            <p:ph type="body" idx="2"/>
          </p:nvPr>
        </p:nvSpPr>
        <p:spPr>
          <a:xfrm>
            <a:off x="609480" y="3500000"/>
            <a:ext cx="3454400" cy="1500000"/>
          </a:xfrm>
          <a:prstGeom prst="rect">
            <a:avLst/>
          </a:prstGeom>
        </p:spPr>
        <p:txBody>
          <a:bodyPr lIns="0" tIns="0" rIns="0" bIns="0" anchor="t">
            <a:normAutofit/>
          </a:bodyPr>
          <a:lstStyle>
            <a:lvl1pPr marL="0" indent="0" algn="ctr">
              <a:lnSpc>
                <a:spcPct val="116000"/>
              </a:lnSpc>
              <a:defRPr sz="1500" b="0" i="0">
                <a:solidFill>
                  <a:srgbClr val="475569"/>
                </a:solidFill>
                <a:latin typeface="+mn-lt"/>
              </a:defRPr>
            </a:lvl1pPr>
          </a:lstStyle>
          <a:p>
            <a:endParaRPr lang="en-GB"/>
          </a:p>
        </p:txBody>
      </p:sp>
      <p:sp>
        <p:nvSpPr>
          <p:cNvPr id="13" name="Stat 2 Number"/>
          <p:cNvSpPr>
            <a:spLocks noGrp="1"/>
          </p:cNvSpPr>
          <p:nvPr>
            <p:ph type="body" idx="3"/>
          </p:nvPr>
        </p:nvSpPr>
        <p:spPr>
          <a:xfrm>
            <a:off x="4390880" y="2150000"/>
            <a:ext cx="3454400" cy="1200000"/>
          </a:xfrm>
          <a:prstGeom prst="rect">
            <a:avLst/>
          </a:prstGeom>
        </p:spPr>
        <p:txBody>
          <a:bodyPr lIns="0" tIns="0" rIns="0" bIns="0" anchor="ctr">
            <a:normAutofit/>
          </a:bodyPr>
          <a:lstStyle>
            <a:lvl1pPr marL="0" indent="0" algn="ctr">
              <a:defRPr sz="6000" b="1" i="0">
                <a:solidFill>
                  <a:srgbClr val="3B82F6"/>
                </a:solidFill>
                <a:latin typeface="+mj-lt"/>
              </a:defRPr>
            </a:lvl1pPr>
          </a:lstStyle>
          <a:p>
            <a:endParaRPr lang="en-GB"/>
          </a:p>
        </p:txBody>
      </p:sp>
      <p:sp>
        <p:nvSpPr>
          <p:cNvPr id="14" name="Stat 2 Label"/>
          <p:cNvSpPr>
            <a:spLocks noGrp="1"/>
          </p:cNvSpPr>
          <p:nvPr>
            <p:ph type="body" idx="4"/>
          </p:nvPr>
        </p:nvSpPr>
        <p:spPr>
          <a:xfrm>
            <a:off x="4390880" y="3500000"/>
            <a:ext cx="3454400" cy="1500000"/>
          </a:xfrm>
          <a:prstGeom prst="rect">
            <a:avLst/>
          </a:prstGeom>
        </p:spPr>
        <p:txBody>
          <a:bodyPr lIns="0" tIns="0" rIns="0" bIns="0" anchor="t">
            <a:normAutofit/>
          </a:bodyPr>
          <a:lstStyle>
            <a:lvl1pPr marL="0" indent="0" algn="ctr">
              <a:lnSpc>
                <a:spcPct val="116000"/>
              </a:lnSpc>
              <a:defRPr sz="1500" b="0" i="0">
                <a:solidFill>
                  <a:srgbClr val="475569"/>
                </a:solidFill>
                <a:latin typeface="+mn-lt"/>
              </a:defRPr>
            </a:lvl1pPr>
          </a:lstStyle>
          <a:p>
            <a:endParaRPr lang="en-GB"/>
          </a:p>
        </p:txBody>
      </p:sp>
      <p:sp>
        <p:nvSpPr>
          <p:cNvPr id="15" name="Stat 3 Number"/>
          <p:cNvSpPr>
            <a:spLocks noGrp="1"/>
          </p:cNvSpPr>
          <p:nvPr>
            <p:ph type="body" idx="5"/>
          </p:nvPr>
        </p:nvSpPr>
        <p:spPr>
          <a:xfrm>
            <a:off x="8172280" y="2150000"/>
            <a:ext cx="3454400" cy="1200000"/>
          </a:xfrm>
          <a:prstGeom prst="rect">
            <a:avLst/>
          </a:prstGeom>
        </p:spPr>
        <p:txBody>
          <a:bodyPr lIns="0" tIns="0" rIns="0" bIns="0" anchor="ctr">
            <a:normAutofit/>
          </a:bodyPr>
          <a:lstStyle>
            <a:lvl1pPr marL="0" indent="0" algn="ctr">
              <a:defRPr sz="6000" b="1" i="0">
                <a:solidFill>
                  <a:srgbClr val="8B5CF6"/>
                </a:solidFill>
                <a:latin typeface="+mj-lt"/>
              </a:defRPr>
            </a:lvl1pPr>
          </a:lstStyle>
          <a:p>
            <a:endParaRPr lang="en-GB"/>
          </a:p>
        </p:txBody>
      </p:sp>
      <p:sp>
        <p:nvSpPr>
          <p:cNvPr id="16" name="Stat 3 Label"/>
          <p:cNvSpPr>
            <a:spLocks noGrp="1"/>
          </p:cNvSpPr>
          <p:nvPr>
            <p:ph type="body" idx="6"/>
          </p:nvPr>
        </p:nvSpPr>
        <p:spPr>
          <a:xfrm>
            <a:off x="8172280" y="3500000"/>
            <a:ext cx="3454400" cy="1500000"/>
          </a:xfrm>
          <a:prstGeom prst="rect">
            <a:avLst/>
          </a:prstGeom>
        </p:spPr>
        <p:txBody>
          <a:bodyPr lIns="0" tIns="0" rIns="0" bIns="0" anchor="t">
            <a:normAutofit/>
          </a:bodyPr>
          <a:lstStyle>
            <a:lvl1pPr marL="0" indent="0" algn="ctr">
              <a:lnSpc>
                <a:spcPct val="116000"/>
              </a:lnSpc>
              <a:defRPr sz="1500" b="0" i="0">
                <a:solidFill>
                  <a:srgbClr val="475569"/>
                </a:solidFill>
                <a:latin typeface="+mn-lt"/>
              </a:defRPr>
            </a:lvl1pPr>
          </a:lstStyle>
          <a:p>
            <a:endParaRPr lang="en-GB"/>
          </a:p>
        </p:txBody>
      </p:sp>
      <p:sp>
        <p:nvSpPr>
          <p:cNvPr id="20"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21"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22"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23"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24"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24}" type="slidenum">
              <a:rPr lang="en-GB" sz="1100">
                <a:solidFill>
                  <a:srgbClr val="64748B"/>
                </a:solidFill>
              </a:rPr>
              <a:t>‹#›</a:t>
            </a:fld>
            <a:endParaRPr lang="en-GB" sz="1100">
              <a:solidFill>
                <a:srgbClr val="64748B"/>
              </a:solidFill>
            </a:endParaRPr>
          </a:p>
        </p:txBody>
      </p:sp>
      <p:sp>
        <p:nvSpPr>
          <p:cNvPr id="25"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Numbered Steps">
    <p:bg>
      <p:bgPr>
        <a:solidFill>
          <a:srgbClr val="FFFFFF"/>
        </a:solidFill>
        <a:effectLst/>
      </p:bgPr>
    </p:bg>
    <p:spTree>
      <p:nvGrpSpPr>
        <p:cNvPr id="1" name=""/>
        <p:cNvGrpSpPr/>
        <p:nvPr/>
      </p:nvGrpSpPr>
      <p:grpSpPr>
        <a:xfrm>
          <a:off x="0" y="0"/>
          <a:ext cx="0" cy="0"/>
          <a:chOff x="0" y="0"/>
          <a:chExt cx="0" cy="0"/>
        </a:xfrm>
      </p:grpSpPr>
      <p:sp>
        <p:nvSpPr>
          <p:cNvPr id="23"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24"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25"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1" name="Step 1 Circle"/>
          <p:cNvSpPr/>
          <p:nvPr/>
        </p:nvSpPr>
        <p:spPr>
          <a:xfrm>
            <a:off x="1956680" y="1840000"/>
            <a:ext cx="760000" cy="760000"/>
          </a:xfrm>
          <a:prstGeom prst="ellipse">
            <a:avLst/>
          </a:prstGeom>
          <a:solidFill>
            <a:srgbClr val="F7941E"/>
          </a:solidFill>
          <a:ln w="0">
            <a:noFill/>
          </a:ln>
        </p:spPr>
        <p:txBody>
          <a:bodyPr/>
          <a:lstStyle/>
          <a:p>
            <a:endParaRPr lang="en-GB"/>
          </a:p>
        </p:txBody>
      </p:sp>
      <p:sp>
        <p:nvSpPr>
          <p:cNvPr id="12" name="Step 1 Number"/>
          <p:cNvSpPr>
            <a:spLocks noGrp="1"/>
          </p:cNvSpPr>
          <p:nvPr>
            <p:ph type="body" idx="1"/>
          </p:nvPr>
        </p:nvSpPr>
        <p:spPr>
          <a:xfrm>
            <a:off x="1956680" y="1840000"/>
            <a:ext cx="760000" cy="760000"/>
          </a:xfrm>
          <a:prstGeom prst="rect">
            <a:avLst/>
          </a:prstGeom>
        </p:spPr>
        <p:txBody>
          <a:bodyPr lIns="0" tIns="0" rIns="0" bIns="0" anchor="ctr">
            <a:normAutofit/>
          </a:bodyPr>
          <a:lstStyle>
            <a:lvl1pPr marL="0" indent="0" algn="ctr">
              <a:defRPr sz="3200" b="1" i="0">
                <a:solidFill>
                  <a:srgbClr val="FFFFFF"/>
                </a:solidFill>
                <a:latin typeface="+mj-lt"/>
              </a:defRPr>
            </a:lvl1pPr>
          </a:lstStyle>
          <a:p>
            <a:endParaRPr lang="en-GB"/>
          </a:p>
        </p:txBody>
      </p:sp>
      <p:sp>
        <p:nvSpPr>
          <p:cNvPr id="13" name="Step 1 Heading"/>
          <p:cNvSpPr>
            <a:spLocks noGrp="1"/>
          </p:cNvSpPr>
          <p:nvPr>
            <p:ph type="body" idx="2"/>
          </p:nvPr>
        </p:nvSpPr>
        <p:spPr>
          <a:xfrm>
            <a:off x="609480" y="2720000"/>
            <a:ext cx="3454400" cy="520000"/>
          </a:xfrm>
          <a:prstGeom prst="rect">
            <a:avLst/>
          </a:prstGeom>
        </p:spPr>
        <p:txBody>
          <a:bodyPr lIns="0" tIns="0" rIns="0" bIns="0" anchor="t">
            <a:normAutofit/>
          </a:bodyPr>
          <a:lstStyle>
            <a:lvl1pPr marL="0" indent="0" algn="ctr">
              <a:defRPr sz="1800" b="1" i="0">
                <a:solidFill>
                  <a:srgbClr val="0F172A"/>
                </a:solidFill>
                <a:latin typeface="+mj-lt"/>
              </a:defRPr>
            </a:lvl1pPr>
          </a:lstStyle>
          <a:p>
            <a:endParaRPr lang="en-GB"/>
          </a:p>
        </p:txBody>
      </p:sp>
      <p:sp>
        <p:nvSpPr>
          <p:cNvPr id="14" name="Step 1 Detail"/>
          <p:cNvSpPr>
            <a:spLocks noGrp="1"/>
          </p:cNvSpPr>
          <p:nvPr>
            <p:ph type="body" idx="3"/>
          </p:nvPr>
        </p:nvSpPr>
        <p:spPr>
          <a:xfrm>
            <a:off x="609480" y="3260000"/>
            <a:ext cx="3454400" cy="1560000"/>
          </a:xfrm>
          <a:prstGeom prst="rect">
            <a:avLst/>
          </a:prstGeom>
        </p:spPr>
        <p:txBody>
          <a:bodyPr lIns="0" tIns="0" rIns="0" bIns="0" anchor="t">
            <a:normAutofit/>
          </a:bodyPr>
          <a:lstStyle>
            <a:lvl1pPr marL="0" indent="0" algn="ctr">
              <a:lnSpc>
                <a:spcPct val="122000"/>
              </a:lnSpc>
              <a:defRPr sz="1500" b="0" i="0">
                <a:solidFill>
                  <a:srgbClr val="475569"/>
                </a:solidFill>
                <a:latin typeface="+mn-lt"/>
              </a:defRPr>
            </a:lvl1pPr>
          </a:lstStyle>
          <a:p>
            <a:endParaRPr lang="en-GB"/>
          </a:p>
        </p:txBody>
      </p:sp>
      <p:sp>
        <p:nvSpPr>
          <p:cNvPr id="15" name="Step 2 Circle"/>
          <p:cNvSpPr/>
          <p:nvPr/>
        </p:nvSpPr>
        <p:spPr>
          <a:xfrm>
            <a:off x="5738080" y="1840000"/>
            <a:ext cx="760000" cy="760000"/>
          </a:xfrm>
          <a:prstGeom prst="ellipse">
            <a:avLst/>
          </a:prstGeom>
          <a:solidFill>
            <a:srgbClr val="3B82F6"/>
          </a:solidFill>
          <a:ln w="0">
            <a:noFill/>
          </a:ln>
        </p:spPr>
        <p:txBody>
          <a:bodyPr/>
          <a:lstStyle/>
          <a:p>
            <a:endParaRPr lang="en-GB"/>
          </a:p>
        </p:txBody>
      </p:sp>
      <p:sp>
        <p:nvSpPr>
          <p:cNvPr id="16" name="Step 2 Number"/>
          <p:cNvSpPr>
            <a:spLocks noGrp="1"/>
          </p:cNvSpPr>
          <p:nvPr>
            <p:ph type="body" idx="4"/>
          </p:nvPr>
        </p:nvSpPr>
        <p:spPr>
          <a:xfrm>
            <a:off x="5738080" y="1840000"/>
            <a:ext cx="760000" cy="760000"/>
          </a:xfrm>
          <a:prstGeom prst="rect">
            <a:avLst/>
          </a:prstGeom>
        </p:spPr>
        <p:txBody>
          <a:bodyPr lIns="0" tIns="0" rIns="0" bIns="0" anchor="ctr">
            <a:normAutofit/>
          </a:bodyPr>
          <a:lstStyle>
            <a:lvl1pPr marL="0" indent="0" algn="ctr">
              <a:defRPr sz="3200" b="1" i="0">
                <a:solidFill>
                  <a:srgbClr val="FFFFFF"/>
                </a:solidFill>
                <a:latin typeface="+mj-lt"/>
              </a:defRPr>
            </a:lvl1pPr>
          </a:lstStyle>
          <a:p>
            <a:endParaRPr lang="en-GB"/>
          </a:p>
        </p:txBody>
      </p:sp>
      <p:sp>
        <p:nvSpPr>
          <p:cNvPr id="17" name="Step 2 Heading"/>
          <p:cNvSpPr>
            <a:spLocks noGrp="1"/>
          </p:cNvSpPr>
          <p:nvPr>
            <p:ph type="body" idx="5"/>
          </p:nvPr>
        </p:nvSpPr>
        <p:spPr>
          <a:xfrm>
            <a:off x="4390880" y="2720000"/>
            <a:ext cx="3454400" cy="520000"/>
          </a:xfrm>
          <a:prstGeom prst="rect">
            <a:avLst/>
          </a:prstGeom>
        </p:spPr>
        <p:txBody>
          <a:bodyPr lIns="0" tIns="0" rIns="0" bIns="0" anchor="t">
            <a:normAutofit/>
          </a:bodyPr>
          <a:lstStyle>
            <a:lvl1pPr marL="0" indent="0" algn="ctr">
              <a:defRPr sz="1800" b="1" i="0">
                <a:solidFill>
                  <a:srgbClr val="0F172A"/>
                </a:solidFill>
                <a:latin typeface="+mj-lt"/>
              </a:defRPr>
            </a:lvl1pPr>
          </a:lstStyle>
          <a:p>
            <a:endParaRPr lang="en-GB"/>
          </a:p>
        </p:txBody>
      </p:sp>
      <p:sp>
        <p:nvSpPr>
          <p:cNvPr id="18" name="Step 2 Detail"/>
          <p:cNvSpPr>
            <a:spLocks noGrp="1"/>
          </p:cNvSpPr>
          <p:nvPr>
            <p:ph type="body" idx="6"/>
          </p:nvPr>
        </p:nvSpPr>
        <p:spPr>
          <a:xfrm>
            <a:off x="4390880" y="3260000"/>
            <a:ext cx="3454400" cy="1560000"/>
          </a:xfrm>
          <a:prstGeom prst="rect">
            <a:avLst/>
          </a:prstGeom>
        </p:spPr>
        <p:txBody>
          <a:bodyPr lIns="0" tIns="0" rIns="0" bIns="0" anchor="t">
            <a:normAutofit/>
          </a:bodyPr>
          <a:lstStyle>
            <a:lvl1pPr marL="0" indent="0" algn="ctr">
              <a:lnSpc>
                <a:spcPct val="122000"/>
              </a:lnSpc>
              <a:defRPr sz="1500" b="0" i="0">
                <a:solidFill>
                  <a:srgbClr val="475569"/>
                </a:solidFill>
                <a:latin typeface="+mn-lt"/>
              </a:defRPr>
            </a:lvl1pPr>
          </a:lstStyle>
          <a:p>
            <a:endParaRPr lang="en-GB"/>
          </a:p>
        </p:txBody>
      </p:sp>
      <p:sp>
        <p:nvSpPr>
          <p:cNvPr id="19" name="Step 3 Circle"/>
          <p:cNvSpPr/>
          <p:nvPr/>
        </p:nvSpPr>
        <p:spPr>
          <a:xfrm>
            <a:off x="9519480" y="1840000"/>
            <a:ext cx="760000" cy="760000"/>
          </a:xfrm>
          <a:prstGeom prst="ellipse">
            <a:avLst/>
          </a:prstGeom>
          <a:solidFill>
            <a:srgbClr val="8B5CF6"/>
          </a:solidFill>
          <a:ln w="0">
            <a:noFill/>
          </a:ln>
        </p:spPr>
        <p:txBody>
          <a:bodyPr/>
          <a:lstStyle/>
          <a:p>
            <a:endParaRPr lang="en-GB"/>
          </a:p>
        </p:txBody>
      </p:sp>
      <p:sp>
        <p:nvSpPr>
          <p:cNvPr id="20" name="Step 3 Number"/>
          <p:cNvSpPr>
            <a:spLocks noGrp="1"/>
          </p:cNvSpPr>
          <p:nvPr>
            <p:ph type="body" idx="7"/>
          </p:nvPr>
        </p:nvSpPr>
        <p:spPr>
          <a:xfrm>
            <a:off x="9519480" y="1840000"/>
            <a:ext cx="760000" cy="760000"/>
          </a:xfrm>
          <a:prstGeom prst="rect">
            <a:avLst/>
          </a:prstGeom>
        </p:spPr>
        <p:txBody>
          <a:bodyPr lIns="0" tIns="0" rIns="0" bIns="0" anchor="ctr">
            <a:normAutofit/>
          </a:bodyPr>
          <a:lstStyle>
            <a:lvl1pPr marL="0" indent="0" algn="ctr">
              <a:defRPr sz="3200" b="1" i="0">
                <a:solidFill>
                  <a:srgbClr val="FFFFFF"/>
                </a:solidFill>
                <a:latin typeface="+mj-lt"/>
              </a:defRPr>
            </a:lvl1pPr>
          </a:lstStyle>
          <a:p>
            <a:endParaRPr lang="en-GB"/>
          </a:p>
        </p:txBody>
      </p:sp>
      <p:sp>
        <p:nvSpPr>
          <p:cNvPr id="21" name="Step 3 Heading"/>
          <p:cNvSpPr>
            <a:spLocks noGrp="1"/>
          </p:cNvSpPr>
          <p:nvPr>
            <p:ph type="body" idx="8"/>
          </p:nvPr>
        </p:nvSpPr>
        <p:spPr>
          <a:xfrm>
            <a:off x="8172280" y="2720000"/>
            <a:ext cx="3454400" cy="520000"/>
          </a:xfrm>
          <a:prstGeom prst="rect">
            <a:avLst/>
          </a:prstGeom>
        </p:spPr>
        <p:txBody>
          <a:bodyPr lIns="0" tIns="0" rIns="0" bIns="0" anchor="t">
            <a:normAutofit/>
          </a:bodyPr>
          <a:lstStyle>
            <a:lvl1pPr marL="0" indent="0" algn="ctr">
              <a:defRPr sz="1800" b="1" i="0">
                <a:solidFill>
                  <a:srgbClr val="0F172A"/>
                </a:solidFill>
                <a:latin typeface="+mj-lt"/>
              </a:defRPr>
            </a:lvl1pPr>
          </a:lstStyle>
          <a:p>
            <a:endParaRPr lang="en-GB"/>
          </a:p>
        </p:txBody>
      </p:sp>
      <p:sp>
        <p:nvSpPr>
          <p:cNvPr id="22" name="Step 3 Detail"/>
          <p:cNvSpPr>
            <a:spLocks noGrp="1"/>
          </p:cNvSpPr>
          <p:nvPr>
            <p:ph type="body" idx="9"/>
          </p:nvPr>
        </p:nvSpPr>
        <p:spPr>
          <a:xfrm>
            <a:off x="8172280" y="3260000"/>
            <a:ext cx="3454400" cy="1560000"/>
          </a:xfrm>
          <a:prstGeom prst="rect">
            <a:avLst/>
          </a:prstGeom>
        </p:spPr>
        <p:txBody>
          <a:bodyPr lIns="0" tIns="0" rIns="0" bIns="0" anchor="t">
            <a:normAutofit/>
          </a:bodyPr>
          <a:lstStyle>
            <a:lvl1pPr marL="0" indent="0" algn="ctr">
              <a:lnSpc>
                <a:spcPct val="122000"/>
              </a:lnSpc>
              <a:defRPr sz="1500" b="0" i="0">
                <a:solidFill>
                  <a:srgbClr val="475569"/>
                </a:solidFill>
                <a:latin typeface="+mn-lt"/>
              </a:defRPr>
            </a:lvl1pPr>
          </a:lstStyle>
          <a:p>
            <a:endParaRPr lang="en-GB"/>
          </a:p>
        </p:txBody>
      </p:sp>
      <p:sp>
        <p:nvSpPr>
          <p:cNvPr id="26"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27"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28"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29"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0"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0}" type="slidenum">
              <a:rPr lang="en-GB" sz="1100">
                <a:solidFill>
                  <a:srgbClr val="64748B"/>
                </a:solidFill>
              </a:rPr>
              <a:t>‹#›</a:t>
            </a:fld>
            <a:endParaRPr lang="en-GB" sz="1100">
              <a:solidFill>
                <a:srgbClr val="64748B"/>
              </a:solidFill>
            </a:endParaRPr>
          </a:p>
        </p:txBody>
      </p:sp>
      <p:sp>
        <p:nvSpPr>
          <p:cNvPr id="31"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Pricing / Tiers">
    <p:bg>
      <p:bgPr>
        <a:solidFill>
          <a:srgbClr val="FFFFFF"/>
        </a:solidFill>
        <a:effectLst/>
      </p:bgPr>
    </p:bg>
    <p:spTree>
      <p:nvGrpSpPr>
        <p:cNvPr id="1" name=""/>
        <p:cNvGrpSpPr/>
        <p:nvPr/>
      </p:nvGrpSpPr>
      <p:grpSpPr>
        <a:xfrm>
          <a:off x="0" y="0"/>
          <a:ext cx="0" cy="0"/>
          <a:chOff x="0" y="0"/>
          <a:chExt cx="0" cy="0"/>
        </a:xfrm>
      </p:grpSpPr>
      <p:sp>
        <p:nvSpPr>
          <p:cNvPr id="26"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27"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28"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1" name="Tier 1 Card"/>
          <p:cNvSpPr/>
          <p:nvPr/>
        </p:nvSpPr>
        <p:spPr>
          <a:xfrm>
            <a:off x="609480" y="1700000"/>
            <a:ext cx="3454400" cy="3900000"/>
          </a:xfrm>
          <a:prstGeom prst="roundRect">
            <a:avLst>
              <a:gd name="adj" fmla="val 4000"/>
            </a:avLst>
          </a:prstGeom>
          <a:solidFill>
            <a:srgbClr val="FFFFFF"/>
          </a:solidFill>
          <a:ln w="19050">
            <a:solidFill>
              <a:srgbClr val="64748B"/>
            </a:solidFill>
          </a:ln>
        </p:spPr>
        <p:txBody>
          <a:bodyPr/>
          <a:lstStyle/>
          <a:p>
            <a:endParaRPr lang="en-GB"/>
          </a:p>
        </p:txBody>
      </p:sp>
      <p:sp>
        <p:nvSpPr>
          <p:cNvPr id="12" name="Tier 1 Band"/>
          <p:cNvSpPr/>
          <p:nvPr/>
        </p:nvSpPr>
        <p:spPr>
          <a:xfrm>
            <a:off x="609480" y="1700000"/>
            <a:ext cx="3454400" cy="680000"/>
          </a:xfrm>
          <a:prstGeom prst="roundRect">
            <a:avLst>
              <a:gd name="adj" fmla="val 4000"/>
            </a:avLst>
          </a:prstGeom>
          <a:solidFill>
            <a:srgbClr val="64748B"/>
          </a:solidFill>
          <a:ln w="0">
            <a:noFill/>
          </a:ln>
        </p:spPr>
        <p:txBody>
          <a:bodyPr/>
          <a:lstStyle/>
          <a:p>
            <a:endParaRPr lang="en-GB"/>
          </a:p>
        </p:txBody>
      </p:sp>
      <p:sp>
        <p:nvSpPr>
          <p:cNvPr id="13" name="Tier 1 Name"/>
          <p:cNvSpPr>
            <a:spLocks noGrp="1"/>
          </p:cNvSpPr>
          <p:nvPr>
            <p:ph type="body" idx="1"/>
          </p:nvPr>
        </p:nvSpPr>
        <p:spPr>
          <a:xfrm>
            <a:off x="609480" y="1750000"/>
            <a:ext cx="3454400" cy="560000"/>
          </a:xfrm>
          <a:prstGeom prst="rect">
            <a:avLst/>
          </a:prstGeom>
        </p:spPr>
        <p:txBody>
          <a:bodyPr lIns="0" tIns="0" rIns="0" bIns="0" anchor="ctr">
            <a:normAutofit/>
          </a:bodyPr>
          <a:lstStyle>
            <a:lvl1pPr marL="0" indent="0" algn="ctr">
              <a:defRPr sz="1900" b="1" i="0">
                <a:solidFill>
                  <a:srgbClr val="FFFFFF"/>
                </a:solidFill>
                <a:latin typeface="+mj-lt"/>
              </a:defRPr>
            </a:lvl1pPr>
          </a:lstStyle>
          <a:p>
            <a:endParaRPr lang="en-GB"/>
          </a:p>
        </p:txBody>
      </p:sp>
      <p:sp>
        <p:nvSpPr>
          <p:cNvPr id="14" name="Tier 1 Price"/>
          <p:cNvSpPr>
            <a:spLocks noGrp="1"/>
          </p:cNvSpPr>
          <p:nvPr>
            <p:ph type="body" idx="2"/>
          </p:nvPr>
        </p:nvSpPr>
        <p:spPr>
          <a:xfrm>
            <a:off x="759480" y="2500000"/>
            <a:ext cx="3154400" cy="760000"/>
          </a:xfrm>
          <a:prstGeom prst="rect">
            <a:avLst/>
          </a:prstGeom>
        </p:spPr>
        <p:txBody>
          <a:bodyPr lIns="0" tIns="0" rIns="0" bIns="0" anchor="ctr">
            <a:normAutofit/>
          </a:bodyPr>
          <a:lstStyle>
            <a:lvl1pPr marL="0" indent="0" algn="ctr">
              <a:defRPr sz="3600" b="1" i="0">
                <a:solidFill>
                  <a:srgbClr val="0F172A"/>
                </a:solidFill>
                <a:latin typeface="+mj-lt"/>
              </a:defRPr>
            </a:lvl1pPr>
          </a:lstStyle>
          <a:p>
            <a:endParaRPr lang="en-GB"/>
          </a:p>
        </p:txBody>
      </p:sp>
      <p:sp>
        <p:nvSpPr>
          <p:cNvPr id="15" name="Tier 1 Features"/>
          <p:cNvSpPr>
            <a:spLocks noGrp="1"/>
          </p:cNvSpPr>
          <p:nvPr>
            <p:ph type="body" idx="3"/>
          </p:nvPr>
        </p:nvSpPr>
        <p:spPr>
          <a:xfrm>
            <a:off x="869480" y="3380000"/>
            <a:ext cx="2934400" cy="2100000"/>
          </a:xfrm>
          <a:prstGeom prst="rect">
            <a:avLst/>
          </a:prstGeom>
        </p:spPr>
        <p:txBody>
          <a:bodyPr lIns="0" tIns="0" rIns="0" bIns="0" anchor="t">
            <a:normAutofit/>
          </a:bodyPr>
          <a:lstStyle>
            <a:lvl1pPr marL="0" indent="0" algn="l">
              <a:lnSpc>
                <a:spcPct val="126000"/>
              </a:lnSpc>
              <a:defRPr sz="1400" b="0" i="0">
                <a:solidFill>
                  <a:srgbClr val="475569"/>
                </a:solidFill>
                <a:latin typeface="+mn-lt"/>
              </a:defRPr>
            </a:lvl1pPr>
          </a:lstStyle>
          <a:p>
            <a:endParaRPr lang="en-GB"/>
          </a:p>
        </p:txBody>
      </p:sp>
      <p:sp>
        <p:nvSpPr>
          <p:cNvPr id="16" name="Tier 2 Card"/>
          <p:cNvSpPr/>
          <p:nvPr/>
        </p:nvSpPr>
        <p:spPr>
          <a:xfrm>
            <a:off x="4390880" y="1700000"/>
            <a:ext cx="3454400" cy="3900000"/>
          </a:xfrm>
          <a:prstGeom prst="roundRect">
            <a:avLst>
              <a:gd name="adj" fmla="val 4000"/>
            </a:avLst>
          </a:prstGeom>
          <a:solidFill>
            <a:srgbClr val="FFFFFF"/>
          </a:solidFill>
          <a:ln w="19050">
            <a:solidFill>
              <a:srgbClr val="F7941E"/>
            </a:solidFill>
          </a:ln>
        </p:spPr>
        <p:txBody>
          <a:bodyPr/>
          <a:lstStyle/>
          <a:p>
            <a:endParaRPr lang="en-GB"/>
          </a:p>
        </p:txBody>
      </p:sp>
      <p:sp>
        <p:nvSpPr>
          <p:cNvPr id="17" name="Tier 2 Band"/>
          <p:cNvSpPr/>
          <p:nvPr/>
        </p:nvSpPr>
        <p:spPr>
          <a:xfrm>
            <a:off x="4390880" y="1700000"/>
            <a:ext cx="3454400" cy="680000"/>
          </a:xfrm>
          <a:prstGeom prst="roundRect">
            <a:avLst>
              <a:gd name="adj" fmla="val 4000"/>
            </a:avLst>
          </a:prstGeom>
          <a:solidFill>
            <a:srgbClr val="F7941E"/>
          </a:solidFill>
          <a:ln w="0">
            <a:noFill/>
          </a:ln>
        </p:spPr>
        <p:txBody>
          <a:bodyPr/>
          <a:lstStyle/>
          <a:p>
            <a:endParaRPr lang="en-GB"/>
          </a:p>
        </p:txBody>
      </p:sp>
      <p:sp>
        <p:nvSpPr>
          <p:cNvPr id="18" name="Tier 2 Name"/>
          <p:cNvSpPr>
            <a:spLocks noGrp="1"/>
          </p:cNvSpPr>
          <p:nvPr>
            <p:ph type="body" idx="4"/>
          </p:nvPr>
        </p:nvSpPr>
        <p:spPr>
          <a:xfrm>
            <a:off x="4390880" y="1750000"/>
            <a:ext cx="3454400" cy="560000"/>
          </a:xfrm>
          <a:prstGeom prst="rect">
            <a:avLst/>
          </a:prstGeom>
        </p:spPr>
        <p:txBody>
          <a:bodyPr lIns="0" tIns="0" rIns="0" bIns="0" anchor="ctr">
            <a:normAutofit/>
          </a:bodyPr>
          <a:lstStyle>
            <a:lvl1pPr marL="0" indent="0" algn="ctr">
              <a:defRPr sz="1900" b="1" i="0">
                <a:solidFill>
                  <a:srgbClr val="FFFFFF"/>
                </a:solidFill>
                <a:latin typeface="+mj-lt"/>
              </a:defRPr>
            </a:lvl1pPr>
          </a:lstStyle>
          <a:p>
            <a:endParaRPr lang="en-GB"/>
          </a:p>
        </p:txBody>
      </p:sp>
      <p:sp>
        <p:nvSpPr>
          <p:cNvPr id="19" name="Tier 2 Price"/>
          <p:cNvSpPr>
            <a:spLocks noGrp="1"/>
          </p:cNvSpPr>
          <p:nvPr>
            <p:ph type="body" idx="5"/>
          </p:nvPr>
        </p:nvSpPr>
        <p:spPr>
          <a:xfrm>
            <a:off x="4540880" y="2500000"/>
            <a:ext cx="3154400" cy="760000"/>
          </a:xfrm>
          <a:prstGeom prst="rect">
            <a:avLst/>
          </a:prstGeom>
        </p:spPr>
        <p:txBody>
          <a:bodyPr lIns="0" tIns="0" rIns="0" bIns="0" anchor="ctr">
            <a:normAutofit/>
          </a:bodyPr>
          <a:lstStyle>
            <a:lvl1pPr marL="0" indent="0" algn="ctr">
              <a:defRPr sz="3600" b="1" i="0">
                <a:solidFill>
                  <a:srgbClr val="0F172A"/>
                </a:solidFill>
                <a:latin typeface="+mj-lt"/>
              </a:defRPr>
            </a:lvl1pPr>
          </a:lstStyle>
          <a:p>
            <a:endParaRPr lang="en-GB"/>
          </a:p>
        </p:txBody>
      </p:sp>
      <p:sp>
        <p:nvSpPr>
          <p:cNvPr id="20" name="Tier 2 Features"/>
          <p:cNvSpPr>
            <a:spLocks noGrp="1"/>
          </p:cNvSpPr>
          <p:nvPr>
            <p:ph type="body" idx="6"/>
          </p:nvPr>
        </p:nvSpPr>
        <p:spPr>
          <a:xfrm>
            <a:off x="4650880" y="3380000"/>
            <a:ext cx="2934400" cy="2100000"/>
          </a:xfrm>
          <a:prstGeom prst="rect">
            <a:avLst/>
          </a:prstGeom>
        </p:spPr>
        <p:txBody>
          <a:bodyPr lIns="0" tIns="0" rIns="0" bIns="0" anchor="t">
            <a:normAutofit/>
          </a:bodyPr>
          <a:lstStyle>
            <a:lvl1pPr marL="0" indent="0" algn="l">
              <a:lnSpc>
                <a:spcPct val="126000"/>
              </a:lnSpc>
              <a:defRPr sz="1400" b="0" i="0">
                <a:solidFill>
                  <a:srgbClr val="475569"/>
                </a:solidFill>
                <a:latin typeface="+mn-lt"/>
              </a:defRPr>
            </a:lvl1pPr>
          </a:lstStyle>
          <a:p>
            <a:endParaRPr lang="en-GB"/>
          </a:p>
        </p:txBody>
      </p:sp>
      <p:sp>
        <p:nvSpPr>
          <p:cNvPr id="21" name="Tier 3 Card"/>
          <p:cNvSpPr/>
          <p:nvPr/>
        </p:nvSpPr>
        <p:spPr>
          <a:xfrm>
            <a:off x="8172280" y="1700000"/>
            <a:ext cx="3454400" cy="3900000"/>
          </a:xfrm>
          <a:prstGeom prst="roundRect">
            <a:avLst>
              <a:gd name="adj" fmla="val 4000"/>
            </a:avLst>
          </a:prstGeom>
          <a:solidFill>
            <a:srgbClr val="FFFFFF"/>
          </a:solidFill>
          <a:ln w="19050">
            <a:solidFill>
              <a:srgbClr val="3B82F6"/>
            </a:solidFill>
          </a:ln>
        </p:spPr>
        <p:txBody>
          <a:bodyPr/>
          <a:lstStyle/>
          <a:p>
            <a:endParaRPr lang="en-GB"/>
          </a:p>
        </p:txBody>
      </p:sp>
      <p:sp>
        <p:nvSpPr>
          <p:cNvPr id="22" name="Tier 3 Band"/>
          <p:cNvSpPr/>
          <p:nvPr/>
        </p:nvSpPr>
        <p:spPr>
          <a:xfrm>
            <a:off x="8172280" y="1700000"/>
            <a:ext cx="3454400" cy="680000"/>
          </a:xfrm>
          <a:prstGeom prst="roundRect">
            <a:avLst>
              <a:gd name="adj" fmla="val 4000"/>
            </a:avLst>
          </a:prstGeom>
          <a:solidFill>
            <a:srgbClr val="3B82F6"/>
          </a:solidFill>
          <a:ln w="0">
            <a:noFill/>
          </a:ln>
        </p:spPr>
        <p:txBody>
          <a:bodyPr/>
          <a:lstStyle/>
          <a:p>
            <a:endParaRPr lang="en-GB"/>
          </a:p>
        </p:txBody>
      </p:sp>
      <p:sp>
        <p:nvSpPr>
          <p:cNvPr id="23" name="Tier 3 Name"/>
          <p:cNvSpPr>
            <a:spLocks noGrp="1"/>
          </p:cNvSpPr>
          <p:nvPr>
            <p:ph type="body" idx="7"/>
          </p:nvPr>
        </p:nvSpPr>
        <p:spPr>
          <a:xfrm>
            <a:off x="8172280" y="1750000"/>
            <a:ext cx="3454400" cy="560000"/>
          </a:xfrm>
          <a:prstGeom prst="rect">
            <a:avLst/>
          </a:prstGeom>
        </p:spPr>
        <p:txBody>
          <a:bodyPr lIns="0" tIns="0" rIns="0" bIns="0" anchor="ctr">
            <a:normAutofit/>
          </a:bodyPr>
          <a:lstStyle>
            <a:lvl1pPr marL="0" indent="0" algn="ctr">
              <a:defRPr sz="1900" b="1" i="0">
                <a:solidFill>
                  <a:srgbClr val="FFFFFF"/>
                </a:solidFill>
                <a:latin typeface="+mj-lt"/>
              </a:defRPr>
            </a:lvl1pPr>
          </a:lstStyle>
          <a:p>
            <a:endParaRPr lang="en-GB"/>
          </a:p>
        </p:txBody>
      </p:sp>
      <p:sp>
        <p:nvSpPr>
          <p:cNvPr id="24" name="Tier 3 Price"/>
          <p:cNvSpPr>
            <a:spLocks noGrp="1"/>
          </p:cNvSpPr>
          <p:nvPr>
            <p:ph type="body" idx="8"/>
          </p:nvPr>
        </p:nvSpPr>
        <p:spPr>
          <a:xfrm>
            <a:off x="8322280" y="2500000"/>
            <a:ext cx="3154400" cy="760000"/>
          </a:xfrm>
          <a:prstGeom prst="rect">
            <a:avLst/>
          </a:prstGeom>
        </p:spPr>
        <p:txBody>
          <a:bodyPr lIns="0" tIns="0" rIns="0" bIns="0" anchor="ctr">
            <a:normAutofit/>
          </a:bodyPr>
          <a:lstStyle>
            <a:lvl1pPr marL="0" indent="0" algn="ctr">
              <a:defRPr sz="3600" b="1" i="0">
                <a:solidFill>
                  <a:srgbClr val="0F172A"/>
                </a:solidFill>
                <a:latin typeface="+mj-lt"/>
              </a:defRPr>
            </a:lvl1pPr>
          </a:lstStyle>
          <a:p>
            <a:endParaRPr lang="en-GB"/>
          </a:p>
        </p:txBody>
      </p:sp>
      <p:sp>
        <p:nvSpPr>
          <p:cNvPr id="25" name="Tier 3 Features"/>
          <p:cNvSpPr>
            <a:spLocks noGrp="1"/>
          </p:cNvSpPr>
          <p:nvPr>
            <p:ph type="body" idx="9"/>
          </p:nvPr>
        </p:nvSpPr>
        <p:spPr>
          <a:xfrm>
            <a:off x="8432280" y="3380000"/>
            <a:ext cx="2934400" cy="2100000"/>
          </a:xfrm>
          <a:prstGeom prst="rect">
            <a:avLst/>
          </a:prstGeom>
        </p:spPr>
        <p:txBody>
          <a:bodyPr lIns="0" tIns="0" rIns="0" bIns="0" anchor="t">
            <a:normAutofit/>
          </a:bodyPr>
          <a:lstStyle>
            <a:lvl1pPr marL="0" indent="0" algn="l">
              <a:lnSpc>
                <a:spcPct val="126000"/>
              </a:lnSpc>
              <a:defRPr sz="1400" b="0" i="0">
                <a:solidFill>
                  <a:srgbClr val="475569"/>
                </a:solidFill>
                <a:latin typeface="+mn-lt"/>
              </a:defRPr>
            </a:lvl1pPr>
          </a:lstStyle>
          <a:p>
            <a:endParaRPr lang="en-GB"/>
          </a:p>
        </p:txBody>
      </p:sp>
      <p:sp>
        <p:nvSpPr>
          <p:cNvPr id="29"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30"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31"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32"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3"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3}" type="slidenum">
              <a:rPr lang="en-GB" sz="1100">
                <a:solidFill>
                  <a:srgbClr val="64748B"/>
                </a:solidFill>
              </a:rPr>
              <a:t>‹#›</a:t>
            </a:fld>
            <a:endParaRPr lang="en-GB" sz="1100">
              <a:solidFill>
                <a:srgbClr val="64748B"/>
              </a:solidFill>
            </a:endParaRPr>
          </a:p>
        </p:txBody>
      </p:sp>
      <p:sp>
        <p:nvSpPr>
          <p:cNvPr id="34"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reserve="1">
  <p:cSld name="Table">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6"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7"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8"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8}" type="slidenum">
              <a:rPr lang="en-GB" sz="1100">
                <a:solidFill>
                  <a:srgbClr val="64748B"/>
                </a:solidFill>
              </a:rPr>
              <a:t>‹#›</a:t>
            </a:fld>
            <a:endParaRPr lang="en-GB" sz="1100">
              <a:solidFill>
                <a:srgbClr val="64748B"/>
              </a:solidFill>
            </a:endParaRPr>
          </a:p>
        </p:txBody>
      </p:sp>
      <p:sp>
        <p:nvSpPr>
          <p:cNvPr id="19"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Quote / Statement">
    <p:bg>
      <p:bgPr>
        <a:solidFill>
          <a:srgbClr val="0F172A"/>
        </a:solidFill>
        <a:effectLst/>
      </p:bgPr>
    </p:bg>
    <p:spTree>
      <p:nvGrpSpPr>
        <p:cNvPr id="1" name=""/>
        <p:cNvGrpSpPr/>
        <p:nvPr/>
      </p:nvGrpSpPr>
      <p:grpSpPr>
        <a:xfrm>
          <a:off x="0" y="0"/>
          <a:ext cx="0" cy="0"/>
          <a:chOff x="0" y="0"/>
          <a:chExt cx="0" cy="0"/>
        </a:xfrm>
      </p:grpSpPr>
      <p:sp>
        <p:nvSpPr>
          <p:cNvPr id="11" name="TopLine"/>
          <p:cNvSpPr/>
          <p:nvPr/>
        </p:nvSpPr>
        <p:spPr>
          <a:xfrm>
            <a:off x="0" y="0"/>
            <a:ext cx="12192000" cy="34560"/>
          </a:xfrm>
          <a:prstGeom prst="rect">
            <a:avLst/>
          </a:prstGeom>
          <a:gradFill rotWithShape="0">
            <a:gsLst>
              <a:gs pos="0">
                <a:srgbClr val="F7941E"/>
              </a:gs>
              <a:gs pos="40000">
                <a:srgbClr val="3B82F6"/>
              </a:gs>
              <a:gs pos="70000">
                <a:srgbClr val="8B5CF6"/>
              </a:gs>
              <a:gs pos="100000">
                <a:srgbClr val="EC4899"/>
              </a:gs>
            </a:gsLst>
            <a:lin ang="0"/>
          </a:gradFill>
          <a:ln w="0">
            <a:noFill/>
          </a:ln>
        </p:spPr>
        <p:txBody>
          <a:bodyPr/>
          <a:lstStyle/>
          <a:p>
            <a:endParaRPr lang="en-GB"/>
          </a:p>
        </p:txBody>
      </p:sp>
      <p:sp>
        <p:nvSpPr>
          <p:cNvPr id="12" name="GlowCircle"/>
          <p:cNvSpPr/>
          <p:nvPr/>
        </p:nvSpPr>
        <p:spPr>
          <a:xfrm>
            <a:off x="8229600" y="-914400"/>
            <a:ext cx="4569840" cy="4569840"/>
          </a:xfrm>
          <a:prstGeom prst="ellipse">
            <a:avLst/>
          </a:prstGeom>
          <a:gradFill rotWithShape="0">
            <a:gsLst>
              <a:gs pos="0">
                <a:srgbClr val="F7941E">
                  <a:alpha val="15000"/>
                </a:srgbClr>
              </a:gs>
              <a:gs pos="100000">
                <a:srgbClr val="F7941E">
                  <a:alpha val="0"/>
                </a:srgbClr>
              </a:gs>
            </a:gsLst>
            <a:path path="circle">
              <a:fillToRect l="50000" t="50000" r="50000" b="50000"/>
            </a:path>
          </a:gradFill>
          <a:ln w="0">
            <a:noFill/>
          </a:ln>
        </p:spPr>
        <p:txBody>
          <a:bodyPr/>
          <a:lstStyle/>
          <a:p>
            <a:endParaRPr lang="en-GB"/>
          </a:p>
        </p:txBody>
      </p:sp>
      <p:sp>
        <p:nvSpPr>
          <p:cNvPr id="13" name="QuoteMark"/>
          <p:cNvSpPr/>
          <p:nvPr/>
        </p:nvSpPr>
        <p:spPr>
          <a:xfrm>
            <a:off x="609480" y="1120000"/>
            <a:ext cx="1900000" cy="1400000"/>
          </a:xfrm>
          <a:prstGeom prst="rect">
            <a:avLst/>
          </a:prstGeom>
          <a:noFill/>
        </p:spPr>
        <p:txBody>
          <a:bodyPr lIns="0" tIns="0" rIns="0" bIns="0">
            <a:noAutofit/>
          </a:bodyPr>
          <a:lstStyle/>
          <a:p>
            <a:r>
              <a:rPr lang="en-GB" sz="9600" b="1">
                <a:solidFill>
                  <a:srgbClr val="F7941E"/>
                </a:solidFill>
                <a:latin typeface="+mj-lt"/>
              </a:rPr>
              <a:t>“</a:t>
            </a:r>
          </a:p>
        </p:txBody>
      </p:sp>
      <p:sp>
        <p:nvSpPr>
          <p:cNvPr id="14" name="Quote"/>
          <p:cNvSpPr>
            <a:spLocks noGrp="1"/>
          </p:cNvSpPr>
          <p:nvPr>
            <p:ph type="body" idx="1"/>
          </p:nvPr>
        </p:nvSpPr>
        <p:spPr>
          <a:xfrm>
            <a:off x="609480" y="2520000"/>
            <a:ext cx="10973040" cy="2200000"/>
          </a:xfrm>
          <a:prstGeom prst="rect">
            <a:avLst/>
          </a:prstGeom>
        </p:spPr>
        <p:txBody>
          <a:bodyPr lIns="0" tIns="0" rIns="0" bIns="0" anchor="t">
            <a:normAutofit/>
          </a:bodyPr>
          <a:lstStyle>
            <a:lvl1pPr marL="0" indent="0" algn="l">
              <a:lnSpc>
                <a:spcPct val="116000"/>
              </a:lnSpc>
              <a:defRPr sz="3200" b="0" i="0">
                <a:solidFill>
                  <a:srgbClr val="FFFFFF"/>
                </a:solidFill>
                <a:latin typeface="+mj-lt"/>
              </a:defRPr>
            </a:lvl1pPr>
          </a:lstStyle>
          <a:p>
            <a:endParaRPr lang="en-GB"/>
          </a:p>
        </p:txBody>
      </p:sp>
      <p:sp>
        <p:nvSpPr>
          <p:cNvPr id="15" name="Attribution"/>
          <p:cNvSpPr>
            <a:spLocks noGrp="1"/>
          </p:cNvSpPr>
          <p:nvPr>
            <p:ph type="body" idx="11"/>
          </p:nvPr>
        </p:nvSpPr>
        <p:spPr>
          <a:xfrm>
            <a:off x="609480" y="4900000"/>
            <a:ext cx="10973040" cy="460000"/>
          </a:xfrm>
          <a:prstGeom prst="rect">
            <a:avLst/>
          </a:prstGeom>
        </p:spPr>
        <p:txBody>
          <a:bodyPr lIns="0" tIns="0" rIns="0" bIns="0" anchor="t">
            <a:normAutofit/>
          </a:bodyPr>
          <a:lstStyle>
            <a:lvl1pPr marL="0" indent="0" algn="l">
              <a:defRPr sz="1600" b="0" i="0">
                <a:solidFill>
                  <a:srgbClr val="94A3B8"/>
                </a:solidFill>
                <a:latin typeface="+mn-lt"/>
              </a:defRPr>
            </a:lvl1pPr>
          </a:lstStyle>
          <a:p>
            <a:endParaRPr lang="en-GB"/>
          </a:p>
        </p:txBody>
      </p:sp>
      <p:sp>
        <p:nvSpPr>
          <p:cNvPr id="16"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FFFFFF"/>
                </a:solidFill>
              </a:rPr>
              <a:t>Spark</a:t>
            </a:r>
          </a:p>
        </p:txBody>
      </p:sp>
      <p:sp>
        <p:nvSpPr>
          <p:cNvPr id="17"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7}" type="slidenum">
              <a:rPr lang="en-GB" sz="1100">
                <a:solidFill>
                  <a:srgbClr val="94A3B8"/>
                </a:solidFill>
              </a:rPr>
              <a:t>‹#›</a:t>
            </a:fld>
            <a:endParaRPr lang="en-GB" sz="1100">
              <a:solidFill>
                <a:srgbClr val="94A3B8"/>
              </a:solidFill>
            </a:endParaRPr>
          </a:p>
        </p:txBody>
      </p:sp>
      <p:sp>
        <p:nvSpPr>
          <p:cNvPr id="18"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losing">
    <p:bg>
      <p:bgPr>
        <a:solidFill>
          <a:srgbClr val="0F172A"/>
        </a:solidFill>
        <a:effectLst/>
      </p:bgPr>
    </p:bg>
    <p:spTree>
      <p:nvGrpSpPr>
        <p:cNvPr id="1" name=""/>
        <p:cNvGrpSpPr/>
        <p:nvPr/>
      </p:nvGrpSpPr>
      <p:grpSpPr>
        <a:xfrm>
          <a:off x="0" y="0"/>
          <a:ext cx="0" cy="0"/>
          <a:chOff x="0" y="0"/>
          <a:chExt cx="0" cy="0"/>
        </a:xfrm>
      </p:grpSpPr>
      <p:sp>
        <p:nvSpPr>
          <p:cNvPr id="11" name="TopLine"/>
          <p:cNvSpPr/>
          <p:nvPr/>
        </p:nvSpPr>
        <p:spPr>
          <a:xfrm>
            <a:off x="0" y="0"/>
            <a:ext cx="12192000" cy="34560"/>
          </a:xfrm>
          <a:prstGeom prst="rect">
            <a:avLst/>
          </a:prstGeom>
          <a:gradFill rotWithShape="0">
            <a:gsLst>
              <a:gs pos="0">
                <a:srgbClr val="F7941E"/>
              </a:gs>
              <a:gs pos="40000">
                <a:srgbClr val="3B82F6"/>
              </a:gs>
              <a:gs pos="70000">
                <a:srgbClr val="8B5CF6"/>
              </a:gs>
              <a:gs pos="100000">
                <a:srgbClr val="EC4899"/>
              </a:gs>
            </a:gsLst>
            <a:lin ang="0"/>
          </a:gradFill>
          <a:ln w="0">
            <a:noFill/>
          </a:ln>
        </p:spPr>
        <p:txBody>
          <a:bodyPr/>
          <a:lstStyle/>
          <a:p>
            <a:endParaRPr lang="en-GB"/>
          </a:p>
        </p:txBody>
      </p:sp>
      <p:sp>
        <p:nvSpPr>
          <p:cNvPr id="12" name="GlowCircle"/>
          <p:cNvSpPr/>
          <p:nvPr/>
        </p:nvSpPr>
        <p:spPr>
          <a:xfrm>
            <a:off x="8229600" y="-914400"/>
            <a:ext cx="4569840" cy="4569840"/>
          </a:xfrm>
          <a:prstGeom prst="ellipse">
            <a:avLst/>
          </a:prstGeom>
          <a:gradFill rotWithShape="0">
            <a:gsLst>
              <a:gs pos="0">
                <a:srgbClr val="F7941E">
                  <a:alpha val="15000"/>
                </a:srgbClr>
              </a:gs>
              <a:gs pos="100000">
                <a:srgbClr val="F7941E">
                  <a:alpha val="0"/>
                </a:srgbClr>
              </a:gs>
            </a:gsLst>
            <a:path path="circle">
              <a:fillToRect l="50000" t="50000" r="50000" b="50000"/>
            </a:path>
          </a:gradFill>
          <a:ln w="0">
            <a:noFill/>
          </a:ln>
        </p:spPr>
        <p:txBody>
          <a:bodyPr/>
          <a:lstStyle/>
          <a:p>
            <a:endParaRPr lang="en-GB"/>
          </a:p>
        </p:txBody>
      </p:sp>
      <p:sp>
        <p:nvSpPr>
          <p:cNvPr id="13" name="LeftAccent"/>
          <p:cNvSpPr/>
          <p:nvPr/>
        </p:nvSpPr>
        <p:spPr>
          <a:xfrm>
            <a:off x="731520" y="1371600"/>
            <a:ext cx="45720" cy="3108960"/>
          </a:xfrm>
          <a:prstGeom prst="rect">
            <a:avLst/>
          </a:prstGeom>
          <a:solidFill>
            <a:srgbClr val="F7941E"/>
          </a:solidFill>
          <a:ln w="0">
            <a:noFill/>
          </a:ln>
        </p:spPr>
        <p:txBody>
          <a:bodyPr/>
          <a:lstStyle/>
          <a:p>
            <a:endParaRPr lang="en-GB"/>
          </a:p>
        </p:txBody>
      </p:sp>
      <p:sp>
        <p:nvSpPr>
          <p:cNvPr id="14" name="Title"/>
          <p:cNvSpPr>
            <a:spLocks noGrp="1"/>
          </p:cNvSpPr>
          <p:nvPr>
            <p:ph type="title"/>
          </p:nvPr>
        </p:nvSpPr>
        <p:spPr>
          <a:xfrm>
            <a:off x="914400" y="1371600"/>
            <a:ext cx="9599040" cy="1097280"/>
          </a:xfrm>
          <a:prstGeom prst="rect">
            <a:avLst/>
          </a:prstGeom>
        </p:spPr>
        <p:txBody>
          <a:bodyPr lIns="0" tIns="0" rIns="0" bIns="0" anchor="t">
            <a:normAutofit/>
          </a:bodyPr>
          <a:lstStyle>
            <a:lvl1pPr marL="0" indent="0" algn="l">
              <a:defRPr sz="5400" b="1" i="0">
                <a:solidFill>
                  <a:srgbClr val="FFFFFF"/>
                </a:solidFill>
                <a:latin typeface="+mj-lt"/>
              </a:defRPr>
            </a:lvl1pPr>
          </a:lstStyle>
          <a:p>
            <a:endParaRPr lang="en-GB"/>
          </a:p>
        </p:txBody>
      </p:sp>
      <p:sp>
        <p:nvSpPr>
          <p:cNvPr id="15" name="Divider"/>
          <p:cNvSpPr/>
          <p:nvPr/>
        </p:nvSpPr>
        <p:spPr>
          <a:xfrm>
            <a:off x="914400" y="2480000"/>
            <a:ext cx="3200400" cy="22860"/>
          </a:xfrm>
          <a:prstGeom prst="rect">
            <a:avLst/>
          </a:prstGeom>
          <a:solidFill>
            <a:srgbClr val="F7941E"/>
          </a:solidFill>
          <a:ln w="0">
            <a:noFill/>
          </a:ln>
        </p:spPr>
        <p:txBody>
          <a:bodyPr/>
          <a:lstStyle/>
          <a:p>
            <a:endParaRPr lang="en-GB"/>
          </a:p>
        </p:txBody>
      </p:sp>
      <p:sp>
        <p:nvSpPr>
          <p:cNvPr id="16" name="Name"/>
          <p:cNvSpPr>
            <a:spLocks noGrp="1"/>
          </p:cNvSpPr>
          <p:nvPr>
            <p:ph type="body" idx="1"/>
          </p:nvPr>
        </p:nvSpPr>
        <p:spPr>
          <a:xfrm>
            <a:off x="914400" y="2620000"/>
            <a:ext cx="5400000" cy="460000"/>
          </a:xfrm>
          <a:prstGeom prst="rect">
            <a:avLst/>
          </a:prstGeom>
        </p:spPr>
        <p:txBody>
          <a:bodyPr lIns="0" tIns="0" rIns="0" bIns="0" anchor="t">
            <a:normAutofit/>
          </a:bodyPr>
          <a:lstStyle>
            <a:lvl1pPr marL="0" indent="0" algn="l">
              <a:defRPr sz="2000" b="1" i="0">
                <a:solidFill>
                  <a:srgbClr val="FFFFFF"/>
                </a:solidFill>
                <a:latin typeface="+mj-lt"/>
              </a:defRPr>
            </a:lvl1pPr>
          </a:lstStyle>
          <a:p>
            <a:endParaRPr lang="en-GB"/>
          </a:p>
        </p:txBody>
      </p:sp>
      <p:sp>
        <p:nvSpPr>
          <p:cNvPr id="17" name="Role / Title"/>
          <p:cNvSpPr>
            <a:spLocks noGrp="1"/>
          </p:cNvSpPr>
          <p:nvPr>
            <p:ph type="body" idx="11"/>
          </p:nvPr>
        </p:nvSpPr>
        <p:spPr>
          <a:xfrm>
            <a:off x="914400" y="3090000"/>
            <a:ext cx="5400000" cy="380000"/>
          </a:xfrm>
          <a:prstGeom prst="rect">
            <a:avLst/>
          </a:prstGeom>
        </p:spPr>
        <p:txBody>
          <a:bodyPr lIns="0" tIns="0" rIns="0" bIns="0" anchor="t">
            <a:normAutofit/>
          </a:bodyPr>
          <a:lstStyle>
            <a:lvl1pPr marL="0" indent="0" algn="l">
              <a:defRPr sz="1600" b="1" i="0">
                <a:solidFill>
                  <a:srgbClr val="F7941E"/>
                </a:solidFill>
                <a:latin typeface="+mn-lt"/>
              </a:defRPr>
            </a:lvl1pPr>
          </a:lstStyle>
          <a:p>
            <a:endParaRPr lang="en-GB"/>
          </a:p>
        </p:txBody>
      </p:sp>
      <p:sp>
        <p:nvSpPr>
          <p:cNvPr id="18" name="Contact details"/>
          <p:cNvSpPr>
            <a:spLocks noGrp="1"/>
          </p:cNvSpPr>
          <p:nvPr>
            <p:ph type="body" idx="2"/>
          </p:nvPr>
        </p:nvSpPr>
        <p:spPr>
          <a:xfrm>
            <a:off x="914400" y="3620000"/>
            <a:ext cx="5400000" cy="1500000"/>
          </a:xfrm>
          <a:prstGeom prst="rect">
            <a:avLst/>
          </a:prstGeom>
        </p:spPr>
        <p:txBody>
          <a:bodyPr lIns="0" tIns="0" rIns="0" bIns="0" anchor="t">
            <a:normAutofit/>
          </a:bodyPr>
          <a:lstStyle>
            <a:lvl1pPr marL="0" indent="0" algn="l">
              <a:lnSpc>
                <a:spcPct val="132000"/>
              </a:lnSpc>
              <a:defRPr sz="1500" b="0" i="0">
                <a:solidFill>
                  <a:srgbClr val="E2E8F0"/>
                </a:solidFill>
                <a:latin typeface="+mn-lt"/>
              </a:defRPr>
            </a:lvl1pPr>
          </a:lstStyle>
          <a:p>
            <a:endParaRPr lang="en-GB"/>
          </a:p>
        </p:txBody>
      </p:sp>
      <p:sp>
        <p:nvSpPr>
          <p:cNvPr id="19" name="Second-Column Heading"/>
          <p:cNvSpPr>
            <a:spLocks noGrp="1"/>
          </p:cNvSpPr>
          <p:nvPr>
            <p:ph type="body" idx="3"/>
          </p:nvPr>
        </p:nvSpPr>
        <p:spPr>
          <a:xfrm>
            <a:off x="6858000" y="3090000"/>
            <a:ext cx="4700000" cy="380000"/>
          </a:xfrm>
          <a:prstGeom prst="rect">
            <a:avLst/>
          </a:prstGeom>
        </p:spPr>
        <p:txBody>
          <a:bodyPr lIns="0" tIns="0" rIns="0" bIns="0" anchor="t">
            <a:normAutofit/>
          </a:bodyPr>
          <a:lstStyle>
            <a:lvl1pPr marL="0" indent="0" algn="l">
              <a:defRPr sz="1400" b="1" i="0" spc="200">
                <a:solidFill>
                  <a:srgbClr val="F7941E"/>
                </a:solidFill>
                <a:latin typeface="+mn-lt"/>
              </a:defRPr>
            </a:lvl1pPr>
          </a:lstStyle>
          <a:p>
            <a:endParaRPr lang="en-GB"/>
          </a:p>
        </p:txBody>
      </p:sp>
      <p:sp>
        <p:nvSpPr>
          <p:cNvPr id="20" name="Second-Column Content"/>
          <p:cNvSpPr>
            <a:spLocks noGrp="1"/>
          </p:cNvSpPr>
          <p:nvPr>
            <p:ph type="body" idx="4"/>
          </p:nvPr>
        </p:nvSpPr>
        <p:spPr>
          <a:xfrm>
            <a:off x="6858000" y="3560000"/>
            <a:ext cx="4700000" cy="1560000"/>
          </a:xfrm>
          <a:prstGeom prst="rect">
            <a:avLst/>
          </a:prstGeom>
        </p:spPr>
        <p:txBody>
          <a:bodyPr lIns="0" tIns="0" rIns="0" bIns="0" anchor="t">
            <a:normAutofit/>
          </a:bodyPr>
          <a:lstStyle>
            <a:lvl1pPr marL="0" indent="0" algn="l">
              <a:lnSpc>
                <a:spcPct val="130000"/>
              </a:lnSpc>
              <a:defRPr sz="1400" b="0" i="0">
                <a:solidFill>
                  <a:srgbClr val="E2E8F0"/>
                </a:solidFill>
                <a:latin typeface="+mn-lt"/>
              </a:defRPr>
            </a:lvl1pPr>
          </a:lstStyle>
          <a:p>
            <a:endParaRPr lang="en-GB"/>
          </a:p>
        </p:txBody>
      </p:sp>
      <p:sp>
        <p:nvSpPr>
          <p:cNvPr id="21"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FFFFFF"/>
                </a:solidFill>
              </a:rPr>
              <a:t>Spark</a:t>
            </a:r>
          </a:p>
        </p:txBody>
      </p:sp>
      <p:sp>
        <p:nvSpPr>
          <p:cNvPr id="22"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11"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2"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2}" type="slidenum">
              <a:rPr lang="en-GB" sz="1100">
                <a:solidFill>
                  <a:srgbClr val="64748B"/>
                </a:solidFill>
              </a:rPr>
              <a:t>‹#›</a:t>
            </a:fld>
            <a:endParaRPr lang="en-GB" sz="1100">
              <a:solidFill>
                <a:srgbClr val="64748B"/>
              </a:solidFill>
            </a:endParaRPr>
          </a:p>
        </p:txBody>
      </p:sp>
      <p:sp>
        <p:nvSpPr>
          <p:cNvPr id="13"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609480" y="350000"/>
            <a:ext cx="10973040" cy="820000"/>
          </a:xfrm>
          <a:prstGeom prst="rect">
            <a:avLst/>
          </a:prstGeom>
        </p:spPr>
        <p:txBody>
          <a:bodyPr lIns="0" tIns="0" rIns="0" bIns="0" anchor="ctr">
            <a:noAutofit/>
          </a:bodyPr>
          <a:lstStyle/>
          <a:p>
            <a:r>
              <a:rPr lang="en-GB"/>
              <a:t>Click to edit Master title</a:t>
            </a:r>
          </a:p>
        </p:txBody>
      </p:sp>
      <p:sp>
        <p:nvSpPr>
          <p:cNvPr id="3" name="Body Placeholder"/>
          <p:cNvSpPr>
            <a:spLocks noGrp="1"/>
          </p:cNvSpPr>
          <p:nvPr>
            <p:ph type="body" idx="1"/>
          </p:nvPr>
        </p:nvSpPr>
        <p:spPr>
          <a:xfrm>
            <a:off x="609480" y="1500000"/>
            <a:ext cx="10973040" cy="4700000"/>
          </a:xfrm>
          <a:prstGeom prst="rect">
            <a:avLst/>
          </a:prstGeom>
        </p:spPr>
        <p:txBody>
          <a:bodyPr lIns="0" tIns="0" rIns="0" bIns="0">
            <a:normAutofit/>
          </a:bodyPr>
          <a:lstStyle/>
          <a:p>
            <a:pPr lvl="0"/>
            <a:r>
              <a:rPr lang="en-GB"/>
              <a:t>Master text styles</a:t>
            </a:r>
          </a:p>
        </p:txBody>
      </p:sp>
      <p:sp>
        <p:nvSpPr>
          <p:cNvPr id="904"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905"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905}" type="slidenum">
              <a:rPr lang="en-GB" sz="1100">
                <a:solidFill>
                  <a:srgbClr val="64748B"/>
                </a:solidFill>
              </a:rPr>
              <a:t>‹#›</a:t>
            </a:fld>
            <a:endParaRPr lang="en-GB" sz="1100">
              <a:solidFill>
                <a:srgbClr val="64748B"/>
              </a:solidFill>
            </a:endParaRPr>
          </a:p>
        </p:txBody>
      </p:sp>
      <p:sp>
        <p:nvSpPr>
          <p:cNvPr id="901"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a:lnSpc>
          <a:spcPct val="100000"/>
        </a:lnSpc>
        <a:defRPr sz="3600" b="1">
          <a:solidFill>
            <a:srgbClr val="0F172A"/>
          </a:solidFill>
          <a:latin typeface="+mj-lt"/>
        </a:defRPr>
      </a:lvl1pPr>
    </p:titleStyle>
    <p:bodyStyle>
      <a:lvl1pPr marL="0" indent="0">
        <a:lnSpc>
          <a:spcPct val="118000"/>
        </a:lnSpc>
        <a:spcBef>
          <a:spcPts val="600"/>
        </a:spcBef>
        <a:buNone/>
        <a:defRPr sz="1600">
          <a:solidFill>
            <a:srgbClr val="475569"/>
          </a:solidFill>
          <a:latin typeface="+mn-lt"/>
        </a:defRPr>
      </a:lvl1pPr>
      <a:lvl2pPr marL="274320" indent="-274320">
        <a:lnSpc>
          <a:spcPct val="118000"/>
        </a:lnSpc>
        <a:spcBef>
          <a:spcPts val="500"/>
        </a:spcBef>
        <a:buClr>
          <a:srgbClr val="F7941E"/>
        </a:buClr>
        <a:buFont typeface="Arial"/>
        <a:buChar char="•"/>
        <a:defRPr sz="1500">
          <a:solidFill>
            <a:srgbClr val="475569"/>
          </a:solidFill>
          <a:latin typeface="+mn-lt"/>
        </a:defRPr>
      </a:lvl2pPr>
      <a:lvl3pPr marL="548640" indent="-274320">
        <a:spcBef>
          <a:spcPts val="300"/>
        </a:spcBef>
        <a:buClr>
          <a:srgbClr val="94A3B8"/>
        </a:buClr>
        <a:buFont typeface="Arial"/>
        <a:buChar char="–"/>
        <a:defRPr sz="1400">
          <a:solidFill>
            <a:srgbClr val="475569"/>
          </a:solidFill>
        </a:defRPr>
      </a:lvl3pPr>
    </p:bodyStyle>
    <p:otherStyle>
      <a:defPPr>
        <a:defRPr lang="en-GB"/>
      </a:def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r>
              <a:rPr sz="4430"/>
              <a:t>The FeedSpark Command Center</a:t>
            </a:r>
          </a:p>
        </p:txBody>
      </p:sp>
      <p:sp>
        <p:nvSpPr>
          <p:cNvPr id="3" name="Subtitle 2"/>
          <p:cNvSpPr>
            <a:spLocks noGrp="1"/>
          </p:cNvSpPr>
          <p:nvPr>
            <p:ph type="subTitle" idx="1"/>
          </p:nvPr>
        </p:nvSpPr>
        <p:spPr/>
        <p:txBody>
          <a:bodyPr wrap="square"/>
          <a:lstStyle/>
          <a:p>
            <a:r>
              <a:t>One hub for every account, feed, brief and hour.</a:t>
            </a:r>
          </a:p>
        </p:txBody>
      </p:sp>
      <p:sp>
        <p:nvSpPr>
          <p:cNvPr id="4" name="Text Placeholder 3"/>
          <p:cNvSpPr>
            <a:spLocks noGrp="1"/>
          </p:cNvSpPr>
          <p:nvPr>
            <p:ph type="body" idx="11"/>
          </p:nvPr>
        </p:nvSpPr>
        <p:spPr/>
        <p:txBody>
          <a:bodyPr wrap="square"/>
          <a:lstStyle/>
          <a:p>
            <a:r>
              <a:rPr sz="1150"/>
              <a:t>Prepared by Ray Vũ · Senior Account Manager  ·  For FeedSpark leadership  ·  Ask Reimburse the build · roll out to the London AM 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Five questions, one decision</a:t>
            </a:r>
          </a:p>
        </p:txBody>
      </p:sp>
      <p:sp>
        <p:nvSpPr>
          <p:cNvPr id="3" name="Text Placeholder 2"/>
          <p:cNvSpPr>
            <a:spLocks noGrp="1"/>
          </p:cNvSpPr>
          <p:nvPr>
            <p:ph type="body" idx="11"/>
          </p:nvPr>
        </p:nvSpPr>
        <p:spPr/>
        <p:txBody>
          <a:bodyPr wrap="square"/>
          <a:lstStyle/>
          <a:p>
            <a:r>
              <a:t>The struggle, the solution, the value in hours and pounds, what it does for the team, and where it goes next.</a:t>
            </a:r>
          </a:p>
        </p:txBody>
      </p:sp>
      <p:sp>
        <p:nvSpPr>
          <p:cNvPr id="4" name="Text Placeholder 3"/>
          <p:cNvSpPr>
            <a:spLocks noGrp="1"/>
          </p:cNvSpPr>
          <p:nvPr>
            <p:ph type="body" idx="1"/>
          </p:nvPr>
        </p:nvSpPr>
        <p:spPr/>
        <p:txBody>
          <a:bodyPr wrap="square"/>
          <a:lstStyle/>
          <a:p>
            <a:r>
              <a:t>01  The struggle before — 52 markets · 62 feeds · 13 project plans · one inbox — and no single view</a:t>
            </a:r>
          </a:p>
          <a:p>
            <a:r>
              <a:t>02  The solution — 20 modules on the tools the team already uses · built in six weeks · £0 infrastructure</a:t>
            </a:r>
          </a:p>
          <a:p>
            <a:r>
              <a:t>03  The benefit — Hours wasted without it, hours saved with it · the risks it removes · what it cost</a:t>
            </a:r>
          </a:p>
        </p:txBody>
      </p:sp>
      <p:sp>
        <p:nvSpPr>
          <p:cNvPr id="5" name="Text Placeholder 4"/>
          <p:cNvSpPr>
            <a:spLocks noGrp="1"/>
          </p:cNvSpPr>
          <p:nvPr>
            <p:ph type="body" idx="2"/>
          </p:nvPr>
        </p:nvSpPr>
        <p:spPr/>
        <p:txBody>
          <a:bodyPr wrap="square"/>
          <a:lstStyle/>
          <a:p>
            <a:r>
              <a:t>04  What it does for the team — Why the process gets faster · a new AM productive in a fortnight · what a team lead gets</a:t>
            </a:r>
          </a:p>
          <a:p>
            <a:r>
              <a:t>05  Going forward — A 90-day rollout · the vision for feedback, AM management and the business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one</a:t>
            </a:r>
          </a:p>
        </p:txBody>
      </p:sp>
      <p:sp>
        <p:nvSpPr>
          <p:cNvPr id="3" name="Title 2"/>
          <p:cNvSpPr>
            <a:spLocks noGrp="1"/>
          </p:cNvSpPr>
          <p:nvPr>
            <p:ph type="title"/>
          </p:nvPr>
        </p:nvSpPr>
        <p:spPr/>
        <p:txBody>
          <a:bodyPr wrap="square"/>
          <a:lstStyle/>
          <a:p>
            <a:r>
              <a:t>The struggle before</a:t>
            </a:r>
          </a:p>
        </p:txBody>
      </p:sp>
      <p:sp>
        <p:nvSpPr>
          <p:cNvPr id="4" name="Text Placeholder 3"/>
          <p:cNvSpPr>
            <a:spLocks noGrp="1"/>
          </p:cNvSpPr>
          <p:nvPr>
            <p:ph type="body" idx="1"/>
          </p:nvPr>
        </p:nvSpPr>
        <p:spPr/>
        <p:txBody>
          <a:bodyPr wrap="square"/>
          <a:lstStyle/>
          <a:p>
            <a:r>
              <a:t>An account manager's week was spent looking for information, not acting on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What one London AM is actually holding</a:t>
            </a:r>
          </a:p>
        </p:txBody>
      </p:sp>
      <p:sp>
        <p:nvSpPr>
          <p:cNvPr id="3" name="Text Placeholder 2"/>
          <p:cNvSpPr>
            <a:spLocks noGrp="1"/>
          </p:cNvSpPr>
          <p:nvPr>
            <p:ph type="body" idx="11"/>
          </p:nvPr>
        </p:nvSpPr>
        <p:spPr/>
        <p:txBody>
          <a:bodyPr wrap="square"/>
          <a:lstStyle/>
          <a:p>
            <a:r>
              <a:t>The live book, 22 Sep 2026: nine clients, 52 markets, 62 feeds, 13 plans — each in a different tool.</a:t>
            </a:r>
          </a:p>
        </p:txBody>
      </p:sp>
      <p:sp>
        <p:nvSpPr>
          <p:cNvPr id="4" name="Text Placeholder 3"/>
          <p:cNvSpPr>
            <a:spLocks noGrp="1"/>
          </p:cNvSpPr>
          <p:nvPr>
            <p:ph type="body" idx="1"/>
          </p:nvPr>
        </p:nvSpPr>
        <p:spPr/>
        <p:txBody>
          <a:bodyPr wrap="square"/>
          <a:lstStyle/>
          <a:p>
            <a:r>
              <a:t>52</a:t>
            </a:r>
          </a:p>
        </p:txBody>
      </p:sp>
      <p:sp>
        <p:nvSpPr>
          <p:cNvPr id="5" name="Text Placeholder 4"/>
          <p:cNvSpPr>
            <a:spLocks noGrp="1"/>
          </p:cNvSpPr>
          <p:nvPr>
            <p:ph type="body" idx="2"/>
          </p:nvPr>
        </p:nvSpPr>
        <p:spPr/>
        <p:txBody>
          <a:bodyPr wrap="square"/>
          <a:lstStyle/>
          <a:p>
            <a:r>
              <a:t>Live markets across 9 clients</a:t>
            </a:r>
          </a:p>
        </p:txBody>
      </p:sp>
      <p:sp>
        <p:nvSpPr>
          <p:cNvPr id="6" name="Text Placeholder 5"/>
          <p:cNvSpPr>
            <a:spLocks noGrp="1"/>
          </p:cNvSpPr>
          <p:nvPr>
            <p:ph type="body" idx="3"/>
          </p:nvPr>
        </p:nvSpPr>
        <p:spPr/>
        <p:txBody>
          <a:bodyPr wrap="square"/>
          <a:lstStyle/>
          <a:p>
            <a:r>
              <a:t>62</a:t>
            </a:r>
          </a:p>
        </p:txBody>
      </p:sp>
      <p:sp>
        <p:nvSpPr>
          <p:cNvPr id="7" name="Text Placeholder 6"/>
          <p:cNvSpPr>
            <a:spLocks noGrp="1"/>
          </p:cNvSpPr>
          <p:nvPr>
            <p:ph type="body" idx="4"/>
          </p:nvPr>
        </p:nvSpPr>
        <p:spPr/>
        <p:txBody>
          <a:bodyPr wrap="square"/>
          <a:lstStyle/>
          <a:p>
            <a:r>
              <a:t>Product feeds monitored (46 Google · 16 Meta)</a:t>
            </a:r>
          </a:p>
        </p:txBody>
      </p:sp>
      <p:sp>
        <p:nvSpPr>
          <p:cNvPr id="8" name="Text Placeholder 7"/>
          <p:cNvSpPr>
            <a:spLocks noGrp="1"/>
          </p:cNvSpPr>
          <p:nvPr>
            <p:ph type="body" idx="5"/>
          </p:nvPr>
        </p:nvSpPr>
        <p:spPr/>
        <p:txBody>
          <a:bodyPr wrap="square"/>
          <a:lstStyle/>
          <a:p>
            <a:r>
              <a:t>1,958</a:t>
            </a:r>
          </a:p>
        </p:txBody>
      </p:sp>
      <p:sp>
        <p:nvSpPr>
          <p:cNvPr id="9" name="Text Placeholder 8"/>
          <p:cNvSpPr>
            <a:spLocks noGrp="1"/>
          </p:cNvSpPr>
          <p:nvPr>
            <p:ph type="body" idx="6"/>
          </p:nvPr>
        </p:nvSpPr>
        <p:spPr/>
        <p:txBody>
          <a:bodyPr wrap="square"/>
          <a:lstStyle/>
          <a:p>
            <a:r>
              <a:t>Tasks tracked across the project plans</a:t>
            </a:r>
          </a:p>
        </p:txBody>
      </p:sp>
      <p:sp>
        <p:nvSpPr>
          <p:cNvPr id="10" name="Text Placeholder 9"/>
          <p:cNvSpPr>
            <a:spLocks noGrp="1"/>
          </p:cNvSpPr>
          <p:nvPr>
            <p:ph type="body" idx="14"/>
          </p:nvPr>
        </p:nvSpPr>
        <p:spPr/>
        <p:txBody>
          <a:bodyPr wrap="square"/>
          <a:lstStyle/>
          <a:p>
            <a:r>
              <a:t>Every one of these numbers lived in a different tool, and the AM was the integration layer.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Eight jobs, eight tools, no shared view</a:t>
            </a:r>
          </a:p>
        </p:txBody>
      </p:sp>
      <p:sp>
        <p:nvSpPr>
          <p:cNvPr id="3" name="Text Placeholder 2"/>
          <p:cNvSpPr>
            <a:spLocks noGrp="1"/>
          </p:cNvSpPr>
          <p:nvPr>
            <p:ph type="body" idx="11"/>
          </p:nvPr>
        </p:nvSpPr>
        <p:spPr/>
        <p:txBody>
          <a:bodyPr wrap="square"/>
          <a:lstStyle/>
          <a:p>
            <a:r>
              <a:t>Where each job lived, and what went wrong when nothing joined them up.</a:t>
            </a:r>
          </a:p>
        </p:txBody>
      </p:sp>
      <p:sp>
        <p:nvSpPr>
          <p:cNvPr id="4" name="Text Placeholder 3"/>
          <p:cNvSpPr>
            <a:spLocks noGrp="1"/>
          </p:cNvSpPr>
          <p:nvPr>
            <p:ph type="body" idx="14"/>
          </p:nvPr>
        </p:nvSpPr>
        <p:spPr/>
        <p:txBody>
          <a:bodyPr wrap="square"/>
          <a:lstStyle/>
          <a:p>
            <a:r>
              <a:t>The AM was the integration layer, and the integration layer had 52 markets to cover.</a:t>
            </a:r>
          </a:p>
        </p:txBody>
      </p:sp>
      <p:graphicFrame>
        <p:nvGraphicFramePr>
          <p:cNvPr id="5" name="Table 4"/>
          <p:cNvGraphicFramePr>
            <a:graphicFrameLocks noGrp="1"/>
          </p:cNvGraphicFramePr>
          <p:nvPr/>
        </p:nvGraphicFramePr>
        <p:xfrm>
          <a:off x="612648" y="1847088"/>
          <a:ext cx="10972799" cy="3794760"/>
        </p:xfrm>
        <a:graphic>
          <a:graphicData uri="http://schemas.openxmlformats.org/drawingml/2006/table">
            <a:tbl>
              <a:tblPr firstRow="1" bandRow="1">
                <a:tableStyleId>{5C22544A-7EE6-4342-B048-85BDC9FD1C3A}</a:tableStyleId>
              </a:tblPr>
              <a:tblGrid>
                <a:gridCol w="1537589"/>
                <a:gridCol w="3145070"/>
                <a:gridCol w="6290140"/>
              </a:tblGrid>
              <a:tr h="384048">
                <a:tc>
                  <a:txBody>
                    <a:bodyPr/>
                    <a:lstStyle/>
                    <a:p>
                      <a:r>
                        <a:rPr sz="1300" b="1">
                          <a:solidFill>
                            <a:srgbClr val="FFFFFF"/>
                          </a:solidFill>
                        </a:rPr>
                        <a:t>The job</a:t>
                      </a:r>
                    </a:p>
                  </a:txBody>
                  <a:tcPr/>
                </a:tc>
                <a:tc>
                  <a:txBody>
                    <a:bodyPr/>
                    <a:lstStyle/>
                    <a:p>
                      <a:r>
                        <a:rPr sz="1300" b="1">
                          <a:solidFill>
                            <a:srgbClr val="FFFFFF"/>
                          </a:solidFill>
                        </a:rPr>
                        <a:t>Where it lived</a:t>
                      </a:r>
                    </a:p>
                  </a:txBody>
                  <a:tcPr/>
                </a:tc>
                <a:tc>
                  <a:txBody>
                    <a:bodyPr/>
                    <a:lstStyle/>
                    <a:p>
                      <a:r>
                        <a:rPr sz="1300" b="1">
                          <a:solidFill>
                            <a:srgbClr val="FFFFFF"/>
                          </a:solidFill>
                        </a:rPr>
                        <a:t>What went wrong</a:t>
                      </a:r>
                    </a:p>
                  </a:txBody>
                  <a:tcPr/>
                </a:tc>
              </a:tr>
              <a:tr h="426339">
                <a:tc>
                  <a:txBody>
                    <a:bodyPr/>
                    <a:lstStyle/>
                    <a:p>
                      <a:r>
                        <a:rPr sz="1100"/>
                        <a:t>Feed health</a:t>
                      </a:r>
                    </a:p>
                  </a:txBody>
                  <a:tcPr/>
                </a:tc>
                <a:tc>
                  <a:txBody>
                    <a:bodyPr/>
                    <a:lstStyle/>
                    <a:p>
                      <a:r>
                        <a:rPr sz="1100"/>
                        <a:t>FeedHero, Merchant Center, one feed at a time</a:t>
                      </a:r>
                    </a:p>
                  </a:txBody>
                  <a:tcPr/>
                </a:tc>
                <a:tc>
                  <a:txBody>
                    <a:bodyPr/>
                    <a:lstStyle/>
                    <a:p>
                      <a:r>
                        <a:rPr sz="1100"/>
                        <a:t>A custom label or product type could vanish and break PMAX listing groups; nobody knew until performance dropped</a:t>
                      </a:r>
                    </a:p>
                  </a:txBody>
                  <a:tcPr/>
                </a:tc>
              </a:tr>
              <a:tr h="426339">
                <a:tc>
                  <a:txBody>
                    <a:bodyPr/>
                    <a:lstStyle/>
                    <a:p>
                      <a:r>
                        <a:rPr sz="1100"/>
                        <a:t>Tasks</a:t>
                      </a:r>
                    </a:p>
                  </a:txBody>
                  <a:tcPr/>
                </a:tc>
                <a:tc>
                  <a:txBody>
                    <a:bodyPr/>
                    <a:lstStyle/>
                    <a:p>
                      <a:r>
                        <a:rPr sz="1100"/>
                        <a:t>13 Google Sheets plans, the inbox, call notes</a:t>
                      </a:r>
                    </a:p>
                  </a:txBody>
                  <a:tcPr/>
                </a:tc>
                <a:tc>
                  <a:txBody>
                    <a:bodyPr/>
                    <a:lstStyle/>
                    <a:p>
                      <a:r>
                        <a:rPr sz="1100"/>
                        <a:t>Every client email and every call action was copied into a sheet by hand, or lost</a:t>
                      </a:r>
                    </a:p>
                  </a:txBody>
                  <a:tcPr/>
                </a:tc>
              </a:tr>
              <a:tr h="426339">
                <a:tc>
                  <a:txBody>
                    <a:bodyPr/>
                    <a:lstStyle/>
                    <a:p>
                      <a:r>
                        <a:rPr sz="1100"/>
                        <a:t>Briefs to ASPL</a:t>
                      </a:r>
                    </a:p>
                  </a:txBody>
                  <a:tcPr/>
                </a:tc>
                <a:tc>
                  <a:txBody>
                    <a:bodyPr/>
                    <a:lstStyle/>
                    <a:p>
                      <a:r>
                        <a:rPr sz="1100"/>
                        <a:t>Email threads</a:t>
                      </a:r>
                    </a:p>
                  </a:txBody>
                  <a:tcPr/>
                </a:tc>
                <a:tc>
                  <a:txBody>
                    <a:bodyPr/>
                    <a:lstStyle/>
                    <a:p>
                      <a:r>
                        <a:rPr sz="1100"/>
                        <a:t>Written, coded and chased by hand; a save that failed left the only record on one laptop</a:t>
                      </a:r>
                    </a:p>
                  </a:txBody>
                  <a:tcPr/>
                </a:tc>
              </a:tr>
              <a:tr h="426339">
                <a:tc>
                  <a:txBody>
                    <a:bodyPr/>
                    <a:lstStyle/>
                    <a:p>
                      <a:r>
                        <a:rPr sz="1100"/>
                        <a:t>Retainer hours</a:t>
                      </a:r>
                    </a:p>
                  </a:txBody>
                  <a:tcPr/>
                </a:tc>
                <a:tc>
                  <a:txBody>
                    <a:bodyPr/>
                    <a:lstStyle/>
                    <a:p>
                      <a:r>
                        <a:rPr sz="1100"/>
                        <a:t>The Task Manager, per client login</a:t>
                      </a:r>
                    </a:p>
                  </a:txBody>
                  <a:tcPr/>
                </a:tc>
                <a:tc>
                  <a:txBody>
                    <a:bodyPr/>
                    <a:lstStyle/>
                    <a:p>
                      <a:r>
                        <a:rPr sz="1100"/>
                        <a:t>The balance was never in front of the AM at the moment of saying yes to the next task</a:t>
                      </a:r>
                    </a:p>
                  </a:txBody>
                  <a:tcPr/>
                </a:tc>
              </a:tr>
              <a:tr h="426339">
                <a:tc>
                  <a:txBody>
                    <a:bodyPr/>
                    <a:lstStyle/>
                    <a:p>
                      <a:r>
                        <a:rPr sz="1100"/>
                        <a:t>Scheduled optimisation</a:t>
                      </a:r>
                    </a:p>
                  </a:txBody>
                  <a:tcPr/>
                </a:tc>
                <a:tc>
                  <a:txBody>
                    <a:bodyPr/>
                    <a:lstStyle/>
                    <a:p>
                      <a:r>
                        <a:rPr sz="1100"/>
                        <a:t>The content team's weekly sheet</a:t>
                      </a:r>
                    </a:p>
                  </a:txBody>
                  <a:tcPr/>
                </a:tc>
                <a:tc>
                  <a:txBody>
                    <a:bodyPr/>
                    <a:lstStyle/>
                    <a:p>
                      <a:r>
                        <a:rPr sz="1100"/>
                        <a:t>Go or skip decided week by week, with nobody tracking how many months a task had been skipped</a:t>
                      </a:r>
                    </a:p>
                  </a:txBody>
                  <a:tcPr/>
                </a:tc>
              </a:tr>
              <a:tr h="426339">
                <a:tc>
                  <a:txBody>
                    <a:bodyPr/>
                    <a:lstStyle/>
                    <a:p>
                      <a:r>
                        <a:rPr sz="1100"/>
                        <a:t>Client reporting</a:t>
                      </a:r>
                    </a:p>
                  </a:txBody>
                  <a:tcPr/>
                </a:tc>
                <a:tc>
                  <a:txBody>
                    <a:bodyPr/>
                    <a:lstStyle/>
                    <a:p>
                      <a:r>
                        <a:rPr sz="1100"/>
                        <a:t>PowerPoint, built from scratch</a:t>
                      </a:r>
                    </a:p>
                  </a:txBody>
                  <a:tcPr/>
                </a:tc>
                <a:tc>
                  <a:txBody>
                    <a:bodyPr/>
                    <a:lstStyle/>
                    <a:p>
                      <a:r>
                        <a:rPr sz="1100"/>
                        <a:t>Two days per strategy review, and every scorecard number typed in by hand</a:t>
                      </a:r>
                    </a:p>
                  </a:txBody>
                  <a:tcPr/>
                </a:tc>
              </a:tr>
              <a:tr h="426339">
                <a:tc>
                  <a:txBody>
                    <a:bodyPr/>
                    <a:lstStyle/>
                    <a:p>
                      <a:r>
                        <a:rPr sz="1100"/>
                        <a:t>Quotes</a:t>
                      </a:r>
                    </a:p>
                  </a:txBody>
                  <a:tcPr/>
                </a:tc>
                <a:tc>
                  <a:txBody>
                    <a:bodyPr/>
                    <a:lstStyle/>
                    <a:p>
                      <a:r>
                        <a:rPr sz="1100"/>
                        <a:t>Spreadsheets, one per quote</a:t>
                      </a:r>
                    </a:p>
                  </a:txBody>
                  <a:tcPr/>
                </a:tc>
                <a:tc>
                  <a:txBody>
                    <a:bodyPr/>
                    <a:lstStyle/>
                    <a:p>
                      <a:r>
                        <a:rPr sz="1100"/>
                        <a:t>Set-up and monthly costs mixed, VAT inconsistent, no record of what was sent</a:t>
                      </a:r>
                    </a:p>
                  </a:txBody>
                  <a:tcPr/>
                </a:tc>
              </a:tr>
              <a:tr h="426339">
                <a:tc>
                  <a:txBody>
                    <a:bodyPr/>
                    <a:lstStyle/>
                    <a:p>
                      <a:r>
                        <a:rPr sz="1100"/>
                        <a:t>The Monday call</a:t>
                      </a:r>
                    </a:p>
                  </a:txBody>
                  <a:tcPr/>
                </a:tc>
                <a:tc>
                  <a:txBody>
                    <a:bodyPr/>
                    <a:lstStyle/>
                    <a:p>
                      <a:r>
                        <a:rPr sz="1100"/>
                        <a:t>Memory and last week's sheet</a:t>
                      </a:r>
                    </a:p>
                  </a:txBody>
                  <a:tcPr/>
                </a:tc>
                <a:tc>
                  <a:txBody>
                    <a:bodyPr/>
                    <a:lstStyle/>
                    <a:p>
                      <a:r>
                        <a:rPr sz="1100"/>
                        <a:t>Book health assembled by hand every week, differently each time</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Three things nobody could see</a:t>
            </a:r>
          </a:p>
        </p:txBody>
      </p:sp>
      <p:sp>
        <p:nvSpPr>
          <p:cNvPr id="3" name="Text Placeholder 2"/>
          <p:cNvSpPr>
            <a:spLocks noGrp="1"/>
          </p:cNvSpPr>
          <p:nvPr>
            <p:ph type="body" idx="13"/>
          </p:nvPr>
        </p:nvSpPr>
        <p:spPr/>
        <p:txBody>
          <a:bodyPr wrap="square"/>
          <a:lstStyle/>
          <a:p>
            <a:r>
              <a:t>Not hypotheticals — each was read off the team’s own systems in the first weeks of the FCC being live.</a:t>
            </a:r>
          </a:p>
        </p:txBody>
      </p:sp>
      <p:sp>
        <p:nvSpPr>
          <p:cNvPr id="4" name="Text Placeholder 3"/>
          <p:cNvSpPr>
            <a:spLocks noGrp="1"/>
          </p:cNvSpPr>
          <p:nvPr>
            <p:ph type="body" idx="1"/>
          </p:nvPr>
        </p:nvSpPr>
        <p:spPr/>
        <p:txBody>
          <a:bodyPr wrap="square"/>
          <a:lstStyle/>
          <a:p>
            <a:r>
              <a:t>378 hours in the red</a:t>
            </a:r>
          </a:p>
        </p:txBody>
      </p:sp>
      <p:sp>
        <p:nvSpPr>
          <p:cNvPr id="5" name="Text Placeholder 4"/>
          <p:cNvSpPr>
            <a:spLocks noGrp="1"/>
          </p:cNvSpPr>
          <p:nvPr>
            <p:ph type="body" idx="2"/>
          </p:nvPr>
        </p:nvSpPr>
        <p:spPr/>
        <p:txBody>
          <a:bodyPr wrap="square"/>
          <a:lstStyle/>
          <a:p>
            <a:r>
              <a:t>Across 24 markets, carried forward month after month; ten of the 19 retainer markets are in the red. The AM saying yes to the next task could not see it — the Task Manager showed it one client login at a time.</a:t>
            </a:r>
          </a:p>
          <a:p>
            <a:r>
              <a:t>Task Manager, 22 Sep 2026</a:t>
            </a:r>
          </a:p>
        </p:txBody>
      </p:sp>
      <p:sp>
        <p:nvSpPr>
          <p:cNvPr id="6" name="Text Placeholder 5"/>
          <p:cNvSpPr>
            <a:spLocks noGrp="1"/>
          </p:cNvSpPr>
          <p:nvPr>
            <p:ph type="body" idx="3"/>
          </p:nvPr>
        </p:nvSpPr>
        <p:spPr/>
        <p:txBody>
          <a:bodyPr wrap="square"/>
          <a:lstStyle/>
          <a:p>
            <a:r>
              <a:t>60% of weeks skipped</a:t>
            </a:r>
          </a:p>
        </p:txBody>
      </p:sp>
      <p:sp>
        <p:nvSpPr>
          <p:cNvPr id="7" name="Text Placeholder 6"/>
          <p:cNvSpPr>
            <a:spLocks noGrp="1"/>
          </p:cNvSpPr>
          <p:nvPr>
            <p:ph type="body" idx="4"/>
          </p:nvPr>
        </p:nvSpPr>
        <p:spPr/>
        <p:txBody>
          <a:bodyPr wrap="square"/>
          <a:lstStyle/>
          <a:p>
            <a:r>
              <a:t>In twelve months, 838 of 1,398 scheduled weeks of title, keyword and product-type work were skipped — 2,750 hours of optimisation that never landed. 67 tasks sit on a skip streak of two months or more; the longest is 14.</a:t>
            </a:r>
          </a:p>
          <a:p>
            <a:r>
              <a:t>Content team schedule, 15 Sep 2026</a:t>
            </a:r>
          </a:p>
        </p:txBody>
      </p:sp>
      <p:sp>
        <p:nvSpPr>
          <p:cNvPr id="8" name="Text Placeholder 7"/>
          <p:cNvSpPr>
            <a:spLocks noGrp="1"/>
          </p:cNvSpPr>
          <p:nvPr>
            <p:ph type="body" idx="5"/>
          </p:nvPr>
        </p:nvSpPr>
        <p:spPr/>
        <p:txBody>
          <a:bodyPr wrap="square"/>
          <a:lstStyle/>
          <a:p>
            <a:r>
              <a:t>Briefed, but invisible</a:t>
            </a:r>
          </a:p>
        </p:txBody>
      </p:sp>
      <p:sp>
        <p:nvSpPr>
          <p:cNvPr id="9" name="Text Placeholder 8"/>
          <p:cNvSpPr>
            <a:spLocks noGrp="1"/>
          </p:cNvSpPr>
          <p:nvPr>
            <p:ph type="body" idx="6"/>
          </p:nvPr>
        </p:nvSpPr>
        <p:spPr/>
        <p:txBody>
          <a:bodyPr wrap="square"/>
          <a:lstStyle/>
          <a:p>
            <a:r>
              <a:t>Two Reiss keyword themes were briefed by a colleague and picked up by ASPL, yet the board read “not briefed” — the save had failed silently and the only record sat on one laptop. The work had started; the team could not see it.</a:t>
            </a:r>
          </a:p>
          <a:p>
            <a:r>
              <a:t>Workflow, 16 Sep 2026</a:t>
            </a:r>
          </a:p>
        </p:txBody>
      </p:sp>
      <p:sp>
        <p:nvSpPr>
          <p:cNvPr id="10" name="Text Placeholder 9"/>
          <p:cNvSpPr>
            <a:spLocks noGrp="1"/>
          </p:cNvSpPr>
          <p:nvPr>
            <p:ph type="body" idx="14"/>
          </p:nvPr>
        </p:nvSpPr>
        <p:spPr/>
        <p:txBody>
          <a:bodyPr wrap="square"/>
          <a:lstStyle/>
          <a:p>
            <a:r>
              <a:t>The cost was never a dramatic failure.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two</a:t>
            </a:r>
          </a:p>
        </p:txBody>
      </p:sp>
      <p:sp>
        <p:nvSpPr>
          <p:cNvPr id="3" name="Title 2"/>
          <p:cNvSpPr>
            <a:spLocks noGrp="1"/>
          </p:cNvSpPr>
          <p:nvPr>
            <p:ph type="title"/>
          </p:nvPr>
        </p:nvSpPr>
        <p:spPr/>
        <p:txBody>
          <a:bodyPr wrap="square"/>
          <a:lstStyle/>
          <a:p>
            <a:r>
              <a:t>The solution</a:t>
            </a:r>
          </a:p>
        </p:txBody>
      </p:sp>
      <p:sp>
        <p:nvSpPr>
          <p:cNvPr id="4" name="Text Placeholder 3"/>
          <p:cNvSpPr>
            <a:spLocks noGrp="1"/>
          </p:cNvSpPr>
          <p:nvPr>
            <p:ph type="body" idx="1"/>
          </p:nvPr>
        </p:nvSpPr>
        <p:spPr/>
        <p:txBody>
          <a:bodyPr wrap="square"/>
          <a:lstStyle/>
          <a:p>
            <a:r>
              <a:t>One command center on top of the tools the team already uses — nothing new to log into, nothing re-keyed.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Twenty modules, six weeks, £0 infrastructure</a:t>
            </a:r>
          </a:p>
        </p:txBody>
      </p:sp>
      <p:sp>
        <p:nvSpPr>
          <p:cNvPr id="3" name="Text Placeholder 2"/>
          <p:cNvSpPr>
            <a:spLocks noGrp="1"/>
          </p:cNvSpPr>
          <p:nvPr>
            <p:ph type="body" idx="11"/>
          </p:nvPr>
        </p:nvSpPr>
        <p:spPr/>
        <p:txBody>
          <a:bodyPr wrap="square"/>
          <a:lstStyle/>
          <a:p>
            <a:r>
              <a:t>Built 11 Aug – 22 Sep 2026 with Claude Code: 275 merged builds, 1,452 tripwires, SSO on every screen.</a:t>
            </a:r>
          </a:p>
        </p:txBody>
      </p:sp>
      <p:sp>
        <p:nvSpPr>
          <p:cNvPr id="4" name="Text Placeholder 3"/>
          <p:cNvSpPr>
            <a:spLocks noGrp="1"/>
          </p:cNvSpPr>
          <p:nvPr>
            <p:ph type="body" idx="1"/>
          </p:nvPr>
        </p:nvSpPr>
        <p:spPr/>
        <p:txBody>
          <a:bodyPr wrap="square"/>
          <a:lstStyle/>
          <a:p>
            <a:r>
              <a:t>6 wks</a:t>
            </a:r>
          </a:p>
        </p:txBody>
      </p:sp>
      <p:sp>
        <p:nvSpPr>
          <p:cNvPr id="5" name="Text Placeholder 4"/>
          <p:cNvSpPr>
            <a:spLocks noGrp="1"/>
          </p:cNvSpPr>
          <p:nvPr>
            <p:ph type="body" idx="2"/>
          </p:nvPr>
        </p:nvSpPr>
        <p:spPr/>
        <p:txBody>
          <a:bodyPr wrap="square"/>
          <a:lstStyle/>
          <a:p>
            <a:r>
              <a:t>From first commit to 20 live modules</a:t>
            </a:r>
          </a:p>
        </p:txBody>
      </p:sp>
      <p:sp>
        <p:nvSpPr>
          <p:cNvPr id="6" name="Text Placeholder 5"/>
          <p:cNvSpPr>
            <a:spLocks noGrp="1"/>
          </p:cNvSpPr>
          <p:nvPr>
            <p:ph type="body" idx="3"/>
          </p:nvPr>
        </p:nvSpPr>
        <p:spPr/>
        <p:txBody>
          <a:bodyPr wrap="square"/>
          <a:lstStyle/>
          <a:p>
            <a:r>
              <a:t>275</a:t>
            </a:r>
          </a:p>
        </p:txBody>
      </p:sp>
      <p:sp>
        <p:nvSpPr>
          <p:cNvPr id="7" name="Text Placeholder 6"/>
          <p:cNvSpPr>
            <a:spLocks noGrp="1"/>
          </p:cNvSpPr>
          <p:nvPr>
            <p:ph type="body" idx="4"/>
          </p:nvPr>
        </p:nvSpPr>
        <p:spPr/>
        <p:txBody>
          <a:bodyPr wrap="square"/>
          <a:lstStyle/>
          <a:p>
            <a:r>
              <a:t>Merged builds, each gated by automated checks</a:t>
            </a:r>
          </a:p>
        </p:txBody>
      </p:sp>
      <p:sp>
        <p:nvSpPr>
          <p:cNvPr id="8" name="Text Placeholder 7"/>
          <p:cNvSpPr>
            <a:spLocks noGrp="1"/>
          </p:cNvSpPr>
          <p:nvPr>
            <p:ph type="body" idx="5"/>
          </p:nvPr>
        </p:nvSpPr>
        <p:spPr/>
        <p:txBody>
          <a:bodyPr wrap="square"/>
          <a:lstStyle/>
          <a:p>
            <a:r>
              <a:t>£0</a:t>
            </a:r>
          </a:p>
        </p:txBody>
      </p:sp>
      <p:sp>
        <p:nvSpPr>
          <p:cNvPr id="9" name="Text Placeholder 8"/>
          <p:cNvSpPr>
            <a:spLocks noGrp="1"/>
          </p:cNvSpPr>
          <p:nvPr>
            <p:ph type="body" idx="6"/>
          </p:nvPr>
        </p:nvSpPr>
        <p:spPr/>
        <p:txBody>
          <a:bodyPr wrap="square"/>
          <a:lstStyle/>
          <a:p>
            <a:r>
              <a:t>Infrastructure — Cloudflare free tier + Access SSO</a:t>
            </a:r>
          </a:p>
        </p:txBody>
      </p:sp>
      <p:sp>
        <p:nvSpPr>
          <p:cNvPr id="10" name="Text Placeholder 9"/>
          <p:cNvSpPr>
            <a:spLocks noGrp="1"/>
          </p:cNvSpPr>
          <p:nvPr>
            <p:ph type="body" idx="14"/>
          </p:nvPr>
        </p:nvSpPr>
        <p:spPr/>
        <p:txBody>
          <a:bodyPr wrap="square"/>
          <a:lstStyle/>
          <a:p>
            <a:r>
              <a:t>No licences, no vendor, no implementation partner — one AM, Claude Code and six weeks.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Monitor, run, sell, lead</a:t>
            </a:r>
          </a:p>
        </p:txBody>
      </p:sp>
      <p:sp>
        <p:nvSpPr>
          <p:cNvPr id="3" name="Text Placeholder 2"/>
          <p:cNvSpPr>
            <a:spLocks noGrp="1"/>
          </p:cNvSpPr>
          <p:nvPr>
            <p:ph type="body" idx="13"/>
          </p:nvPr>
        </p:nvSpPr>
        <p:spPr/>
        <p:txBody>
          <a:bodyPr wrap="square"/>
          <a:lstStyle/>
          <a:p>
            <a:r>
              <a:t>Twenty modules, four jobs — each one reading the systems the team already runs.</a:t>
            </a:r>
          </a:p>
        </p:txBody>
      </p:sp>
      <p:sp>
        <p:nvSpPr>
          <p:cNvPr id="4" name="Text Placeholder 3"/>
          <p:cNvSpPr>
            <a:spLocks noGrp="1"/>
          </p:cNvSpPr>
          <p:nvPr>
            <p:ph type="body" idx="1"/>
          </p:nvPr>
        </p:nvSpPr>
        <p:spPr/>
        <p:txBody>
          <a:bodyPr wrap="square"/>
          <a:lstStyle/>
          <a:p>
            <a:r>
              <a:t>Monitor — the feeds watch themselves</a:t>
            </a:r>
          </a:p>
        </p:txBody>
      </p:sp>
      <p:sp>
        <p:nvSpPr>
          <p:cNvPr id="5" name="Text Placeholder 4"/>
          <p:cNvSpPr>
            <a:spLocks noGrp="1"/>
          </p:cNvSpPr>
          <p:nvPr>
            <p:ph type="body" idx="2"/>
          </p:nvPr>
        </p:nvSpPr>
        <p:spPr/>
        <p:txBody>
          <a:bodyPr wrap="square"/>
          <a:lstStyle/>
          <a:p>
            <a:r>
              <a:rPr sz="1320"/>
              <a:t>Label Guard, Product Type Guard, Golden Record, Product Volume, Overlays and Feed Lab scan all 62 feeds four times a day, alert on drop-offs against a known-good baseline, and draft the client email to confirm a change before anyone acts.</a:t>
            </a:r>
          </a:p>
        </p:txBody>
      </p:sp>
      <p:sp>
        <p:nvSpPr>
          <p:cNvPr id="6" name="Text Placeholder 5"/>
          <p:cNvSpPr>
            <a:spLocks noGrp="1"/>
          </p:cNvSpPr>
          <p:nvPr>
            <p:ph type="body" idx="3"/>
          </p:nvPr>
        </p:nvSpPr>
        <p:spPr/>
        <p:txBody>
          <a:bodyPr wrap="square"/>
          <a:lstStyle/>
          <a:p>
            <a:r>
              <a:t>Run — the work moves in one place</a:t>
            </a:r>
          </a:p>
        </p:txBody>
      </p:sp>
      <p:sp>
        <p:nvSpPr>
          <p:cNvPr id="7" name="Text Placeholder 6"/>
          <p:cNvSpPr>
            <a:spLocks noGrp="1"/>
          </p:cNvSpPr>
          <p:nvPr>
            <p:ph type="body" idx="4"/>
          </p:nvPr>
        </p:nvSpPr>
        <p:spPr/>
        <p:txBody>
          <a:bodyPr wrap="square"/>
          <a:lstStyle/>
          <a:p>
            <a:r>
              <a:t>Workflow takes every task from the plans, the inbox and call notes into one Intake, briefs ASPL with a coded ticket, moves stages from email replies automatically, and shows the retainer balance beside every decision.</a:t>
            </a:r>
          </a:p>
        </p:txBody>
      </p:sp>
      <p:sp>
        <p:nvSpPr>
          <p:cNvPr id="8" name="Text Placeholder 7"/>
          <p:cNvSpPr>
            <a:spLocks noGrp="1"/>
          </p:cNvSpPr>
          <p:nvPr>
            <p:ph type="body" idx="5"/>
          </p:nvPr>
        </p:nvSpPr>
        <p:spPr/>
        <p:txBody>
          <a:bodyPr wrap="square"/>
          <a:lstStyle/>
          <a:p>
            <a:r>
              <a:t>Sell — quotes and decks, live</a:t>
            </a:r>
          </a:p>
        </p:txBody>
      </p:sp>
      <p:sp>
        <p:nvSpPr>
          <p:cNvPr id="9" name="Text Placeholder 8"/>
          <p:cNvSpPr>
            <a:spLocks noGrp="1"/>
          </p:cNvSpPr>
          <p:nvPr>
            <p:ph type="body" idx="6"/>
          </p:nvPr>
        </p:nvSpPr>
        <p:spPr/>
        <p:txBody>
          <a:bodyPr wrap="square"/>
          <a:lstStyle/>
          <a:p>
            <a:r>
              <a:rPr sz="1320"/>
              <a:t>AI Quote prices work per SKU and exports the finance team's own workbook; the Deck Generator builds strategy reviews on the core template; the Keyword Calendar turns a client's marketing plan into briefs and a one-page client PDF.</a:t>
            </a:r>
          </a:p>
        </p:txBody>
      </p:sp>
      <p:sp>
        <p:nvSpPr>
          <p:cNvPr id="10" name="Text Placeholder 9"/>
          <p:cNvSpPr>
            <a:spLocks noGrp="1"/>
          </p:cNvSpPr>
          <p:nvPr>
            <p:ph type="body" idx="7"/>
          </p:nvPr>
        </p:nvSpPr>
        <p:spPr/>
        <p:txBody>
          <a:bodyPr wrap="square"/>
          <a:lstStyle/>
          <a:p>
            <a:r>
              <a:t>Lead — the book at a glance</a:t>
            </a:r>
          </a:p>
        </p:txBody>
      </p:sp>
      <p:sp>
        <p:nvSpPr>
          <p:cNvPr id="11" name="Text Placeholder 10"/>
          <p:cNvSpPr>
            <a:spLocks noGrp="1"/>
          </p:cNvSpPr>
          <p:nvPr>
            <p:ph type="body" idx="8"/>
          </p:nvPr>
        </p:nvSpPr>
        <p:spPr/>
        <p:txBody>
          <a:bodyPr wrap="square"/>
          <a:lstStyle/>
          <a:p>
            <a:r>
              <a:rPr sz="1320"/>
              <a:t>Leadership reads book health, retainer burn-down and a retention radar per account; the Task Manager module makes the hours database searchable; the Playbook tells each AM what is landing, stalling or missing on every account.</a:t>
            </a:r>
          </a:p>
        </p:txBody>
      </p:sp>
      <p:sp>
        <p:nvSpPr>
          <p:cNvPr id="12" name="Text Placeholder 11"/>
          <p:cNvSpPr>
            <a:spLocks noGrp="1"/>
          </p:cNvSpPr>
          <p:nvPr>
            <p:ph type="body" idx="14"/>
          </p:nvPr>
        </p:nvSpPr>
        <p:spPr/>
        <p:txBody>
          <a:bodyPr wrap="square"/>
          <a:lstStyle/>
          <a:p>
            <a:r>
              <a:t>Every module reads the systems the team already runs, and writes back to them.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The same eight jobs, with the FCC</a:t>
            </a:r>
          </a:p>
        </p:txBody>
      </p:sp>
      <p:sp>
        <p:nvSpPr>
          <p:cNvPr id="3" name="Text Placeholder 2"/>
          <p:cNvSpPr>
            <a:spLocks noGrp="1"/>
          </p:cNvSpPr>
          <p:nvPr>
            <p:ph type="body" idx="11"/>
          </p:nvPr>
        </p:nvSpPr>
        <p:spPr/>
        <p:txBody>
          <a:bodyPr wrap="square"/>
          <a:lstStyle/>
          <a:p>
            <a:r>
              <a:t>The eight jobs from chapter one: the information now arrives instead of being fetched.</a:t>
            </a:r>
          </a:p>
        </p:txBody>
      </p:sp>
      <p:sp>
        <p:nvSpPr>
          <p:cNvPr id="4" name="Text Placeholder 3"/>
          <p:cNvSpPr>
            <a:spLocks noGrp="1"/>
          </p:cNvSpPr>
          <p:nvPr>
            <p:ph type="body" idx="14"/>
          </p:nvPr>
        </p:nvSpPr>
        <p:spPr/>
        <p:txBody>
          <a:bodyPr wrap="square"/>
          <a:lstStyle/>
          <a:p>
            <a:r>
              <a:t>The information arrives instead of being fetched.</a:t>
            </a:r>
          </a:p>
        </p:txBody>
      </p:sp>
      <p:graphicFrame>
        <p:nvGraphicFramePr>
          <p:cNvPr id="5" name="Table 4"/>
          <p:cNvGraphicFramePr>
            <a:graphicFrameLocks noGrp="1"/>
          </p:cNvGraphicFramePr>
          <p:nvPr/>
        </p:nvGraphicFramePr>
        <p:xfrm>
          <a:off x="612648" y="1847088"/>
          <a:ext cx="10972798" cy="3794760"/>
        </p:xfrm>
        <a:graphic>
          <a:graphicData uri="http://schemas.openxmlformats.org/drawingml/2006/table">
            <a:tbl>
              <a:tblPr firstRow="1" bandRow="1">
                <a:tableStyleId>{5C22544A-7EE6-4342-B048-85BDC9FD1C3A}</a:tableStyleId>
              </a:tblPr>
              <a:tblGrid>
                <a:gridCol w="1588168"/>
                <a:gridCol w="2887578"/>
                <a:gridCol w="6497052"/>
              </a:tblGrid>
              <a:tr h="384048">
                <a:tc>
                  <a:txBody>
                    <a:bodyPr/>
                    <a:lstStyle/>
                    <a:p>
                      <a:r>
                        <a:rPr sz="1300" b="1">
                          <a:solidFill>
                            <a:srgbClr val="FFFFFF"/>
                          </a:solidFill>
                        </a:rPr>
                        <a:t>The job</a:t>
                      </a:r>
                    </a:p>
                  </a:txBody>
                  <a:tcPr/>
                </a:tc>
                <a:tc>
                  <a:txBody>
                    <a:bodyPr/>
                    <a:lstStyle/>
                    <a:p>
                      <a:r>
                        <a:rPr sz="1300" b="1">
                          <a:solidFill>
                            <a:srgbClr val="FFFFFF"/>
                          </a:solidFill>
                        </a:rPr>
                        <a:t>Before</a:t>
                      </a:r>
                    </a:p>
                  </a:txBody>
                  <a:tcPr/>
                </a:tc>
                <a:tc>
                  <a:txBody>
                    <a:bodyPr/>
                    <a:lstStyle/>
                    <a:p>
                      <a:r>
                        <a:rPr sz="1300" b="1">
                          <a:solidFill>
                            <a:srgbClr val="FFFFFF"/>
                          </a:solidFill>
                        </a:rPr>
                        <a:t>With the FCC</a:t>
                      </a:r>
                    </a:p>
                  </a:txBody>
                  <a:tcPr/>
                </a:tc>
              </a:tr>
              <a:tr h="426339">
                <a:tc>
                  <a:txBody>
                    <a:bodyPr/>
                    <a:lstStyle/>
                    <a:p>
                      <a:r>
                        <a:rPr sz="1100"/>
                        <a:t>Feed health</a:t>
                      </a:r>
                    </a:p>
                  </a:txBody>
                  <a:tcPr/>
                </a:tc>
                <a:tc>
                  <a:txBody>
                    <a:bodyPr/>
                    <a:lstStyle/>
                    <a:p>
                      <a:r>
                        <a:rPr sz="1100"/>
                        <a:t>Spot-check one feed at a time</a:t>
                      </a:r>
                    </a:p>
                  </a:txBody>
                  <a:tcPr/>
                </a:tc>
                <a:tc>
                  <a:txBody>
                    <a:bodyPr/>
                    <a:lstStyle/>
                    <a:p>
                      <a:r>
                        <a:rPr sz="1100"/>
                        <a:t>62 feeds scanned four times a day; drop-offs alerted with a client email drafted</a:t>
                      </a:r>
                    </a:p>
                  </a:txBody>
                  <a:tcPr/>
                </a:tc>
              </a:tr>
              <a:tr h="426339">
                <a:tc>
                  <a:txBody>
                    <a:bodyPr/>
                    <a:lstStyle/>
                    <a:p>
                      <a:r>
                        <a:rPr sz="1100"/>
                        <a:t>Tasks</a:t>
                      </a:r>
                    </a:p>
                  </a:txBody>
                  <a:tcPr/>
                </a:tc>
                <a:tc>
                  <a:txBody>
                    <a:bodyPr/>
                    <a:lstStyle/>
                    <a:p>
                      <a:r>
                        <a:rPr sz="1100"/>
                        <a:t>Copy emails and call actions into sheets</a:t>
                      </a:r>
                    </a:p>
                  </a:txBody>
                  <a:tcPr/>
                </a:tc>
                <a:tc>
                  <a:txBody>
                    <a:bodyPr/>
                    <a:lstStyle/>
                    <a:p>
                      <a:r>
                        <a:rPr sz="1100"/>
                        <a:t>Gmail and call notes land in Intake, classified by client, filed to the plan with one click</a:t>
                      </a:r>
                    </a:p>
                  </a:txBody>
                  <a:tcPr/>
                </a:tc>
              </a:tr>
              <a:tr h="426339">
                <a:tc>
                  <a:txBody>
                    <a:bodyPr/>
                    <a:lstStyle/>
                    <a:p>
                      <a:r>
                        <a:rPr sz="1100"/>
                        <a:t>Briefs to ASPL</a:t>
                      </a:r>
                    </a:p>
                  </a:txBody>
                  <a:tcPr/>
                </a:tc>
                <a:tc>
                  <a:txBody>
                    <a:bodyPr/>
                    <a:lstStyle/>
                    <a:p>
                      <a:r>
                        <a:rPr sz="1100"/>
                        <a:t>Write, code, send, chase, log</a:t>
                      </a:r>
                    </a:p>
                  </a:txBody>
                  <a:tcPr/>
                </a:tc>
                <a:tc>
                  <a:txBody>
                    <a:bodyPr/>
                    <a:lstStyle/>
                    <a:p>
                      <a:r>
                        <a:rPr sz="1100"/>
                        <a:t>Composer writes the coded brief; replies move the stage; the SLA board shows what is stuck</a:t>
                      </a:r>
                    </a:p>
                  </a:txBody>
                  <a:tcPr/>
                </a:tc>
              </a:tr>
              <a:tr h="426339">
                <a:tc>
                  <a:txBody>
                    <a:bodyPr/>
                    <a:lstStyle/>
                    <a:p>
                      <a:r>
                        <a:rPr sz="1100"/>
                        <a:t>Retainer hours</a:t>
                      </a:r>
                    </a:p>
                  </a:txBody>
                  <a:tcPr/>
                </a:tc>
                <a:tc>
                  <a:txBody>
                    <a:bodyPr/>
                    <a:lstStyle/>
                    <a:p>
                      <a:r>
                        <a:rPr sz="1100"/>
                        <a:t>Log into the Task Manager per client</a:t>
                      </a:r>
                    </a:p>
                  </a:txBody>
                  <a:tcPr/>
                </a:tc>
                <a:tc>
                  <a:txBody>
                    <a:bodyPr/>
                    <a:lstStyle/>
                    <a:p>
                      <a:r>
                        <a:rPr sz="1100"/>
                        <a:t>Synced automatically four times a day; a balance dot on every task, ticket and brand</a:t>
                      </a:r>
                    </a:p>
                  </a:txBody>
                  <a:tcPr/>
                </a:tc>
              </a:tr>
              <a:tr h="426339">
                <a:tc>
                  <a:txBody>
                    <a:bodyPr/>
                    <a:lstStyle/>
                    <a:p>
                      <a:r>
                        <a:rPr sz="1100"/>
                        <a:t>Scheduled optimisation</a:t>
                      </a:r>
                    </a:p>
                  </a:txBody>
                  <a:tcPr/>
                </a:tc>
                <a:tc>
                  <a:txBody>
                    <a:bodyPr/>
                    <a:lstStyle/>
                    <a:p>
                      <a:r>
                        <a:rPr sz="1100"/>
                        <a:t>Week-by-week go or skip, untracked</a:t>
                      </a:r>
                    </a:p>
                  </a:txBody>
                  <a:tcPr/>
                </a:tc>
                <a:tc>
                  <a:txBody>
                    <a:bodyPr/>
                    <a:lstStyle/>
                    <a:p>
                      <a:r>
                        <a:rPr sz="1100"/>
                        <a:t>Skip streaks per task and brand, hours skipped, the go/skip strip inside the hours popover</a:t>
                      </a:r>
                    </a:p>
                  </a:txBody>
                  <a:tcPr/>
                </a:tc>
              </a:tr>
              <a:tr h="426339">
                <a:tc>
                  <a:txBody>
                    <a:bodyPr/>
                    <a:lstStyle/>
                    <a:p>
                      <a:r>
                        <a:rPr sz="1100"/>
                        <a:t>Client reporting</a:t>
                      </a:r>
                    </a:p>
                  </a:txBody>
                  <a:tcPr/>
                </a:tc>
                <a:tc>
                  <a:txBody>
                    <a:bodyPr/>
                    <a:lstStyle/>
                    <a:p>
                      <a:r>
                        <a:rPr sz="1100"/>
                        <a:t>Two days per deck, numbers typed in</a:t>
                      </a:r>
                    </a:p>
                  </a:txBody>
                  <a:tcPr/>
                </a:tc>
                <a:tc>
                  <a:txBody>
                    <a:bodyPr/>
                    <a:lstStyle/>
                    <a:p>
                      <a:r>
                        <a:rPr sz="1100"/>
                        <a:t>Golden Record PDF in one click; strategy decks generated on the template from live plan data</a:t>
                      </a:r>
                    </a:p>
                  </a:txBody>
                  <a:tcPr/>
                </a:tc>
              </a:tr>
              <a:tr h="426339">
                <a:tc>
                  <a:txBody>
                    <a:bodyPr/>
                    <a:lstStyle/>
                    <a:p>
                      <a:r>
                        <a:rPr sz="1100"/>
                        <a:t>Quotes</a:t>
                      </a:r>
                    </a:p>
                  </a:txBody>
                  <a:tcPr/>
                </a:tc>
                <a:tc>
                  <a:txBody>
                    <a:bodyPr/>
                    <a:lstStyle/>
                    <a:p>
                      <a:r>
                        <a:rPr sz="1100"/>
                        <a:t>A spreadsheet per quote</a:t>
                      </a:r>
                    </a:p>
                  </a:txBody>
                  <a:tcPr/>
                </a:tc>
                <a:tc>
                  <a:txBody>
                    <a:bodyPr/>
                    <a:lstStyle/>
                    <a:p>
                      <a:r>
                        <a:rPr sz="1100"/>
                        <a:t>AI Quote: one-off and monthly kept apart, the finance workbook exported, every quote tracked</a:t>
                      </a:r>
                    </a:p>
                  </a:txBody>
                  <a:tcPr/>
                </a:tc>
              </a:tr>
              <a:tr h="426339">
                <a:tc>
                  <a:txBody>
                    <a:bodyPr/>
                    <a:lstStyle/>
                    <a:p>
                      <a:r>
                        <a:rPr sz="1100"/>
                        <a:t>The Monday call</a:t>
                      </a:r>
                    </a:p>
                  </a:txBody>
                  <a:tcPr/>
                </a:tc>
                <a:tc>
                  <a:txBody>
                    <a:bodyPr/>
                    <a:lstStyle/>
                    <a:p>
                      <a:r>
                        <a:rPr sz="1100"/>
                        <a:t>Assembled by hand</a:t>
                      </a:r>
                    </a:p>
                  </a:txBody>
                  <a:tcPr/>
                </a:tc>
                <a:tc>
                  <a:txBody>
                    <a:bodyPr/>
                    <a:lstStyle/>
                    <a:p>
                      <a:r>
                        <a:rPr sz="1100"/>
                        <a:t>Leadership: book health, burn-down and retention radar, live from the plans and the Task Manager</a:t>
                      </a:r>
                    </a:p>
                  </a:txBody>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Secure by default, usable from a train</a:t>
            </a:r>
          </a:p>
        </p:txBody>
      </p:sp>
      <p:sp>
        <p:nvSpPr>
          <p:cNvPr id="3" name="Text Placeholder 2"/>
          <p:cNvSpPr>
            <a:spLocks noGrp="1"/>
          </p:cNvSpPr>
          <p:nvPr>
            <p:ph type="body" idx="13"/>
          </p:nvPr>
        </p:nvSpPr>
        <p:spPr/>
        <p:txBody>
          <a:bodyPr wrap="square"/>
          <a:lstStyle/>
          <a:p>
            <a:r>
              <a:t>Built to hold client data and to be read on a phone between meetings.</a:t>
            </a:r>
          </a:p>
        </p:txBody>
      </p:sp>
      <p:sp>
        <p:nvSpPr>
          <p:cNvPr id="4" name="Text Placeholder 3"/>
          <p:cNvSpPr>
            <a:spLocks noGrp="1"/>
          </p:cNvSpPr>
          <p:nvPr>
            <p:ph type="body" idx="1"/>
          </p:nvPr>
        </p:nvSpPr>
        <p:spPr/>
        <p:txBody>
          <a:bodyPr wrap="square"/>
          <a:lstStyle/>
          <a:p>
            <a:r>
              <a:t>Governed like a client system</a:t>
            </a:r>
          </a:p>
        </p:txBody>
      </p:sp>
      <p:sp>
        <p:nvSpPr>
          <p:cNvPr id="5" name="Text Placeholder 4"/>
          <p:cNvSpPr>
            <a:spLocks noGrp="1"/>
          </p:cNvSpPr>
          <p:nvPr>
            <p:ph type="body" idx="2"/>
          </p:nvPr>
        </p:nvSpPr>
        <p:spPr/>
        <p:txBody>
          <a:bodyPr wrap="square"/>
          <a:lstStyle/>
          <a:p>
            <a:r>
              <a:t>Cloudflare Access on every page; each signin scoped to its own clients and modules; every mutation logged per user; client hours kept in Cloudflare KV and never in the code repository; the Task Manager connected through a secret the owner holds.</a:t>
            </a:r>
          </a:p>
        </p:txBody>
      </p:sp>
      <p:sp>
        <p:nvSpPr>
          <p:cNvPr id="6" name="Text Placeholder 5"/>
          <p:cNvSpPr>
            <a:spLocks noGrp="1"/>
          </p:cNvSpPr>
          <p:nvPr>
            <p:ph type="body" idx="3"/>
          </p:nvPr>
        </p:nvSpPr>
        <p:spPr/>
        <p:txBody>
          <a:bodyPr wrap="square"/>
          <a:lstStyle/>
          <a:p>
            <a:r>
              <a:t>Built for the phone too</a:t>
            </a:r>
          </a:p>
        </p:txBody>
      </p:sp>
      <p:sp>
        <p:nvSpPr>
          <p:cNvPr id="7" name="Text Placeholder 6"/>
          <p:cNvSpPr>
            <a:spLocks noGrp="1"/>
          </p:cNvSpPr>
          <p:nvPr>
            <p:ph type="body" idx="4"/>
          </p:nvPr>
        </p:nvSpPr>
        <p:spPr/>
        <p:txBody>
          <a:bodyPr wrap="square"/>
          <a:lstStyle/>
          <a:p>
            <a:r>
              <a:t>Every page opens on a phone as a skim view — the KPIs and one tap row per section, in the way an ads manager app reads — so an AM can answer a client from the train with the retainer balance and the feed alerts in hand.</a:t>
            </a:r>
          </a:p>
        </p:txBody>
      </p:sp>
      <p:sp>
        <p:nvSpPr>
          <p:cNvPr id="8" name="Text Placeholder 7"/>
          <p:cNvSpPr>
            <a:spLocks noGrp="1"/>
          </p:cNvSpPr>
          <p:nvPr>
            <p:ph type="body" idx="14"/>
          </p:nvPr>
        </p:nvSpPr>
        <p:spPr/>
        <p:txBody>
          <a:bodyPr wrap="square"/>
          <a:lstStyle/>
          <a:p>
            <a:r>
              <a:t>Secure enough for client data, usable from a train.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three</a:t>
            </a:r>
          </a:p>
        </p:txBody>
      </p:sp>
      <p:sp>
        <p:nvSpPr>
          <p:cNvPr id="3" name="Title 2"/>
          <p:cNvSpPr>
            <a:spLocks noGrp="1"/>
          </p:cNvSpPr>
          <p:nvPr>
            <p:ph type="title"/>
          </p:nvPr>
        </p:nvSpPr>
        <p:spPr/>
        <p:txBody>
          <a:bodyPr wrap="square"/>
          <a:lstStyle/>
          <a:p>
            <a:r>
              <a:t>The benefit</a:t>
            </a:r>
          </a:p>
        </p:txBody>
      </p:sp>
      <p:sp>
        <p:nvSpPr>
          <p:cNvPr id="4" name="Text Placeholder 3"/>
          <p:cNvSpPr>
            <a:spLocks noGrp="1"/>
          </p:cNvSpPr>
          <p:nvPr>
            <p:ph type="body" idx="1"/>
          </p:nvPr>
        </p:nvSpPr>
        <p:spPr/>
        <p:txBody>
          <a:bodyPr wrap="square"/>
          <a:lstStyle/>
          <a:p>
            <a:r>
              <a:t>Eleven hours a week per account manager, and the risks that never turned into a number.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An AM’s week, without and with the FCC</a:t>
            </a:r>
          </a:p>
        </p:txBody>
      </p:sp>
      <p:sp>
        <p:nvSpPr>
          <p:cNvPr id="3" name="Text Placeholder 2"/>
          <p:cNvSpPr>
            <a:spLocks noGrp="1"/>
          </p:cNvSpPr>
          <p:nvPr>
            <p:ph type="body" idx="11"/>
          </p:nvPr>
        </p:nvSpPr>
        <p:spPr/>
        <p:txBody>
          <a:bodyPr wrap="square"/>
          <a:lstStyle/>
          <a:p>
            <a:r>
              <a:t>Per AM per week on monitoring, coordination and reporting: 15 h of 37.5 without the FCC, 4 h with it.</a:t>
            </a:r>
          </a:p>
        </p:txBody>
      </p:sp>
      <p:sp>
        <p:nvSpPr>
          <p:cNvPr id="4" name="Text Placeholder 3"/>
          <p:cNvSpPr>
            <a:spLocks noGrp="1"/>
          </p:cNvSpPr>
          <p:nvPr>
            <p:ph type="body" idx="14"/>
          </p:nvPr>
        </p:nvSpPr>
        <p:spPr/>
        <p:txBody>
          <a:bodyPr wrap="square"/>
          <a:lstStyle/>
          <a:p>
            <a:r>
              <a:t>Total per AM: 15.0 h a week without the FCC, 4.0 h with it — 11.0 h back for client work.</a:t>
            </a:r>
          </a:p>
        </p:txBody>
      </p:sp>
      <p:graphicFrame>
        <p:nvGraphicFramePr>
          <p:cNvPr id="5" name="Table 4"/>
          <p:cNvGraphicFramePr>
            <a:graphicFrameLocks noGrp="1"/>
          </p:cNvGraphicFramePr>
          <p:nvPr/>
        </p:nvGraphicFramePr>
        <p:xfrm>
          <a:off x="612648" y="1847088"/>
          <a:ext cx="10972796" cy="3794756"/>
        </p:xfrm>
        <a:graphic>
          <a:graphicData uri="http://schemas.openxmlformats.org/drawingml/2006/table">
            <a:tbl>
              <a:tblPr firstRow="1" bandRow="1">
                <a:tableStyleId>{5C22544A-7EE6-4342-B048-85BDC9FD1C3A}</a:tableStyleId>
              </a:tblPr>
              <a:tblGrid>
                <a:gridCol w="3422315"/>
                <a:gridCol w="784280"/>
                <a:gridCol w="780715"/>
                <a:gridCol w="780715"/>
                <a:gridCol w="5204771"/>
              </a:tblGrid>
              <a:tr h="384048">
                <a:tc>
                  <a:txBody>
                    <a:bodyPr/>
                    <a:lstStyle/>
                    <a:p>
                      <a:r>
                        <a:rPr sz="1300" b="1">
                          <a:solidFill>
                            <a:srgbClr val="FFFFFF"/>
                          </a:solidFill>
                        </a:rPr>
                        <a:t>Job (per AM, per week)</a:t>
                      </a:r>
                    </a:p>
                  </a:txBody>
                  <a:tcPr/>
                </a:tc>
                <a:tc>
                  <a:txBody>
                    <a:bodyPr/>
                    <a:lstStyle/>
                    <a:p>
                      <a:r>
                        <a:rPr sz="1300" b="1">
                          <a:solidFill>
                            <a:srgbClr val="FFFFFF"/>
                          </a:solidFill>
                        </a:rPr>
                        <a:t>Without FCC</a:t>
                      </a:r>
                    </a:p>
                  </a:txBody>
                  <a:tcPr/>
                </a:tc>
                <a:tc>
                  <a:txBody>
                    <a:bodyPr/>
                    <a:lstStyle/>
                    <a:p>
                      <a:r>
                        <a:rPr sz="1300" b="1">
                          <a:solidFill>
                            <a:srgbClr val="FFFFFF"/>
                          </a:solidFill>
                        </a:rPr>
                        <a:t>With FCC</a:t>
                      </a:r>
                    </a:p>
                  </a:txBody>
                  <a:tcPr/>
                </a:tc>
                <a:tc>
                  <a:txBody>
                    <a:bodyPr/>
                    <a:lstStyle/>
                    <a:p>
                      <a:r>
                        <a:rPr sz="1300" b="1">
                          <a:solidFill>
                            <a:srgbClr val="FFFFFF"/>
                          </a:solidFill>
                        </a:rPr>
                        <a:t>Saved</a:t>
                      </a:r>
                    </a:p>
                  </a:txBody>
                  <a:tcPr/>
                </a:tc>
                <a:tc>
                  <a:txBody>
                    <a:bodyPr/>
                    <a:lstStyle/>
                    <a:p>
                      <a:r>
                        <a:rPr sz="1300" b="1">
                          <a:solidFill>
                            <a:srgbClr val="FFFFFF"/>
                          </a:solidFill>
                        </a:rPr>
                        <a:t>What does the work instead</a:t>
                      </a:r>
                    </a:p>
                  </a:txBody>
                  <a:tcPr/>
                </a:tc>
              </a:tr>
              <a:tr h="487244">
                <a:tc>
                  <a:txBody>
                    <a:bodyPr/>
                    <a:lstStyle/>
                    <a:p>
                      <a:r>
                        <a:rPr sz="1100"/>
                        <a:t>Feed health across all markets</a:t>
                      </a:r>
                    </a:p>
                  </a:txBody>
                  <a:tcPr/>
                </a:tc>
                <a:tc>
                  <a:txBody>
                    <a:bodyPr/>
                    <a:lstStyle/>
                    <a:p>
                      <a:r>
                        <a:rPr sz="1100"/>
                        <a:t>3.5 h</a:t>
                      </a:r>
                    </a:p>
                  </a:txBody>
                  <a:tcPr/>
                </a:tc>
                <a:tc>
                  <a:txBody>
                    <a:bodyPr/>
                    <a:lstStyle/>
                    <a:p>
                      <a:r>
                        <a:rPr sz="1100"/>
                        <a:t>0.5 h</a:t>
                      </a:r>
                    </a:p>
                  </a:txBody>
                  <a:tcPr/>
                </a:tc>
                <a:tc>
                  <a:txBody>
                    <a:bodyPr/>
                    <a:lstStyle/>
                    <a:p>
                      <a:r>
                        <a:rPr sz="1100"/>
                        <a:t>3.0 h</a:t>
                      </a:r>
                    </a:p>
                  </a:txBody>
                  <a:tcPr/>
                </a:tc>
                <a:tc>
                  <a:txBody>
                    <a:bodyPr/>
                    <a:lstStyle/>
                    <a:p>
                      <a:r>
                        <a:rPr sz="1100"/>
                        <a:t>Four guards scanning 62 feeds, alerts and drafted client emails</a:t>
                      </a:r>
                    </a:p>
                  </a:txBody>
                  <a:tcPr/>
                </a:tc>
              </a:tr>
              <a:tr h="487244">
                <a:tc>
                  <a:txBody>
                    <a:bodyPr/>
                    <a:lstStyle/>
                    <a:p>
                      <a:r>
                        <a:rPr sz="1100"/>
                        <a:t>Task capture and triage from email and calls</a:t>
                      </a:r>
                    </a:p>
                  </a:txBody>
                  <a:tcPr/>
                </a:tc>
                <a:tc>
                  <a:txBody>
                    <a:bodyPr/>
                    <a:lstStyle/>
                    <a:p>
                      <a:r>
                        <a:rPr sz="1100"/>
                        <a:t>2.0 h</a:t>
                      </a:r>
                    </a:p>
                  </a:txBody>
                  <a:tcPr/>
                </a:tc>
                <a:tc>
                  <a:txBody>
                    <a:bodyPr/>
                    <a:lstStyle/>
                    <a:p>
                      <a:r>
                        <a:rPr sz="1100"/>
                        <a:t>0.5 h</a:t>
                      </a:r>
                    </a:p>
                  </a:txBody>
                  <a:tcPr/>
                </a:tc>
                <a:tc>
                  <a:txBody>
                    <a:bodyPr/>
                    <a:lstStyle/>
                    <a:p>
                      <a:r>
                        <a:rPr sz="1100"/>
                        <a:t>1.5 h</a:t>
                      </a:r>
                    </a:p>
                  </a:txBody>
                  <a:tcPr/>
                </a:tc>
                <a:tc>
                  <a:txBody>
                    <a:bodyPr/>
                    <a:lstStyle/>
                    <a:p>
                      <a:r>
                        <a:rPr sz="1100"/>
                        <a:t>Gmail push, call-note parsing, one-click filing to the plan</a:t>
                      </a:r>
                    </a:p>
                  </a:txBody>
                  <a:tcPr/>
                </a:tc>
              </a:tr>
              <a:tr h="487244">
                <a:tc>
                  <a:txBody>
                    <a:bodyPr/>
                    <a:lstStyle/>
                    <a:p>
                      <a:r>
                        <a:rPr sz="1100"/>
                        <a:t>Briefs: writing, coding, chasing, logging</a:t>
                      </a:r>
                    </a:p>
                  </a:txBody>
                  <a:tcPr/>
                </a:tc>
                <a:tc>
                  <a:txBody>
                    <a:bodyPr/>
                    <a:lstStyle/>
                    <a:p>
                      <a:r>
                        <a:rPr sz="1100"/>
                        <a:t>2.5 h</a:t>
                      </a:r>
                    </a:p>
                  </a:txBody>
                  <a:tcPr/>
                </a:tc>
                <a:tc>
                  <a:txBody>
                    <a:bodyPr/>
                    <a:lstStyle/>
                    <a:p>
                      <a:r>
                        <a:rPr sz="1100"/>
                        <a:t>1.0 h</a:t>
                      </a:r>
                    </a:p>
                  </a:txBody>
                  <a:tcPr/>
                </a:tc>
                <a:tc>
                  <a:txBody>
                    <a:bodyPr/>
                    <a:lstStyle/>
                    <a:p>
                      <a:r>
                        <a:rPr sz="1100"/>
                        <a:t>1.5 h</a:t>
                      </a:r>
                    </a:p>
                  </a:txBody>
                  <a:tcPr/>
                </a:tc>
                <a:tc>
                  <a:txBody>
                    <a:bodyPr/>
                    <a:lstStyle/>
                    <a:p>
                      <a:r>
                        <a:rPr sz="1100"/>
                        <a:t>Brief composer, automatic stage moves, SLA board</a:t>
                      </a:r>
                    </a:p>
                  </a:txBody>
                  <a:tcPr/>
                </a:tc>
              </a:tr>
              <a:tr h="487244">
                <a:tc>
                  <a:txBody>
                    <a:bodyPr/>
                    <a:lstStyle/>
                    <a:p>
                      <a:r>
                        <a:rPr sz="1100"/>
                        <a:t>Retainer checks and hours reporting</a:t>
                      </a:r>
                    </a:p>
                  </a:txBody>
                  <a:tcPr/>
                </a:tc>
                <a:tc>
                  <a:txBody>
                    <a:bodyPr/>
                    <a:lstStyle/>
                    <a:p>
                      <a:r>
                        <a:rPr sz="1100"/>
                        <a:t>1.0 h</a:t>
                      </a:r>
                    </a:p>
                  </a:txBody>
                  <a:tcPr/>
                </a:tc>
                <a:tc>
                  <a:txBody>
                    <a:bodyPr/>
                    <a:lstStyle/>
                    <a:p>
                      <a:r>
                        <a:rPr sz="1100"/>
                        <a:t>0.25 h</a:t>
                      </a:r>
                    </a:p>
                  </a:txBody>
                  <a:tcPr/>
                </a:tc>
                <a:tc>
                  <a:txBody>
                    <a:bodyPr/>
                    <a:lstStyle/>
                    <a:p>
                      <a:r>
                        <a:rPr sz="1100"/>
                        <a:t>0.75 h</a:t>
                      </a:r>
                    </a:p>
                  </a:txBody>
                  <a:tcPr/>
                </a:tc>
                <a:tc>
                  <a:txBody>
                    <a:bodyPr/>
                    <a:lstStyle/>
                    <a:p>
                      <a:r>
                        <a:rPr sz="1100"/>
                        <a:t>Task Manager sync, the hours badge on every page</a:t>
                      </a:r>
                    </a:p>
                  </a:txBody>
                  <a:tcPr/>
                </a:tc>
              </a:tr>
              <a:tr h="487244">
                <a:tc>
                  <a:txBody>
                    <a:bodyPr/>
                    <a:lstStyle/>
                    <a:p>
                      <a:r>
                        <a:rPr sz="1100"/>
                        <a:t>Client reporting: scorecards, PDFs, review decks</a:t>
                      </a:r>
                    </a:p>
                  </a:txBody>
                  <a:tcPr/>
                </a:tc>
                <a:tc>
                  <a:txBody>
                    <a:bodyPr/>
                    <a:lstStyle/>
                    <a:p>
                      <a:r>
                        <a:rPr sz="1100"/>
                        <a:t>3.0 h</a:t>
                      </a:r>
                    </a:p>
                  </a:txBody>
                  <a:tcPr/>
                </a:tc>
                <a:tc>
                  <a:txBody>
                    <a:bodyPr/>
                    <a:lstStyle/>
                    <a:p>
                      <a:r>
                        <a:rPr sz="1100"/>
                        <a:t>1.0 h</a:t>
                      </a:r>
                    </a:p>
                  </a:txBody>
                  <a:tcPr/>
                </a:tc>
                <a:tc>
                  <a:txBody>
                    <a:bodyPr/>
                    <a:lstStyle/>
                    <a:p>
                      <a:r>
                        <a:rPr sz="1100"/>
                        <a:t>2.0 h</a:t>
                      </a:r>
                    </a:p>
                  </a:txBody>
                  <a:tcPr/>
                </a:tc>
                <a:tc>
                  <a:txBody>
                    <a:bodyPr/>
                    <a:lstStyle/>
                    <a:p>
                      <a:r>
                        <a:rPr sz="1100"/>
                        <a:t>One-click PDFs, Deck Generator on the core template</a:t>
                      </a:r>
                    </a:p>
                  </a:txBody>
                  <a:tcPr/>
                </a:tc>
              </a:tr>
              <a:tr h="487244">
                <a:tc>
                  <a:txBody>
                    <a:bodyPr/>
                    <a:lstStyle/>
                    <a:p>
                      <a:r>
                        <a:rPr sz="1100"/>
                        <a:t>Quotes, proposals and keyword calendar planning</a:t>
                      </a:r>
                    </a:p>
                  </a:txBody>
                  <a:tcPr/>
                </a:tc>
                <a:tc>
                  <a:txBody>
                    <a:bodyPr/>
                    <a:lstStyle/>
                    <a:p>
                      <a:r>
                        <a:rPr sz="1100"/>
                        <a:t>1.5 h</a:t>
                      </a:r>
                    </a:p>
                  </a:txBody>
                  <a:tcPr/>
                </a:tc>
                <a:tc>
                  <a:txBody>
                    <a:bodyPr/>
                    <a:lstStyle/>
                    <a:p>
                      <a:r>
                        <a:rPr sz="1100"/>
                        <a:t>0.5 h</a:t>
                      </a:r>
                    </a:p>
                  </a:txBody>
                  <a:tcPr/>
                </a:tc>
                <a:tc>
                  <a:txBody>
                    <a:bodyPr/>
                    <a:lstStyle/>
                    <a:p>
                      <a:r>
                        <a:rPr sz="1100"/>
                        <a:t>1.0 h</a:t>
                      </a:r>
                    </a:p>
                  </a:txBody>
                  <a:tcPr/>
                </a:tc>
                <a:tc>
                  <a:txBody>
                    <a:bodyPr/>
                    <a:lstStyle/>
                    <a:p>
                      <a:r>
                        <a:rPr sz="1100"/>
                        <a:t>AI Quote with the finance workbook; Keyword Calendar with live SKU scopes</a:t>
                      </a:r>
                    </a:p>
                  </a:txBody>
                  <a:tcPr/>
                </a:tc>
              </a:tr>
              <a:tr h="487244">
                <a:tc>
                  <a:txBody>
                    <a:bodyPr/>
                    <a:lstStyle/>
                    <a:p>
                      <a:r>
                        <a:rPr sz="1100"/>
                        <a:t>Monday call and status chasing</a:t>
                      </a:r>
                    </a:p>
                  </a:txBody>
                  <a:tcPr/>
                </a:tc>
                <a:tc>
                  <a:txBody>
                    <a:bodyPr/>
                    <a:lstStyle/>
                    <a:p>
                      <a:r>
                        <a:rPr sz="1100"/>
                        <a:t>1.5 h</a:t>
                      </a:r>
                    </a:p>
                  </a:txBody>
                  <a:tcPr/>
                </a:tc>
                <a:tc>
                  <a:txBody>
                    <a:bodyPr/>
                    <a:lstStyle/>
                    <a:p>
                      <a:r>
                        <a:rPr sz="1100"/>
                        <a:t>0.25 h</a:t>
                      </a:r>
                    </a:p>
                  </a:txBody>
                  <a:tcPr/>
                </a:tc>
                <a:tc>
                  <a:txBody>
                    <a:bodyPr/>
                    <a:lstStyle/>
                    <a:p>
                      <a:r>
                        <a:rPr sz="1100"/>
                        <a:t>1.25 h</a:t>
                      </a:r>
                    </a:p>
                  </a:txBody>
                  <a:tcPr/>
                </a:tc>
                <a:tc>
                  <a:txBody>
                    <a:bodyPr/>
                    <a:lstStyle/>
                    <a:p>
                      <a:r>
                        <a:rPr sz="1100"/>
                        <a:t>Leadership, Playbook, the activity log</a:t>
                      </a:r>
                    </a:p>
                  </a:txBody>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A year without the FCC, and a year with it</a:t>
            </a:r>
          </a:p>
        </p:txBody>
      </p:sp>
      <p:sp>
        <p:nvSpPr>
          <p:cNvPr id="3" name="Text Placeholder 2"/>
          <p:cNvSpPr>
            <a:spLocks noGrp="1"/>
          </p:cNvSpPr>
          <p:nvPr>
            <p:ph type="body" idx="11"/>
          </p:nvPr>
        </p:nvSpPr>
        <p:spPr/>
        <p:txBody>
          <a:bodyPr wrap="square"/>
          <a:lstStyle/>
          <a:p>
            <a:r>
              <a:t>Five London AMs, 46 working weeks; the per-AM hours above, multiplied out.</a:t>
            </a:r>
          </a:p>
        </p:txBody>
      </p:sp>
      <p:sp>
        <p:nvSpPr>
          <p:cNvPr id="4" name="Text Placeholder 3"/>
          <p:cNvSpPr>
            <a:spLocks noGrp="1"/>
          </p:cNvSpPr>
          <p:nvPr>
            <p:ph type="body" idx="1"/>
          </p:nvPr>
        </p:nvSpPr>
        <p:spPr/>
        <p:txBody>
          <a:bodyPr wrap="square"/>
          <a:lstStyle/>
          <a:p>
            <a:r>
              <a:t>3,450 h</a:t>
            </a:r>
          </a:p>
        </p:txBody>
      </p:sp>
      <p:sp>
        <p:nvSpPr>
          <p:cNvPr id="5" name="Text Placeholder 4"/>
          <p:cNvSpPr>
            <a:spLocks noGrp="1"/>
          </p:cNvSpPr>
          <p:nvPr>
            <p:ph type="body" idx="2"/>
          </p:nvPr>
        </p:nvSpPr>
        <p:spPr/>
        <p:txBody>
          <a:bodyPr wrap="square"/>
          <a:lstStyle/>
          <a:p>
            <a:r>
              <a:t>Wasted a year on fetching and re-keying without the FCC</a:t>
            </a:r>
          </a:p>
        </p:txBody>
      </p:sp>
      <p:sp>
        <p:nvSpPr>
          <p:cNvPr id="6" name="Text Placeholder 5"/>
          <p:cNvSpPr>
            <a:spLocks noGrp="1"/>
          </p:cNvSpPr>
          <p:nvPr>
            <p:ph type="body" idx="3"/>
          </p:nvPr>
        </p:nvSpPr>
        <p:spPr/>
        <p:txBody>
          <a:bodyPr wrap="square"/>
          <a:lstStyle/>
          <a:p>
            <a:r>
              <a:t>2,530 h</a:t>
            </a:r>
          </a:p>
        </p:txBody>
      </p:sp>
      <p:sp>
        <p:nvSpPr>
          <p:cNvPr id="7" name="Text Placeholder 6"/>
          <p:cNvSpPr>
            <a:spLocks noGrp="1"/>
          </p:cNvSpPr>
          <p:nvPr>
            <p:ph type="body" idx="4"/>
          </p:nvPr>
        </p:nvSpPr>
        <p:spPr/>
        <p:txBody>
          <a:bodyPr wrap="square"/>
          <a:lstStyle/>
          <a:p>
            <a:r>
              <a:t>Saved a year with it — 316 AM-days back for client work</a:t>
            </a:r>
          </a:p>
        </p:txBody>
      </p:sp>
      <p:sp>
        <p:nvSpPr>
          <p:cNvPr id="8" name="Text Placeholder 7"/>
          <p:cNvSpPr>
            <a:spLocks noGrp="1"/>
          </p:cNvSpPr>
          <p:nvPr>
            <p:ph type="body" idx="5"/>
          </p:nvPr>
        </p:nvSpPr>
        <p:spPr/>
        <p:txBody>
          <a:bodyPr wrap="square"/>
          <a:lstStyle/>
          <a:p>
            <a:r>
              <a:t>£185k</a:t>
            </a:r>
          </a:p>
        </p:txBody>
      </p:sp>
      <p:sp>
        <p:nvSpPr>
          <p:cNvPr id="9" name="Text Placeholder 8"/>
          <p:cNvSpPr>
            <a:spLocks noGrp="1"/>
          </p:cNvSpPr>
          <p:nvPr>
            <p:ph type="body" idx="6"/>
          </p:nvPr>
        </p:nvSpPr>
        <p:spPr/>
        <p:txBody>
          <a:bodyPr wrap="square"/>
          <a:lstStyle/>
          <a:p>
            <a:r>
              <a:t>Billable capacity released at the £73.125 ratecard hour</a:t>
            </a:r>
          </a:p>
        </p:txBody>
      </p:sp>
      <p:sp>
        <p:nvSpPr>
          <p:cNvPr id="10" name="Text Placeholder 9"/>
          <p:cNvSpPr>
            <a:spLocks noGrp="1"/>
          </p:cNvSpPr>
          <p:nvPr>
            <p:ph type="body" idx="14"/>
          </p:nvPr>
        </p:nvSpPr>
        <p:spPr/>
        <p:txBody>
          <a:bodyPr wrap="square"/>
          <a:lstStyle/>
          <a:p>
            <a:r>
              <a:t>At half the estimate the case still returns 1,265 hours and £92k a year.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What the hours model cannot count</a:t>
            </a:r>
          </a:p>
        </p:txBody>
      </p:sp>
      <p:sp>
        <p:nvSpPr>
          <p:cNvPr id="3" name="Text Placeholder 2"/>
          <p:cNvSpPr>
            <a:spLocks noGrp="1"/>
          </p:cNvSpPr>
          <p:nvPr>
            <p:ph type="body" idx="13"/>
          </p:nvPr>
        </p:nvSpPr>
        <p:spPr/>
        <p:txBody>
          <a:bodyPr wrap="square"/>
          <a:lstStyle/>
          <a:p>
            <a:r>
              <a:t>The saved hours are the smaller half of the case; the larger half is what stops happening.</a:t>
            </a:r>
          </a:p>
        </p:txBody>
      </p:sp>
      <p:sp>
        <p:nvSpPr>
          <p:cNvPr id="4" name="Text Placeholder 3"/>
          <p:cNvSpPr>
            <a:spLocks noGrp="1"/>
          </p:cNvSpPr>
          <p:nvPr>
            <p:ph type="body" idx="1"/>
          </p:nvPr>
        </p:nvSpPr>
        <p:spPr/>
        <p:txBody>
          <a:bodyPr wrap="square"/>
          <a:lstStyle/>
          <a:p>
            <a:r>
              <a:rPr sz="1880"/>
              <a:t>A break caught in hours</a:t>
            </a:r>
          </a:p>
        </p:txBody>
      </p:sp>
      <p:sp>
        <p:nvSpPr>
          <p:cNvPr id="5" name="Text Placeholder 4"/>
          <p:cNvSpPr>
            <a:spLocks noGrp="1"/>
          </p:cNvSpPr>
          <p:nvPr>
            <p:ph type="body" idx="2"/>
          </p:nvPr>
        </p:nvSpPr>
        <p:spPr/>
        <p:txBody>
          <a:bodyPr wrap="square"/>
          <a:lstStyle/>
          <a:p>
            <a:r>
              <a:t>A custom label or product type that vanishes breaks the Performance Max listing groups built on it. The guards read every feed four times a day against a known-good baseline and draft the client email first.</a:t>
            </a:r>
          </a:p>
        </p:txBody>
      </p:sp>
      <p:sp>
        <p:nvSpPr>
          <p:cNvPr id="6" name="Text Placeholder 5"/>
          <p:cNvSpPr>
            <a:spLocks noGrp="1"/>
          </p:cNvSpPr>
          <p:nvPr>
            <p:ph type="body" idx="3"/>
          </p:nvPr>
        </p:nvSpPr>
        <p:spPr/>
        <p:txBody>
          <a:bodyPr wrap="square"/>
          <a:lstStyle/>
          <a:p>
            <a:r>
              <a:t>Overrun as a decision</a:t>
            </a:r>
          </a:p>
        </p:txBody>
      </p:sp>
      <p:sp>
        <p:nvSpPr>
          <p:cNvPr id="7" name="Text Placeholder 6"/>
          <p:cNvSpPr>
            <a:spLocks noGrp="1"/>
          </p:cNvSpPr>
          <p:nvPr>
            <p:ph type="body" idx="4"/>
          </p:nvPr>
        </p:nvSpPr>
        <p:spPr/>
        <p:txBody>
          <a:bodyPr wrap="square"/>
          <a:lstStyle/>
          <a:p>
            <a:r>
              <a:t>The 378 hours of negative balance now sit on every task and brand, with the team’s own call — carry the account, or hold new work — recorded beside the number. Overrun stops happening by accident.</a:t>
            </a:r>
          </a:p>
        </p:txBody>
      </p:sp>
      <p:sp>
        <p:nvSpPr>
          <p:cNvPr id="8" name="Text Placeholder 7"/>
          <p:cNvSpPr>
            <a:spLocks noGrp="1"/>
          </p:cNvSpPr>
          <p:nvPr>
            <p:ph type="body" idx="5"/>
          </p:nvPr>
        </p:nvSpPr>
        <p:spPr/>
        <p:txBody>
          <a:bodyPr wrap="square"/>
          <a:lstStyle/>
          <a:p>
            <a:r>
              <a:t>Skips seen in time</a:t>
            </a:r>
          </a:p>
        </p:txBody>
      </p:sp>
      <p:sp>
        <p:nvSpPr>
          <p:cNvPr id="9" name="Text Placeholder 8"/>
          <p:cNvSpPr>
            <a:spLocks noGrp="1"/>
          </p:cNvSpPr>
          <p:nvPr>
            <p:ph type="body" idx="6"/>
          </p:nvPr>
        </p:nvSpPr>
        <p:spPr/>
        <p:txBody>
          <a:bodyPr wrap="square"/>
          <a:lstStyle/>
          <a:p>
            <a:r>
              <a:t>2,750 skipped hours went unseen because nobody counted streaks. The Schedule module counts them per task and brand, so a three-month skip becomes a client conversation rather than a churn signal found too late.</a:t>
            </a:r>
          </a:p>
        </p:txBody>
      </p:sp>
      <p:sp>
        <p:nvSpPr>
          <p:cNvPr id="10" name="Text Placeholder 9"/>
          <p:cNvSpPr>
            <a:spLocks noGrp="1"/>
          </p:cNvSpPr>
          <p:nvPr>
            <p:ph type="body" idx="14"/>
          </p:nvPr>
        </p:nvSpPr>
        <p:spPr/>
        <p:txBody>
          <a:bodyPr wrap="square"/>
          <a:lstStyle/>
          <a:p>
            <a:r>
              <a:t>The larger half of the case is what stops happening.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What it cost, and what it returns</a:t>
            </a:r>
          </a:p>
        </p:txBody>
      </p:sp>
      <p:sp>
        <p:nvSpPr>
          <p:cNvPr id="3" name="Text Placeholder 2"/>
          <p:cNvSpPr>
            <a:spLocks noGrp="1"/>
          </p:cNvSpPr>
          <p:nvPr>
            <p:ph type="body" idx="13"/>
          </p:nvPr>
        </p:nvSpPr>
        <p:spPr/>
        <p:txBody>
          <a:bodyPr wrap="square"/>
          <a:lstStyle/>
          <a:p>
            <a:r>
              <a:t>One subscription and no infrastructure, against a year of reclaimed hours.</a:t>
            </a:r>
          </a:p>
        </p:txBody>
      </p:sp>
      <p:sp>
        <p:nvSpPr>
          <p:cNvPr id="4" name="Text Placeholder 3"/>
          <p:cNvSpPr>
            <a:spLocks noGrp="1"/>
          </p:cNvSpPr>
          <p:nvPr>
            <p:ph type="body" idx="1"/>
          </p:nvPr>
        </p:nvSpPr>
        <p:spPr/>
        <p:txBody>
          <a:bodyPr wrap="square"/>
          <a:lstStyle/>
          <a:p>
            <a:r>
              <a:t>What it cost to build</a:t>
            </a:r>
          </a:p>
        </p:txBody>
      </p:sp>
      <p:sp>
        <p:nvSpPr>
          <p:cNvPr id="5" name="Text Placeholder 4"/>
          <p:cNvSpPr>
            <a:spLocks noGrp="1"/>
          </p:cNvSpPr>
          <p:nvPr>
            <p:ph type="body" idx="2"/>
          </p:nvPr>
        </p:nvSpPr>
        <p:spPr/>
        <p:txBody>
          <a:bodyPr wrap="square"/>
          <a:lstStyle/>
          <a:p>
            <a:r>
              <a:t>Two months of one Claude Code subscription and £0 of infrastructure — Cloudflare Workers, KV and Access on the free tier, GitHub for the code. No licences, no vendor, no implementation partner.</a:t>
            </a:r>
          </a:p>
        </p:txBody>
      </p:sp>
      <p:sp>
        <p:nvSpPr>
          <p:cNvPr id="6" name="Text Placeholder 5"/>
          <p:cNvSpPr>
            <a:spLocks noGrp="1"/>
          </p:cNvSpPr>
          <p:nvPr>
            <p:ph type="body" idx="3"/>
          </p:nvPr>
        </p:nvSpPr>
        <p:spPr/>
        <p:txBody>
          <a:bodyPr wrap="square"/>
          <a:lstStyle/>
          <a:p>
            <a:r>
              <a:t>What it returns</a:t>
            </a:r>
          </a:p>
        </p:txBody>
      </p:sp>
      <p:sp>
        <p:nvSpPr>
          <p:cNvPr id="7" name="Text Placeholder 6"/>
          <p:cNvSpPr>
            <a:spLocks noGrp="1"/>
          </p:cNvSpPr>
          <p:nvPr>
            <p:ph type="body" idx="4"/>
          </p:nvPr>
        </p:nvSpPr>
        <p:spPr/>
        <p:txBody>
          <a:bodyPr wrap="square"/>
          <a:lstStyle/>
          <a:p>
            <a:r>
              <a:t>At the forecast above, the whole build cost less than one month of one AM’s reclaimed hours. The reimbursement is the subscription; the rollout costs each AM an hour of onboarding.</a:t>
            </a:r>
          </a:p>
        </p:txBody>
      </p:sp>
      <p:sp>
        <p:nvSpPr>
          <p:cNvPr id="8" name="Text Placeholder 7"/>
          <p:cNvSpPr>
            <a:spLocks noGrp="1"/>
          </p:cNvSpPr>
          <p:nvPr>
            <p:ph type="body" idx="14"/>
          </p:nvPr>
        </p:nvSpPr>
        <p:spPr/>
        <p:txBody>
          <a:bodyPr wrap="square"/>
          <a:lstStyle/>
          <a:p>
            <a:r>
              <a:t>The build cost less than one month of one AM’s reclaimed hours.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four</a:t>
            </a:r>
          </a:p>
        </p:txBody>
      </p:sp>
      <p:sp>
        <p:nvSpPr>
          <p:cNvPr id="3" name="Title 2"/>
          <p:cNvSpPr>
            <a:spLocks noGrp="1"/>
          </p:cNvSpPr>
          <p:nvPr>
            <p:ph type="title"/>
          </p:nvPr>
        </p:nvSpPr>
        <p:spPr/>
        <p:txBody>
          <a:bodyPr wrap="square"/>
          <a:lstStyle/>
          <a:p>
            <a:r>
              <a:t>What it does for the team</a:t>
            </a:r>
          </a:p>
        </p:txBody>
      </p:sp>
      <p:sp>
        <p:nvSpPr>
          <p:cNvPr id="4" name="Text Placeholder 3"/>
          <p:cNvSpPr>
            <a:spLocks noGrp="1"/>
          </p:cNvSpPr>
          <p:nvPr>
            <p:ph type="body" idx="1"/>
          </p:nvPr>
        </p:nvSpPr>
        <p:spPr/>
        <p:txBody>
          <a:bodyPr wrap="square"/>
          <a:lstStyle/>
          <a:p>
            <a:r>
              <a:t>The screens that give an experienced account manager eleven hours back are the same ones a new account manager is onboarded 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Three mechanisms, not twenty modules</a:t>
            </a:r>
          </a:p>
        </p:txBody>
      </p:sp>
      <p:sp>
        <p:nvSpPr>
          <p:cNvPr id="3" name="Text Placeholder 2"/>
          <p:cNvSpPr>
            <a:spLocks noGrp="1"/>
          </p:cNvSpPr>
          <p:nvPr>
            <p:ph type="body" idx="13"/>
          </p:nvPr>
        </p:nvSpPr>
        <p:spPr/>
        <p:txBody>
          <a:bodyPr wrap="square"/>
          <a:lstStyle/>
          <a:p>
            <a:r>
              <a:t>Every module does one of three things, and each one takes a judgement out of the account manager’s head.</a:t>
            </a:r>
          </a:p>
        </p:txBody>
      </p:sp>
      <p:sp>
        <p:nvSpPr>
          <p:cNvPr id="4" name="Text Placeholder 3"/>
          <p:cNvSpPr>
            <a:spLocks noGrp="1"/>
          </p:cNvSpPr>
          <p:nvPr>
            <p:ph type="body" idx="1"/>
          </p:nvPr>
        </p:nvSpPr>
        <p:spPr/>
        <p:txBody>
          <a:bodyPr wrap="square"/>
          <a:lstStyle/>
          <a:p>
            <a:r>
              <a:rPr sz="1880"/>
              <a:t>The bar is on the screen</a:t>
            </a:r>
          </a:p>
        </p:txBody>
      </p:sp>
      <p:sp>
        <p:nvSpPr>
          <p:cNvPr id="5" name="Text Placeholder 4"/>
          <p:cNvSpPr>
            <a:spLocks noGrp="1"/>
          </p:cNvSpPr>
          <p:nvPr>
            <p:ph type="body" idx="2"/>
          </p:nvPr>
        </p:nvSpPr>
        <p:spPr/>
        <p:txBody>
          <a:bodyPr wrap="square"/>
          <a:lstStyle/>
          <a:p>
            <a:r>
              <a:rPr sz="1410"/>
              <a:t>What good looks like used to be learned from whoever had been here longest. The content-quality scorecard runs 46 rules across the eight free-text fields, each quoting that attribute’s own Google specification and marked as a requirement or a best practice. The bar is a number with its source attached, so the same feed reads the same whoever opens it.</a:t>
            </a:r>
          </a:p>
        </p:txBody>
      </p:sp>
      <p:sp>
        <p:nvSpPr>
          <p:cNvPr id="6" name="Text Placeholder 5"/>
          <p:cNvSpPr>
            <a:spLocks noGrp="1"/>
          </p:cNvSpPr>
          <p:nvPr>
            <p:ph type="body" idx="3"/>
          </p:nvPr>
        </p:nvSpPr>
        <p:spPr/>
        <p:txBody>
          <a:bodyPr wrap="square"/>
          <a:lstStyle/>
          <a:p>
            <a:r>
              <a:rPr sz="1880"/>
              <a:t>The next move is offered</a:t>
            </a:r>
          </a:p>
        </p:txBody>
      </p:sp>
      <p:sp>
        <p:nvSpPr>
          <p:cNvPr id="7" name="Text Placeholder 6"/>
          <p:cNvSpPr>
            <a:spLocks noGrp="1"/>
          </p:cNvSpPr>
          <p:nvPr>
            <p:ph type="body" idx="4"/>
          </p:nvPr>
        </p:nvSpPr>
        <p:spPr/>
        <p:txBody>
          <a:bodyPr wrap="square"/>
          <a:lstStyle/>
          <a:p>
            <a:r>
              <a:rPr sz="1410"/>
              <a:t>Knowing what to do next used to be experience. Every brand ranks up to five next moves from nine deterministic rules — critical guard alerts first, then overdue tasks, the weakest feed audit, keyword saturation — and each one opens the module already filtered to what it just counted. The Playbook adds the plays peer accounts run that this one carries nothing of.</a:t>
            </a:r>
          </a:p>
        </p:txBody>
      </p:sp>
      <p:sp>
        <p:nvSpPr>
          <p:cNvPr id="8" name="Text Placeholder 7"/>
          <p:cNvSpPr>
            <a:spLocks noGrp="1"/>
          </p:cNvSpPr>
          <p:nvPr>
            <p:ph type="body" idx="5"/>
          </p:nvPr>
        </p:nvSpPr>
        <p:spPr/>
        <p:txBody>
          <a:bodyPr wrap="square"/>
          <a:lstStyle/>
          <a:p>
            <a:r>
              <a:t>The format is provided</a:t>
            </a:r>
          </a:p>
        </p:txBody>
      </p:sp>
      <p:sp>
        <p:nvSpPr>
          <p:cNvPr id="9" name="Text Placeholder 8"/>
          <p:cNvSpPr>
            <a:spLocks noGrp="1"/>
          </p:cNvSpPr>
          <p:nvPr>
            <p:ph type="body" idx="6"/>
          </p:nvPr>
        </p:nvSpPr>
        <p:spPr/>
        <p:txBody>
          <a:bodyPr wrap="square"/>
          <a:lstStyle/>
          <a:p>
            <a:r>
              <a:rPr sz="1500"/>
              <a:t>A brief used to be as good as the person writing it. The Briefing Studio scores the six things ASPL would otherwise come back and ask — market, cohort, success measure, definition of done, assets, due date — and embeds the tracking tokens itself. Quotes export the finance workbook; decks build on the approved template.</a:t>
            </a:r>
          </a:p>
        </p:txBody>
      </p:sp>
      <p:sp>
        <p:nvSpPr>
          <p:cNvPr id="10" name="Text Placeholder 9"/>
          <p:cNvSpPr>
            <a:spLocks noGrp="1"/>
          </p:cNvSpPr>
          <p:nvPr>
            <p:ph type="body" idx="14"/>
          </p:nvPr>
        </p:nvSpPr>
        <p:spPr/>
        <p:txBody>
          <a:bodyPr wrap="square"/>
          <a:lstStyle/>
          <a:p>
            <a:r>
              <a:t>The account manager supplies the judgement. The system supplies the standard, the next move and the format.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The questions a new AM used to have to ask</a:t>
            </a:r>
          </a:p>
        </p:txBody>
      </p:sp>
      <p:sp>
        <p:nvSpPr>
          <p:cNvPr id="3" name="Text Placeholder 2"/>
          <p:cNvSpPr>
            <a:spLocks noGrp="1"/>
          </p:cNvSpPr>
          <p:nvPr>
            <p:ph type="body" idx="11"/>
          </p:nvPr>
        </p:nvSpPr>
        <p:spPr/>
        <p:txBody>
          <a:bodyPr wrap="square"/>
          <a:lstStyle/>
          <a:p>
            <a:r>
              <a:t>Eight things every account manager needs in the first week, and where the answer lives now.</a:t>
            </a:r>
          </a:p>
        </p:txBody>
      </p:sp>
      <p:sp>
        <p:nvSpPr>
          <p:cNvPr id="4" name="Text Placeholder 3"/>
          <p:cNvSpPr>
            <a:spLocks noGrp="1"/>
          </p:cNvSpPr>
          <p:nvPr>
            <p:ph type="body" idx="14"/>
          </p:nvPr>
        </p:nvSpPr>
        <p:spPr/>
        <p:txBody>
          <a:bodyPr wrap="square"/>
          <a:lstStyle/>
          <a:p>
            <a:r>
              <a:t>Not one of these answers depends on catching somebody at their desk.</a:t>
            </a:r>
          </a:p>
        </p:txBody>
      </p:sp>
      <p:graphicFrame>
        <p:nvGraphicFramePr>
          <p:cNvPr id="5" name="Table 4"/>
          <p:cNvGraphicFramePr>
            <a:graphicFrameLocks noGrp="1"/>
          </p:cNvGraphicFramePr>
          <p:nvPr/>
        </p:nvGraphicFramePr>
        <p:xfrm>
          <a:off x="612648" y="1847088"/>
          <a:ext cx="10972799" cy="3794760"/>
        </p:xfrm>
        <a:graphic>
          <a:graphicData uri="http://schemas.openxmlformats.org/drawingml/2006/table">
            <a:tbl>
              <a:tblPr firstRow="1" bandRow="1">
                <a:tableStyleId>{5C22544A-7EE6-4342-B048-85BDC9FD1C3A}</a:tableStyleId>
              </a:tblPr>
              <a:tblGrid>
                <a:gridCol w="2194560"/>
                <a:gridCol w="2548521"/>
                <a:gridCol w="6229718"/>
              </a:tblGrid>
              <a:tr h="384048">
                <a:tc>
                  <a:txBody>
                    <a:bodyPr/>
                    <a:lstStyle/>
                    <a:p>
                      <a:r>
                        <a:rPr sz="1300" b="1">
                          <a:solidFill>
                            <a:srgbClr val="FFFFFF"/>
                          </a:solidFill>
                        </a:rPr>
                        <a:t>What they need to know</a:t>
                      </a:r>
                    </a:p>
                  </a:txBody>
                  <a:tcPr/>
                </a:tc>
                <a:tc>
                  <a:txBody>
                    <a:bodyPr/>
                    <a:lstStyle/>
                    <a:p>
                      <a:r>
                        <a:rPr sz="1300" b="1">
                          <a:solidFill>
                            <a:srgbClr val="FFFFFF"/>
                          </a:solidFill>
                        </a:rPr>
                        <a:t>Before</a:t>
                      </a:r>
                    </a:p>
                  </a:txBody>
                  <a:tcPr/>
                </a:tc>
                <a:tc>
                  <a:txBody>
                    <a:bodyPr/>
                    <a:lstStyle/>
                    <a:p>
                      <a:r>
                        <a:rPr sz="1300" b="1">
                          <a:solidFill>
                            <a:srgbClr val="FFFFFF"/>
                          </a:solidFill>
                        </a:rPr>
                        <a:t>With the FCC</a:t>
                      </a:r>
                    </a:p>
                  </a:txBody>
                  <a:tcPr/>
                </a:tc>
              </a:tr>
              <a:tr h="426339">
                <a:tc>
                  <a:txBody>
                    <a:bodyPr/>
                    <a:lstStyle/>
                    <a:p>
                      <a:r>
                        <a:rPr sz="1100"/>
                        <a:t>Which account needs me today?</a:t>
                      </a:r>
                    </a:p>
                  </a:txBody>
                  <a:tcPr/>
                </a:tc>
                <a:tc>
                  <a:txBody>
                    <a:bodyPr/>
                    <a:lstStyle/>
                    <a:p>
                      <a:r>
                        <a:rPr sz="1100"/>
                        <a:t>Ask the senior AM</a:t>
                      </a:r>
                    </a:p>
                  </a:txBody>
                  <a:tcPr/>
                </a:tc>
                <a:tc>
                  <a:txBody>
                    <a:bodyPr/>
                    <a:lstStyle/>
                    <a:p>
                      <a:r>
                        <a:rPr sz="1100"/>
                        <a:t>A health score per brand with every deduction named, and up to five ranked next moves</a:t>
                      </a:r>
                    </a:p>
                  </a:txBody>
                  <a:tcPr/>
                </a:tc>
              </a:tr>
              <a:tr h="426339">
                <a:tc>
                  <a:txBody>
                    <a:bodyPr/>
                    <a:lstStyle/>
                    <a:p>
                      <a:r>
                        <a:rPr sz="1100"/>
                        <a:t>Is this feed any good?</a:t>
                      </a:r>
                    </a:p>
                  </a:txBody>
                  <a:tcPr/>
                </a:tc>
                <a:tc>
                  <a:txBody>
                    <a:bodyPr/>
                    <a:lstStyle/>
                    <a:p>
                      <a:r>
                        <a:rPr sz="1100"/>
                        <a:t>Learn the bar from a colleague</a:t>
                      </a:r>
                    </a:p>
                  </a:txBody>
                  <a:tcPr/>
                </a:tc>
                <a:tc>
                  <a:txBody>
                    <a:bodyPr/>
                    <a:lstStyle/>
                    <a:p>
                      <a:r>
                        <a:rPr sz="1100"/>
                        <a:t>Feed score and content quality — 46 rules, each citing Google’s own specification</a:t>
                      </a:r>
                    </a:p>
                  </a:txBody>
                  <a:tcPr/>
                </a:tc>
              </a:tr>
              <a:tr h="426339">
                <a:tc>
                  <a:txBody>
                    <a:bodyPr/>
                    <a:lstStyle/>
                    <a:p>
                      <a:r>
                        <a:rPr sz="1100"/>
                        <a:t>What goes into a brief?</a:t>
                      </a:r>
                    </a:p>
                  </a:txBody>
                  <a:tcPr/>
                </a:tc>
                <a:tc>
                  <a:txBody>
                    <a:bodyPr/>
                    <a:lstStyle/>
                    <a:p>
                      <a:r>
                        <a:rPr sz="1100"/>
                        <a:t>Find an old one and copy it</a:t>
                      </a:r>
                    </a:p>
                  </a:txBody>
                  <a:tcPr/>
                </a:tc>
                <a:tc>
                  <a:txBody>
                    <a:bodyPr/>
                    <a:lstStyle/>
                    <a:p>
                      <a:r>
                        <a:rPr sz="1100"/>
                        <a:t>Briefing Studio: six checks, the definition of done, the tokens and due date filled in</a:t>
                      </a:r>
                    </a:p>
                  </a:txBody>
                  <a:tcPr/>
                </a:tc>
              </a:tr>
              <a:tr h="426339">
                <a:tc>
                  <a:txBody>
                    <a:bodyPr/>
                    <a:lstStyle/>
                    <a:p>
                      <a:r>
                        <a:rPr sz="1100"/>
                        <a:t>Have we the hours for this?</a:t>
                      </a:r>
                    </a:p>
                  </a:txBody>
                  <a:tcPr/>
                </a:tc>
                <a:tc>
                  <a:txBody>
                    <a:bodyPr/>
                    <a:lstStyle/>
                    <a:p>
                      <a:r>
                        <a:rPr sz="1100"/>
                        <a:t>Log into the Task Manager per client</a:t>
                      </a:r>
                    </a:p>
                  </a:txBody>
                  <a:tcPr/>
                </a:tc>
                <a:tc>
                  <a:txBody>
                    <a:bodyPr/>
                    <a:lstStyle/>
                    <a:p>
                      <a:r>
                        <a:rPr sz="1100"/>
                        <a:t>A balance dot on the task, the ticket and the brand, with the team’s decision beside it</a:t>
                      </a:r>
                    </a:p>
                  </a:txBody>
                  <a:tcPr/>
                </a:tc>
              </a:tr>
              <a:tr h="426339">
                <a:tc>
                  <a:txBody>
                    <a:bodyPr/>
                    <a:lstStyle/>
                    <a:p>
                      <a:r>
                        <a:rPr sz="1100"/>
                        <a:t>What should we be doing here?</a:t>
                      </a:r>
                    </a:p>
                  </a:txBody>
                  <a:tcPr/>
                </a:tc>
                <a:tc>
                  <a:txBody>
                    <a:bodyPr/>
                    <a:lstStyle/>
                    <a:p>
                      <a:r>
                        <a:rPr sz="1100"/>
                        <a:t>Read the plan and infer</a:t>
                      </a:r>
                    </a:p>
                  </a:txBody>
                  <a:tcPr/>
                </a:tc>
                <a:tc>
                  <a:txBody>
                    <a:bodyPr/>
                    <a:lstStyle/>
                    <a:p>
                      <a:r>
                        <a:rPr sz="1100"/>
                        <a:t>Playbook: what is landing, what is stalling, what peers run and this account does not</a:t>
                      </a:r>
                    </a:p>
                  </a:txBody>
                  <a:tcPr/>
                </a:tc>
              </a:tr>
              <a:tr h="426339">
                <a:tc>
                  <a:txBody>
                    <a:bodyPr/>
                    <a:lstStyle/>
                    <a:p>
                      <a:r>
                        <a:rPr sz="1100"/>
                        <a:t>What have we already promised?</a:t>
                      </a:r>
                    </a:p>
                  </a:txBody>
                  <a:tcPr/>
                </a:tc>
                <a:tc>
                  <a:txBody>
                    <a:bodyPr/>
                    <a:lstStyle/>
                    <a:p>
                      <a:r>
                        <a:rPr sz="1100"/>
                        <a:t>Search the inbox</a:t>
                      </a:r>
                    </a:p>
                  </a:txBody>
                  <a:tcPr/>
                </a:tc>
                <a:tc>
                  <a:txBody>
                    <a:bodyPr/>
                    <a:lstStyle/>
                    <a:p>
                      <a:r>
                        <a:rPr sz="1100"/>
                        <a:t>The brief ledger with each stage and whose court it sits in; call actions filed as tasks</a:t>
                      </a:r>
                    </a:p>
                  </a:txBody>
                  <a:tcPr/>
                </a:tc>
              </a:tr>
              <a:tr h="426339">
                <a:tc>
                  <a:txBody>
                    <a:bodyPr/>
                    <a:lstStyle/>
                    <a:p>
                      <a:r>
                        <a:rPr sz="1100"/>
                        <a:t>How do I price it?</a:t>
                      </a:r>
                    </a:p>
                  </a:txBody>
                  <a:tcPr/>
                </a:tc>
                <a:tc>
                  <a:txBody>
                    <a:bodyPr/>
                    <a:lstStyle/>
                    <a:p>
                      <a:r>
                        <a:rPr sz="1100"/>
                        <a:t>Ask, or guess</a:t>
                      </a:r>
                    </a:p>
                  </a:txBody>
                  <a:tcPr/>
                </a:tc>
                <a:tc>
                  <a:txBody>
                    <a:bodyPr/>
                    <a:lstStyle/>
                    <a:p>
                      <a:r>
                        <a:rPr sz="1100"/>
                        <a:t>AI Quote on the shared rate card, one-off and monthly kept apart</a:t>
                      </a:r>
                    </a:p>
                  </a:txBody>
                  <a:tcPr/>
                </a:tc>
              </a:tr>
              <a:tr h="426339">
                <a:tc>
                  <a:txBody>
                    <a:bodyPr/>
                    <a:lstStyle/>
                    <a:p>
                      <a:r>
                        <a:rPr sz="1100"/>
                        <a:t>How do I build the review deck?</a:t>
                      </a:r>
                    </a:p>
                  </a:txBody>
                  <a:tcPr/>
                </a:tc>
                <a:tc>
                  <a:txBody>
                    <a:bodyPr/>
                    <a:lstStyle/>
                    <a:p>
                      <a:r>
                        <a:rPr sz="1100"/>
                        <a:t>Two days and a blank template</a:t>
                      </a:r>
                    </a:p>
                  </a:txBody>
                  <a:tcPr/>
                </a:tc>
                <a:tc>
                  <a:txBody>
                    <a:bodyPr/>
                    <a:lstStyle/>
                    <a:p>
                      <a:r>
                        <a:rPr sz="1100"/>
                        <a:t>Deck Generator on the core template, from the live plan</a:t>
                      </a:r>
                    </a:p>
                  </a:txBody>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From invite to owning the account</a:t>
            </a:r>
          </a:p>
        </p:txBody>
      </p:sp>
      <p:sp>
        <p:nvSpPr>
          <p:cNvPr id="3" name="Text Placeholder 2"/>
          <p:cNvSpPr>
            <a:spLocks noGrp="1"/>
          </p:cNvSpPr>
          <p:nvPr>
            <p:ph type="body" idx="11"/>
          </p:nvPr>
        </p:nvSpPr>
        <p:spPr/>
        <p:txBody>
          <a:bodyPr wrap="square"/>
          <a:lstStyle/>
          <a:p>
            <a:r>
              <a:t>A new account manager is useful before they have met every client, because the account is readable.</a:t>
            </a:r>
          </a:p>
        </p:txBody>
      </p:sp>
      <p:sp>
        <p:nvSpPr>
          <p:cNvPr id="4" name="Text Placeholder 3"/>
          <p:cNvSpPr>
            <a:spLocks noGrp="1"/>
          </p:cNvSpPr>
          <p:nvPr>
            <p:ph type="body" idx="1"/>
          </p:nvPr>
        </p:nvSpPr>
        <p:spPr/>
        <p:txBody>
          <a:bodyPr wrap="square"/>
          <a:lstStyle/>
          <a:p>
            <a:r>
              <a:t>1</a:t>
            </a:r>
          </a:p>
        </p:txBody>
      </p:sp>
      <p:sp>
        <p:nvSpPr>
          <p:cNvPr id="5" name="Text Placeholder 4"/>
          <p:cNvSpPr>
            <a:spLocks noGrp="1"/>
          </p:cNvSpPr>
          <p:nvPr>
            <p:ph type="body" idx="2"/>
          </p:nvPr>
        </p:nvSpPr>
        <p:spPr/>
        <p:txBody>
          <a:bodyPr wrap="square"/>
          <a:lstStyle/>
          <a:p>
            <a:r>
              <a:rPr sz="1689"/>
              <a:t>The whole book, without asking</a:t>
            </a:r>
          </a:p>
        </p:txBody>
      </p:sp>
      <p:sp>
        <p:nvSpPr>
          <p:cNvPr id="6" name="Text Placeholder 5"/>
          <p:cNvSpPr>
            <a:spLocks noGrp="1"/>
          </p:cNvSpPr>
          <p:nvPr>
            <p:ph type="body" idx="3"/>
          </p:nvPr>
        </p:nvSpPr>
        <p:spPr/>
        <p:txBody>
          <a:bodyPr wrap="square"/>
          <a:lstStyle/>
          <a:p>
            <a:r>
              <a:t>Day one</a:t>
            </a:r>
          </a:p>
          <a:p>
            <a:r>
              <a:t>One invite, scoped to their clients</a:t>
            </a:r>
          </a:p>
          <a:p>
            <a:r>
              <a:t>The dossier: plan, feeds, hours</a:t>
            </a:r>
          </a:p>
          <a:p>
            <a:r>
              <a:t>Feed Chat answers in plain English</a:t>
            </a:r>
          </a:p>
          <a:p>
            <a:r>
              <a:t>Nothing to install; reads on a phone</a:t>
            </a:r>
          </a:p>
        </p:txBody>
      </p:sp>
      <p:sp>
        <p:nvSpPr>
          <p:cNvPr id="7" name="Text Placeholder 6"/>
          <p:cNvSpPr>
            <a:spLocks noGrp="1"/>
          </p:cNvSpPr>
          <p:nvPr>
            <p:ph type="body" idx="4"/>
          </p:nvPr>
        </p:nvSpPr>
        <p:spPr/>
        <p:txBody>
          <a:bodyPr wrap="square"/>
          <a:lstStyle/>
          <a:p>
            <a:r>
              <a:t>2</a:t>
            </a:r>
          </a:p>
        </p:txBody>
      </p:sp>
      <p:sp>
        <p:nvSpPr>
          <p:cNvPr id="8" name="Text Placeholder 7"/>
          <p:cNvSpPr>
            <a:spLocks noGrp="1"/>
          </p:cNvSpPr>
          <p:nvPr>
            <p:ph type="body" idx="5"/>
          </p:nvPr>
        </p:nvSpPr>
        <p:spPr/>
        <p:txBody>
          <a:bodyPr wrap="square"/>
          <a:lstStyle/>
          <a:p>
            <a:r>
              <a:t>Real work, with the rails on</a:t>
            </a:r>
          </a:p>
        </p:txBody>
      </p:sp>
      <p:sp>
        <p:nvSpPr>
          <p:cNvPr id="9" name="Text Placeholder 8"/>
          <p:cNvSpPr>
            <a:spLocks noGrp="1"/>
          </p:cNvSpPr>
          <p:nvPr>
            <p:ph type="body" idx="6"/>
          </p:nvPr>
        </p:nvSpPr>
        <p:spPr/>
        <p:txBody>
          <a:bodyPr wrap="square"/>
          <a:lstStyle/>
          <a:p>
            <a:r>
              <a:t>Week one</a:t>
            </a:r>
          </a:p>
          <a:p>
            <a:r>
              <a:t>First brief scored before it sends</a:t>
            </a:r>
          </a:p>
          <a:p>
            <a:r>
              <a:t>A guard alert, email already drafted</a:t>
            </a:r>
          </a:p>
          <a:p>
            <a:r>
              <a:t>Go or skip, with the balance in view</a:t>
            </a:r>
          </a:p>
          <a:p>
            <a:r>
              <a:t>Every action logged and reviewable</a:t>
            </a:r>
          </a:p>
        </p:txBody>
      </p:sp>
      <p:sp>
        <p:nvSpPr>
          <p:cNvPr id="10" name="Text Placeholder 9"/>
          <p:cNvSpPr>
            <a:spLocks noGrp="1"/>
          </p:cNvSpPr>
          <p:nvPr>
            <p:ph type="body" idx="7"/>
          </p:nvPr>
        </p:nvSpPr>
        <p:spPr/>
        <p:txBody>
          <a:bodyPr wrap="square"/>
          <a:lstStyle/>
          <a:p>
            <a:r>
              <a:t>3</a:t>
            </a:r>
          </a:p>
        </p:txBody>
      </p:sp>
      <p:sp>
        <p:nvSpPr>
          <p:cNvPr id="11" name="Text Placeholder 10"/>
          <p:cNvSpPr>
            <a:spLocks noGrp="1"/>
          </p:cNvSpPr>
          <p:nvPr>
            <p:ph type="body" idx="8"/>
          </p:nvPr>
        </p:nvSpPr>
        <p:spPr/>
        <p:txBody>
          <a:bodyPr wrap="square"/>
          <a:lstStyle/>
          <a:p>
            <a:r>
              <a:rPr sz="1580"/>
              <a:t>Running the account, not shadowing it</a:t>
            </a:r>
          </a:p>
        </p:txBody>
      </p:sp>
      <p:sp>
        <p:nvSpPr>
          <p:cNvPr id="12" name="Text Placeholder 11"/>
          <p:cNvSpPr>
            <a:spLocks noGrp="1"/>
          </p:cNvSpPr>
          <p:nvPr>
            <p:ph type="body" idx="9"/>
          </p:nvPr>
        </p:nvSpPr>
        <p:spPr/>
        <p:txBody>
          <a:bodyPr wrap="square"/>
          <a:lstStyle/>
          <a:p>
            <a:r>
              <a:t>Week two</a:t>
            </a:r>
          </a:p>
          <a:p>
            <a:r>
              <a:t>Monday call prepared from Leadership</a:t>
            </a:r>
          </a:p>
          <a:p>
            <a:r>
              <a:t>A scorecard exported to the client</a:t>
            </a:r>
          </a:p>
          <a:p>
            <a:r>
              <a:t>A quote on the shared rate card</a:t>
            </a:r>
          </a:p>
          <a:p>
            <a:r>
              <a:t>Keyword moments scheduled</a:t>
            </a:r>
          </a:p>
        </p:txBody>
      </p:sp>
      <p:sp>
        <p:nvSpPr>
          <p:cNvPr id="13" name="Text Placeholder 12"/>
          <p:cNvSpPr>
            <a:spLocks noGrp="1"/>
          </p:cNvSpPr>
          <p:nvPr>
            <p:ph type="body" idx="14"/>
          </p:nvPr>
        </p:nvSpPr>
        <p:spPr/>
        <p:txBody>
          <a:bodyPr wrap="square"/>
          <a:lstStyle/>
          <a:p>
            <a:r>
              <a:t>The mechanical half of the apprenticeship — where things live and what good looks like — is on the screen from day one.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What it gives whoever runs the team</a:t>
            </a:r>
          </a:p>
        </p:txBody>
      </p:sp>
      <p:sp>
        <p:nvSpPr>
          <p:cNvPr id="3" name="Text Placeholder 2"/>
          <p:cNvSpPr>
            <a:spLocks noGrp="1"/>
          </p:cNvSpPr>
          <p:nvPr>
            <p:ph type="body" idx="13"/>
          </p:nvPr>
        </p:nvSpPr>
        <p:spPr/>
        <p:txBody>
          <a:bodyPr wrap="square"/>
          <a:lstStyle/>
          <a:p>
            <a:r>
              <a:t>The data that helps an account manager act is the data a team lead needs to coach, balance and hand over.</a:t>
            </a:r>
          </a:p>
        </p:txBody>
      </p:sp>
      <p:sp>
        <p:nvSpPr>
          <p:cNvPr id="4" name="Text Placeholder 3"/>
          <p:cNvSpPr>
            <a:spLocks noGrp="1"/>
          </p:cNvSpPr>
          <p:nvPr>
            <p:ph type="body" idx="1"/>
          </p:nvPr>
        </p:nvSpPr>
        <p:spPr/>
        <p:txBody>
          <a:bodyPr wrap="square"/>
          <a:lstStyle/>
          <a:p>
            <a:r>
              <a:rPr sz="1880"/>
              <a:t>Coaching on one screen</a:t>
            </a:r>
          </a:p>
        </p:txBody>
      </p:sp>
      <p:sp>
        <p:nvSpPr>
          <p:cNvPr id="5" name="Text Placeholder 4"/>
          <p:cNvSpPr>
            <a:spLocks noGrp="1"/>
          </p:cNvSpPr>
          <p:nvPr>
            <p:ph type="body" idx="2"/>
          </p:nvPr>
        </p:nvSpPr>
        <p:spPr/>
        <p:txBody>
          <a:bodyPr wrap="square"/>
          <a:lstStyle/>
          <a:p>
            <a:r>
              <a:rPr sz="1500"/>
              <a:t>View-as opens the FCC exactly as a named account manager sees it — their clients, their modules, their alerts — so a one-to-one is a conversation about one screen rather than a described one. The Playbook turns “how is this account doing” into a list of plays that are landing, stalling or absent.</a:t>
            </a:r>
          </a:p>
        </p:txBody>
      </p:sp>
      <p:sp>
        <p:nvSpPr>
          <p:cNvPr id="6" name="Text Placeholder 5"/>
          <p:cNvSpPr>
            <a:spLocks noGrp="1"/>
          </p:cNvSpPr>
          <p:nvPr>
            <p:ph type="body" idx="3"/>
          </p:nvPr>
        </p:nvSpPr>
        <p:spPr/>
        <p:txBody>
          <a:bodyPr wrap="square"/>
          <a:lstStyle/>
          <a:p>
            <a:r>
              <a:rPr sz="1760"/>
              <a:t>One standard, everywhere</a:t>
            </a:r>
          </a:p>
        </p:txBody>
      </p:sp>
      <p:sp>
        <p:nvSpPr>
          <p:cNvPr id="7" name="Text Placeholder 6"/>
          <p:cNvSpPr>
            <a:spLocks noGrp="1"/>
          </p:cNvSpPr>
          <p:nvPr>
            <p:ph type="body" idx="4"/>
          </p:nvPr>
        </p:nvSpPr>
        <p:spPr/>
        <p:txBody>
          <a:bodyPr wrap="square"/>
          <a:lstStyle/>
          <a:p>
            <a:r>
              <a:t>Every brief is scored against the same six checks, every feed against the same rules, every quote built on the same rate card. The distance between the most experienced account manager and the newest narrows because the floor rises, not because anybody is being watched.</a:t>
            </a:r>
          </a:p>
        </p:txBody>
      </p:sp>
      <p:sp>
        <p:nvSpPr>
          <p:cNvPr id="8" name="Text Placeholder 7"/>
          <p:cNvSpPr>
            <a:spLocks noGrp="1"/>
          </p:cNvSpPr>
          <p:nvPr>
            <p:ph type="body" idx="5"/>
          </p:nvPr>
        </p:nvSpPr>
        <p:spPr/>
        <p:txBody>
          <a:bodyPr wrap="square"/>
          <a:lstStyle/>
          <a:p>
            <a:r>
              <a:rPr sz="1760"/>
              <a:t>Handover in an afternoon</a:t>
            </a:r>
          </a:p>
        </p:txBody>
      </p:sp>
      <p:sp>
        <p:nvSpPr>
          <p:cNvPr id="9" name="Text Placeholder 8"/>
          <p:cNvSpPr>
            <a:spLocks noGrp="1"/>
          </p:cNvSpPr>
          <p:nvPr>
            <p:ph type="body" idx="6"/>
          </p:nvPr>
        </p:nvSpPr>
        <p:spPr/>
        <p:txBody>
          <a:bodyPr wrap="square"/>
          <a:lstStyle/>
          <a:p>
            <a:r>
              <a:t>The dossier is the live handover document — plan, briefs in flight, feed scores, hours, calendar moments, per brand and current. An account moves between managers without a handover pack, and holiday cover stops being a gap in the client’s week.</a:t>
            </a:r>
          </a:p>
        </p:txBody>
      </p:sp>
      <p:sp>
        <p:nvSpPr>
          <p:cNvPr id="10" name="Text Placeholder 9"/>
          <p:cNvSpPr>
            <a:spLocks noGrp="1"/>
          </p:cNvSpPr>
          <p:nvPr>
            <p:ph type="body" idx="14"/>
          </p:nvPr>
        </p:nvSpPr>
        <p:spPr/>
        <p:txBody>
          <a:bodyPr wrap="square"/>
          <a:lstStyle/>
          <a:p>
            <a:r>
              <a:t>The floor rises. The ceiling is still the account manager.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rPr sz="2620"/>
              <a:t>It shortens the mechanical half of the apprenticeship — where the data lives, what good looks like, what a brief must contain — and not the relational half: reading a client, holding a hard call, knowing when to push. So every figure states its source and every alert opens to its evidence.</a:t>
            </a:r>
          </a:p>
        </p:txBody>
      </p:sp>
      <p:sp>
        <p:nvSpPr>
          <p:cNvPr id="3" name="Text Placeholder 2"/>
          <p:cNvSpPr>
            <a:spLocks noGrp="1"/>
          </p:cNvSpPr>
          <p:nvPr>
            <p:ph type="body" idx="11"/>
          </p:nvPr>
        </p:nvSpPr>
        <p:spPr/>
        <p:txBody>
          <a:bodyPr wrap="square"/>
          <a:lstStyle/>
          <a:p>
            <a:r>
              <a:t>What it does not do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five</a:t>
            </a:r>
          </a:p>
        </p:txBody>
      </p:sp>
      <p:sp>
        <p:nvSpPr>
          <p:cNvPr id="3" name="Title 2"/>
          <p:cNvSpPr>
            <a:spLocks noGrp="1"/>
          </p:cNvSpPr>
          <p:nvPr>
            <p:ph type="title"/>
          </p:nvPr>
        </p:nvSpPr>
        <p:spPr/>
        <p:txBody>
          <a:bodyPr wrap="square"/>
          <a:lstStyle/>
          <a:p>
            <a:r>
              <a:t>Going forward</a:t>
            </a:r>
          </a:p>
        </p:txBody>
      </p:sp>
      <p:sp>
        <p:nvSpPr>
          <p:cNvPr id="4" name="Text Placeholder 3"/>
          <p:cNvSpPr>
            <a:spLocks noGrp="1"/>
          </p:cNvSpPr>
          <p:nvPr>
            <p:ph type="body" idx="1"/>
          </p:nvPr>
        </p:nvSpPr>
        <p:spPr/>
        <p:txBody>
          <a:bodyPr wrap="square"/>
          <a:lstStyle/>
          <a:p>
            <a:r>
              <a:t>Ninety days to make it the team's way of working, then the platform for feedback, AM management and the business.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Ninety days to the team’s operating system</a:t>
            </a:r>
          </a:p>
        </p:txBody>
      </p:sp>
      <p:sp>
        <p:nvSpPr>
          <p:cNvPr id="3" name="Text Placeholder 2"/>
          <p:cNvSpPr>
            <a:spLocks noGrp="1"/>
          </p:cNvSpPr>
          <p:nvPr>
            <p:ph type="body" idx="11"/>
          </p:nvPr>
        </p:nvSpPr>
        <p:spPr/>
        <p:txBody>
          <a:bodyPr wrap="square"/>
          <a:lstStyle/>
          <a:p>
            <a:r>
              <a:t>Onboarding is an invite and an hour; the plan measures before and after.</a:t>
            </a:r>
          </a:p>
        </p:txBody>
      </p:sp>
      <p:sp>
        <p:nvSpPr>
          <p:cNvPr id="4" name="Text Placeholder 3"/>
          <p:cNvSpPr>
            <a:spLocks noGrp="1"/>
          </p:cNvSpPr>
          <p:nvPr>
            <p:ph type="body" idx="1"/>
          </p:nvPr>
        </p:nvSpPr>
        <p:spPr/>
        <p:txBody>
          <a:bodyPr wrap="square"/>
          <a:lstStyle/>
          <a:p>
            <a:r>
              <a:t>1</a:t>
            </a:r>
          </a:p>
        </p:txBody>
      </p:sp>
      <p:sp>
        <p:nvSpPr>
          <p:cNvPr id="5" name="Text Placeholder 4"/>
          <p:cNvSpPr>
            <a:spLocks noGrp="1"/>
          </p:cNvSpPr>
          <p:nvPr>
            <p:ph type="body" idx="2"/>
          </p:nvPr>
        </p:nvSpPr>
        <p:spPr/>
        <p:txBody>
          <a:bodyPr wrap="square"/>
          <a:lstStyle/>
          <a:p>
            <a:r>
              <a:rPr sz="1689"/>
              <a:t>Everyone in, baseline measured</a:t>
            </a:r>
          </a:p>
        </p:txBody>
      </p:sp>
      <p:sp>
        <p:nvSpPr>
          <p:cNvPr id="6" name="Text Placeholder 5"/>
          <p:cNvSpPr>
            <a:spLocks noGrp="1"/>
          </p:cNvSpPr>
          <p:nvPr>
            <p:ph type="body" idx="3"/>
          </p:nvPr>
        </p:nvSpPr>
        <p:spPr/>
        <p:txBody>
          <a:bodyPr wrap="square"/>
          <a:lstStyle/>
          <a:p>
            <a:r>
              <a:t>Days 0–30</a:t>
            </a:r>
          </a:p>
          <a:p>
            <a:r>
              <a:t>Access invites, scoped per AM</a:t>
            </a:r>
          </a:p>
          <a:p>
            <a:r>
              <a:t>One-hour walkthrough each</a:t>
            </a:r>
          </a:p>
          <a:p>
            <a:r>
              <a:t>Gmail push and plans wired</a:t>
            </a:r>
          </a:p>
          <a:p>
            <a:r>
              <a:t>One-week diary — the before figure</a:t>
            </a:r>
          </a:p>
        </p:txBody>
      </p:sp>
      <p:sp>
        <p:nvSpPr>
          <p:cNvPr id="7" name="Text Placeholder 6"/>
          <p:cNvSpPr>
            <a:spLocks noGrp="1"/>
          </p:cNvSpPr>
          <p:nvPr>
            <p:ph type="body" idx="4"/>
          </p:nvPr>
        </p:nvSpPr>
        <p:spPr/>
        <p:txBody>
          <a:bodyPr wrap="square"/>
          <a:lstStyle/>
          <a:p>
            <a:r>
              <a:t>2</a:t>
            </a:r>
          </a:p>
        </p:txBody>
      </p:sp>
      <p:sp>
        <p:nvSpPr>
          <p:cNvPr id="8" name="Text Placeholder 7"/>
          <p:cNvSpPr>
            <a:spLocks noGrp="1"/>
          </p:cNvSpPr>
          <p:nvPr>
            <p:ph type="body" idx="5"/>
          </p:nvPr>
        </p:nvSpPr>
        <p:spPr/>
        <p:txBody>
          <a:bodyPr wrap="square"/>
          <a:lstStyle/>
          <a:p>
            <a:r>
              <a:rPr sz="1580"/>
              <a:t>The FCC is where the work happens</a:t>
            </a:r>
          </a:p>
        </p:txBody>
      </p:sp>
      <p:sp>
        <p:nvSpPr>
          <p:cNvPr id="9" name="Text Placeholder 8"/>
          <p:cNvSpPr>
            <a:spLocks noGrp="1"/>
          </p:cNvSpPr>
          <p:nvPr>
            <p:ph type="body" idx="6"/>
          </p:nvPr>
        </p:nvSpPr>
        <p:spPr/>
        <p:txBody>
          <a:bodyPr wrap="square"/>
          <a:lstStyle/>
          <a:p>
            <a:r>
              <a:t>Days 30–60</a:t>
            </a:r>
          </a:p>
          <a:p>
            <a:r>
              <a:t>Every brief from Workflow</a:t>
            </a:r>
          </a:p>
          <a:p>
            <a:r>
              <a:t>Every quote and deck generated</a:t>
            </a:r>
          </a:p>
          <a:p>
            <a:r>
              <a:t>Monday call off Leadership</a:t>
            </a:r>
          </a:p>
          <a:p>
            <a:r>
              <a:t>Go or skip with the balance in view</a:t>
            </a:r>
          </a:p>
        </p:txBody>
      </p:sp>
      <p:sp>
        <p:nvSpPr>
          <p:cNvPr id="10" name="Text Placeholder 9"/>
          <p:cNvSpPr>
            <a:spLocks noGrp="1"/>
          </p:cNvSpPr>
          <p:nvPr>
            <p:ph type="body" idx="7"/>
          </p:nvPr>
        </p:nvSpPr>
        <p:spPr/>
        <p:txBody>
          <a:bodyPr wrap="square"/>
          <a:lstStyle/>
          <a:p>
            <a:r>
              <a:t>3</a:t>
            </a:r>
          </a:p>
        </p:txBody>
      </p:sp>
      <p:sp>
        <p:nvSpPr>
          <p:cNvPr id="11" name="Text Placeholder 10"/>
          <p:cNvSpPr>
            <a:spLocks noGrp="1"/>
          </p:cNvSpPr>
          <p:nvPr>
            <p:ph type="body" idx="8"/>
          </p:nvPr>
        </p:nvSpPr>
        <p:spPr/>
        <p:txBody>
          <a:bodyPr wrap="square"/>
          <a:lstStyle/>
          <a:p>
            <a:r>
              <a:rPr sz="1580"/>
              <a:t>Measure, report, decide the next team</a:t>
            </a:r>
          </a:p>
        </p:txBody>
      </p:sp>
      <p:sp>
        <p:nvSpPr>
          <p:cNvPr id="12" name="Text Placeholder 11"/>
          <p:cNvSpPr>
            <a:spLocks noGrp="1"/>
          </p:cNvSpPr>
          <p:nvPr>
            <p:ph type="body" idx="9"/>
          </p:nvPr>
        </p:nvSpPr>
        <p:spPr/>
        <p:txBody>
          <a:bodyPr wrap="square"/>
          <a:lstStyle/>
          <a:p>
            <a:r>
              <a:t>Days 60–90</a:t>
            </a:r>
          </a:p>
          <a:p>
            <a:r>
              <a:t>Re-run the diary — the after figure</a:t>
            </a:r>
          </a:p>
          <a:p>
            <a:r>
              <a:t>Report alerts, turnaround, overrun</a:t>
            </a:r>
          </a:p>
          <a:p>
            <a:r>
              <a:t>Agree the budget line</a:t>
            </a:r>
          </a:p>
          <a:p>
            <a:r>
              <a:t>Pick the next team to offer it to</a:t>
            </a:r>
          </a:p>
        </p:txBody>
      </p:sp>
      <p:sp>
        <p:nvSpPr>
          <p:cNvPr id="13" name="Text Placeholder 12"/>
          <p:cNvSpPr>
            <a:spLocks noGrp="1"/>
          </p:cNvSpPr>
          <p:nvPr>
            <p:ph type="body" idx="14"/>
          </p:nvPr>
        </p:nvSpPr>
        <p:spPr/>
        <p:txBody>
          <a:bodyPr wrap="square"/>
          <a:lstStyle/>
          <a:p>
            <a:r>
              <a:rPr sz="1070"/>
              <a:t>Nothing in the first 30 days needs a developer. The access model, the mobile view and the sync jobs exist; the rollout is invitations, a walkthrough and a diary.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What the FCC becomes next</a:t>
            </a:r>
          </a:p>
        </p:txBody>
      </p:sp>
      <p:sp>
        <p:nvSpPr>
          <p:cNvPr id="3" name="Text Placeholder 2"/>
          <p:cNvSpPr>
            <a:spLocks noGrp="1"/>
          </p:cNvSpPr>
          <p:nvPr>
            <p:ph type="body" idx="13"/>
          </p:nvPr>
        </p:nvSpPr>
        <p:spPr/>
        <p:txBody>
          <a:bodyPr wrap="square"/>
          <a:lstStyle/>
          <a:p>
            <a:r>
              <a:t>It already reads every system the team runs; next it acts on what it reads.</a:t>
            </a:r>
          </a:p>
        </p:txBody>
      </p:sp>
      <p:sp>
        <p:nvSpPr>
          <p:cNvPr id="4" name="Text Placeholder 3"/>
          <p:cNvSpPr>
            <a:spLocks noGrp="1"/>
          </p:cNvSpPr>
          <p:nvPr>
            <p:ph type="body" idx="1"/>
          </p:nvPr>
        </p:nvSpPr>
        <p:spPr/>
        <p:txBody>
          <a:bodyPr wrap="square"/>
          <a:lstStyle/>
          <a:p>
            <a:r>
              <a:rPr sz="1880"/>
              <a:t>Feedback — client voice</a:t>
            </a:r>
          </a:p>
        </p:txBody>
      </p:sp>
      <p:sp>
        <p:nvSpPr>
          <p:cNvPr id="5" name="Text Placeholder 4"/>
          <p:cNvSpPr>
            <a:spLocks noGrp="1"/>
          </p:cNvSpPr>
          <p:nvPr>
            <p:ph type="body" idx="2"/>
          </p:nvPr>
        </p:nvSpPr>
        <p:spPr/>
        <p:txBody>
          <a:bodyPr wrap="square"/>
          <a:lstStyle/>
          <a:p>
            <a:r>
              <a:t>Sentiment from every client email and call feeding the retention radar; a monthly one-page account report emailed automatically; read-only scorecard links a client can open; a pulse question after each review — churn risk as a number weeks before it is a conversation.</a:t>
            </a:r>
          </a:p>
        </p:txBody>
      </p:sp>
      <p:sp>
        <p:nvSpPr>
          <p:cNvPr id="6" name="Text Placeholder 5"/>
          <p:cNvSpPr>
            <a:spLocks noGrp="1"/>
          </p:cNvSpPr>
          <p:nvPr>
            <p:ph type="body" idx="3"/>
          </p:nvPr>
        </p:nvSpPr>
        <p:spPr/>
        <p:txBody>
          <a:bodyPr wrap="square"/>
          <a:lstStyle/>
          <a:p>
            <a:r>
              <a:t>AM management</a:t>
            </a:r>
          </a:p>
        </p:txBody>
      </p:sp>
      <p:sp>
        <p:nvSpPr>
          <p:cNvPr id="7" name="Text Placeholder 6"/>
          <p:cNvSpPr>
            <a:spLocks noGrp="1"/>
          </p:cNvSpPr>
          <p:nvPr>
            <p:ph type="body" idx="4"/>
          </p:nvPr>
        </p:nvSpPr>
        <p:spPr/>
        <p:txBody>
          <a:bodyPr wrap="square"/>
          <a:lstStyle/>
          <a:p>
            <a:r>
              <a:rPr sz="1500"/>
              <a:t>Workload balanced across the team from the live task book; turnaround and SLA per AM; urgent hours against optimisation hours, tagged and reported; the Playbook as the coaching tool for what each account is missing; onboarding measured rather than asserted — time to first brief, per new starter.</a:t>
            </a:r>
          </a:p>
        </p:txBody>
      </p:sp>
      <p:sp>
        <p:nvSpPr>
          <p:cNvPr id="8" name="Text Placeholder 7"/>
          <p:cNvSpPr>
            <a:spLocks noGrp="1"/>
          </p:cNvSpPr>
          <p:nvPr>
            <p:ph type="body" idx="5"/>
          </p:nvPr>
        </p:nvSpPr>
        <p:spPr/>
        <p:txBody>
          <a:bodyPr wrap="square"/>
          <a:lstStyle/>
          <a:p>
            <a:r>
              <a:t>Business engine</a:t>
            </a:r>
          </a:p>
        </p:txBody>
      </p:sp>
      <p:sp>
        <p:nvSpPr>
          <p:cNvPr id="9" name="Text Placeholder 8"/>
          <p:cNvSpPr>
            <a:spLocks noGrp="1"/>
          </p:cNvSpPr>
          <p:nvPr>
            <p:ph type="body" idx="6"/>
          </p:nvPr>
        </p:nvSpPr>
        <p:spPr/>
        <p:txBody>
          <a:bodyPr wrap="square"/>
          <a:lstStyle/>
          <a:p>
            <a:r>
              <a:rPr sz="1500"/>
              <a:t>Revenue forecast from retainer burn, the quote pipeline and new-product volumes; profitability per account; Tachyon drafting the brief and the client email from the finding; fixes pushed into FeedHero and Merchant Center from the screen; feed changes joined to Ads performance; the whole thing packaged for other teams in the network.</a:t>
            </a:r>
          </a:p>
        </p:txBody>
      </p:sp>
      <p:sp>
        <p:nvSpPr>
          <p:cNvPr id="10" name="Text Placeholder 9"/>
          <p:cNvSpPr>
            <a:spLocks noGrp="1"/>
          </p:cNvSpPr>
          <p:nvPr>
            <p:ph type="body" idx="14"/>
          </p:nvPr>
        </p:nvSpPr>
        <p:spPr/>
        <p:txBody>
          <a:bodyPr wrap="square"/>
          <a:lstStyle/>
          <a:p>
            <a:r>
              <a:t>The dashboard starts making the first move.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rPr sz="2620"/>
              <a:t>Every module that has landed in six weeks does the same thing: it puts the information in front of the account manager at the moment of the decision, so the team's time goes into client work instead of finding out what is going on. The vision is the same idea, one step further — the dashboard starts making the first move.</a:t>
            </a:r>
          </a:p>
        </p:txBody>
      </p:sp>
      <p:sp>
        <p:nvSpPr>
          <p:cNvPr id="3" name="Text Placeholder 2"/>
          <p:cNvSpPr>
            <a:spLocks noGrp="1"/>
          </p:cNvSpPr>
          <p:nvPr>
            <p:ph type="body" idx="11"/>
          </p:nvPr>
        </p:nvSpPr>
        <p:spPr/>
        <p:txBody>
          <a:bodyPr wrap="square"/>
          <a:lstStyle/>
          <a:p>
            <a:r>
              <a:t>The through-line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rPr sz="2620"/>
              <a:t>Reimburse the two-month Claude Code subscription that built the FCC, and approve the 90-day rollout to the London account-management team with one subscription per builder and Ray as product owner. The return is 2,530 hours a year at a team of five, and the three risks in chapter three stop being invisible.</a:t>
            </a:r>
          </a:p>
        </p:txBody>
      </p:sp>
      <p:sp>
        <p:nvSpPr>
          <p:cNvPr id="3" name="Text Placeholder 2"/>
          <p:cNvSpPr>
            <a:spLocks noGrp="1"/>
          </p:cNvSpPr>
          <p:nvPr>
            <p:ph type="body" idx="11"/>
          </p:nvPr>
        </p:nvSpPr>
        <p:spPr/>
        <p:txBody>
          <a:bodyPr wrap="square"/>
          <a:lstStyle/>
          <a:p>
            <a:r>
              <a:t>The ask</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Questions?</a:t>
            </a:r>
          </a:p>
        </p:txBody>
      </p:sp>
      <p:sp>
        <p:nvSpPr>
          <p:cNvPr id="3" name="Text Placeholder 2"/>
          <p:cNvSpPr>
            <a:spLocks noGrp="1"/>
          </p:cNvSpPr>
          <p:nvPr>
            <p:ph type="body" idx="1"/>
          </p:nvPr>
        </p:nvSpPr>
        <p:spPr/>
        <p:txBody>
          <a:bodyPr wrap="square"/>
          <a:lstStyle/>
          <a:p>
            <a:r>
              <a:t>Ray Vũ</a:t>
            </a:r>
          </a:p>
        </p:txBody>
      </p:sp>
      <p:sp>
        <p:nvSpPr>
          <p:cNvPr id="4" name="Text Placeholder 3"/>
          <p:cNvSpPr>
            <a:spLocks noGrp="1"/>
          </p:cNvSpPr>
          <p:nvPr>
            <p:ph type="body" idx="11"/>
          </p:nvPr>
        </p:nvSpPr>
        <p:spPr/>
        <p:txBody>
          <a:bodyPr wrap="square"/>
          <a:lstStyle/>
          <a:p>
            <a:r>
              <a:t>Senior Account Manager · FCC product owner</a:t>
            </a:r>
          </a:p>
        </p:txBody>
      </p:sp>
      <p:sp>
        <p:nvSpPr>
          <p:cNvPr id="5" name="Text Placeholder 4"/>
          <p:cNvSpPr>
            <a:spLocks noGrp="1"/>
          </p:cNvSpPr>
          <p:nvPr>
            <p:ph type="body" idx="2"/>
          </p:nvPr>
        </p:nvSpPr>
        <p:spPr/>
        <p:txBody>
          <a:bodyPr wrap="square"/>
          <a:lstStyle/>
          <a:p>
            <a:r>
              <a:t>ray@feedspark.com</a:t>
            </a:r>
          </a:p>
        </p:txBody>
      </p:sp>
    </p:spTree>
  </p:cSld>
  <p:clrMapOvr>
    <a:masterClrMapping/>
  </p:clrMapOvr>
</p:sld>
</file>

<file path=ppt/theme/theme1.xml><?xml version="1.0" encoding="utf-8"?>
<a:theme xmlns:a="http://schemas.openxmlformats.org/drawingml/2006/main" name="Office Theme">
  <a:themeElements>
    <a:clrScheme name="FeedSpark Modern">
      <a:dk1>
        <a:srgbClr val="0F172A"/>
      </a:dk1>
      <a:lt1>
        <a:srgbClr val="FFFFFF"/>
      </a:lt1>
      <a:dk2>
        <a:srgbClr val="1E293B"/>
      </a:dk2>
      <a:lt2>
        <a:srgbClr val="F8FAFC"/>
      </a:lt2>
      <a:accent1>
        <a:srgbClr val="F7941E"/>
      </a:accent1>
      <a:accent2>
        <a:srgbClr val="0F172A"/>
      </a:accent2>
      <a:accent3>
        <a:srgbClr val="3B82F6"/>
      </a:accent3>
      <a:accent4>
        <a:srgbClr val="10B981"/>
      </a:accent4>
      <a:accent5>
        <a:srgbClr val="8B5CF6"/>
      </a:accent5>
      <a:accent6>
        <a:srgbClr val="EC4899"/>
      </a:accent6>
      <a:hlink>
        <a:srgbClr val="F7941E"/>
      </a:hlink>
      <a:folHlink>
        <a:srgbClr val="94A3B8"/>
      </a:folHlink>
    </a:clrScheme>
    <a:fontScheme name="FeedSpark Modern">
      <a:majorFont>
        <a:latin typeface="Inter" panose="02110004020202020204"/>
        <a:ea typeface=""/>
        <a:cs typeface=""/>
      </a:majorFont>
      <a:minorFont>
        <a:latin typeface="Inter"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4449</Words>
  <Application>Microsoft Office PowerPoint</Application>
  <PresentationFormat>Widescreen</PresentationFormat>
  <Paragraphs>523</Paragraphs>
  <Slides>50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Inter</vt:lpstr>
      <vt:lpstr>Office Theme</vt:lpstr>
      <vt:lpstr>Superdry × FeedSpark</vt:lpstr>
      <vt:lpstr>PowerPoint Presentation</vt:lpstr>
      <vt:lpstr>What we’ll cover</vt:lpstr>
      <vt:lpstr>Service scope &amp; scale</vt:lpstr>
      <vt:lpstr>The programme in five numbers</vt:lpstr>
      <vt:lpstr>Channels and coverage</vt:lpstr>
      <vt:lpstr>Where the hours went — by market</vt:lpstr>
      <vt:lpstr>The delivery stack</vt:lpstr>
      <vt:lpstr>Four layers, live on the account today</vt:lpstr>
      <vt:lpstr>Review &amp; project recap</vt:lpstr>
      <vt:lpstr>Where the plan stands</vt:lpstr>
      <vt:lpstr>Action by action — what’s closed</vt:lpstr>
      <vt:lpstr>Action by action — open and parked</vt:lpstr>
      <vt:lpstr>The look-back period</vt:lpstr>
      <vt:lpstr>Sustained delivery, Jul 2024 → Jul 2026</vt:lpstr>
      <vt:lpstr>By activity type</vt:lpstr>
      <vt:lpstr>The task families behind the hours</vt:lpstr>
      <vt:lpstr>The value delivered</vt:lpstr>
      <vt:lpstr>Two years delivered, a third given</vt:lpstr>
      <vt:lpstr>The invested-hours story</vt:lpstr>
      <vt:lpstr>The protection work, quantified</vt:lpstr>
      <vt:lpstr>Automation &amp; readiness</vt:lpstr>
      <vt:lpstr>What runs on rules</vt:lpstr>
      <vt:lpstr>What still needs a hand</vt:lpstr>
      <vt:lpstr>The A/B test archive</vt:lpstr>
      <vt:lpstr>36 tests, read straight</vt:lpstr>
      <vt:lpstr>The archive by test type</vt:lpstr>
      <vt:lpstr>Reading the average straight</vt:lpstr>
      <vt:lpstr>Keyword tests — the results that moved</vt:lpstr>
      <vt:lpstr>Brand in the title — it depends</vt:lpstr>
      <vt:lpstr>External benchmark — retail feeds</vt:lpstr>
      <vt:lpstr>Four launches that woke dormant stock</vt:lpstr>
      <vt:lpstr>Team &amp; ways of working</vt:lpstr>
      <vt:lpstr>One manager, one pod, one cadence</vt:lpstr>
      <vt:lpstr>How work moves</vt:lpstr>
      <vt:lpstr>Feed optimisation score</vt:lpstr>
      <vt:lpstr>Superdry feed optimisation — 70 / 100</vt:lpstr>
      <vt:lpstr>The GB feed, scored — 22,527 SKUs</vt:lpstr>
      <vt:lpstr>Where plan and feed agree — and don’t</vt:lpstr>
      <vt:lpstr>A second internal signal worth flagging</vt:lpstr>
      <vt:lpstr>AI readiness</vt:lpstr>
      <vt:lpstr>Where Superdry sits on the climb</vt:lpstr>
      <vt:lpstr>AI-readiness audit — Superdry GB</vt:lpstr>
      <vt:lpstr>PowerPoint Presentation</vt:lpstr>
      <vt:lpstr>Roadmap — next quarter</vt:lpstr>
      <vt:lpstr>What comes next</vt:lpstr>
      <vt:lpstr>The tests queued for the coming quarter</vt:lpstr>
      <vt:lpstr>The testing queue — medium and low</vt:lpstr>
      <vt:lpstr>PowerPoint Presentation</vt:lpstr>
      <vt:lpstr>Questions?</vt:lpstr>
    </vt:vector>
  </TitlesOfParts>
  <Company>FeedSpark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FeedSpark Template</dc:title>
  <dc:creator>FeedSpark</dc:creator>
  <cp:lastModifiedBy>Ray Vu</cp:lastModifiedBy>
  <cp:revision>1</cp:revision>
  <dcterms:modified xsi:type="dcterms:W3CDTF">2026-08-04T13:18:53Z</dcterms:modified>
</cp:coreProperties>
</file>