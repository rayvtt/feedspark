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Lst>
  <p:sldSz cx="12192000" cy="6858000"/>
  <p:notesSz cx="6858000" cy="9144000"/>
  <p:defaultTextStyle>
    <a:defPPr>
      <a:defRPr lang="en-GB"/>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96"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828800"/>
            <a:ext cx="43560" cy="2741040"/>
          </a:xfrm>
          <a:prstGeom prst="rect">
            <a:avLst/>
          </a:prstGeom>
          <a:solidFill>
            <a:srgbClr val="F7941E"/>
          </a:solidFill>
          <a:ln w="0">
            <a:noFill/>
          </a:ln>
        </p:spPr>
        <p:txBody>
          <a:bodyPr/>
          <a:lstStyle/>
          <a:p>
            <a:endParaRPr lang="en-GB"/>
          </a:p>
        </p:txBody>
      </p:sp>
      <p:sp>
        <p:nvSpPr>
          <p:cNvPr id="14" name="Title"/>
          <p:cNvSpPr>
            <a:spLocks noGrp="1"/>
          </p:cNvSpPr>
          <p:nvPr>
            <p:ph type="ctrTitle"/>
          </p:nvPr>
        </p:nvSpPr>
        <p:spPr>
          <a:xfrm>
            <a:off x="914400" y="1828800"/>
            <a:ext cx="9599040" cy="1369440"/>
          </a:xfrm>
          <a:prstGeom prst="rect">
            <a:avLst/>
          </a:prstGeom>
        </p:spPr>
        <p:txBody>
          <a:bodyPr lIns="0" tIns="0" rIns="0" bIns="0" anchor="ctr">
            <a:normAutofit/>
          </a:bodyPr>
          <a:lstStyle>
            <a:lvl1pPr marL="0" indent="0" algn="l">
              <a:lnSpc>
                <a:spcPct val="104000"/>
              </a:lnSpc>
              <a:defRPr sz="5400" b="1" i="0">
                <a:solidFill>
                  <a:srgbClr val="FFFFFF"/>
                </a:solidFill>
                <a:latin typeface="+mj-lt"/>
              </a:defRPr>
            </a:lvl1pPr>
          </a:lstStyle>
          <a:p>
            <a:endParaRPr lang="en-GB"/>
          </a:p>
        </p:txBody>
      </p:sp>
      <p:sp>
        <p:nvSpPr>
          <p:cNvPr id="15" name="Subtitle"/>
          <p:cNvSpPr>
            <a:spLocks noGrp="1"/>
          </p:cNvSpPr>
          <p:nvPr>
            <p:ph type="subTitle" idx="1"/>
          </p:nvPr>
        </p:nvSpPr>
        <p:spPr>
          <a:xfrm>
            <a:off x="914400" y="3300000"/>
            <a:ext cx="9599040" cy="760000"/>
          </a:xfrm>
          <a:prstGeom prst="rect">
            <a:avLst/>
          </a:prstGeom>
        </p:spPr>
        <p:txBody>
          <a:bodyPr lIns="0" tIns="0" rIns="0" bIns="0" anchor="ctr">
            <a:normAutofit/>
          </a:bodyPr>
          <a:lstStyle>
            <a:lvl1pPr marL="0" indent="0" algn="l">
              <a:defRPr sz="2000" b="0" i="0">
                <a:solidFill>
                  <a:srgbClr val="94A3B8"/>
                </a:solidFill>
                <a:latin typeface="+mn-lt"/>
              </a:defRPr>
            </a:lvl1pPr>
          </a:lstStyle>
          <a:p>
            <a:endParaRPr lang="en-GB"/>
          </a:p>
        </p:txBody>
      </p:sp>
      <p:sp>
        <p:nvSpPr>
          <p:cNvPr id="16" name="Date / Prepared by"/>
          <p:cNvSpPr>
            <a:spLocks noGrp="1"/>
          </p:cNvSpPr>
          <p:nvPr>
            <p:ph type="body" idx="11"/>
          </p:nvPr>
        </p:nvSpPr>
        <p:spPr>
          <a:xfrm>
            <a:off x="914400" y="4150000"/>
            <a:ext cx="9599040" cy="380000"/>
          </a:xfrm>
          <a:prstGeom prst="rect">
            <a:avLst/>
          </a:prstGeom>
        </p:spPr>
        <p:txBody>
          <a:bodyPr lIns="0" tIns="0" rIns="0" bIns="0" anchor="ctr">
            <a:normAutofit/>
          </a:bodyPr>
          <a:lstStyle>
            <a:lvl1pPr marL="0" indent="0" algn="l">
              <a:defRPr sz="1400" b="1" i="0">
                <a:solidFill>
                  <a:srgbClr val="F7941E"/>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Marker">
    <p:bg>
      <p:bgPr>
        <a:solidFill>
          <a:srgbClr val="F7941E"/>
        </a:solidFill>
        <a:effectLst/>
      </p:bgPr>
    </p:bg>
    <p:spTree>
      <p:nvGrpSpPr>
        <p:cNvPr id="1" name=""/>
        <p:cNvGrpSpPr/>
        <p:nvPr/>
      </p:nvGrpSpPr>
      <p:grpSpPr>
        <a:xfrm>
          <a:off x="0" y="0"/>
          <a:ext cx="0" cy="0"/>
          <a:chOff x="0" y="0"/>
          <a:chExt cx="0" cy="0"/>
        </a:xfrm>
      </p:grpSpPr>
      <p:sp>
        <p:nvSpPr>
          <p:cNvPr id="11" name="BigCircle"/>
          <p:cNvSpPr/>
          <p:nvPr/>
        </p:nvSpPr>
        <p:spPr>
          <a:xfrm>
            <a:off x="8686800" y="-1371600"/>
            <a:ext cx="5029200" cy="5029200"/>
          </a:xfrm>
          <a:prstGeom prst="ellipse">
            <a:avLst/>
          </a:prstGeom>
          <a:solidFill>
            <a:srgbClr val="FFFFFF">
              <a:alpha val="15000"/>
            </a:srgbClr>
          </a:solidFill>
          <a:ln w="12700">
            <a:solidFill>
              <a:srgbClr val="FFFFFF"/>
            </a:solidFill>
          </a:ln>
        </p:spPr>
        <p:txBody>
          <a:bodyPr/>
          <a:lstStyle/>
          <a:p>
            <a:endParaRPr lang="en-GB"/>
          </a:p>
        </p:txBody>
      </p:sp>
      <p:sp>
        <p:nvSpPr>
          <p:cNvPr id="12" name="SmallCircle"/>
          <p:cNvSpPr/>
          <p:nvPr/>
        </p:nvSpPr>
        <p:spPr>
          <a:xfrm>
            <a:off x="10058400" y="914400"/>
            <a:ext cx="3200400" cy="3200400"/>
          </a:xfrm>
          <a:prstGeom prst="ellipse">
            <a:avLst/>
          </a:prstGeom>
          <a:solidFill>
            <a:srgbClr val="FFFFFF">
              <a:alpha val="10000"/>
            </a:srgbClr>
          </a:solidFill>
          <a:ln w="12700">
            <a:solidFill>
              <a:srgbClr val="FFFFFF"/>
            </a:solidFill>
          </a:ln>
        </p:spPr>
        <p:txBody>
          <a:bodyPr/>
          <a:lstStyle/>
          <a:p>
            <a:endParaRPr lang="en-GB"/>
          </a:p>
        </p:txBody>
      </p:sp>
      <p:sp>
        <p:nvSpPr>
          <p:cNvPr id="13" name="LeftAccent"/>
          <p:cNvSpPr/>
          <p:nvPr/>
        </p:nvSpPr>
        <p:spPr>
          <a:xfrm>
            <a:off x="777240" y="1828800"/>
            <a:ext cx="45720" cy="2286000"/>
          </a:xfrm>
          <a:prstGeom prst="rect">
            <a:avLst/>
          </a:prstGeom>
          <a:solidFill>
            <a:srgbClr val="FFFFFF"/>
          </a:solidFill>
          <a:ln w="0">
            <a:noFill/>
          </a:ln>
        </p:spPr>
        <p:txBody>
          <a:bodyPr/>
          <a:lstStyle/>
          <a:p>
            <a:endParaRPr lang="en-GB"/>
          </a:p>
        </p:txBody>
      </p:sp>
      <p:sp>
        <p:nvSpPr>
          <p:cNvPr id="14" name="Section Label"/>
          <p:cNvSpPr>
            <a:spLocks noGrp="1"/>
          </p:cNvSpPr>
          <p:nvPr>
            <p:ph type="body" idx="11"/>
          </p:nvPr>
        </p:nvSpPr>
        <p:spPr>
          <a:xfrm>
            <a:off x="960120" y="1874520"/>
            <a:ext cx="5486400" cy="320040"/>
          </a:xfrm>
          <a:prstGeom prst="rect">
            <a:avLst/>
          </a:prstGeom>
        </p:spPr>
        <p:txBody>
          <a:bodyPr lIns="0" tIns="0" rIns="0" bIns="0" anchor="t">
            <a:normAutofit/>
          </a:bodyPr>
          <a:lstStyle>
            <a:lvl1pPr marL="0" indent="0" algn="l">
              <a:defRPr sz="1400" b="0" i="0" spc="400">
                <a:solidFill>
                  <a:srgbClr val="FFFFFF"/>
                </a:solidFill>
                <a:latin typeface="+mn-lt"/>
              </a:defRPr>
            </a:lvl1pPr>
          </a:lstStyle>
          <a:p>
            <a:endParaRPr lang="en-GB"/>
          </a:p>
        </p:txBody>
      </p:sp>
      <p:sp>
        <p:nvSpPr>
          <p:cNvPr id="15" name="Section Title"/>
          <p:cNvSpPr>
            <a:spLocks noGrp="1"/>
          </p:cNvSpPr>
          <p:nvPr>
            <p:ph type="title"/>
          </p:nvPr>
        </p:nvSpPr>
        <p:spPr>
          <a:xfrm>
            <a:off x="960120" y="2194560"/>
            <a:ext cx="10058400" cy="1371600"/>
          </a:xfrm>
          <a:prstGeom prst="rect">
            <a:avLst/>
          </a:prstGeom>
        </p:spPr>
        <p:txBody>
          <a:bodyPr lIns="0" tIns="0" rIns="0" bIns="0" anchor="t">
            <a:normAutofit/>
          </a:bodyPr>
          <a:lstStyle>
            <a:lvl1pPr marL="0" indent="0" algn="l">
              <a:lnSpc>
                <a:spcPct val="104000"/>
              </a:lnSpc>
              <a:defRPr sz="4800" b="1" i="0">
                <a:solidFill>
                  <a:srgbClr val="FFFFFF"/>
                </a:solidFill>
                <a:latin typeface="+mj-lt"/>
              </a:defRPr>
            </a:lvl1pPr>
          </a:lstStyle>
          <a:p>
            <a:endParaRPr lang="en-GB"/>
          </a:p>
        </p:txBody>
      </p:sp>
      <p:sp>
        <p:nvSpPr>
          <p:cNvPr id="16" name="Section Subtitle"/>
          <p:cNvSpPr>
            <a:spLocks noGrp="1"/>
          </p:cNvSpPr>
          <p:nvPr>
            <p:ph type="body" idx="1"/>
          </p:nvPr>
        </p:nvSpPr>
        <p:spPr>
          <a:xfrm>
            <a:off x="960120" y="3657600"/>
            <a:ext cx="9601200" cy="548640"/>
          </a:xfrm>
          <a:prstGeom prst="rect">
            <a:avLst/>
          </a:prstGeom>
        </p:spPr>
        <p:txBody>
          <a:bodyPr lIns="0" tIns="0" rIns="0" bIns="0" anchor="t">
            <a:normAutofit/>
          </a:bodyPr>
          <a:lstStyle>
            <a:lvl1pPr marL="0" indent="0" algn="l">
              <a:defRPr sz="1600" b="0" i="0">
                <a:solidFill>
                  <a:srgbClr val="FFE4C4"/>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FFFFF"/>
                </a:solidFill>
              </a:rPr>
              <a:t>FeedSpark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ontent"/>
          <p:cNvSpPr>
            <a:spLocks noGrp="1"/>
          </p:cNvSpPr>
          <p:nvPr>
            <p:ph type="body" idx="1"/>
          </p:nvPr>
        </p:nvSpPr>
        <p:spPr>
          <a:xfrm>
            <a:off x="609480" y="1780000"/>
            <a:ext cx="10973040" cy="3880000"/>
          </a:xfrm>
          <a:prstGeom prst="rect">
            <a:avLst/>
          </a:prstGeom>
        </p:spPr>
        <p:txBody>
          <a:bodyPr lIns="0" tIns="0" rIns="0" bIns="0" anchor="t">
            <a:normAutofit/>
          </a:bodyPr>
          <a:lstStyle>
            <a:lvl1pPr marL="0" indent="0" algn="l">
              <a:lnSpc>
                <a:spcPct val="120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Left Content"/>
          <p:cNvSpPr>
            <a:spLocks noGrp="1"/>
          </p:cNvSpPr>
          <p:nvPr>
            <p:ph type="body" idx="1"/>
          </p:nvPr>
        </p:nvSpPr>
        <p:spPr>
          <a:xfrm>
            <a:off x="60948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5" name="Right Content"/>
          <p:cNvSpPr>
            <a:spLocks noGrp="1"/>
          </p:cNvSpPr>
          <p:nvPr>
            <p:ph type="body" idx="2"/>
          </p:nvPr>
        </p:nvSpPr>
        <p:spPr>
          <a:xfrm>
            <a:off x="625200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0}" type="slidenum">
              <a:rPr lang="en-GB" sz="1100">
                <a:solidFill>
                  <a:srgbClr val="64748B"/>
                </a:solidFill>
              </a:rPr>
              <a:t>‹#›</a:t>
            </a:fld>
            <a:endParaRPr lang="en-GB" sz="1100">
              <a:solidFill>
                <a:srgbClr val="64748B"/>
              </a:solidFill>
            </a:endParaRPr>
          </a:p>
        </p:txBody>
      </p:sp>
      <p:sp>
        <p:nvSpPr>
          <p:cNvPr id="2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Image Left, Content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Image"/>
          <p:cNvSpPr>
            <a:spLocks noGrp="1"/>
          </p:cNvSpPr>
          <p:nvPr>
            <p:ph type="pic" idx="1"/>
          </p:nvPr>
        </p:nvSpPr>
        <p:spPr>
          <a:xfrm>
            <a:off x="60948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4" name="Content"/>
          <p:cNvSpPr>
            <a:spLocks noGrp="1"/>
          </p:cNvSpPr>
          <p:nvPr>
            <p:ph type="body" idx="1"/>
          </p:nvPr>
        </p:nvSpPr>
        <p:spPr>
          <a:xfrm>
            <a:off x="642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reserve="1">
  <p:cSld name="Content Left, Image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Content"/>
          <p:cNvSpPr>
            <a:spLocks noGrp="1"/>
          </p:cNvSpPr>
          <p:nvPr>
            <p:ph type="body" idx="1"/>
          </p:nvPr>
        </p:nvSpPr>
        <p:spPr>
          <a:xfrm>
            <a:off x="60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4" name="Image"/>
          <p:cNvSpPr>
            <a:spLocks noGrp="1"/>
          </p:cNvSpPr>
          <p:nvPr>
            <p:ph type="pic" idx="1"/>
          </p:nvPr>
        </p:nvSpPr>
        <p:spPr>
          <a:xfrm>
            <a:off x="618252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wo-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6252000" y="1760000"/>
            <a:ext cx="533052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3"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4"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5"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6"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6}" type="slidenum">
              <a:rPr lang="en-GB" sz="1100">
                <a:solidFill>
                  <a:srgbClr val="64748B"/>
                </a:solidFill>
              </a:rPr>
              <a:t>‹#›</a:t>
            </a:fld>
            <a:endParaRPr lang="en-GB" sz="1100">
              <a:solidFill>
                <a:srgbClr val="64748B"/>
              </a:solidFill>
            </a:endParaRPr>
          </a:p>
        </p:txBody>
      </p:sp>
      <p:sp>
        <p:nvSpPr>
          <p:cNvPr id="27"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hre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4371160" y="1760000"/>
            <a:ext cx="344968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8132840" y="1760000"/>
            <a:ext cx="3449680" cy="364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364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Four-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176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6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6252000" y="1760000"/>
            <a:ext cx="5330520" cy="176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176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609480" y="3750000"/>
            <a:ext cx="5330520" cy="176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609480" y="3750000"/>
            <a:ext cx="73152" cy="176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5948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5948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252000" y="3750000"/>
            <a:ext cx="5330520" cy="176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252000" y="3750000"/>
            <a:ext cx="73152" cy="176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650200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650200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4}" type="slidenum">
              <a:rPr lang="en-GB" sz="1100">
                <a:solidFill>
                  <a:srgbClr val="64748B"/>
                </a:solidFill>
              </a:rPr>
              <a:t>‹#›</a:t>
            </a:fld>
            <a:endParaRPr lang="en-GB" sz="1100">
              <a:solidFill>
                <a:srgbClr val="64748B"/>
              </a:solidFill>
            </a:endParaRPr>
          </a:p>
        </p:txBody>
      </p:sp>
      <p:sp>
        <p:nvSpPr>
          <p:cNvPr id="3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Fiv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249032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249032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274032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274032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25200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625200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650200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650200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8}" type="slidenum">
              <a:rPr lang="en-GB" sz="1100">
                <a:solidFill>
                  <a:srgbClr val="64748B"/>
                </a:solidFill>
              </a:rPr>
              <a:t>‹#›</a:t>
            </a:fld>
            <a:endParaRPr lang="en-GB" sz="1100">
              <a:solidFill>
                <a:srgbClr val="64748B"/>
              </a:solidFill>
            </a:endParaRPr>
          </a:p>
        </p:txBody>
      </p:sp>
      <p:sp>
        <p:nvSpPr>
          <p:cNvPr id="3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Six-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0948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0948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85948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85948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437116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437116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462116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462116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8132840" y="3780000"/>
            <a:ext cx="3449680" cy="179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8132840" y="3780000"/>
            <a:ext cx="73152" cy="1790000"/>
          </a:xfrm>
          <a:prstGeom prst="rect">
            <a:avLst/>
          </a:prstGeom>
          <a:solidFill>
            <a:srgbClr val="F7941E"/>
          </a:solidFill>
          <a:ln w="0">
            <a:noFill/>
          </a:ln>
        </p:spPr>
        <p:txBody>
          <a:bodyPr/>
          <a:lstStyle/>
          <a:p>
            <a:endParaRPr lang="en-GB"/>
          </a:p>
        </p:txBody>
      </p:sp>
      <p:sp>
        <p:nvSpPr>
          <p:cNvPr id="36" name="Card 6 Heading"/>
          <p:cNvSpPr>
            <a:spLocks noGrp="1"/>
          </p:cNvSpPr>
          <p:nvPr>
            <p:ph type="body" idx="11"/>
          </p:nvPr>
        </p:nvSpPr>
        <p:spPr>
          <a:xfrm>
            <a:off x="838284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7" name="Card 6 Body"/>
          <p:cNvSpPr>
            <a:spLocks noGrp="1"/>
          </p:cNvSpPr>
          <p:nvPr>
            <p:ph type="body" idx="12"/>
          </p:nvPr>
        </p:nvSpPr>
        <p:spPr>
          <a:xfrm>
            <a:off x="838284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8"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9"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40"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4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4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42}" type="slidenum">
              <a:rPr lang="en-GB" sz="1100">
                <a:solidFill>
                  <a:srgbClr val="64748B"/>
                </a:solidFill>
              </a:rPr>
              <a:t>‹#›</a:t>
            </a:fld>
            <a:endParaRPr lang="en-GB" sz="1100">
              <a:solidFill>
                <a:srgbClr val="64748B"/>
              </a:solidFill>
            </a:endParaRPr>
          </a:p>
        </p:txBody>
      </p:sp>
      <p:sp>
        <p:nvSpPr>
          <p:cNvPr id="4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ig Stats">
    <p:bg>
      <p:bgPr>
        <a:solidFill>
          <a:srgbClr val="FFFFFF"/>
        </a:solidFill>
        <a:effectLst/>
      </p:bgPr>
    </p:bg>
    <p:spTree>
      <p:nvGrpSpPr>
        <p:cNvPr id="1" name=""/>
        <p:cNvGrpSpPr/>
        <p:nvPr/>
      </p:nvGrpSpPr>
      <p:grpSpPr>
        <a:xfrm>
          <a:off x="0" y="0"/>
          <a:ext cx="0" cy="0"/>
          <a:chOff x="0" y="0"/>
          <a:chExt cx="0" cy="0"/>
        </a:xfrm>
      </p:grpSpPr>
      <p:sp>
        <p:nvSpPr>
          <p:cNvPr id="17"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8"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9"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at 1 Number"/>
          <p:cNvSpPr>
            <a:spLocks noGrp="1"/>
          </p:cNvSpPr>
          <p:nvPr>
            <p:ph type="body" idx="1"/>
          </p:nvPr>
        </p:nvSpPr>
        <p:spPr>
          <a:xfrm>
            <a:off x="609480" y="2150000"/>
            <a:ext cx="3454400" cy="1200000"/>
          </a:xfrm>
          <a:prstGeom prst="rect">
            <a:avLst/>
          </a:prstGeom>
        </p:spPr>
        <p:txBody>
          <a:bodyPr lIns="0" tIns="0" rIns="0" bIns="0" anchor="ctr">
            <a:normAutofit/>
          </a:bodyPr>
          <a:lstStyle>
            <a:lvl1pPr marL="0" indent="0" algn="ctr">
              <a:defRPr sz="6000" b="1" i="0">
                <a:solidFill>
                  <a:srgbClr val="F7941E"/>
                </a:solidFill>
                <a:latin typeface="+mj-lt"/>
              </a:defRPr>
            </a:lvl1pPr>
          </a:lstStyle>
          <a:p>
            <a:endParaRPr lang="en-GB"/>
          </a:p>
        </p:txBody>
      </p:sp>
      <p:sp>
        <p:nvSpPr>
          <p:cNvPr id="12" name="Stat 1 Label"/>
          <p:cNvSpPr>
            <a:spLocks noGrp="1"/>
          </p:cNvSpPr>
          <p:nvPr>
            <p:ph type="body" idx="2"/>
          </p:nvPr>
        </p:nvSpPr>
        <p:spPr>
          <a:xfrm>
            <a:off x="6094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3" name="Stat 2 Number"/>
          <p:cNvSpPr>
            <a:spLocks noGrp="1"/>
          </p:cNvSpPr>
          <p:nvPr>
            <p:ph type="body" idx="3"/>
          </p:nvPr>
        </p:nvSpPr>
        <p:spPr>
          <a:xfrm>
            <a:off x="4390880" y="2150000"/>
            <a:ext cx="3454400" cy="1200000"/>
          </a:xfrm>
          <a:prstGeom prst="rect">
            <a:avLst/>
          </a:prstGeom>
        </p:spPr>
        <p:txBody>
          <a:bodyPr lIns="0" tIns="0" rIns="0" bIns="0" anchor="ctr">
            <a:normAutofit/>
          </a:bodyPr>
          <a:lstStyle>
            <a:lvl1pPr marL="0" indent="0" algn="ctr">
              <a:defRPr sz="6000" b="1" i="0">
                <a:solidFill>
                  <a:srgbClr val="3B82F6"/>
                </a:solidFill>
                <a:latin typeface="+mj-lt"/>
              </a:defRPr>
            </a:lvl1pPr>
          </a:lstStyle>
          <a:p>
            <a:endParaRPr lang="en-GB"/>
          </a:p>
        </p:txBody>
      </p:sp>
      <p:sp>
        <p:nvSpPr>
          <p:cNvPr id="14" name="Stat 2 Label"/>
          <p:cNvSpPr>
            <a:spLocks noGrp="1"/>
          </p:cNvSpPr>
          <p:nvPr>
            <p:ph type="body" idx="4"/>
          </p:nvPr>
        </p:nvSpPr>
        <p:spPr>
          <a:xfrm>
            <a:off x="43908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5" name="Stat 3 Number"/>
          <p:cNvSpPr>
            <a:spLocks noGrp="1"/>
          </p:cNvSpPr>
          <p:nvPr>
            <p:ph type="body" idx="5"/>
          </p:nvPr>
        </p:nvSpPr>
        <p:spPr>
          <a:xfrm>
            <a:off x="8172280" y="2150000"/>
            <a:ext cx="3454400" cy="1200000"/>
          </a:xfrm>
          <a:prstGeom prst="rect">
            <a:avLst/>
          </a:prstGeom>
        </p:spPr>
        <p:txBody>
          <a:bodyPr lIns="0" tIns="0" rIns="0" bIns="0" anchor="ctr">
            <a:normAutofit/>
          </a:bodyPr>
          <a:lstStyle>
            <a:lvl1pPr marL="0" indent="0" algn="ctr">
              <a:defRPr sz="6000" b="1" i="0">
                <a:solidFill>
                  <a:srgbClr val="8B5CF6"/>
                </a:solidFill>
                <a:latin typeface="+mj-lt"/>
              </a:defRPr>
            </a:lvl1pPr>
          </a:lstStyle>
          <a:p>
            <a:endParaRPr lang="en-GB"/>
          </a:p>
        </p:txBody>
      </p:sp>
      <p:sp>
        <p:nvSpPr>
          <p:cNvPr id="16" name="Stat 3 Label"/>
          <p:cNvSpPr>
            <a:spLocks noGrp="1"/>
          </p:cNvSpPr>
          <p:nvPr>
            <p:ph type="body" idx="6"/>
          </p:nvPr>
        </p:nvSpPr>
        <p:spPr>
          <a:xfrm>
            <a:off x="81722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2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4}" type="slidenum">
              <a:rPr lang="en-GB" sz="1100">
                <a:solidFill>
                  <a:srgbClr val="64748B"/>
                </a:solidFill>
              </a:rPr>
              <a:t>‹#›</a:t>
            </a:fld>
            <a:endParaRPr lang="en-GB" sz="1100">
              <a:solidFill>
                <a:srgbClr val="64748B"/>
              </a:solidFill>
            </a:endParaRPr>
          </a:p>
        </p:txBody>
      </p:sp>
      <p:sp>
        <p:nvSpPr>
          <p:cNvPr id="2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Numbered Steps">
    <p:bg>
      <p:bgPr>
        <a:solidFill>
          <a:srgbClr val="FFFFFF"/>
        </a:solidFill>
        <a:effectLst/>
      </p:bgPr>
    </p:bg>
    <p:spTree>
      <p:nvGrpSpPr>
        <p:cNvPr id="1" name=""/>
        <p:cNvGrpSpPr/>
        <p:nvPr/>
      </p:nvGrpSpPr>
      <p:grpSpPr>
        <a:xfrm>
          <a:off x="0" y="0"/>
          <a:ext cx="0" cy="0"/>
          <a:chOff x="0" y="0"/>
          <a:chExt cx="0" cy="0"/>
        </a:xfrm>
      </p:grpSpPr>
      <p:sp>
        <p:nvSpPr>
          <p:cNvPr id="23"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4"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5"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ep 1 Circle"/>
          <p:cNvSpPr/>
          <p:nvPr/>
        </p:nvSpPr>
        <p:spPr>
          <a:xfrm>
            <a:off x="1956680" y="1840000"/>
            <a:ext cx="760000" cy="760000"/>
          </a:xfrm>
          <a:prstGeom prst="ellipse">
            <a:avLst/>
          </a:prstGeom>
          <a:solidFill>
            <a:srgbClr val="F7941E"/>
          </a:solidFill>
          <a:ln w="0">
            <a:noFill/>
          </a:ln>
        </p:spPr>
        <p:txBody>
          <a:bodyPr/>
          <a:lstStyle/>
          <a:p>
            <a:endParaRPr lang="en-GB"/>
          </a:p>
        </p:txBody>
      </p:sp>
      <p:sp>
        <p:nvSpPr>
          <p:cNvPr id="12" name="Step 1 Number"/>
          <p:cNvSpPr>
            <a:spLocks noGrp="1"/>
          </p:cNvSpPr>
          <p:nvPr>
            <p:ph type="body" idx="1"/>
          </p:nvPr>
        </p:nvSpPr>
        <p:spPr>
          <a:xfrm>
            <a:off x="19566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3" name="Step 1 Heading"/>
          <p:cNvSpPr>
            <a:spLocks noGrp="1"/>
          </p:cNvSpPr>
          <p:nvPr>
            <p:ph type="body" idx="2"/>
          </p:nvPr>
        </p:nvSpPr>
        <p:spPr>
          <a:xfrm>
            <a:off x="6094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4" name="Step 1 Detail"/>
          <p:cNvSpPr>
            <a:spLocks noGrp="1"/>
          </p:cNvSpPr>
          <p:nvPr>
            <p:ph type="body" idx="3"/>
          </p:nvPr>
        </p:nvSpPr>
        <p:spPr>
          <a:xfrm>
            <a:off x="6094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5" name="Step 2 Circle"/>
          <p:cNvSpPr/>
          <p:nvPr/>
        </p:nvSpPr>
        <p:spPr>
          <a:xfrm>
            <a:off x="5738080" y="1840000"/>
            <a:ext cx="760000" cy="760000"/>
          </a:xfrm>
          <a:prstGeom prst="ellipse">
            <a:avLst/>
          </a:prstGeom>
          <a:solidFill>
            <a:srgbClr val="3B82F6"/>
          </a:solidFill>
          <a:ln w="0">
            <a:noFill/>
          </a:ln>
        </p:spPr>
        <p:txBody>
          <a:bodyPr/>
          <a:lstStyle/>
          <a:p>
            <a:endParaRPr lang="en-GB"/>
          </a:p>
        </p:txBody>
      </p:sp>
      <p:sp>
        <p:nvSpPr>
          <p:cNvPr id="16" name="Step 2 Number"/>
          <p:cNvSpPr>
            <a:spLocks noGrp="1"/>
          </p:cNvSpPr>
          <p:nvPr>
            <p:ph type="body" idx="4"/>
          </p:nvPr>
        </p:nvSpPr>
        <p:spPr>
          <a:xfrm>
            <a:off x="57380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7" name="Step 2 Heading"/>
          <p:cNvSpPr>
            <a:spLocks noGrp="1"/>
          </p:cNvSpPr>
          <p:nvPr>
            <p:ph type="body" idx="5"/>
          </p:nvPr>
        </p:nvSpPr>
        <p:spPr>
          <a:xfrm>
            <a:off x="43908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8" name="Step 2 Detail"/>
          <p:cNvSpPr>
            <a:spLocks noGrp="1"/>
          </p:cNvSpPr>
          <p:nvPr>
            <p:ph type="body" idx="6"/>
          </p:nvPr>
        </p:nvSpPr>
        <p:spPr>
          <a:xfrm>
            <a:off x="43908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9" name="Step 3 Circle"/>
          <p:cNvSpPr/>
          <p:nvPr/>
        </p:nvSpPr>
        <p:spPr>
          <a:xfrm>
            <a:off x="9519480" y="1840000"/>
            <a:ext cx="760000" cy="760000"/>
          </a:xfrm>
          <a:prstGeom prst="ellipse">
            <a:avLst/>
          </a:prstGeom>
          <a:solidFill>
            <a:srgbClr val="8B5CF6"/>
          </a:solidFill>
          <a:ln w="0">
            <a:noFill/>
          </a:ln>
        </p:spPr>
        <p:txBody>
          <a:bodyPr/>
          <a:lstStyle/>
          <a:p>
            <a:endParaRPr lang="en-GB"/>
          </a:p>
        </p:txBody>
      </p:sp>
      <p:sp>
        <p:nvSpPr>
          <p:cNvPr id="20" name="Step 3 Number"/>
          <p:cNvSpPr>
            <a:spLocks noGrp="1"/>
          </p:cNvSpPr>
          <p:nvPr>
            <p:ph type="body" idx="7"/>
          </p:nvPr>
        </p:nvSpPr>
        <p:spPr>
          <a:xfrm>
            <a:off x="95194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21" name="Step 3 Heading"/>
          <p:cNvSpPr>
            <a:spLocks noGrp="1"/>
          </p:cNvSpPr>
          <p:nvPr>
            <p:ph type="body" idx="8"/>
          </p:nvPr>
        </p:nvSpPr>
        <p:spPr>
          <a:xfrm>
            <a:off x="81722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22" name="Step 3 Detail"/>
          <p:cNvSpPr>
            <a:spLocks noGrp="1"/>
          </p:cNvSpPr>
          <p:nvPr>
            <p:ph type="body" idx="9"/>
          </p:nvPr>
        </p:nvSpPr>
        <p:spPr>
          <a:xfrm>
            <a:off x="81722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Pricing / Tiers">
    <p:bg>
      <p:bgPr>
        <a:solidFill>
          <a:srgbClr val="FFFFFF"/>
        </a:solidFill>
        <a:effectLst/>
      </p:bgPr>
    </p:bg>
    <p:spTree>
      <p:nvGrpSpPr>
        <p:cNvPr id="1" name=""/>
        <p:cNvGrpSpPr/>
        <p:nvPr/>
      </p:nvGrpSpPr>
      <p:grpSpPr>
        <a:xfrm>
          <a:off x="0" y="0"/>
          <a:ext cx="0" cy="0"/>
          <a:chOff x="0" y="0"/>
          <a:chExt cx="0" cy="0"/>
        </a:xfrm>
      </p:grpSpPr>
      <p:sp>
        <p:nvSpPr>
          <p:cNvPr id="26"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7"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8"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Tier 1 Card"/>
          <p:cNvSpPr/>
          <p:nvPr/>
        </p:nvSpPr>
        <p:spPr>
          <a:xfrm>
            <a:off x="609480" y="1700000"/>
            <a:ext cx="3454400" cy="3900000"/>
          </a:xfrm>
          <a:prstGeom prst="roundRect">
            <a:avLst>
              <a:gd name="adj" fmla="val 4000"/>
            </a:avLst>
          </a:prstGeom>
          <a:solidFill>
            <a:srgbClr val="FFFFFF"/>
          </a:solidFill>
          <a:ln w="19050">
            <a:solidFill>
              <a:srgbClr val="64748B"/>
            </a:solidFill>
          </a:ln>
        </p:spPr>
        <p:txBody>
          <a:bodyPr/>
          <a:lstStyle/>
          <a:p>
            <a:endParaRPr lang="en-GB"/>
          </a:p>
        </p:txBody>
      </p:sp>
      <p:sp>
        <p:nvSpPr>
          <p:cNvPr id="12" name="Tier 1 Band"/>
          <p:cNvSpPr/>
          <p:nvPr/>
        </p:nvSpPr>
        <p:spPr>
          <a:xfrm>
            <a:off x="609480" y="1700000"/>
            <a:ext cx="3454400" cy="680000"/>
          </a:xfrm>
          <a:prstGeom prst="roundRect">
            <a:avLst>
              <a:gd name="adj" fmla="val 4000"/>
            </a:avLst>
          </a:prstGeom>
          <a:solidFill>
            <a:srgbClr val="64748B"/>
          </a:solidFill>
          <a:ln w="0">
            <a:noFill/>
          </a:ln>
        </p:spPr>
        <p:txBody>
          <a:bodyPr/>
          <a:lstStyle/>
          <a:p>
            <a:endParaRPr lang="en-GB"/>
          </a:p>
        </p:txBody>
      </p:sp>
      <p:sp>
        <p:nvSpPr>
          <p:cNvPr id="13" name="Tier 1 Name"/>
          <p:cNvSpPr>
            <a:spLocks noGrp="1"/>
          </p:cNvSpPr>
          <p:nvPr>
            <p:ph type="body" idx="1"/>
          </p:nvPr>
        </p:nvSpPr>
        <p:spPr>
          <a:xfrm>
            <a:off x="6094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4" name="Tier 1 Price"/>
          <p:cNvSpPr>
            <a:spLocks noGrp="1"/>
          </p:cNvSpPr>
          <p:nvPr>
            <p:ph type="body" idx="2"/>
          </p:nvPr>
        </p:nvSpPr>
        <p:spPr>
          <a:xfrm>
            <a:off x="7594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15" name="Tier 1 Features"/>
          <p:cNvSpPr>
            <a:spLocks noGrp="1"/>
          </p:cNvSpPr>
          <p:nvPr>
            <p:ph type="body" idx="3"/>
          </p:nvPr>
        </p:nvSpPr>
        <p:spPr>
          <a:xfrm>
            <a:off x="8694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16" name="Tier 2 Card"/>
          <p:cNvSpPr/>
          <p:nvPr/>
        </p:nvSpPr>
        <p:spPr>
          <a:xfrm>
            <a:off x="4390880" y="1700000"/>
            <a:ext cx="3454400" cy="3900000"/>
          </a:xfrm>
          <a:prstGeom prst="roundRect">
            <a:avLst>
              <a:gd name="adj" fmla="val 4000"/>
            </a:avLst>
          </a:prstGeom>
          <a:solidFill>
            <a:srgbClr val="FFFFFF"/>
          </a:solidFill>
          <a:ln w="19050">
            <a:solidFill>
              <a:srgbClr val="F7941E"/>
            </a:solidFill>
          </a:ln>
        </p:spPr>
        <p:txBody>
          <a:bodyPr/>
          <a:lstStyle/>
          <a:p>
            <a:endParaRPr lang="en-GB"/>
          </a:p>
        </p:txBody>
      </p:sp>
      <p:sp>
        <p:nvSpPr>
          <p:cNvPr id="17" name="Tier 2 Band"/>
          <p:cNvSpPr/>
          <p:nvPr/>
        </p:nvSpPr>
        <p:spPr>
          <a:xfrm>
            <a:off x="4390880" y="1700000"/>
            <a:ext cx="3454400" cy="680000"/>
          </a:xfrm>
          <a:prstGeom prst="roundRect">
            <a:avLst>
              <a:gd name="adj" fmla="val 4000"/>
            </a:avLst>
          </a:prstGeom>
          <a:solidFill>
            <a:srgbClr val="F7941E"/>
          </a:solidFill>
          <a:ln w="0">
            <a:noFill/>
          </a:ln>
        </p:spPr>
        <p:txBody>
          <a:bodyPr/>
          <a:lstStyle/>
          <a:p>
            <a:endParaRPr lang="en-GB"/>
          </a:p>
        </p:txBody>
      </p:sp>
      <p:sp>
        <p:nvSpPr>
          <p:cNvPr id="18" name="Tier 2 Name"/>
          <p:cNvSpPr>
            <a:spLocks noGrp="1"/>
          </p:cNvSpPr>
          <p:nvPr>
            <p:ph type="body" idx="4"/>
          </p:nvPr>
        </p:nvSpPr>
        <p:spPr>
          <a:xfrm>
            <a:off x="43908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9" name="Tier 2 Price"/>
          <p:cNvSpPr>
            <a:spLocks noGrp="1"/>
          </p:cNvSpPr>
          <p:nvPr>
            <p:ph type="body" idx="5"/>
          </p:nvPr>
        </p:nvSpPr>
        <p:spPr>
          <a:xfrm>
            <a:off x="45408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0" name="Tier 2 Features"/>
          <p:cNvSpPr>
            <a:spLocks noGrp="1"/>
          </p:cNvSpPr>
          <p:nvPr>
            <p:ph type="body" idx="6"/>
          </p:nvPr>
        </p:nvSpPr>
        <p:spPr>
          <a:xfrm>
            <a:off x="46508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1" name="Tier 3 Card"/>
          <p:cNvSpPr/>
          <p:nvPr/>
        </p:nvSpPr>
        <p:spPr>
          <a:xfrm>
            <a:off x="8172280" y="1700000"/>
            <a:ext cx="3454400" cy="3900000"/>
          </a:xfrm>
          <a:prstGeom prst="roundRect">
            <a:avLst>
              <a:gd name="adj" fmla="val 4000"/>
            </a:avLst>
          </a:prstGeom>
          <a:solidFill>
            <a:srgbClr val="FFFFFF"/>
          </a:solidFill>
          <a:ln w="19050">
            <a:solidFill>
              <a:srgbClr val="3B82F6"/>
            </a:solidFill>
          </a:ln>
        </p:spPr>
        <p:txBody>
          <a:bodyPr/>
          <a:lstStyle/>
          <a:p>
            <a:endParaRPr lang="en-GB"/>
          </a:p>
        </p:txBody>
      </p:sp>
      <p:sp>
        <p:nvSpPr>
          <p:cNvPr id="22" name="Tier 3 Band"/>
          <p:cNvSpPr/>
          <p:nvPr/>
        </p:nvSpPr>
        <p:spPr>
          <a:xfrm>
            <a:off x="8172280" y="1700000"/>
            <a:ext cx="3454400" cy="680000"/>
          </a:xfrm>
          <a:prstGeom prst="roundRect">
            <a:avLst>
              <a:gd name="adj" fmla="val 4000"/>
            </a:avLst>
          </a:prstGeom>
          <a:solidFill>
            <a:srgbClr val="3B82F6"/>
          </a:solidFill>
          <a:ln w="0">
            <a:noFill/>
          </a:ln>
        </p:spPr>
        <p:txBody>
          <a:bodyPr/>
          <a:lstStyle/>
          <a:p>
            <a:endParaRPr lang="en-GB"/>
          </a:p>
        </p:txBody>
      </p:sp>
      <p:sp>
        <p:nvSpPr>
          <p:cNvPr id="23" name="Tier 3 Name"/>
          <p:cNvSpPr>
            <a:spLocks noGrp="1"/>
          </p:cNvSpPr>
          <p:nvPr>
            <p:ph type="body" idx="7"/>
          </p:nvPr>
        </p:nvSpPr>
        <p:spPr>
          <a:xfrm>
            <a:off x="81722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24" name="Tier 3 Price"/>
          <p:cNvSpPr>
            <a:spLocks noGrp="1"/>
          </p:cNvSpPr>
          <p:nvPr>
            <p:ph type="body" idx="8"/>
          </p:nvPr>
        </p:nvSpPr>
        <p:spPr>
          <a:xfrm>
            <a:off x="83222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5" name="Tier 3 Features"/>
          <p:cNvSpPr>
            <a:spLocks noGrp="1"/>
          </p:cNvSpPr>
          <p:nvPr>
            <p:ph type="body" idx="9"/>
          </p:nvPr>
        </p:nvSpPr>
        <p:spPr>
          <a:xfrm>
            <a:off x="84322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9"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0"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1"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2"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3"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3}" type="slidenum">
              <a:rPr lang="en-GB" sz="1100">
                <a:solidFill>
                  <a:srgbClr val="64748B"/>
                </a:solidFill>
              </a:rPr>
              <a:t>‹#›</a:t>
            </a:fld>
            <a:endParaRPr lang="en-GB" sz="1100">
              <a:solidFill>
                <a:srgbClr val="64748B"/>
              </a:solidFill>
            </a:endParaRPr>
          </a:p>
        </p:txBody>
      </p:sp>
      <p:sp>
        <p:nvSpPr>
          <p:cNvPr id="34"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able">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8}" type="slidenum">
              <a:rPr lang="en-GB" sz="1100">
                <a:solidFill>
                  <a:srgbClr val="64748B"/>
                </a:solidFill>
              </a:rPr>
              <a:t>‹#›</a:t>
            </a:fld>
            <a:endParaRPr lang="en-GB" sz="1100">
              <a:solidFill>
                <a:srgbClr val="64748B"/>
              </a:solidFill>
            </a:endParaRPr>
          </a:p>
        </p:txBody>
      </p:sp>
      <p:sp>
        <p:nvSpPr>
          <p:cNvPr id="1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Quote / Statement">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QuoteMark"/>
          <p:cNvSpPr/>
          <p:nvPr/>
        </p:nvSpPr>
        <p:spPr>
          <a:xfrm>
            <a:off x="609480" y="1120000"/>
            <a:ext cx="1900000" cy="1400000"/>
          </a:xfrm>
          <a:prstGeom prst="rect">
            <a:avLst/>
          </a:prstGeom>
          <a:noFill/>
        </p:spPr>
        <p:txBody>
          <a:bodyPr lIns="0" tIns="0" rIns="0" bIns="0">
            <a:noAutofit/>
          </a:bodyPr>
          <a:lstStyle/>
          <a:p>
            <a:r>
              <a:rPr lang="en-GB" sz="9600" b="1">
                <a:solidFill>
                  <a:srgbClr val="F7941E"/>
                </a:solidFill>
                <a:latin typeface="+mj-lt"/>
              </a:rPr>
              <a:t>“</a:t>
            </a:r>
          </a:p>
        </p:txBody>
      </p:sp>
      <p:sp>
        <p:nvSpPr>
          <p:cNvPr id="14" name="Quote"/>
          <p:cNvSpPr>
            <a:spLocks noGrp="1"/>
          </p:cNvSpPr>
          <p:nvPr>
            <p:ph type="body" idx="1"/>
          </p:nvPr>
        </p:nvSpPr>
        <p:spPr>
          <a:xfrm>
            <a:off x="609480" y="2520000"/>
            <a:ext cx="10973040" cy="2200000"/>
          </a:xfrm>
          <a:prstGeom prst="rect">
            <a:avLst/>
          </a:prstGeom>
        </p:spPr>
        <p:txBody>
          <a:bodyPr lIns="0" tIns="0" rIns="0" bIns="0" anchor="t">
            <a:normAutofit/>
          </a:bodyPr>
          <a:lstStyle>
            <a:lvl1pPr marL="0" indent="0" algn="l">
              <a:lnSpc>
                <a:spcPct val="116000"/>
              </a:lnSpc>
              <a:defRPr sz="3200" b="0" i="0">
                <a:solidFill>
                  <a:srgbClr val="FFFFFF"/>
                </a:solidFill>
                <a:latin typeface="+mj-lt"/>
              </a:defRPr>
            </a:lvl1pPr>
          </a:lstStyle>
          <a:p>
            <a:endParaRPr lang="en-GB"/>
          </a:p>
        </p:txBody>
      </p:sp>
      <p:sp>
        <p:nvSpPr>
          <p:cNvPr id="15" name="Attribution"/>
          <p:cNvSpPr>
            <a:spLocks noGrp="1"/>
          </p:cNvSpPr>
          <p:nvPr>
            <p:ph type="body" idx="11"/>
          </p:nvPr>
        </p:nvSpPr>
        <p:spPr>
          <a:xfrm>
            <a:off x="609480" y="4900000"/>
            <a:ext cx="10973040" cy="460000"/>
          </a:xfrm>
          <a:prstGeom prst="rect">
            <a:avLst/>
          </a:prstGeom>
        </p:spPr>
        <p:txBody>
          <a:bodyPr lIns="0" tIns="0" rIns="0" bIns="0" anchor="t">
            <a:normAutofit/>
          </a:bodyPr>
          <a:lstStyle>
            <a:lvl1pPr marL="0" indent="0" algn="l">
              <a:defRPr sz="1600" b="0" i="0">
                <a:solidFill>
                  <a:srgbClr val="94A3B8"/>
                </a:solidFill>
                <a:latin typeface="+mn-lt"/>
              </a:defRPr>
            </a:lvl1pPr>
          </a:lstStyle>
          <a:p>
            <a:endParaRPr lang="en-GB"/>
          </a:p>
        </p:txBody>
      </p:sp>
      <p:sp>
        <p:nvSpPr>
          <p:cNvPr id="16"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7"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7}" type="slidenum">
              <a:rPr lang="en-GB" sz="1100">
                <a:solidFill>
                  <a:srgbClr val="94A3B8"/>
                </a:solidFill>
              </a:rPr>
              <a:t>‹#›</a:t>
            </a:fld>
            <a:endParaRPr lang="en-GB" sz="1100">
              <a:solidFill>
                <a:srgbClr val="94A3B8"/>
              </a:solidFill>
            </a:endParaRP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losing">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371600"/>
            <a:ext cx="45720" cy="3108960"/>
          </a:xfrm>
          <a:prstGeom prst="rect">
            <a:avLst/>
          </a:prstGeom>
          <a:solidFill>
            <a:srgbClr val="F7941E"/>
          </a:solidFill>
          <a:ln w="0">
            <a:noFill/>
          </a:ln>
        </p:spPr>
        <p:txBody>
          <a:bodyPr/>
          <a:lstStyle/>
          <a:p>
            <a:endParaRPr lang="en-GB"/>
          </a:p>
        </p:txBody>
      </p:sp>
      <p:sp>
        <p:nvSpPr>
          <p:cNvPr id="14" name="Title"/>
          <p:cNvSpPr>
            <a:spLocks noGrp="1"/>
          </p:cNvSpPr>
          <p:nvPr>
            <p:ph type="title"/>
          </p:nvPr>
        </p:nvSpPr>
        <p:spPr>
          <a:xfrm>
            <a:off x="914400" y="1371600"/>
            <a:ext cx="9599040" cy="1097280"/>
          </a:xfrm>
          <a:prstGeom prst="rect">
            <a:avLst/>
          </a:prstGeom>
        </p:spPr>
        <p:txBody>
          <a:bodyPr lIns="0" tIns="0" rIns="0" bIns="0" anchor="t">
            <a:normAutofit/>
          </a:bodyPr>
          <a:lstStyle>
            <a:lvl1pPr marL="0" indent="0" algn="l">
              <a:defRPr sz="5400" b="1" i="0">
                <a:solidFill>
                  <a:srgbClr val="FFFFFF"/>
                </a:solidFill>
                <a:latin typeface="+mj-lt"/>
              </a:defRPr>
            </a:lvl1pPr>
          </a:lstStyle>
          <a:p>
            <a:endParaRPr lang="en-GB"/>
          </a:p>
        </p:txBody>
      </p:sp>
      <p:sp>
        <p:nvSpPr>
          <p:cNvPr id="15" name="Divider"/>
          <p:cNvSpPr/>
          <p:nvPr/>
        </p:nvSpPr>
        <p:spPr>
          <a:xfrm>
            <a:off x="914400" y="2480000"/>
            <a:ext cx="3200400" cy="22860"/>
          </a:xfrm>
          <a:prstGeom prst="rect">
            <a:avLst/>
          </a:prstGeom>
          <a:solidFill>
            <a:srgbClr val="F7941E"/>
          </a:solidFill>
          <a:ln w="0">
            <a:noFill/>
          </a:ln>
        </p:spPr>
        <p:txBody>
          <a:bodyPr/>
          <a:lstStyle/>
          <a:p>
            <a:endParaRPr lang="en-GB"/>
          </a:p>
        </p:txBody>
      </p:sp>
      <p:sp>
        <p:nvSpPr>
          <p:cNvPr id="16" name="Name"/>
          <p:cNvSpPr>
            <a:spLocks noGrp="1"/>
          </p:cNvSpPr>
          <p:nvPr>
            <p:ph type="body" idx="1"/>
          </p:nvPr>
        </p:nvSpPr>
        <p:spPr>
          <a:xfrm>
            <a:off x="914400" y="2620000"/>
            <a:ext cx="5400000" cy="460000"/>
          </a:xfrm>
          <a:prstGeom prst="rect">
            <a:avLst/>
          </a:prstGeom>
        </p:spPr>
        <p:txBody>
          <a:bodyPr lIns="0" tIns="0" rIns="0" bIns="0" anchor="t">
            <a:normAutofit/>
          </a:bodyPr>
          <a:lstStyle>
            <a:lvl1pPr marL="0" indent="0" algn="l">
              <a:defRPr sz="2000" b="1" i="0">
                <a:solidFill>
                  <a:srgbClr val="FFFFFF"/>
                </a:solidFill>
                <a:latin typeface="+mj-lt"/>
              </a:defRPr>
            </a:lvl1pPr>
          </a:lstStyle>
          <a:p>
            <a:endParaRPr lang="en-GB"/>
          </a:p>
        </p:txBody>
      </p:sp>
      <p:sp>
        <p:nvSpPr>
          <p:cNvPr id="17" name="Role / Title"/>
          <p:cNvSpPr>
            <a:spLocks noGrp="1"/>
          </p:cNvSpPr>
          <p:nvPr>
            <p:ph type="body" idx="11"/>
          </p:nvPr>
        </p:nvSpPr>
        <p:spPr>
          <a:xfrm>
            <a:off x="914400" y="3090000"/>
            <a:ext cx="5400000" cy="380000"/>
          </a:xfrm>
          <a:prstGeom prst="rect">
            <a:avLst/>
          </a:prstGeom>
        </p:spPr>
        <p:txBody>
          <a:bodyPr lIns="0" tIns="0" rIns="0" bIns="0" anchor="t">
            <a:normAutofit/>
          </a:bodyPr>
          <a:lstStyle>
            <a:lvl1pPr marL="0" indent="0" algn="l">
              <a:defRPr sz="1600" b="1" i="0">
                <a:solidFill>
                  <a:srgbClr val="F7941E"/>
                </a:solidFill>
                <a:latin typeface="+mn-lt"/>
              </a:defRPr>
            </a:lvl1pPr>
          </a:lstStyle>
          <a:p>
            <a:endParaRPr lang="en-GB"/>
          </a:p>
        </p:txBody>
      </p:sp>
      <p:sp>
        <p:nvSpPr>
          <p:cNvPr id="18" name="Contact details"/>
          <p:cNvSpPr>
            <a:spLocks noGrp="1"/>
          </p:cNvSpPr>
          <p:nvPr>
            <p:ph type="body" idx="2"/>
          </p:nvPr>
        </p:nvSpPr>
        <p:spPr>
          <a:xfrm>
            <a:off x="914400" y="3620000"/>
            <a:ext cx="5400000" cy="1500000"/>
          </a:xfrm>
          <a:prstGeom prst="rect">
            <a:avLst/>
          </a:prstGeom>
        </p:spPr>
        <p:txBody>
          <a:bodyPr lIns="0" tIns="0" rIns="0" bIns="0" anchor="t">
            <a:normAutofit/>
          </a:bodyPr>
          <a:lstStyle>
            <a:lvl1pPr marL="0" indent="0" algn="l">
              <a:lnSpc>
                <a:spcPct val="132000"/>
              </a:lnSpc>
              <a:defRPr sz="1500" b="0" i="0">
                <a:solidFill>
                  <a:srgbClr val="E2E8F0"/>
                </a:solidFill>
                <a:latin typeface="+mn-lt"/>
              </a:defRPr>
            </a:lvl1pPr>
          </a:lstStyle>
          <a:p>
            <a:endParaRPr lang="en-GB"/>
          </a:p>
        </p:txBody>
      </p:sp>
      <p:sp>
        <p:nvSpPr>
          <p:cNvPr id="19" name="Second-Column Heading"/>
          <p:cNvSpPr>
            <a:spLocks noGrp="1"/>
          </p:cNvSpPr>
          <p:nvPr>
            <p:ph type="body" idx="3"/>
          </p:nvPr>
        </p:nvSpPr>
        <p:spPr>
          <a:xfrm>
            <a:off x="6858000" y="3090000"/>
            <a:ext cx="4700000" cy="380000"/>
          </a:xfrm>
          <a:prstGeom prst="rect">
            <a:avLst/>
          </a:prstGeom>
        </p:spPr>
        <p:txBody>
          <a:bodyPr lIns="0" tIns="0" rIns="0" bIns="0" anchor="t">
            <a:normAutofit/>
          </a:bodyPr>
          <a:lstStyle>
            <a:lvl1pPr marL="0" indent="0" algn="l">
              <a:defRPr sz="1400" b="1" i="0" spc="200">
                <a:solidFill>
                  <a:srgbClr val="F7941E"/>
                </a:solidFill>
                <a:latin typeface="+mn-lt"/>
              </a:defRPr>
            </a:lvl1pPr>
          </a:lstStyle>
          <a:p>
            <a:endParaRPr lang="en-GB"/>
          </a:p>
        </p:txBody>
      </p:sp>
      <p:sp>
        <p:nvSpPr>
          <p:cNvPr id="20" name="Second-Column Content"/>
          <p:cNvSpPr>
            <a:spLocks noGrp="1"/>
          </p:cNvSpPr>
          <p:nvPr>
            <p:ph type="body" idx="4"/>
          </p:nvPr>
        </p:nvSpPr>
        <p:spPr>
          <a:xfrm>
            <a:off x="6858000" y="3560000"/>
            <a:ext cx="4700000" cy="1560000"/>
          </a:xfrm>
          <a:prstGeom prst="rect">
            <a:avLst/>
          </a:prstGeom>
        </p:spPr>
        <p:txBody>
          <a:bodyPr lIns="0" tIns="0" rIns="0" bIns="0" anchor="t">
            <a:normAutofit/>
          </a:bodyPr>
          <a:lstStyle>
            <a:lvl1pPr marL="0" indent="0" algn="l">
              <a:lnSpc>
                <a:spcPct val="130000"/>
              </a:lnSpc>
              <a:defRPr sz="1400" b="0" i="0">
                <a:solidFill>
                  <a:srgbClr val="E2E8F0"/>
                </a:solidFill>
                <a:latin typeface="+mn-lt"/>
              </a:defRPr>
            </a:lvl1pPr>
          </a:lstStyle>
          <a:p>
            <a:endParaRPr lang="en-GB"/>
          </a:p>
        </p:txBody>
      </p:sp>
      <p:sp>
        <p:nvSpPr>
          <p:cNvPr id="2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22"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1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2}" type="slidenum">
              <a:rPr lang="en-GB" sz="1100">
                <a:solidFill>
                  <a:srgbClr val="64748B"/>
                </a:solidFill>
              </a:rPr>
              <a:t>‹#›</a:t>
            </a:fld>
            <a:endParaRPr lang="en-GB" sz="1100">
              <a:solidFill>
                <a:srgbClr val="64748B"/>
              </a:solidFill>
            </a:endParaRPr>
          </a:p>
        </p:txBody>
      </p:sp>
      <p:sp>
        <p:nvSpPr>
          <p:cNvPr id="1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09480" y="350000"/>
            <a:ext cx="10973040" cy="820000"/>
          </a:xfrm>
          <a:prstGeom prst="rect">
            <a:avLst/>
          </a:prstGeom>
        </p:spPr>
        <p:txBody>
          <a:bodyPr lIns="0" tIns="0" rIns="0" bIns="0" anchor="ctr">
            <a:noAutofit/>
          </a:bodyPr>
          <a:lstStyle/>
          <a:p>
            <a:r>
              <a:rPr lang="en-GB"/>
              <a:t>Click to edit Master title</a:t>
            </a:r>
          </a:p>
        </p:txBody>
      </p:sp>
      <p:sp>
        <p:nvSpPr>
          <p:cNvPr id="3" name="Body Placeholder"/>
          <p:cNvSpPr>
            <a:spLocks noGrp="1"/>
          </p:cNvSpPr>
          <p:nvPr>
            <p:ph type="body" idx="1"/>
          </p:nvPr>
        </p:nvSpPr>
        <p:spPr>
          <a:xfrm>
            <a:off x="609480" y="1500000"/>
            <a:ext cx="10973040" cy="4700000"/>
          </a:xfrm>
          <a:prstGeom prst="rect">
            <a:avLst/>
          </a:prstGeom>
        </p:spPr>
        <p:txBody>
          <a:bodyPr lIns="0" tIns="0" rIns="0" bIns="0">
            <a:normAutofit/>
          </a:bodyPr>
          <a:lstStyle/>
          <a:p>
            <a:pPr lvl="0"/>
            <a:r>
              <a:rPr lang="en-GB"/>
              <a:t>Master text styles</a:t>
            </a:r>
          </a:p>
        </p:txBody>
      </p:sp>
      <p:sp>
        <p:nvSpPr>
          <p:cNvPr id="904"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905"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905}" type="slidenum">
              <a:rPr lang="en-GB" sz="1100">
                <a:solidFill>
                  <a:srgbClr val="64748B"/>
                </a:solidFill>
              </a:rPr>
              <a:t>‹#›</a:t>
            </a:fld>
            <a:endParaRPr lang="en-GB" sz="1100">
              <a:solidFill>
                <a:srgbClr val="64748B"/>
              </a:solidFill>
            </a:endParaRPr>
          </a:p>
        </p:txBody>
      </p:sp>
      <p:sp>
        <p:nvSpPr>
          <p:cNvPr id="90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a:lnSpc>
          <a:spcPct val="100000"/>
        </a:lnSpc>
        <a:defRPr sz="3600" b="1">
          <a:solidFill>
            <a:srgbClr val="0F172A"/>
          </a:solidFill>
          <a:latin typeface="+mj-lt"/>
        </a:defRPr>
      </a:lvl1pPr>
    </p:titleStyle>
    <p:bodyStyle>
      <a:lvl1pPr marL="0" indent="0">
        <a:lnSpc>
          <a:spcPct val="118000"/>
        </a:lnSpc>
        <a:spcBef>
          <a:spcPts val="600"/>
        </a:spcBef>
        <a:buNone/>
        <a:defRPr sz="1600">
          <a:solidFill>
            <a:srgbClr val="475569"/>
          </a:solidFill>
          <a:latin typeface="+mn-lt"/>
        </a:defRPr>
      </a:lvl1pPr>
      <a:lvl2pPr marL="274320" indent="-274320">
        <a:lnSpc>
          <a:spcPct val="118000"/>
        </a:lnSpc>
        <a:spcBef>
          <a:spcPts val="500"/>
        </a:spcBef>
        <a:buClr>
          <a:srgbClr val="F7941E"/>
        </a:buClr>
        <a:buFont typeface="Arial"/>
        <a:buChar char="•"/>
        <a:defRPr sz="1500">
          <a:solidFill>
            <a:srgbClr val="475569"/>
          </a:solidFill>
          <a:latin typeface="+mn-lt"/>
        </a:defRPr>
      </a:lvl2pPr>
      <a:lvl3pPr marL="548640" indent="-274320">
        <a:spcBef>
          <a:spcPts val="300"/>
        </a:spcBef>
        <a:buClr>
          <a:srgbClr val="94A3B8"/>
        </a:buClr>
        <a:buFont typeface="Arial"/>
        <a:buChar char="–"/>
        <a:defRPr sz="1400">
          <a:solidFill>
            <a:srgbClr val="475569"/>
          </a:solidFill>
        </a:defRPr>
      </a:lvl3pPr>
    </p:bodyStyle>
    <p:otherStyle>
      <a:defPPr>
        <a:defRPr lang="en-GB"/>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r>
              <a:t>Schuh</a:t>
            </a:r>
          </a:p>
        </p:txBody>
      </p:sp>
      <p:sp>
        <p:nvSpPr>
          <p:cNvPr id="3" name="Subtitle 2"/>
          <p:cNvSpPr>
            <a:spLocks noGrp="1"/>
          </p:cNvSpPr>
          <p:nvPr>
            <p:ph type="subTitle" idx="1"/>
          </p:nvPr>
        </p:nvSpPr>
        <p:spPr/>
        <p:txBody>
          <a:bodyPr wrap="square"/>
          <a:lstStyle/>
          <a:p>
            <a:r>
              <a:t>Strategy Review · September 2026</a:t>
            </a:r>
          </a:p>
        </p:txBody>
      </p:sp>
      <p:sp>
        <p:nvSpPr>
          <p:cNvPr id="4" name="Text Placeholder 3"/>
          <p:cNvSpPr>
            <a:spLocks noGrp="1"/>
          </p:cNvSpPr>
          <p:nvPr>
            <p:ph type="body" idx="11"/>
          </p:nvPr>
        </p:nvSpPr>
        <p:spPr/>
        <p:txBody>
          <a:bodyPr wrap="square"/>
          <a:lstStyle/>
          <a:p>
            <a:r>
              <a:t>Markets UK · Ireland · Germany  ·  Catalogue 43,492 live SKUs · 6 feeds  ·  Cycle Look-back: Apr –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430"/>
              <a:t>"The feed becomes transaction infrastructure - In agentic commerce, a feed error can affect not only visibility but also the agent's recommendation, cart logic, displayed total, legal notice and ability to complete checkout. Accuracy, identifiers and policy data become commercial controls"</a:t>
            </a:r>
          </a:p>
          <a:p>
            <a:r>
              <a:rPr sz="2430"/>
              <a:t>Google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we'll cover</a:t>
            </a:r>
          </a:p>
        </p:txBody>
      </p:sp>
      <p:sp>
        <p:nvSpPr>
          <p:cNvPr id="3" name="Text Placeholder 2"/>
          <p:cNvSpPr>
            <a:spLocks noGrp="1"/>
          </p:cNvSpPr>
          <p:nvPr>
            <p:ph type="body" idx="11"/>
          </p:nvPr>
        </p:nvSpPr>
        <p:spPr/>
        <p:txBody>
          <a:bodyPr wrap="square"/>
          <a:lstStyle/>
          <a:p>
            <a:r>
              <a:t>Eleven chapters, two sources.</a:t>
            </a:r>
          </a:p>
        </p:txBody>
      </p:sp>
      <p:sp>
        <p:nvSpPr>
          <p:cNvPr id="4" name="Text Placeholder 3"/>
          <p:cNvSpPr>
            <a:spLocks noGrp="1"/>
          </p:cNvSpPr>
          <p:nvPr>
            <p:ph type="body" idx="1"/>
          </p:nvPr>
        </p:nvSpPr>
        <p:spPr/>
        <p:txBody>
          <a:bodyPr wrap="square"/>
          <a:lstStyle/>
          <a:p>
            <a:r>
              <a:t>01  Review &amp; project recap — 61 of 96 initiatives closed · 13 in the last six months</a:t>
            </a:r>
          </a:p>
          <a:p>
            <a:r>
              <a:t>02  Channel coverage — Shopping ×3 markets, Meta ×3, PMax live — LIA and CSS still open</a:t>
            </a:r>
          </a:p>
          <a:p>
            <a:r>
              <a:t>03  Look-back period — April to September 2026, month by month</a:t>
            </a:r>
          </a:p>
          <a:p>
            <a:r>
              <a:t>04  Number of wins / results — Eleven quantified tests — seven keyword wins, two title losses</a:t>
            </a:r>
          </a:p>
          <a:p>
            <a:r>
              <a:t>05  Feed optimisation score — 74/100 — eleven lanes, scored honestly</a:t>
            </a:r>
          </a:p>
          <a:p>
            <a:r>
              <a:t>06  AI readiness — Tier 2 reached in GB, and GB only</a:t>
            </a:r>
          </a:p>
        </p:txBody>
      </p:sp>
      <p:sp>
        <p:nvSpPr>
          <p:cNvPr id="5" name="Text Placeholder 4"/>
          <p:cNvSpPr>
            <a:spLocks noGrp="1"/>
          </p:cNvSpPr>
          <p:nvPr>
            <p:ph type="body" idx="2"/>
          </p:nvPr>
        </p:nvSpPr>
        <p:spPr/>
        <p:txBody>
          <a:bodyPr wrap="square"/>
          <a:lstStyle/>
          <a:p>
            <a:r>
              <a:t>07  Case studies / test wins — Proof from comparable FeedSpark accounts</a:t>
            </a:r>
          </a:p>
          <a:p>
            <a:r>
              <a:t>08  Roadmap / next quarter — The open work, sequenced into Peak</a:t>
            </a:r>
          </a:p>
          <a:p>
            <a:r>
              <a:t>09  Google conversational attributes — Two of six already live — further than most</a:t>
            </a:r>
          </a:p>
          <a:p>
            <a:r>
              <a:t>10  Value delivered — 43,492 SKUs held across six feeds</a:t>
            </a:r>
          </a:p>
          <a:p>
            <a:r>
              <a:t>11  Spark AI engine (Tachyon) — Intent, enrichment and visual harvest for footwear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one</a:t>
            </a:r>
          </a:p>
        </p:txBody>
      </p:sp>
      <p:sp>
        <p:nvSpPr>
          <p:cNvPr id="3" name="Title 2"/>
          <p:cNvSpPr>
            <a:spLocks noGrp="1"/>
          </p:cNvSpPr>
          <p:nvPr>
            <p:ph type="title"/>
          </p:nvPr>
        </p:nvSpPr>
        <p:spPr/>
        <p:txBody>
          <a:bodyPr wrap="square"/>
          <a:lstStyle/>
          <a:p>
            <a:r>
              <a:t>Review &amp; project recap</a:t>
            </a:r>
          </a:p>
        </p:txBody>
      </p:sp>
      <p:sp>
        <p:nvSpPr>
          <p:cNvPr id="4" name="Text Placeholder 3"/>
          <p:cNvSpPr>
            <a:spLocks noGrp="1"/>
          </p:cNvSpPr>
          <p:nvPr>
            <p:ph type="body" idx="1"/>
          </p:nvPr>
        </p:nvSpPr>
        <p:spPr/>
        <p:txBody>
          <a:bodyPr wrap="square"/>
          <a:lstStyle/>
          <a:p>
            <a:r>
              <a:t>61 of 96 tracked initiatives closed, 13 of them in the last six months — and the margin architecture is now live on every UK SKU.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a:t>
            </a:r>
          </a:p>
        </p:txBody>
      </p:sp>
      <p:sp>
        <p:nvSpPr>
          <p:cNvPr id="3" name="Text Placeholder 2"/>
          <p:cNvSpPr>
            <a:spLocks noGrp="1"/>
          </p:cNvSpPr>
          <p:nvPr>
            <p:ph type="body" idx="11"/>
          </p:nvPr>
        </p:nvSpPr>
        <p:spPr/>
        <p:txBody>
          <a:bodyPr wrap="square"/>
          <a:lstStyle/>
          <a:p>
            <a:r>
              <a:t>61 Closed to date  ·  34 Open  ·  1 On hold  ·  96 Tracked initiatives</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4608417"/>
                <a:gridCol w="798527"/>
                <a:gridCol w="798527"/>
                <a:gridCol w="4767328"/>
              </a:tblGrid>
              <a:tr h="384048">
                <a:tc>
                  <a:txBody>
                    <a:bodyPr/>
                    <a:lstStyle/>
                    <a:p>
                      <a:r>
                        <a:rPr sz="1300" b="1">
                          <a:solidFill>
                            <a:srgbClr val="FFFFFF"/>
                          </a:solidFill>
                        </a:rPr>
                        <a:t>Action</a:t>
                      </a:r>
                    </a:p>
                  </a:txBody>
                  <a:tcPr/>
                </a:tc>
                <a:tc>
                  <a:txBody>
                    <a:bodyPr/>
                    <a:lstStyle/>
                    <a:p>
                      <a:r>
                        <a:rPr sz="1300" b="1">
                          <a:solidFill>
                            <a:srgbClr val="FFFFFF"/>
                          </a:solidFill>
                        </a:rPr>
                        <a:t>Owner</a:t>
                      </a:r>
                    </a:p>
                  </a:txBody>
                  <a:tcPr/>
                </a:tc>
                <a:tc>
                  <a:txBody>
                    <a:bodyPr/>
                    <a:lstStyle/>
                    <a:p>
                      <a:r>
                        <a:rPr sz="1300" b="1">
                          <a:solidFill>
                            <a:srgbClr val="FFFFFF"/>
                          </a:solidFill>
                        </a:rPr>
                        <a:t>Status</a:t>
                      </a:r>
                    </a:p>
                  </a:txBody>
                  <a:tcPr/>
                </a:tc>
                <a:tc>
                  <a:txBody>
                    <a:bodyPr/>
                    <a:lstStyle/>
                    <a:p>
                      <a:r>
                        <a:rPr sz="1300" b="1">
                          <a:solidFill>
                            <a:srgbClr val="FFFFFF"/>
                          </a:solidFill>
                        </a:rPr>
                        <a:t>Outcome</a:t>
                      </a:r>
                    </a:p>
                  </a:txBody>
                  <a:tcPr/>
                </a:tc>
              </a:tr>
              <a:tr h="426339">
                <a:tc>
                  <a:txBody>
                    <a:bodyPr/>
                    <a:lstStyle/>
                    <a:p>
                      <a:r>
                        <a:rPr sz="1100"/>
                        <a:t>Pound Margin — review negative margin</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Margin banding now on 100% of UK SKUs across CL0 and CL1</a:t>
                      </a:r>
                    </a:p>
                  </a:txBody>
                  <a:tcPr/>
                </a:tc>
              </a:tr>
              <a:tr h="426339">
                <a:tc>
                  <a:txBody>
                    <a:bodyPr/>
                    <a:lstStyle/>
                    <a:p>
                      <a:r>
                        <a:rPr sz="1100"/>
                        <a:t>Remove blanket exclusion — exclude below £0 margin instead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Loss-making lines excluded on margin, not on a flat rule</a:t>
                      </a:r>
                    </a:p>
                  </a:txBody>
                  <a:tcPr/>
                </a:tc>
              </a:tr>
              <a:tr h="426339">
                <a:tc>
                  <a:txBody>
                    <a:bodyPr/>
                    <a:lstStyle/>
                    <a:p>
                      <a:r>
                        <a:rPr sz="1100"/>
                        <a:t>Keyword optimisation — Trainers (MSS)</a:t>
                      </a:r>
                    </a:p>
                  </a:txBody>
                  <a:tcPr/>
                </a:tc>
                <a:tc>
                  <a:txBody>
                    <a:bodyPr/>
                    <a:lstStyle/>
                    <a:p>
                      <a:r>
                        <a:rPr sz="1100"/>
                        <a:t>Will / Isa</a:t>
                      </a:r>
                    </a:p>
                  </a:txBody>
                  <a:tcPr/>
                </a:tc>
                <a:tc>
                  <a:txBody>
                    <a:bodyPr/>
                    <a:lstStyle/>
                    <a:p>
                      <a:r>
                        <a:rPr sz="1100" b="1">
                          <a:solidFill>
                            <a:srgbClr val="2E7D32"/>
                          </a:solidFill>
                        </a:rPr>
                        <a:t>Done</a:t>
                      </a:r>
                    </a:p>
                  </a:txBody>
                  <a:tcPr/>
                </a:tc>
                <a:tc>
                  <a:txBody>
                    <a:bodyPr/>
                    <a:lstStyle/>
                    <a:p>
                      <a:r>
                        <a:rPr sz="1100"/>
                        <a:t>Live on 28.4% of the UK catalogue today</a:t>
                      </a:r>
                    </a:p>
                  </a:txBody>
                  <a:tcPr/>
                </a:tc>
              </a:tr>
              <a:tr h="426339">
                <a:tc>
                  <a:txBody>
                    <a:bodyPr/>
                    <a:lstStyle/>
                    <a:p>
                      <a:r>
                        <a:rPr sz="1100"/>
                        <a:t>EOSS — sale keywords</a:t>
                      </a:r>
                    </a:p>
                  </a:txBody>
                  <a:tcPr/>
                </a:tc>
                <a:tc>
                  <a:txBody>
                    <a:bodyPr/>
                    <a:lstStyle/>
                    <a:p>
                      <a:r>
                        <a:rPr sz="1100"/>
                        <a:t>Isa</a:t>
                      </a:r>
                    </a:p>
                  </a:txBody>
                  <a:tcPr/>
                </a:tc>
                <a:tc>
                  <a:txBody>
                    <a:bodyPr/>
                    <a:lstStyle/>
                    <a:p>
                      <a:r>
                        <a:rPr sz="1100" b="1">
                          <a:solidFill>
                            <a:srgbClr val="2E7D32"/>
                          </a:solidFill>
                        </a:rPr>
                        <a:t>Done</a:t>
                      </a:r>
                    </a:p>
                  </a:txBody>
                  <a:tcPr/>
                </a:tc>
                <a:tc>
                  <a:txBody>
                    <a:bodyPr/>
                    <a:lstStyle/>
                    <a:p>
                      <a:r>
                        <a:rPr sz="1100"/>
                        <a:t>Sale flag now carried in CL3 on 30.4% of UK SKUs</a:t>
                      </a:r>
                    </a:p>
                  </a:txBody>
                  <a:tcPr/>
                </a:tc>
              </a:tr>
              <a:tr h="426339">
                <a:tc>
                  <a:txBody>
                    <a:bodyPr/>
                    <a:lstStyle/>
                    <a:p>
                      <a:r>
                        <a:rPr sz="1100"/>
                        <a:t>AI Score Card review — UK &amp; IE, with recommendations</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The baseline this review measures against — chapter 06</a:t>
                      </a:r>
                    </a:p>
                  </a:txBody>
                  <a:tcPr/>
                </a:tc>
              </a:tr>
              <a:tr h="426339">
                <a:tc>
                  <a:txBody>
                    <a:bodyPr/>
                    <a:lstStyle/>
                    <a:p>
                      <a:r>
                        <a:rPr sz="1100"/>
                        <a:t>CSS vs. CSS Google — retest split test</a:t>
                      </a:r>
                    </a:p>
                  </a:txBody>
                  <a:tcPr/>
                </a:tc>
                <a:tc>
                  <a:txBody>
                    <a:bodyPr/>
                    <a:lstStyle/>
                    <a:p>
                      <a:r>
                        <a:rPr sz="1100"/>
                        <a:t>Ray / Will</a:t>
                      </a:r>
                    </a:p>
                  </a:txBody>
                  <a:tcPr/>
                </a:tc>
                <a:tc>
                  <a:txBody>
                    <a:bodyPr/>
                    <a:lstStyle/>
                    <a:p>
                      <a:r>
                        <a:rPr sz="1100" b="1">
                          <a:solidFill>
                            <a:srgbClr val="2E7D32"/>
                          </a:solidFill>
                        </a:rPr>
                        <a:t>Done</a:t>
                      </a:r>
                    </a:p>
                  </a:txBody>
                  <a:tcPr/>
                </a:tc>
                <a:tc>
                  <a:txBody>
                    <a:bodyPr/>
                    <a:lstStyle/>
                    <a:p>
                      <a:r>
                        <a:rPr sz="1100"/>
                        <a:t>No CPC benefit in the UK market — read in full in chapter 04</a:t>
                      </a:r>
                    </a:p>
                  </a:txBody>
                  <a:tcPr/>
                </a:tc>
              </a:tr>
              <a:tr h="426339">
                <a:tc>
                  <a:txBody>
                    <a:bodyPr/>
                    <a:lstStyle/>
                    <a:p>
                      <a:r>
                        <a:rPr sz="1100"/>
                        <a:t>A/B title test — [Search Intent], Fashion category</a:t>
                      </a:r>
                    </a:p>
                  </a:txBody>
                  <a:tcPr/>
                </a:tc>
                <a:tc>
                  <a:txBody>
                    <a:bodyPr/>
                    <a:lstStyle/>
                    <a:p>
                      <a:r>
                        <a:rPr sz="1100"/>
                        <a:t>Steven</a:t>
                      </a:r>
                    </a:p>
                  </a:txBody>
                  <a:tcPr/>
                </a:tc>
                <a:tc>
                  <a:txBody>
                    <a:bodyPr/>
                    <a:lstStyle/>
                    <a:p>
                      <a:r>
                        <a:rPr sz="1100" b="1">
                          <a:solidFill>
                            <a:srgbClr val="2E7D32"/>
                          </a:solidFill>
                        </a:rPr>
                        <a:t>Done</a:t>
                      </a:r>
                    </a:p>
                  </a:txBody>
                  <a:tcPr/>
                </a:tc>
                <a:tc>
                  <a:txBody>
                    <a:bodyPr/>
                    <a:lstStyle/>
                    <a:p>
                      <a:r>
                        <a:rPr sz="1100"/>
                        <a:t>Completed; no quantified read recorded against it</a:t>
                      </a:r>
                    </a:p>
                  </a:txBody>
                  <a:tcPr/>
                </a:tc>
              </a:tr>
              <a:tr h="426339">
                <a:tc>
                  <a:txBody>
                    <a:bodyPr/>
                    <a:lstStyle/>
                    <a:p>
                      <a:r>
                        <a:rPr sz="1100"/>
                        <a:t>Custom Label overview shared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Five-slot architecture agreed — margin, stock, sale, range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 (cont.)</a:t>
            </a:r>
          </a:p>
        </p:txBody>
      </p:sp>
      <p:sp>
        <p:nvSpPr>
          <p:cNvPr id="4" name="Text Placeholder 3"/>
          <p:cNvSpPr>
            <a:spLocks noGrp="1"/>
          </p:cNvSpPr>
          <p:nvPr>
            <p:ph type="body" idx="14"/>
          </p:nvPr>
        </p:nvSpPr>
        <p:spPr/>
        <p:txBody>
          <a:bodyPr wrap="square"/>
          <a:lstStyle/>
          <a:p>
            <a:r>
              <a:t>Where the margin work actually landed. The plan records four separate margin initiatives closing across April and May.</a:t>
            </a:r>
          </a:p>
        </p:txBody>
      </p:sp>
      <p:graphicFrame>
        <p:nvGraphicFramePr>
          <p:cNvPr id="5" name="Table 4"/>
          <p:cNvGraphicFramePr>
            <a:graphicFrameLocks noGrp="1"/>
          </p:cNvGraphicFramePr>
          <p:nvPr/>
        </p:nvGraphicFramePr>
        <p:xfrm>
          <a:off x="612648" y="1847088"/>
          <a:ext cx="10972799" cy="3794756"/>
        </p:xfrm>
        <a:graphic>
          <a:graphicData uri="http://schemas.openxmlformats.org/drawingml/2006/table">
            <a:tbl>
              <a:tblPr firstRow="1" bandRow="1">
                <a:tableStyleId>{5C22544A-7EE6-4342-B048-85BDC9FD1C3A}</a:tableStyleId>
              </a:tblPr>
              <a:tblGrid>
                <a:gridCol w="3862627"/>
                <a:gridCol w="812411"/>
                <a:gridCol w="1175582"/>
                <a:gridCol w="5122179"/>
              </a:tblGrid>
              <a:tr h="384048">
                <a:tc>
                  <a:txBody>
                    <a:bodyPr/>
                    <a:lstStyle/>
                    <a:p>
                      <a:r>
                        <a:rPr sz="1300" b="1">
                          <a:solidFill>
                            <a:srgbClr val="FFFFFF"/>
                          </a:solidFill>
                        </a:rPr>
                        <a:t>Action</a:t>
                      </a:r>
                    </a:p>
                  </a:txBody>
                  <a:tcPr/>
                </a:tc>
                <a:tc>
                  <a:txBody>
                    <a:bodyPr/>
                    <a:lstStyle/>
                    <a:p>
                      <a:r>
                        <a:rPr sz="1300" b="1">
                          <a:solidFill>
                            <a:srgbClr val="FFFFFF"/>
                          </a:solidFill>
                        </a:rPr>
                        <a:t>Owner</a:t>
                      </a:r>
                    </a:p>
                  </a:txBody>
                  <a:tcPr/>
                </a:tc>
                <a:tc>
                  <a:txBody>
                    <a:bodyPr/>
                    <a:lstStyle/>
                    <a:p>
                      <a:r>
                        <a:rPr sz="1300" b="1">
                          <a:solidFill>
                            <a:srgbClr val="FFFFFF"/>
                          </a:solidFill>
                        </a:rPr>
                        <a:t>Status</a:t>
                      </a:r>
                    </a:p>
                  </a:txBody>
                  <a:tcPr/>
                </a:tc>
                <a:tc>
                  <a:txBody>
                    <a:bodyPr/>
                    <a:lstStyle/>
                    <a:p>
                      <a:r>
                        <a:rPr sz="1300" b="1">
                          <a:solidFill>
                            <a:srgbClr val="FFFFFF"/>
                          </a:solidFill>
                        </a:rPr>
                        <a:t>Outcome</a:t>
                      </a:r>
                    </a:p>
                  </a:txBody>
                  <a:tcPr/>
                </a:tc>
              </a:tr>
              <a:tr h="487244">
                <a:tc>
                  <a:txBody>
                    <a:bodyPr/>
                    <a:lstStyle/>
                    <a:p>
                      <a:r>
                        <a:rPr sz="1100"/>
                        <a:t>Campaign-structure recommendation shared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Feeds the PMax and CSS restructure now open</a:t>
                      </a:r>
                    </a:p>
                  </a:txBody>
                  <a:tcPr/>
                </a:tc>
              </a:tr>
              <a:tr h="487244">
                <a:tc>
                  <a:txBody>
                    <a:bodyPr/>
                    <a:lstStyle/>
                    <a:p>
                      <a:r>
                        <a:rPr sz="1100"/>
                        <a:t>Image_tag structural work</a:t>
                      </a:r>
                    </a:p>
                  </a:txBody>
                  <a:tcPr/>
                </a:tc>
                <a:tc>
                  <a:txBody>
                    <a:bodyPr/>
                    <a:lstStyle/>
                    <a:p>
                      <a:r>
                        <a:rPr sz="1100"/>
                        <a:t>Ray / Mo</a:t>
                      </a:r>
                    </a:p>
                  </a:txBody>
                  <a:tcPr/>
                </a:tc>
                <a:tc>
                  <a:txBody>
                    <a:bodyPr/>
                    <a:lstStyle/>
                    <a:p>
                      <a:r>
                        <a:rPr sz="1100" b="1">
                          <a:solidFill>
                            <a:srgbClr val="2E7D32"/>
                          </a:solidFill>
                        </a:rPr>
                        <a:t>Done</a:t>
                      </a:r>
                    </a:p>
                  </a:txBody>
                  <a:tcPr/>
                </a:tc>
                <a:tc>
                  <a:txBody>
                    <a:bodyPr/>
                    <a:lstStyle/>
                    <a:p>
                      <a:r>
                        <a:rPr sz="1100"/>
                        <a:t>Imagery now uniform at exactly 4 images per SKU, all markets</a:t>
                      </a:r>
                    </a:p>
                  </a:txBody>
                  <a:tcPr/>
                </a:tc>
              </a:tr>
              <a:tr h="487244">
                <a:tc>
                  <a:txBody>
                    <a:bodyPr/>
                    <a:lstStyle/>
                    <a:p>
                      <a:r>
                        <a:rPr sz="1100"/>
                        <a:t>Hero Sizes mapping — Mens / Womens / Childrens</a:t>
                      </a:r>
                    </a:p>
                  </a:txBody>
                  <a:tcPr/>
                </a:tc>
                <a:tc>
                  <a:txBody>
                    <a:bodyPr/>
                    <a:lstStyle/>
                    <a:p>
                      <a:r>
                        <a:rPr sz="1100"/>
                        <a:t>Ray</a:t>
                      </a:r>
                    </a:p>
                  </a:txBody>
                  <a:tcPr/>
                </a:tc>
                <a:tc>
                  <a:txBody>
                    <a:bodyPr/>
                    <a:lstStyle/>
                    <a:p>
                      <a:r>
                        <a:rPr sz="1100" b="1">
                          <a:solidFill>
                            <a:srgbClr val="ED6F0B"/>
                          </a:solidFill>
                        </a:rPr>
                        <a:t>In progress</a:t>
                      </a:r>
                    </a:p>
                  </a:txBody>
                  <a:tcPr/>
                </a:tc>
                <a:tc>
                  <a:txBody>
                    <a:bodyPr/>
                    <a:lstStyle/>
                    <a:p>
                      <a:r>
                        <a:rPr sz="1100"/>
                        <a:t>Paired with the stock-quantity threshold review</a:t>
                      </a:r>
                    </a:p>
                  </a:txBody>
                  <a:tcPr/>
                </a:tc>
              </a:tr>
              <a:tr h="487244">
                <a:tc>
                  <a:txBody>
                    <a:bodyPr/>
                    <a:lstStyle/>
                    <a:p>
                      <a:r>
                        <a:rPr sz="1100"/>
                        <a:t>Stock quantity threshold — from &lt;5 to &lt;2</a:t>
                      </a:r>
                    </a:p>
                  </a:txBody>
                  <a:tcPr/>
                </a:tc>
                <a:tc>
                  <a:txBody>
                    <a:bodyPr/>
                    <a:lstStyle/>
                    <a:p>
                      <a:r>
                        <a:rPr sz="1100"/>
                        <a:t>Ray</a:t>
                      </a:r>
                    </a:p>
                  </a:txBody>
                  <a:tcPr/>
                </a:tc>
                <a:tc>
                  <a:txBody>
                    <a:bodyPr/>
                    <a:lstStyle/>
                    <a:p>
                      <a:r>
                        <a:rPr sz="1100" b="1">
                          <a:solidFill>
                            <a:srgbClr val="ED6F0B"/>
                          </a:solidFill>
                        </a:rPr>
                        <a:t>In progress</a:t>
                      </a:r>
                    </a:p>
                  </a:txBody>
                  <a:tcPr/>
                </a:tc>
                <a:tc>
                  <a:txBody>
                    <a:bodyPr/>
                    <a:lstStyle/>
                    <a:p>
                      <a:r>
                        <a:rPr sz="1100"/>
                        <a:t>Would move stock banding in CL4, live on 100% of UK SKUs</a:t>
                      </a:r>
                    </a:p>
                  </a:txBody>
                  <a:tcPr/>
                </a:tc>
              </a:tr>
              <a:tr h="487244">
                <a:tc>
                  <a:txBody>
                    <a:bodyPr/>
                    <a:lstStyle/>
                    <a:p>
                      <a:r>
                        <a:rPr sz="1100"/>
                        <a:t>s360 PDP description prompt</a:t>
                      </a:r>
                    </a:p>
                  </a:txBody>
                  <a:tcPr/>
                </a:tc>
                <a:tc>
                  <a:txBody>
                    <a:bodyPr/>
                    <a:lstStyle/>
                    <a:p>
                      <a:r>
                        <a:rPr sz="1100"/>
                        <a:t>Will</a:t>
                      </a:r>
                    </a:p>
                  </a:txBody>
                  <a:tcPr/>
                </a:tc>
                <a:tc>
                  <a:txBody>
                    <a:bodyPr/>
                    <a:lstStyle/>
                    <a:p>
                      <a:r>
                        <a:rPr sz="1100" b="1">
                          <a:solidFill>
                            <a:srgbClr val="ED6F0B"/>
                          </a:solidFill>
                        </a:rPr>
                        <a:t>Awaiting Schuh</a:t>
                      </a:r>
                    </a:p>
                  </a:txBody>
                  <a:tcPr/>
                </a:tc>
                <a:tc>
                  <a:txBody>
                    <a:bodyPr/>
                    <a:lstStyle/>
                    <a:p>
                      <a:r>
                        <a:rPr sz="1100"/>
                        <a:t>Blocks description enrichment reaching DE and IE — chapter 05</a:t>
                      </a:r>
                    </a:p>
                  </a:txBody>
                  <a:tcPr/>
                </a:tc>
              </a:tr>
              <a:tr h="487244">
                <a:tc>
                  <a:txBody>
                    <a:bodyPr/>
                    <a:lstStyle/>
                    <a:p>
                      <a:r>
                        <a:rPr sz="1100"/>
                        <a:t>Margin and pound margin through CN in Meta</a:t>
                      </a:r>
                    </a:p>
                  </a:txBody>
                  <a:tcPr/>
                </a:tc>
                <a:tc>
                  <a:txBody>
                    <a:bodyPr/>
                    <a:lstStyle/>
                    <a:p>
                      <a:r>
                        <a:rPr sz="1100"/>
                        <a:t>Ray</a:t>
                      </a:r>
                    </a:p>
                  </a:txBody>
                  <a:tcPr/>
                </a:tc>
                <a:tc>
                  <a:txBody>
                    <a:bodyPr/>
                    <a:lstStyle/>
                    <a:p>
                      <a:r>
                        <a:rPr sz="1100" b="1">
                          <a:solidFill>
                            <a:srgbClr val="767676"/>
                          </a:solidFill>
                        </a:rPr>
                        <a:t>Open</a:t>
                      </a:r>
                    </a:p>
                  </a:txBody>
                  <a:tcPr/>
                </a:tc>
                <a:tc>
                  <a:txBody>
                    <a:bodyPr/>
                    <a:lstStyle/>
                    <a:p>
                      <a:r>
                        <a:rPr sz="1100"/>
                        <a:t>Carries the UK margin architecture into the social feeds</a:t>
                      </a:r>
                    </a:p>
                  </a:txBody>
                  <a:tcPr/>
                </a:tc>
              </a:tr>
              <a:tr h="487244">
                <a:tc>
                  <a:txBody>
                    <a:bodyPr/>
                    <a:lstStyle/>
                    <a:p>
                      <a:r>
                        <a:rPr sz="1100"/>
                        <a:t>Product Rating — manual retailer submission</a:t>
                      </a:r>
                    </a:p>
                  </a:txBody>
                  <a:tcPr/>
                </a:tc>
                <a:tc>
                  <a:txBody>
                    <a:bodyPr/>
                    <a:lstStyle/>
                    <a:p>
                      <a:r>
                        <a:rPr sz="1100"/>
                        <a:t>Ray</a:t>
                      </a:r>
                    </a:p>
                  </a:txBody>
                  <a:tcPr/>
                </a:tc>
                <a:tc>
                  <a:txBody>
                    <a:bodyPr/>
                    <a:lstStyle/>
                    <a:p>
                      <a:r>
                        <a:rPr sz="1100" b="1">
                          <a:solidFill>
                            <a:srgbClr val="ED6F0B"/>
                          </a:solidFill>
                        </a:rPr>
                        <a:t>On hold</a:t>
                      </a:r>
                    </a:p>
                  </a:txBody>
                  <a:tcPr/>
                </a:tc>
                <a:tc>
                  <a:txBody>
                    <a:bodyPr/>
                    <a:lstStyle/>
                    <a:p>
                      <a:r>
                        <a:rPr sz="1100"/>
                        <a:t>Waiting on ratings fields from Schuh's dev team</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two</a:t>
            </a:r>
          </a:p>
        </p:txBody>
      </p:sp>
      <p:sp>
        <p:nvSpPr>
          <p:cNvPr id="3" name="Title 2"/>
          <p:cNvSpPr>
            <a:spLocks noGrp="1"/>
          </p:cNvSpPr>
          <p:nvPr>
            <p:ph type="title"/>
          </p:nvPr>
        </p:nvSpPr>
        <p:spPr/>
        <p:txBody>
          <a:bodyPr wrap="square"/>
          <a:lstStyle/>
          <a:p>
            <a:r>
              <a:t>Channel coverage</a:t>
            </a:r>
          </a:p>
        </p:txBody>
      </p:sp>
      <p:sp>
        <p:nvSpPr>
          <p:cNvPr id="4" name="Text Placeholder 3"/>
          <p:cNvSpPr>
            <a:spLocks noGrp="1"/>
          </p:cNvSpPr>
          <p:nvPr>
            <p:ph type="body" idx="1"/>
          </p:nvPr>
        </p:nvSpPr>
        <p:spPr/>
        <p:txBody>
          <a:bodyPr wrap="square"/>
          <a:lstStyle/>
          <a:p>
            <a:r>
              <a:t>Six feeds live across three markets, two channels part-built, and five never switched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a:t>
            </a:r>
          </a:p>
        </p:txBody>
      </p:sp>
      <p:sp>
        <p:nvSpPr>
          <p:cNvPr id="3" name="Text Placeholder 2"/>
          <p:cNvSpPr>
            <a:spLocks noGrp="1"/>
          </p:cNvSpPr>
          <p:nvPr>
            <p:ph type="body" idx="11"/>
          </p:nvPr>
        </p:nvSpPr>
        <p:spPr/>
        <p:txBody>
          <a:bodyPr wrap="square"/>
          <a:lstStyle/>
          <a:p>
            <a:r>
              <a:rPr sz="1500"/>
              <a:t>Every state below is read from the channel's own feed where one exists, and from the project plan where it does not.</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1693333"/>
                <a:gridCol w="1625600"/>
                <a:gridCol w="1557866"/>
                <a:gridCol w="6096000"/>
              </a:tblGrid>
              <a:tr h="384048">
                <a:tc>
                  <a:txBody>
                    <a:bodyPr/>
                    <a:lstStyle/>
                    <a:p>
                      <a:r>
                        <a:rPr sz="1300" b="1">
                          <a:solidFill>
                            <a:srgbClr val="FFFFFF"/>
                          </a:solidFill>
                        </a:rPr>
                        <a:t>Channel</a:t>
                      </a:r>
                    </a:p>
                  </a:txBody>
                  <a:tcPr/>
                </a:tc>
                <a:tc>
                  <a:txBody>
                    <a:bodyPr/>
                    <a:lstStyle/>
                    <a:p>
                      <a:r>
                        <a:rPr sz="1300" b="1">
                          <a:solidFill>
                            <a:srgbClr val="FFFFFF"/>
                          </a:solidFill>
                        </a:rPr>
                        <a:t>State</a:t>
                      </a:r>
                    </a:p>
                  </a:txBody>
                  <a:tcPr/>
                </a:tc>
                <a:tc>
                  <a:txBody>
                    <a:bodyPr/>
                    <a:lstStyle/>
                    <a:p>
                      <a:r>
                        <a:rPr sz="1300" b="1">
                          <a:solidFill>
                            <a:srgbClr val="FFFFFF"/>
                          </a:solidFill>
                        </a:rPr>
                        <a:t>Coverage</a:t>
                      </a:r>
                    </a:p>
                  </a:txBody>
                  <a:tcPr/>
                </a:tc>
                <a:tc>
                  <a:txBody>
                    <a:bodyPr/>
                    <a:lstStyle/>
                    <a:p>
                      <a:r>
                        <a:rPr sz="1300" b="1">
                          <a:solidFill>
                            <a:srgbClr val="FFFFFF"/>
                          </a:solidFill>
                        </a:rPr>
                        <a:t>What the evidence shows</a:t>
                      </a:r>
                    </a:p>
                  </a:txBody>
                  <a:tcPr/>
                </a:tc>
              </a:tr>
              <a:tr h="426339">
                <a:tc>
                  <a:txBody>
                    <a:bodyPr/>
                    <a:lstStyle/>
                    <a:p>
                      <a:r>
                        <a:rPr sz="1100"/>
                        <a:t>Google Shopping</a:t>
                      </a:r>
                    </a:p>
                  </a:txBody>
                  <a:tcPr/>
                </a:tc>
                <a:tc>
                  <a:txBody>
                    <a:bodyPr/>
                    <a:lstStyle/>
                    <a:p>
                      <a:r>
                        <a:rPr sz="1100"/>
                        <a:t>Optimised</a:t>
                      </a:r>
                    </a:p>
                  </a:txBody>
                  <a:tcPr/>
                </a:tc>
                <a:tc>
                  <a:txBody>
                    <a:bodyPr/>
                    <a:lstStyle/>
                    <a:p>
                      <a:r>
                        <a:rPr sz="1100"/>
                        <a:t>3 markets · 43,492 SKUs</a:t>
                      </a:r>
                    </a:p>
                  </a:txBody>
                  <a:tcPr/>
                </a:tc>
                <a:tc>
                  <a:txBody>
                    <a:bodyPr/>
                    <a:lstStyle/>
                    <a:p>
                      <a:r>
                        <a:rPr sz="1100"/>
                        <a:t>UK 21,718 · DE 10,886 · IE 10,888. Titles rewritten on 100% of all three; margin, stock and sale labelling live</a:t>
                      </a:r>
                    </a:p>
                  </a:txBody>
                  <a:tcPr/>
                </a:tc>
              </a:tr>
              <a:tr h="426339">
                <a:tc>
                  <a:txBody>
                    <a:bodyPr/>
                    <a:lstStyle/>
                    <a:p>
                      <a:r>
                        <a:rPr sz="1100"/>
                        <a:t>Performance Max</a:t>
                      </a:r>
                    </a:p>
                  </a:txBody>
                  <a:tcPr/>
                </a:tc>
                <a:tc>
                  <a:txBody>
                    <a:bodyPr/>
                    <a:lstStyle/>
                    <a:p>
                      <a:r>
                        <a:rPr sz="1100" b="1">
                          <a:solidFill>
                            <a:srgbClr val="2E7D32"/>
                          </a:solidFill>
                        </a:rPr>
                        <a:t>Live</a:t>
                      </a:r>
                    </a:p>
                  </a:txBody>
                  <a:tcPr/>
                </a:tc>
                <a:tc>
                  <a:txBody>
                    <a:bodyPr/>
                    <a:lstStyle/>
                    <a:p>
                      <a:r>
                        <a:rPr sz="1100"/>
                        <a:t>Same catalogue</a:t>
                      </a:r>
                    </a:p>
                  </a:txBody>
                  <a:tcPr/>
                </a:tc>
                <a:tc>
                  <a:txBody>
                    <a:bodyPr/>
                    <a:lstStyle/>
                    <a:p>
                      <a:r>
                        <a:rPr sz="1100"/>
                        <a:t>Main PMax Shopping campaign running; a campaign-structure recommendation has been delivered and feeds the restructure now open</a:t>
                      </a:r>
                    </a:p>
                  </a:txBody>
                  <a:tcPr/>
                </a:tc>
              </a:tr>
              <a:tr h="426339">
                <a:tc>
                  <a:txBody>
                    <a:bodyPr/>
                    <a:lstStyle/>
                    <a:p>
                      <a:r>
                        <a:rPr sz="1100"/>
                        <a:t>Meta / Commerce Manager</a:t>
                      </a:r>
                    </a:p>
                  </a:txBody>
                  <a:tcPr/>
                </a:tc>
                <a:tc>
                  <a:txBody>
                    <a:bodyPr/>
                    <a:lstStyle/>
                    <a:p>
                      <a:r>
                        <a:rPr sz="1100" b="1">
                          <a:solidFill>
                            <a:srgbClr val="2E7D32"/>
                          </a:solidFill>
                        </a:rPr>
                        <a:t>Live</a:t>
                      </a:r>
                    </a:p>
                  </a:txBody>
                  <a:tcPr/>
                </a:tc>
                <a:tc>
                  <a:txBody>
                    <a:bodyPr/>
                    <a:lstStyle/>
                    <a:p>
                      <a:r>
                        <a:rPr sz="1100"/>
                        <a:t>3 catalogue feeds</a:t>
                      </a:r>
                    </a:p>
                  </a:txBody>
                  <a:tcPr/>
                </a:tc>
                <a:tc>
                  <a:txBody>
                    <a:bodyPr/>
                    <a:lstStyle/>
                    <a:p>
                      <a:r>
                        <a:rPr sz="1100"/>
                        <a:t>Own title rule (item type and colour stripped), sale custom label carried across, product-set structure aligned to product type</a:t>
                      </a:r>
                    </a:p>
                  </a:txBody>
                  <a:tcPr/>
                </a:tc>
              </a:tr>
              <a:tr h="426339">
                <a:tc>
                  <a:txBody>
                    <a:bodyPr/>
                    <a:lstStyle/>
                    <a:p>
                      <a:r>
                        <a:rPr sz="1100"/>
                        <a:t>CSS</a:t>
                      </a:r>
                    </a:p>
                  </a:txBody>
                  <a:tcPr/>
                </a:tc>
                <a:tc>
                  <a:txBody>
                    <a:bodyPr/>
                    <a:lstStyle/>
                    <a:p>
                      <a:r>
                        <a:rPr sz="1100"/>
                        <a:t>Tested, restructure open</a:t>
                      </a:r>
                    </a:p>
                  </a:txBody>
                  <a:tcPr/>
                </a:tc>
                <a:tc>
                  <a:txBody>
                    <a:bodyPr/>
                    <a:lstStyle/>
                    <a:p>
                      <a:r>
                        <a:rPr sz="1100"/>
                        <a:t>UK</a:t>
                      </a:r>
                    </a:p>
                  </a:txBody>
                  <a:tcPr/>
                </a:tc>
                <a:tc>
                  <a:txBody>
                    <a:bodyPr/>
                    <a:lstStyle/>
                    <a:p>
                      <a:r>
                        <a:rPr sz="1100"/>
                        <a:t>The retest returned no CPC benefit in the UK — chapter 04. A CSS feed restructure is open off the back of it</a:t>
                      </a:r>
                    </a:p>
                  </a:txBody>
                  <a:tcPr/>
                </a:tc>
              </a:tr>
              <a:tr h="426339">
                <a:tc>
                  <a:txBody>
                    <a:bodyPr/>
                    <a:lstStyle/>
                    <a:p>
                      <a:r>
                        <a:rPr sz="1100"/>
                        <a:t>LIA — Click &amp; Collect</a:t>
                      </a:r>
                    </a:p>
                  </a:txBody>
                  <a:tcPr/>
                </a:tc>
                <a:tc>
                  <a:txBody>
                    <a:bodyPr/>
                    <a:lstStyle/>
                    <a:p>
                      <a:r>
                        <a:rPr sz="1100" b="1">
                          <a:solidFill>
                            <a:srgbClr val="ED6F0B"/>
                          </a:solidFill>
                        </a:rPr>
                        <a:t>Awaiting Schuh dev</a:t>
                      </a:r>
                    </a:p>
                  </a:txBody>
                  <a:tcPr/>
                </a:tc>
                <a:tc>
                  <a:txBody>
                    <a:bodyPr/>
                    <a:lstStyle/>
                    <a:p>
                      <a:r>
                        <a:rPr sz="1100" b="1">
                          <a:solidFill>
                            <a:srgbClr val="2E7D32"/>
                          </a:solidFill>
                        </a:rPr>
                        <a:t>Not yet live</a:t>
                      </a:r>
                    </a:p>
                  </a:txBody>
                  <a:tcPr/>
                </a:tc>
                <a:tc>
                  <a:txBody>
                    <a:bodyPr/>
                    <a:lstStyle/>
                    <a:p>
                      <a:r>
                        <a:rPr sz="1100"/>
                        <a:t>Feed setup scoped and a separate PMax campaign agreed to cap traffic off the main one; waiting on Schuh's dev team to pick up GMC</a:t>
                      </a:r>
                    </a:p>
                  </a:txBody>
                  <a:tcPr/>
                </a:tc>
              </a:tr>
              <a:tr h="426339">
                <a:tc>
                  <a:txBody>
                    <a:bodyPr/>
                    <a:lstStyle/>
                    <a:p>
                      <a:r>
                        <a:rPr sz="1100"/>
                        <a:t>Social DPA overlays</a:t>
                      </a:r>
                    </a:p>
                  </a:txBody>
                  <a:tcPr/>
                </a:tc>
                <a:tc>
                  <a:txBody>
                    <a:bodyPr/>
                    <a:lstStyle/>
                    <a:p>
                      <a:r>
                        <a:rPr sz="1100" b="1">
                          <a:solidFill>
                            <a:srgbClr val="767676"/>
                          </a:solidFill>
                        </a:rPr>
                        <a:t>Open</a:t>
                      </a:r>
                    </a:p>
                  </a:txBody>
                  <a:tcPr/>
                </a:tc>
                <a:tc>
                  <a:txBody>
                    <a:bodyPr/>
                    <a:lstStyle/>
                    <a:p>
                      <a:r>
                        <a:rPr sz="1100"/>
                        <a:t>—</a:t>
                      </a:r>
                    </a:p>
                  </a:txBody>
                  <a:tcPr/>
                </a:tc>
                <a:tc>
                  <a:txBody>
                    <a:bodyPr/>
                    <a:lstStyle/>
                    <a:p>
                      <a:r>
                        <a:rPr sz="1100"/>
                        <a:t>Dynamic frames scoped for the Meta feeds, not yet built</a:t>
                      </a:r>
                    </a:p>
                  </a:txBody>
                  <a:tcPr/>
                </a:tc>
              </a:tr>
              <a:tr h="426339">
                <a:tc>
                  <a:txBody>
                    <a:bodyPr/>
                    <a:lstStyle/>
                    <a:p>
                      <a:r>
                        <a:rPr sz="1100"/>
                        <a:t>Microsoft / Bing Shopping</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r h="426339">
                <a:tc>
                  <a:txBody>
                    <a:bodyPr/>
                    <a:lstStyle/>
                    <a:p>
                      <a:r>
                        <a:rPr sz="1100"/>
                        <a:t>Pinterest</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 (cont.)</a:t>
            </a:r>
          </a:p>
        </p:txBody>
      </p:sp>
      <p:graphicFrame>
        <p:nvGraphicFramePr>
          <p:cNvPr id="5" name="Table 4"/>
          <p:cNvGraphicFramePr>
            <a:graphicFrameLocks noGrp="1"/>
          </p:cNvGraphicFramePr>
          <p:nvPr/>
        </p:nvGraphicFramePr>
        <p:xfrm>
          <a:off x="612648" y="1847088"/>
          <a:ext cx="10972798" cy="1755648"/>
        </p:xfrm>
        <a:graphic>
          <a:graphicData uri="http://schemas.openxmlformats.org/drawingml/2006/table">
            <a:tbl>
              <a:tblPr firstRow="1" bandRow="1">
                <a:tableStyleId>{5C22544A-7EE6-4342-B048-85BDC9FD1C3A}</a:tableStyleId>
              </a:tblPr>
              <a:tblGrid>
                <a:gridCol w="1984442"/>
                <a:gridCol w="1400782"/>
                <a:gridCol w="933855"/>
                <a:gridCol w="6653719"/>
              </a:tblGrid>
              <a:tr h="384048">
                <a:tc>
                  <a:txBody>
                    <a:bodyPr/>
                    <a:lstStyle/>
                    <a:p>
                      <a:r>
                        <a:rPr sz="1300" b="1">
                          <a:solidFill>
                            <a:srgbClr val="FFFFFF"/>
                          </a:solidFill>
                        </a:rPr>
                        <a:t>Channel</a:t>
                      </a:r>
                    </a:p>
                  </a:txBody>
                  <a:tcPr/>
                </a:tc>
                <a:tc>
                  <a:txBody>
                    <a:bodyPr/>
                    <a:lstStyle/>
                    <a:p>
                      <a:r>
                        <a:rPr sz="1300" b="1">
                          <a:solidFill>
                            <a:srgbClr val="FFFFFF"/>
                          </a:solidFill>
                        </a:rPr>
                        <a:t>State</a:t>
                      </a:r>
                    </a:p>
                  </a:txBody>
                  <a:tcPr/>
                </a:tc>
                <a:tc>
                  <a:txBody>
                    <a:bodyPr/>
                    <a:lstStyle/>
                    <a:p>
                      <a:r>
                        <a:rPr sz="1300" b="1">
                          <a:solidFill>
                            <a:srgbClr val="FFFFFF"/>
                          </a:solidFill>
                        </a:rPr>
                        <a:t>Coverage</a:t>
                      </a:r>
                    </a:p>
                  </a:txBody>
                  <a:tcPr/>
                </a:tc>
                <a:tc>
                  <a:txBody>
                    <a:bodyPr/>
                    <a:lstStyle/>
                    <a:p>
                      <a:r>
                        <a:rPr sz="1300" b="1">
                          <a:solidFill>
                            <a:srgbClr val="FFFFFF"/>
                          </a:solidFill>
                        </a:rPr>
                        <a:t>What the evidence shows</a:t>
                      </a:r>
                    </a:p>
                  </a:txBody>
                  <a:tcPr/>
                </a:tc>
              </a:tr>
              <a:tr h="685800">
                <a:tc>
                  <a:txBody>
                    <a:bodyPr/>
                    <a:lstStyle/>
                    <a:p>
                      <a:r>
                        <a:rPr sz="1100"/>
                        <a:t>TikTok Shop</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r h="685800">
                <a:tc>
                  <a:txBody>
                    <a:bodyPr/>
                    <a:lstStyle/>
                    <a:p>
                      <a:r>
                        <a:rPr sz="1100"/>
                        <a:t>Partnerize / AWIN</a:t>
                      </a:r>
                    </a:p>
                  </a:txBody>
                  <a:tcPr/>
                </a:tc>
                <a:tc>
                  <a:txBody>
                    <a:bodyPr/>
                    <a:lstStyle/>
                    <a:p>
                      <a:r>
                        <a:rPr sz="1100"/>
                        <a:t>Not in scope</a:t>
                      </a:r>
                    </a:p>
                  </a:txBody>
                  <a:tcPr/>
                </a:tc>
                <a:tc>
                  <a:txBody>
                    <a:bodyPr/>
                    <a:lstStyle/>
                    <a:p>
                      <a:r>
                        <a:rPr sz="1100"/>
                        <a:t>—</a:t>
                      </a:r>
                    </a:p>
                  </a:txBody>
                  <a:tcPr/>
                </a:tc>
                <a:tc>
                  <a:txBody>
                    <a:bodyPr/>
                    <a:lstStyle/>
                    <a:p>
                      <a:r>
                        <a:rPr sz="1100"/>
                        <a:t>No affiliate feed currently maintained</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 (cont.)</a:t>
            </a:r>
          </a:p>
        </p:txBody>
      </p:sp>
      <p:sp>
        <p:nvSpPr>
          <p:cNvPr id="4" name="Text Placeholder 3"/>
          <p:cNvSpPr>
            <a:spLocks noGrp="1"/>
          </p:cNvSpPr>
          <p:nvPr>
            <p:ph type="body" idx="1"/>
          </p:nvPr>
        </p:nvSpPr>
        <p:spPr/>
        <p:txBody>
          <a:bodyPr wrap="square"/>
          <a:lstStyle/>
          <a:p>
            <a:r>
              <a:rPr sz="1639"/>
              <a:t>LIA is scoped and waiting on one dependency</a:t>
            </a:r>
          </a:p>
        </p:txBody>
      </p:sp>
      <p:sp>
        <p:nvSpPr>
          <p:cNvPr id="5" name="Text Placeholder 4"/>
          <p:cNvSpPr>
            <a:spLocks noGrp="1"/>
          </p:cNvSpPr>
          <p:nvPr>
            <p:ph type="body" idx="2"/>
          </p:nvPr>
        </p:nvSpPr>
        <p:spPr/>
        <p:txBody>
          <a:bodyPr wrap="square"/>
          <a:lstStyle/>
          <a:p>
            <a:r>
              <a:t>The feed setup is agreed and so is the campaign design — a separate PMax campaign so Click &amp; Collect traffic does not cannibalise the main Shopping campaign. What it needs is Schuh's dev team to pick up the Merchant Center side. It is the shortest distance between this account and a new channel.</a:t>
            </a:r>
          </a:p>
        </p:txBody>
      </p:sp>
      <p:sp>
        <p:nvSpPr>
          <p:cNvPr id="6" name="Text Placeholder 5"/>
          <p:cNvSpPr>
            <a:spLocks noGrp="1"/>
          </p:cNvSpPr>
          <p:nvPr>
            <p:ph type="body" idx="3"/>
          </p:nvPr>
        </p:nvSpPr>
        <p:spPr/>
        <p:txBody>
          <a:bodyPr wrap="square"/>
          <a:lstStyle/>
          <a:p>
            <a:r>
              <a:t>Four unlit channels, all feed-ready</a:t>
            </a:r>
          </a:p>
        </p:txBody>
      </p:sp>
      <p:sp>
        <p:nvSpPr>
          <p:cNvPr id="7" name="Text Placeholder 6"/>
          <p:cNvSpPr>
            <a:spLocks noGrp="1"/>
          </p:cNvSpPr>
          <p:nvPr>
            <p:ph type="body" idx="4"/>
          </p:nvPr>
        </p:nvSpPr>
        <p:spPr/>
        <p:txBody>
          <a:bodyPr wrap="square"/>
          <a:lstStyle/>
          <a:p>
            <a:r>
              <a:t>Bing, Pinterest, TikTok and the affiliate networks each consume the same structured product data already maintained for Shopping and Meta. Every one is a configuration and a QA cycle rather than a new data programme — the expensive part is already done.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three</a:t>
            </a:r>
          </a:p>
        </p:txBody>
      </p:sp>
      <p:sp>
        <p:nvSpPr>
          <p:cNvPr id="3" name="Title 2"/>
          <p:cNvSpPr>
            <a:spLocks noGrp="1"/>
          </p:cNvSpPr>
          <p:nvPr>
            <p:ph type="title"/>
          </p:nvPr>
        </p:nvSpPr>
        <p:spPr/>
        <p:txBody>
          <a:bodyPr wrap="square"/>
          <a:lstStyle/>
          <a:p>
            <a:r>
              <a:t>Look-back period</a:t>
            </a:r>
          </a:p>
        </p:txBody>
      </p:sp>
      <p:sp>
        <p:nvSpPr>
          <p:cNvPr id="4" name="Text Placeholder 3"/>
          <p:cNvSpPr>
            <a:spLocks noGrp="1"/>
          </p:cNvSpPr>
          <p:nvPr>
            <p:ph type="body" idx="1"/>
          </p:nvPr>
        </p:nvSpPr>
        <p:spPr/>
        <p:txBody>
          <a:bodyPr wrap="square"/>
          <a:lstStyle/>
          <a:p>
            <a:r>
              <a:t>April to September 2026 — thirteen initiatives closed, against a catalogue absorbing roughly 2,350 new products a month across the three markets.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Initiatives closed, by month</a:t>
            </a:r>
          </a:p>
        </p:txBody>
      </p:sp>
      <p:sp>
        <p:nvSpPr>
          <p:cNvPr id="4" name="Text Placeholder 3"/>
          <p:cNvSpPr>
            <a:spLocks noGrp="1"/>
          </p:cNvSpPr>
          <p:nvPr>
            <p:ph type="body" idx="14"/>
          </p:nvPr>
        </p:nvSpPr>
        <p:spPr/>
        <p:txBody>
          <a:bodyPr wrap="square"/>
          <a:lstStyle/>
          <a:p>
            <a:r>
              <a:rPr sz="1220"/>
              <a:t>May carried the margin architecture, the AI Score Card, the CSS retest and the custom-label overview — four workstreams closing in one month.</a:t>
            </a:r>
          </a:p>
        </p:txBody>
      </p:sp>
      <p:graphicFrame>
        <p:nvGraphicFramePr>
          <p:cNvPr id="5" name="Table 4"/>
          <p:cNvGraphicFramePr>
            <a:graphicFrameLocks noGrp="1"/>
          </p:cNvGraphicFramePr>
          <p:nvPr/>
        </p:nvGraphicFramePr>
        <p:xfrm>
          <a:off x="612648" y="1847088"/>
          <a:ext cx="10972800" cy="3794760"/>
        </p:xfrm>
        <a:graphic>
          <a:graphicData uri="http://schemas.openxmlformats.org/drawingml/2006/table">
            <a:tbl>
              <a:tblPr firstRow="0" bandRow="1">
                <a:tableStyleId>{5C22544A-7EE6-4342-B048-85BDC9FD1C3A}</a:tableStyleId>
              </a:tblPr>
              <a:tblGrid>
                <a:gridCol w="5486400"/>
                <a:gridCol w="5486400"/>
              </a:tblGrid>
              <a:tr h="632460">
                <a:tc>
                  <a:txBody>
                    <a:bodyPr/>
                    <a:lstStyle/>
                    <a:p>
                      <a:r>
                        <a:rPr sz="1100"/>
                        <a:t>Apr 2026</a:t>
                      </a:r>
                    </a:p>
                  </a:txBody>
                  <a:tcPr/>
                </a:tc>
                <a:tc>
                  <a:txBody>
                    <a:bodyPr/>
                    <a:lstStyle/>
                    <a:p>
                      <a:r>
                        <a:rPr sz="1100"/>
                        <a:t>3 closed</a:t>
                      </a:r>
                    </a:p>
                  </a:txBody>
                  <a:tcPr/>
                </a:tc>
              </a:tr>
              <a:tr h="632460">
                <a:tc>
                  <a:txBody>
                    <a:bodyPr/>
                    <a:lstStyle/>
                    <a:p>
                      <a:r>
                        <a:rPr sz="1100"/>
                        <a:t>May 2026</a:t>
                      </a:r>
                    </a:p>
                  </a:txBody>
                  <a:tcPr/>
                </a:tc>
                <a:tc>
                  <a:txBody>
                    <a:bodyPr/>
                    <a:lstStyle/>
                    <a:p>
                      <a:r>
                        <a:rPr sz="1100"/>
                        <a:t>8 closed</a:t>
                      </a:r>
                    </a:p>
                  </a:txBody>
                  <a:tcPr/>
                </a:tc>
              </a:tr>
              <a:tr h="632460">
                <a:tc>
                  <a:txBody>
                    <a:bodyPr/>
                    <a:lstStyle/>
                    <a:p>
                      <a:r>
                        <a:rPr sz="1100"/>
                        <a:t>Jun 2026</a:t>
                      </a:r>
                    </a:p>
                  </a:txBody>
                  <a:tcPr/>
                </a:tc>
                <a:tc>
                  <a:txBody>
                    <a:bodyPr/>
                    <a:lstStyle/>
                    <a:p>
                      <a:r>
                        <a:rPr sz="1100"/>
                        <a:t>2 closed</a:t>
                      </a:r>
                    </a:p>
                  </a:txBody>
                  <a:tcPr/>
                </a:tc>
              </a:tr>
              <a:tr h="632460">
                <a:tc>
                  <a:txBody>
                    <a:bodyPr/>
                    <a:lstStyle/>
                    <a:p>
                      <a:r>
                        <a:rPr sz="1100"/>
                        <a:t>Jul 2026</a:t>
                      </a:r>
                    </a:p>
                  </a:txBody>
                  <a:tcPr/>
                </a:tc>
                <a:tc>
                  <a:txBody>
                    <a:bodyPr/>
                    <a:lstStyle/>
                    <a:p>
                      <a:r>
                        <a:rPr sz="1100"/>
                        <a:t>—</a:t>
                      </a:r>
                    </a:p>
                  </a:txBody>
                  <a:tcPr/>
                </a:tc>
              </a:tr>
              <a:tr h="632460">
                <a:tc>
                  <a:txBody>
                    <a:bodyPr/>
                    <a:lstStyle/>
                    <a:p>
                      <a:r>
                        <a:rPr sz="1100"/>
                        <a:t>Aug 2026</a:t>
                      </a:r>
                    </a:p>
                  </a:txBody>
                  <a:tcPr/>
                </a:tc>
                <a:tc>
                  <a:txBody>
                    <a:bodyPr/>
                    <a:lstStyle/>
                    <a:p>
                      <a:r>
                        <a:rPr sz="1100"/>
                        <a:t>—</a:t>
                      </a:r>
                    </a:p>
                  </a:txBody>
                  <a:tcPr/>
                </a:tc>
              </a:tr>
              <a:tr h="632460">
                <a:tc>
                  <a:txBody>
                    <a:bodyPr/>
                    <a:lstStyle/>
                    <a:p>
                      <a:r>
                        <a:rPr sz="1100"/>
                        <a:t>Sep 2026</a:t>
                      </a:r>
                    </a:p>
                  </a:txBody>
                  <a:tcPr/>
                </a:tc>
                <a:tc>
                  <a:txBody>
                    <a:bodyPr/>
                    <a:lstStyle/>
                    <a:p>
                      <a:r>
                        <a:rPr sz="1100"/>
                        <a:t>—</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Look-back period (cont.)</a:t>
            </a:r>
          </a:p>
        </p:txBody>
      </p:sp>
      <p:sp>
        <p:nvSpPr>
          <p:cNvPr id="3" name="Text Placeholder 2"/>
          <p:cNvSpPr>
            <a:spLocks noGrp="1"/>
          </p:cNvSpPr>
          <p:nvPr>
            <p:ph type="body" idx="11"/>
          </p:nvPr>
        </p:nvSpPr>
        <p:spPr/>
        <p:txBody>
          <a:bodyPr wrap="square"/>
          <a:lstStyle/>
          <a:p>
            <a:r>
              <a:t>43,492 Live SKUs  ·  2,353 New per month  ·  7,060 New per quarter  ·  28,240 New per year</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4431323"/>
                <a:gridCol w="1266092"/>
                <a:gridCol w="1477107"/>
                <a:gridCol w="1477107"/>
                <a:gridCol w="2321169"/>
              </a:tblGrid>
              <a:tr h="384048">
                <a:tc>
                  <a:txBody>
                    <a:bodyPr/>
                    <a:lstStyle/>
                    <a:p>
                      <a:r>
                        <a:rPr sz="1300" b="1">
                          <a:solidFill>
                            <a:srgbClr val="FFFFFF"/>
                          </a:solidFill>
                        </a:rPr>
                        <a:t>Month</a:t>
                      </a:r>
                    </a:p>
                  </a:txBody>
                  <a:tcPr/>
                </a:tc>
                <a:tc>
                  <a:txBody>
                    <a:bodyPr/>
                    <a:lstStyle/>
                    <a:p>
                      <a:r>
                        <a:rPr sz="1300" b="1">
                          <a:solidFill>
                            <a:srgbClr val="FFFFFF"/>
                          </a:solidFill>
                        </a:rPr>
                        <a:t>UK</a:t>
                      </a:r>
                    </a:p>
                  </a:txBody>
                  <a:tcPr/>
                </a:tc>
                <a:tc>
                  <a:txBody>
                    <a:bodyPr/>
                    <a:lstStyle/>
                    <a:p>
                      <a:r>
                        <a:rPr sz="1300" b="1">
                          <a:solidFill>
                            <a:srgbClr val="FFFFFF"/>
                          </a:solidFill>
                        </a:rPr>
                        <a:t>Germany</a:t>
                      </a:r>
                    </a:p>
                  </a:txBody>
                  <a:tcPr/>
                </a:tc>
                <a:tc>
                  <a:txBody>
                    <a:bodyPr/>
                    <a:lstStyle/>
                    <a:p>
                      <a:r>
                        <a:rPr sz="1300" b="1">
                          <a:solidFill>
                            <a:srgbClr val="FFFFFF"/>
                          </a:solidFill>
                        </a:rPr>
                        <a:t>Ireland</a:t>
                      </a:r>
                    </a:p>
                  </a:txBody>
                  <a:tcPr/>
                </a:tc>
                <a:tc>
                  <a:txBody>
                    <a:bodyPr/>
                    <a:lstStyle/>
                    <a:p>
                      <a:r>
                        <a:rPr sz="1300" b="1">
                          <a:solidFill>
                            <a:srgbClr val="FFFFFF"/>
                          </a:solidFill>
                        </a:rPr>
                        <a:t>All markets</a:t>
                      </a:r>
                    </a:p>
                  </a:txBody>
                  <a:tcPr/>
                </a:tc>
              </a:tr>
              <a:tr h="426339">
                <a:tc>
                  <a:txBody>
                    <a:bodyPr/>
                    <a:lstStyle/>
                    <a:p>
                      <a:r>
                        <a:rPr sz="1100"/>
                        <a:t>Apr 2026</a:t>
                      </a:r>
                    </a:p>
                  </a:txBody>
                  <a:tcPr/>
                </a:tc>
                <a:tc>
                  <a:txBody>
                    <a:bodyPr/>
                    <a:lstStyle/>
                    <a:p>
                      <a:r>
                        <a:rPr sz="1100"/>
                        <a:t>1,591</a:t>
                      </a:r>
                    </a:p>
                  </a:txBody>
                  <a:tcPr/>
                </a:tc>
                <a:tc>
                  <a:txBody>
                    <a:bodyPr/>
                    <a:lstStyle/>
                    <a:p>
                      <a:r>
                        <a:rPr sz="1100"/>
                        <a:t>729</a:t>
                      </a:r>
                    </a:p>
                  </a:txBody>
                  <a:tcPr/>
                </a:tc>
                <a:tc>
                  <a:txBody>
                    <a:bodyPr/>
                    <a:lstStyle/>
                    <a:p>
                      <a:r>
                        <a:rPr sz="1100"/>
                        <a:t>698</a:t>
                      </a:r>
                    </a:p>
                  </a:txBody>
                  <a:tcPr/>
                </a:tc>
                <a:tc>
                  <a:txBody>
                    <a:bodyPr/>
                    <a:lstStyle/>
                    <a:p>
                      <a:r>
                        <a:rPr sz="1100"/>
                        <a:t>3,018</a:t>
                      </a:r>
                    </a:p>
                  </a:txBody>
                  <a:tcPr/>
                </a:tc>
              </a:tr>
              <a:tr h="426339">
                <a:tc>
                  <a:txBody>
                    <a:bodyPr/>
                    <a:lstStyle/>
                    <a:p>
                      <a:r>
                        <a:rPr sz="1100"/>
                        <a:t>May 2026</a:t>
                      </a:r>
                    </a:p>
                  </a:txBody>
                  <a:tcPr/>
                </a:tc>
                <a:tc>
                  <a:txBody>
                    <a:bodyPr/>
                    <a:lstStyle/>
                    <a:p>
                      <a:r>
                        <a:rPr sz="1100"/>
                        <a:t>1,202</a:t>
                      </a:r>
                    </a:p>
                  </a:txBody>
                  <a:tcPr/>
                </a:tc>
                <a:tc>
                  <a:txBody>
                    <a:bodyPr/>
                    <a:lstStyle/>
                    <a:p>
                      <a:r>
                        <a:rPr sz="1100"/>
                        <a:t>548</a:t>
                      </a:r>
                    </a:p>
                  </a:txBody>
                  <a:tcPr/>
                </a:tc>
                <a:tc>
                  <a:txBody>
                    <a:bodyPr/>
                    <a:lstStyle/>
                    <a:p>
                      <a:r>
                        <a:rPr sz="1100"/>
                        <a:t>552</a:t>
                      </a:r>
                    </a:p>
                  </a:txBody>
                  <a:tcPr/>
                </a:tc>
                <a:tc>
                  <a:txBody>
                    <a:bodyPr/>
                    <a:lstStyle/>
                    <a:p>
                      <a:r>
                        <a:rPr sz="1100"/>
                        <a:t>2,302</a:t>
                      </a:r>
                    </a:p>
                  </a:txBody>
                  <a:tcPr/>
                </a:tc>
              </a:tr>
              <a:tr h="426339">
                <a:tc>
                  <a:txBody>
                    <a:bodyPr/>
                    <a:lstStyle/>
                    <a:p>
                      <a:r>
                        <a:rPr sz="1100"/>
                        <a:t>Jun 2026</a:t>
                      </a:r>
                    </a:p>
                  </a:txBody>
                  <a:tcPr/>
                </a:tc>
                <a:tc>
                  <a:txBody>
                    <a:bodyPr/>
                    <a:lstStyle/>
                    <a:p>
                      <a:r>
                        <a:rPr sz="1100"/>
                        <a:t>1,815</a:t>
                      </a:r>
                    </a:p>
                  </a:txBody>
                  <a:tcPr/>
                </a:tc>
                <a:tc>
                  <a:txBody>
                    <a:bodyPr/>
                    <a:lstStyle/>
                    <a:p>
                      <a:r>
                        <a:rPr sz="1100"/>
                        <a:t>655</a:t>
                      </a:r>
                    </a:p>
                  </a:txBody>
                  <a:tcPr/>
                </a:tc>
                <a:tc>
                  <a:txBody>
                    <a:bodyPr/>
                    <a:lstStyle/>
                    <a:p>
                      <a:r>
                        <a:rPr sz="1100"/>
                        <a:t>658</a:t>
                      </a:r>
                    </a:p>
                  </a:txBody>
                  <a:tcPr/>
                </a:tc>
                <a:tc>
                  <a:txBody>
                    <a:bodyPr/>
                    <a:lstStyle/>
                    <a:p>
                      <a:r>
                        <a:rPr sz="1100"/>
                        <a:t>3,128</a:t>
                      </a:r>
                    </a:p>
                  </a:txBody>
                  <a:tcPr/>
                </a:tc>
              </a:tr>
              <a:tr h="426339">
                <a:tc>
                  <a:txBody>
                    <a:bodyPr/>
                    <a:lstStyle/>
                    <a:p>
                      <a:r>
                        <a:rPr sz="1100"/>
                        <a:t>Jul 2026</a:t>
                      </a:r>
                    </a:p>
                  </a:txBody>
                  <a:tcPr/>
                </a:tc>
                <a:tc>
                  <a:txBody>
                    <a:bodyPr/>
                    <a:lstStyle/>
                    <a:p>
                      <a:r>
                        <a:rPr sz="1100"/>
                        <a:t>1,963</a:t>
                      </a:r>
                    </a:p>
                  </a:txBody>
                  <a:tcPr/>
                </a:tc>
                <a:tc>
                  <a:txBody>
                    <a:bodyPr/>
                    <a:lstStyle/>
                    <a:p>
                      <a:r>
                        <a:rPr sz="1100"/>
                        <a:t>1,002</a:t>
                      </a:r>
                    </a:p>
                  </a:txBody>
                  <a:tcPr/>
                </a:tc>
                <a:tc>
                  <a:txBody>
                    <a:bodyPr/>
                    <a:lstStyle/>
                    <a:p>
                      <a:r>
                        <a:rPr sz="1100"/>
                        <a:t>999</a:t>
                      </a:r>
                    </a:p>
                  </a:txBody>
                  <a:tcPr/>
                </a:tc>
                <a:tc>
                  <a:txBody>
                    <a:bodyPr/>
                    <a:lstStyle/>
                    <a:p>
                      <a:r>
                        <a:rPr sz="1100"/>
                        <a:t>3,964</a:t>
                      </a:r>
                    </a:p>
                  </a:txBody>
                  <a:tcPr/>
                </a:tc>
              </a:tr>
              <a:tr h="426339">
                <a:tc>
                  <a:txBody>
                    <a:bodyPr/>
                    <a:lstStyle/>
                    <a:p>
                      <a:r>
                        <a:rPr sz="1100"/>
                        <a:t>Aug 2026</a:t>
                      </a:r>
                    </a:p>
                  </a:txBody>
                  <a:tcPr/>
                </a:tc>
                <a:tc>
                  <a:txBody>
                    <a:bodyPr/>
                    <a:lstStyle/>
                    <a:p>
                      <a:r>
                        <a:rPr sz="1100"/>
                        <a:t>2,180</a:t>
                      </a:r>
                    </a:p>
                  </a:txBody>
                  <a:tcPr/>
                </a:tc>
                <a:tc>
                  <a:txBody>
                    <a:bodyPr/>
                    <a:lstStyle/>
                    <a:p>
                      <a:r>
                        <a:rPr sz="1100"/>
                        <a:t>979</a:t>
                      </a:r>
                    </a:p>
                  </a:txBody>
                  <a:tcPr/>
                </a:tc>
                <a:tc>
                  <a:txBody>
                    <a:bodyPr/>
                    <a:lstStyle/>
                    <a:p>
                      <a:r>
                        <a:rPr sz="1100"/>
                        <a:t>968</a:t>
                      </a:r>
                    </a:p>
                  </a:txBody>
                  <a:tcPr/>
                </a:tc>
                <a:tc>
                  <a:txBody>
                    <a:bodyPr/>
                    <a:lstStyle/>
                    <a:p>
                      <a:r>
                        <a:rPr sz="1100"/>
                        <a:t>4,127</a:t>
                      </a:r>
                    </a:p>
                  </a:txBody>
                  <a:tcPr/>
                </a:tc>
              </a:tr>
              <a:tr h="426339">
                <a:tc>
                  <a:txBody>
                    <a:bodyPr/>
                    <a:lstStyle/>
                    <a:p>
                      <a:r>
                        <a:rPr sz="1100"/>
                        <a:t>Sep 2026 — part month</a:t>
                      </a:r>
                    </a:p>
                  </a:txBody>
                  <a:tcPr/>
                </a:tc>
                <a:tc>
                  <a:txBody>
                    <a:bodyPr/>
                    <a:lstStyle/>
                    <a:p>
                      <a:r>
                        <a:rPr sz="1100"/>
                        <a:t>1,842</a:t>
                      </a:r>
                    </a:p>
                  </a:txBody>
                  <a:tcPr/>
                </a:tc>
                <a:tc>
                  <a:txBody>
                    <a:bodyPr/>
                    <a:lstStyle/>
                    <a:p>
                      <a:r>
                        <a:rPr sz="1100"/>
                        <a:t>749</a:t>
                      </a:r>
                    </a:p>
                  </a:txBody>
                  <a:tcPr/>
                </a:tc>
                <a:tc>
                  <a:txBody>
                    <a:bodyPr/>
                    <a:lstStyle/>
                    <a:p>
                      <a:r>
                        <a:rPr sz="1100"/>
                        <a:t>734</a:t>
                      </a:r>
                    </a:p>
                  </a:txBody>
                  <a:tcPr/>
                </a:tc>
                <a:tc>
                  <a:txBody>
                    <a:bodyPr/>
                    <a:lstStyle/>
                    <a:p>
                      <a:r>
                        <a:rPr sz="1100"/>
                        <a:t>3,325</a:t>
                      </a:r>
                    </a:p>
                  </a:txBody>
                  <a:tcPr/>
                </a:tc>
              </a:tr>
              <a:tr h="426339">
                <a:tc>
                  <a:txBody>
                    <a:bodyPr/>
                    <a:lstStyle/>
                    <a:p>
                      <a:r>
                        <a:rPr sz="1100"/>
                        <a:t>≈ per month</a:t>
                      </a:r>
                    </a:p>
                  </a:txBody>
                  <a:tcPr/>
                </a:tc>
                <a:tc>
                  <a:txBody>
                    <a:bodyPr/>
                    <a:lstStyle/>
                    <a:p>
                      <a:r>
                        <a:rPr sz="1100"/>
                        <a:t>1,237</a:t>
                      </a:r>
                    </a:p>
                  </a:txBody>
                  <a:tcPr/>
                </a:tc>
                <a:tc>
                  <a:txBody>
                    <a:bodyPr/>
                    <a:lstStyle/>
                    <a:p>
                      <a:r>
                        <a:rPr sz="1100"/>
                        <a:t>560</a:t>
                      </a:r>
                    </a:p>
                  </a:txBody>
                  <a:tcPr/>
                </a:tc>
                <a:tc>
                  <a:txBody>
                    <a:bodyPr/>
                    <a:lstStyle/>
                    <a:p>
                      <a:r>
                        <a:rPr sz="1100"/>
                        <a:t>556</a:t>
                      </a:r>
                    </a:p>
                  </a:txBody>
                  <a:tcPr/>
                </a:tc>
                <a:tc>
                  <a:txBody>
                    <a:bodyPr/>
                    <a:lstStyle/>
                    <a:p>
                      <a:r>
                        <a:rPr sz="1100"/>
                        <a:t>2,353</a:t>
                      </a:r>
                    </a:p>
                  </a:txBody>
                  <a:tcPr/>
                </a:tc>
              </a:tr>
              <a:tr h="426339">
                <a:tc>
                  <a:txBody>
                    <a:bodyPr/>
                    <a:lstStyle/>
                    <a:p>
                      <a:r>
                        <a:rPr sz="1100"/>
                        <a:t>≈ per year</a:t>
                      </a:r>
                    </a:p>
                  </a:txBody>
                  <a:tcPr/>
                </a:tc>
                <a:tc>
                  <a:txBody>
                    <a:bodyPr/>
                    <a:lstStyle/>
                    <a:p>
                      <a:r>
                        <a:rPr sz="1100"/>
                        <a:t>14,848</a:t>
                      </a:r>
                    </a:p>
                  </a:txBody>
                  <a:tcPr/>
                </a:tc>
                <a:tc>
                  <a:txBody>
                    <a:bodyPr/>
                    <a:lstStyle/>
                    <a:p>
                      <a:r>
                        <a:rPr sz="1100"/>
                        <a:t>6,718</a:t>
                      </a:r>
                    </a:p>
                  </a:txBody>
                  <a:tcPr/>
                </a:tc>
                <a:tc>
                  <a:txBody>
                    <a:bodyPr/>
                    <a:lstStyle/>
                    <a:p>
                      <a:r>
                        <a:rPr sz="1100"/>
                        <a:t>6,674</a:t>
                      </a:r>
                    </a:p>
                  </a:txBody>
                  <a:tcPr/>
                </a:tc>
                <a:tc>
                  <a:txBody>
                    <a:bodyPr/>
                    <a:lstStyle/>
                    <a:p>
                      <a:r>
                        <a:rPr sz="1100"/>
                        <a:t>28,240</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Look-back period (cont.)</a:t>
            </a:r>
          </a:p>
        </p:txBody>
      </p:sp>
      <p:sp>
        <p:nvSpPr>
          <p:cNvPr id="4" name="Text Placeholder 3"/>
          <p:cNvSpPr>
            <a:spLocks noGrp="1"/>
          </p:cNvSpPr>
          <p:nvPr>
            <p:ph type="body" idx="14"/>
          </p:nvPr>
        </p:nvSpPr>
        <p:spPr/>
        <p:txBody>
          <a:bodyPr wrap="square"/>
          <a:lstStyle/>
          <a:p>
            <a:r>
              <a:t>The catalogue turns over faster than the optimisation reaches it. Four thousand products entered the three feeds in August alone.</a:t>
            </a:r>
          </a:p>
        </p:txBody>
      </p:sp>
      <p:graphicFrame>
        <p:nvGraphicFramePr>
          <p:cNvPr id="5" name="Table 4"/>
          <p:cNvGraphicFramePr>
            <a:graphicFrameLocks noGrp="1"/>
          </p:cNvGraphicFramePr>
          <p:nvPr/>
        </p:nvGraphicFramePr>
        <p:xfrm>
          <a:off x="612648" y="1847088"/>
          <a:ext cx="10972795" cy="1069848"/>
        </p:xfrm>
        <a:graphic>
          <a:graphicData uri="http://schemas.openxmlformats.org/drawingml/2006/table">
            <a:tbl>
              <a:tblPr firstRow="1" bandRow="1">
                <a:tableStyleId>{5C22544A-7EE6-4342-B048-85BDC9FD1C3A}</a:tableStyleId>
              </a:tblPr>
              <a:tblGrid>
                <a:gridCol w="3413759"/>
                <a:gridCol w="1463039"/>
                <a:gridCol w="1706879"/>
                <a:gridCol w="1706879"/>
                <a:gridCol w="2682239"/>
              </a:tblGrid>
              <a:tr h="384048">
                <a:tc>
                  <a:txBody>
                    <a:bodyPr/>
                    <a:lstStyle/>
                    <a:p>
                      <a:r>
                        <a:rPr sz="1300" b="1">
                          <a:solidFill>
                            <a:srgbClr val="FFFFFF"/>
                          </a:solidFill>
                        </a:rPr>
                        <a:t>Month</a:t>
                      </a:r>
                    </a:p>
                  </a:txBody>
                  <a:tcPr/>
                </a:tc>
                <a:tc>
                  <a:txBody>
                    <a:bodyPr/>
                    <a:lstStyle/>
                    <a:p>
                      <a:r>
                        <a:rPr sz="1300" b="1">
                          <a:solidFill>
                            <a:srgbClr val="FFFFFF"/>
                          </a:solidFill>
                        </a:rPr>
                        <a:t>UK</a:t>
                      </a:r>
                    </a:p>
                  </a:txBody>
                  <a:tcPr/>
                </a:tc>
                <a:tc>
                  <a:txBody>
                    <a:bodyPr/>
                    <a:lstStyle/>
                    <a:p>
                      <a:r>
                        <a:rPr sz="1300" b="1">
                          <a:solidFill>
                            <a:srgbClr val="FFFFFF"/>
                          </a:solidFill>
                        </a:rPr>
                        <a:t>Germany</a:t>
                      </a:r>
                    </a:p>
                  </a:txBody>
                  <a:tcPr/>
                </a:tc>
                <a:tc>
                  <a:txBody>
                    <a:bodyPr/>
                    <a:lstStyle/>
                    <a:p>
                      <a:r>
                        <a:rPr sz="1300" b="1">
                          <a:solidFill>
                            <a:srgbClr val="FFFFFF"/>
                          </a:solidFill>
                        </a:rPr>
                        <a:t>Ireland</a:t>
                      </a:r>
                    </a:p>
                  </a:txBody>
                  <a:tcPr/>
                </a:tc>
                <a:tc>
                  <a:txBody>
                    <a:bodyPr/>
                    <a:lstStyle/>
                    <a:p>
                      <a:r>
                        <a:rPr sz="1300" b="1">
                          <a:solidFill>
                            <a:srgbClr val="FFFFFF"/>
                          </a:solidFill>
                        </a:rPr>
                        <a:t>All markets</a:t>
                      </a:r>
                    </a:p>
                  </a:txBody>
                  <a:tcPr/>
                </a:tc>
              </a:tr>
              <a:tr h="685800">
                <a:tc>
                  <a:txBody>
                    <a:bodyPr/>
                    <a:lstStyle/>
                    <a:p>
                      <a:r>
                        <a:rPr sz="1100" b="1">
                          <a:solidFill>
                            <a:srgbClr val="2E7D32"/>
                          </a:solidFill>
                        </a:rPr>
                        <a:t>Live catalogue</a:t>
                      </a:r>
                    </a:p>
                  </a:txBody>
                  <a:tcPr/>
                </a:tc>
                <a:tc>
                  <a:txBody>
                    <a:bodyPr/>
                    <a:lstStyle/>
                    <a:p>
                      <a:r>
                        <a:rPr sz="1100"/>
                        <a:t>21,718</a:t>
                      </a:r>
                    </a:p>
                  </a:txBody>
                  <a:tcPr/>
                </a:tc>
                <a:tc>
                  <a:txBody>
                    <a:bodyPr/>
                    <a:lstStyle/>
                    <a:p>
                      <a:r>
                        <a:rPr sz="1100"/>
                        <a:t>10,886</a:t>
                      </a:r>
                    </a:p>
                  </a:txBody>
                  <a:tcPr/>
                </a:tc>
                <a:tc>
                  <a:txBody>
                    <a:bodyPr/>
                    <a:lstStyle/>
                    <a:p>
                      <a:r>
                        <a:rPr sz="1100"/>
                        <a:t>10,888</a:t>
                      </a:r>
                    </a:p>
                  </a:txBody>
                  <a:tcPr/>
                </a:tc>
                <a:tc>
                  <a:txBody>
                    <a:bodyPr/>
                    <a:lstStyle/>
                    <a:p>
                      <a:r>
                        <a:rPr sz="1100"/>
                        <a:t>43,492</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four</a:t>
            </a:r>
          </a:p>
        </p:txBody>
      </p:sp>
      <p:sp>
        <p:nvSpPr>
          <p:cNvPr id="3" name="Title 2"/>
          <p:cNvSpPr>
            <a:spLocks noGrp="1"/>
          </p:cNvSpPr>
          <p:nvPr>
            <p:ph type="title"/>
          </p:nvPr>
        </p:nvSpPr>
        <p:spPr/>
        <p:txBody>
          <a:bodyPr wrap="square"/>
          <a:lstStyle/>
          <a:p>
            <a:r>
              <a:t>Number of wins / results</a:t>
            </a:r>
          </a:p>
        </p:txBody>
      </p:sp>
      <p:sp>
        <p:nvSpPr>
          <p:cNvPr id="4" name="Text Placeholder 3"/>
          <p:cNvSpPr>
            <a:spLocks noGrp="1"/>
          </p:cNvSpPr>
          <p:nvPr>
            <p:ph type="body" idx="1"/>
          </p:nvPr>
        </p:nvSpPr>
        <p:spPr/>
        <p:txBody>
          <a:bodyPr wrap="square"/>
          <a:lstStyle/>
          <a:p>
            <a:r>
              <a:t>Eleven quantified tests in the archive. Keyword optimisation wins seven times in nine; both title-placement tests lost to their control.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a:t>
            </a:r>
          </a:p>
        </p:txBody>
      </p:sp>
      <p:graphicFrame>
        <p:nvGraphicFramePr>
          <p:cNvPr id="5" name="Table 4"/>
          <p:cNvGraphicFramePr>
            <a:graphicFrameLocks noGrp="1"/>
          </p:cNvGraphicFramePr>
          <p:nvPr/>
        </p:nvGraphicFramePr>
        <p:xfrm>
          <a:off x="612648" y="1847088"/>
          <a:ext cx="10972798" cy="4224528"/>
        </p:xfrm>
        <a:graphic>
          <a:graphicData uri="http://schemas.openxmlformats.org/drawingml/2006/table">
            <a:tbl>
              <a:tblPr firstRow="1" bandRow="1">
                <a:tableStyleId>{5C22544A-7EE6-4342-B048-85BDC9FD1C3A}</a:tableStyleId>
              </a:tblPr>
              <a:tblGrid>
                <a:gridCol w="5851012"/>
                <a:gridCol w="819572"/>
                <a:gridCol w="1376708"/>
                <a:gridCol w="1462753"/>
                <a:gridCol w="1462753"/>
              </a:tblGrid>
              <a:tr h="384048">
                <a:tc>
                  <a:txBody>
                    <a:bodyPr/>
                    <a:lstStyle/>
                    <a:p>
                      <a:r>
                        <a:rPr sz="1300" b="1">
                          <a:solidFill>
                            <a:srgbClr val="FFFFFF"/>
                          </a:solidFill>
                        </a:rPr>
                        <a:t>Test</a:t>
                      </a:r>
                    </a:p>
                  </a:txBody>
                  <a:tcPr/>
                </a:tc>
                <a:tc>
                  <a:txBody>
                    <a:bodyPr/>
                    <a:lstStyle/>
                    <a:p>
                      <a:r>
                        <a:rPr sz="1300" b="1">
                          <a:solidFill>
                            <a:srgbClr val="FFFFFF"/>
                          </a:solidFill>
                        </a:rPr>
                        <a:t>Date</a:t>
                      </a:r>
                    </a:p>
                  </a:txBody>
                  <a:tcPr/>
                </a:tc>
                <a:tc>
                  <a:txBody>
                    <a:bodyPr/>
                    <a:lstStyle/>
                    <a:p>
                      <a:r>
                        <a:rPr sz="1300" b="1">
                          <a:solidFill>
                            <a:srgbClr val="FFFFFF"/>
                          </a:solidFill>
                        </a:rPr>
                        <a:t>Outcome</a:t>
                      </a:r>
                    </a:p>
                  </a:txBody>
                  <a:tcPr/>
                </a:tc>
                <a:tc>
                  <a:txBody>
                    <a:bodyPr/>
                    <a:lstStyle/>
                    <a:p>
                      <a:r>
                        <a:rPr sz="1300" b="1">
                          <a:solidFill>
                            <a:srgbClr val="FFFFFF"/>
                          </a:solidFill>
                        </a:rPr>
                        <a:t>Impressions</a:t>
                      </a:r>
                    </a:p>
                  </a:txBody>
                  <a:tcPr/>
                </a:tc>
                <a:tc>
                  <a:txBody>
                    <a:bodyPr/>
                    <a:lstStyle/>
                    <a:p>
                      <a:r>
                        <a:rPr sz="1300" b="1">
                          <a:solidFill>
                            <a:srgbClr val="FFFFFF"/>
                          </a:solidFill>
                        </a:rPr>
                        <a:t>Clicks</a:t>
                      </a:r>
                    </a:p>
                  </a:txBody>
                  <a:tcPr/>
                </a:tc>
              </a:tr>
              <a:tr h="384048">
                <a:tc>
                  <a:txBody>
                    <a:bodyPr/>
                    <a:lstStyle/>
                    <a:p>
                      <a:r>
                        <a:rPr sz="1100"/>
                        <a:t>Keyword optimisation — Jan I</a:t>
                      </a:r>
                    </a:p>
                  </a:txBody>
                  <a:tcPr/>
                </a:tc>
                <a:tc>
                  <a:txBody>
                    <a:bodyPr/>
                    <a:lstStyle/>
                    <a:p>
                      <a:r>
                        <a:rPr sz="1100"/>
                        <a:t>16 Jan 25</a:t>
                      </a:r>
                    </a:p>
                  </a:txBody>
                  <a:tcPr/>
                </a:tc>
                <a:tc>
                  <a:txBody>
                    <a:bodyPr/>
                    <a:lstStyle/>
                    <a:p>
                      <a:r>
                        <a:rPr sz="1100"/>
                        <a:t>▼ Lost</a:t>
                      </a:r>
                    </a:p>
                  </a:txBody>
                  <a:tcPr/>
                </a:tc>
                <a:tc>
                  <a:txBody>
                    <a:bodyPr/>
                    <a:lstStyle/>
                    <a:p>
                      <a:r>
                        <a:rPr sz="1100"/>
                        <a:t>−27.16%</a:t>
                      </a:r>
                    </a:p>
                  </a:txBody>
                  <a:tcPr/>
                </a:tc>
                <a:tc>
                  <a:txBody>
                    <a:bodyPr/>
                    <a:lstStyle/>
                    <a:p>
                      <a:r>
                        <a:rPr sz="1100"/>
                        <a:t>−18.74%</a:t>
                      </a:r>
                    </a:p>
                  </a:txBody>
                  <a:tcPr/>
                </a:tc>
              </a:tr>
              <a:tr h="384048">
                <a:tc>
                  <a:txBody>
                    <a:bodyPr/>
                    <a:lstStyle/>
                    <a:p>
                      <a:r>
                        <a:rPr sz="1100"/>
                        <a:t>Keyword optimisation — Jan II</a:t>
                      </a:r>
                    </a:p>
                  </a:txBody>
                  <a:tcPr/>
                </a:tc>
                <a:tc>
                  <a:txBody>
                    <a:bodyPr/>
                    <a:lstStyle/>
                    <a:p>
                      <a:r>
                        <a:rPr sz="1100"/>
                        <a:t>27 Jan 25</a:t>
                      </a:r>
                    </a:p>
                  </a:txBody>
                  <a:tcPr/>
                </a:tc>
                <a:tc>
                  <a:txBody>
                    <a:bodyPr/>
                    <a:lstStyle/>
                    <a:p>
                      <a:r>
                        <a:rPr sz="1100"/>
                        <a:t>▲ Won</a:t>
                      </a:r>
                    </a:p>
                  </a:txBody>
                  <a:tcPr/>
                </a:tc>
                <a:tc>
                  <a:txBody>
                    <a:bodyPr/>
                    <a:lstStyle/>
                    <a:p>
                      <a:r>
                        <a:rPr sz="1100"/>
                        <a:t>+93.98%</a:t>
                      </a:r>
                    </a:p>
                  </a:txBody>
                  <a:tcPr/>
                </a:tc>
                <a:tc>
                  <a:txBody>
                    <a:bodyPr/>
                    <a:lstStyle/>
                    <a:p>
                      <a:r>
                        <a:rPr sz="1100"/>
                        <a:t>+63.20%</a:t>
                      </a:r>
                    </a:p>
                  </a:txBody>
                  <a:tcPr/>
                </a:tc>
              </a:tr>
              <a:tr h="384048">
                <a:tc>
                  <a:txBody>
                    <a:bodyPr/>
                    <a:lstStyle/>
                    <a:p>
                      <a:r>
                        <a:rPr sz="1100"/>
                        <a:t>Keyword optimisation — Feb I</a:t>
                      </a:r>
                    </a:p>
                  </a:txBody>
                  <a:tcPr/>
                </a:tc>
                <a:tc>
                  <a:txBody>
                    <a:bodyPr/>
                    <a:lstStyle/>
                    <a:p>
                      <a:r>
                        <a:rPr sz="1100"/>
                        <a:t>12 Feb 25</a:t>
                      </a:r>
                    </a:p>
                  </a:txBody>
                  <a:tcPr/>
                </a:tc>
                <a:tc>
                  <a:txBody>
                    <a:bodyPr/>
                    <a:lstStyle/>
                    <a:p>
                      <a:r>
                        <a:rPr sz="1100"/>
                        <a:t>▲ Won</a:t>
                      </a:r>
                    </a:p>
                  </a:txBody>
                  <a:tcPr/>
                </a:tc>
                <a:tc>
                  <a:txBody>
                    <a:bodyPr/>
                    <a:lstStyle/>
                    <a:p>
                      <a:r>
                        <a:rPr sz="1100"/>
                        <a:t>+7.31%</a:t>
                      </a:r>
                    </a:p>
                  </a:txBody>
                  <a:tcPr/>
                </a:tc>
                <a:tc>
                  <a:txBody>
                    <a:bodyPr/>
                    <a:lstStyle/>
                    <a:p>
                      <a:r>
                        <a:rPr sz="1100"/>
                        <a:t>+5.08%</a:t>
                      </a:r>
                    </a:p>
                  </a:txBody>
                  <a:tcPr/>
                </a:tc>
              </a:tr>
              <a:tr h="384048">
                <a:tc>
                  <a:txBody>
                    <a:bodyPr/>
                    <a:lstStyle/>
                    <a:p>
                      <a:r>
                        <a:rPr sz="1100"/>
                        <a:t>Keyword optimisation — Mar I</a:t>
                      </a:r>
                    </a:p>
                  </a:txBody>
                  <a:tcPr/>
                </a:tc>
                <a:tc>
                  <a:txBody>
                    <a:bodyPr/>
                    <a:lstStyle/>
                    <a:p>
                      <a:r>
                        <a:rPr sz="1100"/>
                        <a:t>11 Mar 25</a:t>
                      </a:r>
                    </a:p>
                  </a:txBody>
                  <a:tcPr/>
                </a:tc>
                <a:tc>
                  <a:txBody>
                    <a:bodyPr/>
                    <a:lstStyle/>
                    <a:p>
                      <a:r>
                        <a:rPr sz="1100"/>
                        <a:t>▲ Won</a:t>
                      </a:r>
                    </a:p>
                  </a:txBody>
                  <a:tcPr/>
                </a:tc>
                <a:tc>
                  <a:txBody>
                    <a:bodyPr/>
                    <a:lstStyle/>
                    <a:p>
                      <a:r>
                        <a:rPr sz="1100"/>
                        <a:t>+4.51%</a:t>
                      </a:r>
                    </a:p>
                  </a:txBody>
                  <a:tcPr/>
                </a:tc>
                <a:tc>
                  <a:txBody>
                    <a:bodyPr/>
                    <a:lstStyle/>
                    <a:p>
                      <a:r>
                        <a:rPr sz="1100"/>
                        <a:t>+0.49%</a:t>
                      </a:r>
                    </a:p>
                  </a:txBody>
                  <a:tcPr/>
                </a:tc>
              </a:tr>
              <a:tr h="384048">
                <a:tc>
                  <a:txBody>
                    <a:bodyPr/>
                    <a:lstStyle/>
                    <a:p>
                      <a:r>
                        <a:rPr sz="1100"/>
                        <a:t>Keyword optimisation — Apr I</a:t>
                      </a:r>
                    </a:p>
                  </a:txBody>
                  <a:tcPr/>
                </a:tc>
                <a:tc>
                  <a:txBody>
                    <a:bodyPr/>
                    <a:lstStyle/>
                    <a:p>
                      <a:r>
                        <a:rPr sz="1100"/>
                        <a:t>17 Apr 25</a:t>
                      </a:r>
                    </a:p>
                  </a:txBody>
                  <a:tcPr/>
                </a:tc>
                <a:tc>
                  <a:txBody>
                    <a:bodyPr/>
                    <a:lstStyle/>
                    <a:p>
                      <a:r>
                        <a:rPr sz="1100"/>
                        <a:t>▲ Won</a:t>
                      </a:r>
                    </a:p>
                  </a:txBody>
                  <a:tcPr/>
                </a:tc>
                <a:tc>
                  <a:txBody>
                    <a:bodyPr/>
                    <a:lstStyle/>
                    <a:p>
                      <a:r>
                        <a:rPr sz="1100"/>
                        <a:t>+14.01%</a:t>
                      </a:r>
                    </a:p>
                  </a:txBody>
                  <a:tcPr/>
                </a:tc>
                <a:tc>
                  <a:txBody>
                    <a:bodyPr/>
                    <a:lstStyle/>
                    <a:p>
                      <a:r>
                        <a:rPr sz="1100"/>
                        <a:t>+1.76%</a:t>
                      </a:r>
                    </a:p>
                  </a:txBody>
                  <a:tcPr/>
                </a:tc>
              </a:tr>
              <a:tr h="384048">
                <a:tc>
                  <a:txBody>
                    <a:bodyPr/>
                    <a:lstStyle/>
                    <a:p>
                      <a:r>
                        <a:rPr sz="1100"/>
                        <a:t>Keyword optimisation — May I</a:t>
                      </a:r>
                    </a:p>
                  </a:txBody>
                  <a:tcPr/>
                </a:tc>
                <a:tc>
                  <a:txBody>
                    <a:bodyPr/>
                    <a:lstStyle/>
                    <a:p>
                      <a:r>
                        <a:rPr sz="1100"/>
                        <a:t>12 May 25</a:t>
                      </a:r>
                    </a:p>
                  </a:txBody>
                  <a:tcPr/>
                </a:tc>
                <a:tc>
                  <a:txBody>
                    <a:bodyPr/>
                    <a:lstStyle/>
                    <a:p>
                      <a:r>
                        <a:rPr sz="1100"/>
                        <a:t>▼ Lost</a:t>
                      </a:r>
                    </a:p>
                  </a:txBody>
                  <a:tcPr/>
                </a:tc>
                <a:tc>
                  <a:txBody>
                    <a:bodyPr/>
                    <a:lstStyle/>
                    <a:p>
                      <a:r>
                        <a:rPr sz="1100"/>
                        <a:t>−9.13%</a:t>
                      </a:r>
                    </a:p>
                  </a:txBody>
                  <a:tcPr/>
                </a:tc>
                <a:tc>
                  <a:txBody>
                    <a:bodyPr/>
                    <a:lstStyle/>
                    <a:p>
                      <a:r>
                        <a:rPr sz="1100"/>
                        <a:t>−18.72%</a:t>
                      </a:r>
                    </a:p>
                  </a:txBody>
                  <a:tcPr/>
                </a:tc>
              </a:tr>
              <a:tr h="384048">
                <a:tc>
                  <a:txBody>
                    <a:bodyPr/>
                    <a:lstStyle/>
                    <a:p>
                      <a:r>
                        <a:rPr sz="1100"/>
                        <a:t>Sandals, 25% off — keyword optimisation</a:t>
                      </a:r>
                    </a:p>
                  </a:txBody>
                  <a:tcPr/>
                </a:tc>
                <a:tc>
                  <a:txBody>
                    <a:bodyPr/>
                    <a:lstStyle/>
                    <a:p>
                      <a:r>
                        <a:rPr sz="1100"/>
                        <a:t>13 May 25</a:t>
                      </a:r>
                    </a:p>
                  </a:txBody>
                  <a:tcPr/>
                </a:tc>
                <a:tc>
                  <a:txBody>
                    <a:bodyPr/>
                    <a:lstStyle/>
                    <a:p>
                      <a:r>
                        <a:rPr sz="1100"/>
                        <a:t>▲ Won</a:t>
                      </a:r>
                    </a:p>
                  </a:txBody>
                  <a:tcPr/>
                </a:tc>
                <a:tc>
                  <a:txBody>
                    <a:bodyPr/>
                    <a:lstStyle/>
                    <a:p>
                      <a:r>
                        <a:rPr sz="1100"/>
                        <a:t>+632.37%</a:t>
                      </a:r>
                    </a:p>
                  </a:txBody>
                  <a:tcPr/>
                </a:tc>
                <a:tc>
                  <a:txBody>
                    <a:bodyPr/>
                    <a:lstStyle/>
                    <a:p>
                      <a:r>
                        <a:rPr sz="1100"/>
                        <a:t>+629.40%</a:t>
                      </a:r>
                    </a:p>
                  </a:txBody>
                  <a:tcPr/>
                </a:tc>
              </a:tr>
              <a:tr h="384048">
                <a:tc>
                  <a:txBody>
                    <a:bodyPr/>
                    <a:lstStyle/>
                    <a:p>
                      <a:r>
                        <a:rPr sz="1100"/>
                        <a:t>Keyword optimisation — Jun I</a:t>
                      </a:r>
                    </a:p>
                  </a:txBody>
                  <a:tcPr/>
                </a:tc>
                <a:tc>
                  <a:txBody>
                    <a:bodyPr/>
                    <a:lstStyle/>
                    <a:p>
                      <a:r>
                        <a:rPr sz="1100"/>
                        <a:t>9 Jun 25</a:t>
                      </a:r>
                    </a:p>
                  </a:txBody>
                  <a:tcPr/>
                </a:tc>
                <a:tc>
                  <a:txBody>
                    <a:bodyPr/>
                    <a:lstStyle/>
                    <a:p>
                      <a:r>
                        <a:rPr sz="1100"/>
                        <a:t>▲ Won</a:t>
                      </a:r>
                    </a:p>
                  </a:txBody>
                  <a:tcPr/>
                </a:tc>
                <a:tc>
                  <a:txBody>
                    <a:bodyPr/>
                    <a:lstStyle/>
                    <a:p>
                      <a:r>
                        <a:rPr sz="1100"/>
                        <a:t>+33.47%</a:t>
                      </a:r>
                    </a:p>
                  </a:txBody>
                  <a:tcPr/>
                </a:tc>
                <a:tc>
                  <a:txBody>
                    <a:bodyPr/>
                    <a:lstStyle/>
                    <a:p>
                      <a:r>
                        <a:rPr sz="1100"/>
                        <a:t>+5.30%</a:t>
                      </a:r>
                    </a:p>
                  </a:txBody>
                  <a:tcPr/>
                </a:tc>
              </a:tr>
              <a:tr h="384048">
                <a:tc>
                  <a:txBody>
                    <a:bodyPr/>
                    <a:lstStyle/>
                    <a:p>
                      <a:r>
                        <a:rPr sz="1100"/>
                        <a:t>Sale — keyword optimisation</a:t>
                      </a:r>
                    </a:p>
                  </a:txBody>
                  <a:tcPr/>
                </a:tc>
                <a:tc>
                  <a:txBody>
                    <a:bodyPr/>
                    <a:lstStyle/>
                    <a:p>
                      <a:r>
                        <a:rPr sz="1100"/>
                        <a:t>8 Jul 25</a:t>
                      </a:r>
                    </a:p>
                  </a:txBody>
                  <a:tcPr/>
                </a:tc>
                <a:tc>
                  <a:txBody>
                    <a:bodyPr/>
                    <a:lstStyle/>
                    <a:p>
                      <a:r>
                        <a:rPr sz="1100"/>
                        <a:t>▲ Won</a:t>
                      </a:r>
                    </a:p>
                  </a:txBody>
                  <a:tcPr/>
                </a:tc>
                <a:tc>
                  <a:txBody>
                    <a:bodyPr/>
                    <a:lstStyle/>
                    <a:p>
                      <a:r>
                        <a:rPr sz="1100"/>
                        <a:t>+26.38%</a:t>
                      </a:r>
                    </a:p>
                  </a:txBody>
                  <a:tcPr/>
                </a:tc>
                <a:tc>
                  <a:txBody>
                    <a:bodyPr/>
                    <a:lstStyle/>
                    <a:p>
                      <a:r>
                        <a:rPr sz="1100"/>
                        <a:t>+29.83%</a:t>
                      </a:r>
                    </a:p>
                  </a:txBody>
                  <a:tcPr/>
                </a:tc>
              </a:tr>
              <a:tr h="384048">
                <a:tc>
                  <a:txBody>
                    <a:bodyPr/>
                    <a:lstStyle/>
                    <a:p>
                      <a:r>
                        <a:rPr sz="1100"/>
                        <a:t>Title [attribute] placement ×2 — Schuh vs non-Schuh, and size format</a:t>
                      </a:r>
                    </a:p>
                  </a:txBody>
                  <a:tcPr/>
                </a:tc>
                <a:tc>
                  <a:txBody>
                    <a:bodyPr/>
                    <a:lstStyle/>
                    <a:p>
                      <a:r>
                        <a:rPr sz="1100"/>
                        <a:t>12 Feb 25</a:t>
                      </a:r>
                    </a:p>
                  </a:txBody>
                  <a:tcPr/>
                </a:tc>
                <a:tc>
                  <a:txBody>
                    <a:bodyPr/>
                    <a:lstStyle/>
                    <a:p>
                      <a:r>
                        <a:rPr sz="1100"/>
                        <a:t>Control won both</a:t>
                      </a:r>
                    </a:p>
                  </a:txBody>
                  <a:tcPr/>
                </a:tc>
                <a:tc>
                  <a:txBody>
                    <a:bodyPr/>
                    <a:lstStyle/>
                    <a:p>
                      <a:r>
                        <a:rPr sz="1100"/>
                        <a:t>−56.79% / −44.62%</a:t>
                      </a:r>
                    </a:p>
                  </a:txBody>
                  <a:tcPr/>
                </a:tc>
                <a:tc>
                  <a:txBody>
                    <a:bodyPr/>
                    <a:lstStyle/>
                    <a:p>
                      <a:r>
                        <a:rPr sz="1100"/>
                        <a:t>−56.48% / −35.92%</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 (cont.)</a:t>
            </a:r>
          </a:p>
        </p:txBody>
      </p:sp>
      <p:sp>
        <p:nvSpPr>
          <p:cNvPr id="4" name="Text Placeholder 3"/>
          <p:cNvSpPr>
            <a:spLocks noGrp="1"/>
          </p:cNvSpPr>
          <p:nvPr>
            <p:ph type="body" idx="1"/>
          </p:nvPr>
        </p:nvSpPr>
        <p:spPr/>
        <p:txBody>
          <a:bodyPr wrap="square"/>
          <a:lstStyle/>
          <a:p>
            <a:r>
              <a:rPr sz="1639"/>
              <a:t>Keywords: the proven lever</a:t>
            </a:r>
          </a:p>
        </p:txBody>
      </p:sp>
      <p:sp>
        <p:nvSpPr>
          <p:cNvPr id="5" name="Text Placeholder 4"/>
          <p:cNvSpPr>
            <a:spLocks noGrp="1"/>
          </p:cNvSpPr>
          <p:nvPr>
            <p:ph type="body" idx="2"/>
          </p:nvPr>
        </p:nvSpPr>
        <p:spPr/>
        <p:txBody>
          <a:bodyPr wrap="square"/>
          <a:lstStyle/>
          <a:p>
            <a:r>
              <a:t>Seven wins in nine. Plan against the median: +14.0% impressions, not the mean, which one outlier drags to +86%.</a:t>
            </a:r>
          </a:p>
          <a:p>
            <a:r>
              <a:t>Without the Sandals event the other eight still median +10.7%.</a:t>
            </a:r>
          </a:p>
        </p:txBody>
      </p:sp>
      <p:sp>
        <p:nvSpPr>
          <p:cNvPr id="6" name="Text Placeholder 5"/>
          <p:cNvSpPr>
            <a:spLocks noGrp="1"/>
          </p:cNvSpPr>
          <p:nvPr>
            <p:ph type="body" idx="3"/>
          </p:nvPr>
        </p:nvSpPr>
        <p:spPr/>
        <p:txBody>
          <a:bodyPr wrap="square"/>
          <a:lstStyle/>
          <a:p>
            <a:r>
              <a:t>The outlier is a sale</a:t>
            </a:r>
          </a:p>
        </p:txBody>
      </p:sp>
      <p:sp>
        <p:nvSpPr>
          <p:cNvPr id="7" name="Text Placeholder 6"/>
          <p:cNvSpPr>
            <a:spLocks noGrp="1"/>
          </p:cNvSpPr>
          <p:nvPr>
            <p:ph type="body" idx="4"/>
          </p:nvPr>
        </p:nvSpPr>
        <p:spPr/>
        <p:txBody>
          <a:bodyPr wrap="square"/>
          <a:lstStyle/>
          <a:p>
            <a:r>
              <a:t>Sandals at 25% off returned +632% impressions — six times the next best result in the archive.</a:t>
            </a:r>
          </a:p>
          <a:p>
            <a:r>
              <a:t>Keyword work compounds with a discount. Repeat it for EOSS and Peak; never quote it as typical.</a:t>
            </a:r>
          </a:p>
        </p:txBody>
      </p:sp>
      <p:sp>
        <p:nvSpPr>
          <p:cNvPr id="8" name="Text Placeholder 7"/>
          <p:cNvSpPr>
            <a:spLocks noGrp="1"/>
          </p:cNvSpPr>
          <p:nvPr>
            <p:ph type="body" idx="5"/>
          </p:nvPr>
        </p:nvSpPr>
        <p:spPr/>
        <p:txBody>
          <a:bodyPr wrap="square"/>
          <a:lstStyle/>
          <a:p>
            <a:r>
              <a:t>Both title tests lost</a:t>
            </a:r>
          </a:p>
        </p:txBody>
      </p:sp>
      <p:sp>
        <p:nvSpPr>
          <p:cNvPr id="9" name="Text Placeholder 8"/>
          <p:cNvSpPr>
            <a:spLocks noGrp="1"/>
          </p:cNvSpPr>
          <p:nvPr>
            <p:ph type="body" idx="6"/>
          </p:nvPr>
        </p:nvSpPr>
        <p:spPr/>
        <p:txBody>
          <a:bodyPr wrap="square"/>
          <a:lstStyle/>
          <a:p>
            <a:r>
              <a:t>Schuh vs non-Schuh branding: −56.79% impressions. Size format: −44.62%.</a:t>
            </a:r>
          </a:p>
          <a:p>
            <a:r>
              <a:t>The current structure beat both — which is why chapter 05 points at title length, not composition.</a:t>
            </a:r>
          </a:p>
        </p:txBody>
      </p:sp>
      <p:sp>
        <p:nvSpPr>
          <p:cNvPr id="10" name="Text Placeholder 9"/>
          <p:cNvSpPr>
            <a:spLocks noGrp="1"/>
          </p:cNvSpPr>
          <p:nvPr>
            <p:ph type="body" idx="14"/>
          </p:nvPr>
        </p:nvSpPr>
        <p:spPr/>
        <p:txBody>
          <a:bodyPr wrap="square"/>
          <a:lstStyle/>
          <a:p>
            <a:r>
              <a:t>The archive runs Jan–Jul 2025, so none of it sits inside this review's look-back.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five</a:t>
            </a:r>
          </a:p>
        </p:txBody>
      </p:sp>
      <p:sp>
        <p:nvSpPr>
          <p:cNvPr id="3" name="Title 2"/>
          <p:cNvSpPr>
            <a:spLocks noGrp="1"/>
          </p:cNvSpPr>
          <p:nvPr>
            <p:ph type="title"/>
          </p:nvPr>
        </p:nvSpPr>
        <p:spPr/>
        <p:txBody>
          <a:bodyPr wrap="square"/>
          <a:lstStyle/>
          <a:p>
            <a:r>
              <a:t>Feed optimisation score</a:t>
            </a:r>
          </a:p>
        </p:txBody>
      </p:sp>
      <p:sp>
        <p:nvSpPr>
          <p:cNvPr id="4" name="Text Placeholder 3"/>
          <p:cNvSpPr>
            <a:spLocks noGrp="1"/>
          </p:cNvSpPr>
          <p:nvPr>
            <p:ph type="body" idx="1"/>
          </p:nvPr>
        </p:nvSpPr>
        <p:spPr/>
        <p:txBody>
          <a:bodyPr wrap="square"/>
          <a:lstStyle/>
          <a:p>
            <a:r>
              <a:t>74 out of 100. The foundations are near-perfect; three lanes carry almost all of the remaining gap.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a:t>
            </a:r>
          </a:p>
        </p:txBody>
      </p:sp>
      <p:sp>
        <p:nvSpPr>
          <p:cNvPr id="3" name="Text Placeholder 2"/>
          <p:cNvSpPr>
            <a:spLocks noGrp="1"/>
          </p:cNvSpPr>
          <p:nvPr>
            <p:ph type="body" idx="13"/>
          </p:nvPr>
        </p:nvSpPr>
        <p:spPr/>
        <p:txBody>
          <a:bodyPr wrap="square"/>
          <a:lstStyle/>
          <a:p>
            <a:r>
              <a:t>The score is the weighted completion of eleven workstreams.</a:t>
            </a:r>
          </a:p>
        </p:txBody>
      </p:sp>
      <p:sp>
        <p:nvSpPr>
          <p:cNvPr id="4" name="Text Placeholder 3"/>
          <p:cNvSpPr>
            <a:spLocks noGrp="1"/>
          </p:cNvSpPr>
          <p:nvPr>
            <p:ph type="body" idx="1"/>
          </p:nvPr>
        </p:nvSpPr>
        <p:spPr/>
        <p:txBody>
          <a:bodyPr wrap="square"/>
          <a:lstStyle/>
          <a:p>
            <a:r>
              <a:rPr sz="1760"/>
              <a:t>2.6%  Titles in MASK band</a:t>
            </a:r>
          </a:p>
        </p:txBody>
      </p:sp>
      <p:sp>
        <p:nvSpPr>
          <p:cNvPr id="5" name="Text Placeholder 4"/>
          <p:cNvSpPr>
            <a:spLocks noGrp="1"/>
          </p:cNvSpPr>
          <p:nvPr>
            <p:ph type="body" idx="2"/>
          </p:nvPr>
        </p:nvSpPr>
        <p:spPr/>
        <p:txBody>
          <a:bodyPr wrap="square"/>
          <a:lstStyle/>
          <a:p>
            <a:r>
              <a:t>558 of 21,718 UK titles land in the 80–120 band. Mean length is 60 characters; the longest in the feed is 104.</a:t>
            </a:r>
          </a:p>
          <a:p>
            <a:r>
              <a:t>Every title has been rewritten — 100% — but to roughly half the AI-ready length</a:t>
            </a:r>
          </a:p>
        </p:txBody>
      </p:sp>
      <p:sp>
        <p:nvSpPr>
          <p:cNvPr id="6" name="Text Placeholder 5"/>
          <p:cNvSpPr>
            <a:spLocks noGrp="1"/>
          </p:cNvSpPr>
          <p:nvPr>
            <p:ph type="body" idx="3"/>
          </p:nvPr>
        </p:nvSpPr>
        <p:spPr/>
        <p:txBody>
          <a:bodyPr wrap="square"/>
          <a:lstStyle/>
          <a:p>
            <a:r>
              <a:rPr sz="1760"/>
              <a:t>99.7%  Golden Record core</a:t>
            </a:r>
          </a:p>
        </p:txBody>
      </p:sp>
      <p:sp>
        <p:nvSpPr>
          <p:cNvPr id="7" name="Text Placeholder 6"/>
          <p:cNvSpPr>
            <a:spLocks noGrp="1"/>
          </p:cNvSpPr>
          <p:nvPr>
            <p:ph type="body" idx="4"/>
          </p:nvPr>
        </p:nvSpPr>
        <p:spPr/>
        <p:txBody>
          <a:bodyPr wrap="square"/>
          <a:lstStyle/>
          <a:p>
            <a:r>
              <a:t>In the UK feed colour, size, gender, age group, condition, item group ID, brand, GPC, MPN, identifier, description, price and image are all 100%. GTIN 95.9%.</a:t>
            </a:r>
          </a:p>
          <a:p>
            <a:r>
              <a:t>Target: 99.9% — this is the strongest attribute base of any FeedSpark account</a:t>
            </a:r>
          </a:p>
        </p:txBody>
      </p:sp>
      <p:sp>
        <p:nvSpPr>
          <p:cNvPr id="8" name="Text Placeholder 7"/>
          <p:cNvSpPr>
            <a:spLocks noGrp="1"/>
          </p:cNvSpPr>
          <p:nvPr>
            <p:ph type="body" idx="5"/>
          </p:nvPr>
        </p:nvSpPr>
        <p:spPr/>
        <p:txBody>
          <a:bodyPr wrap="square"/>
          <a:lstStyle/>
          <a:p>
            <a:r>
              <a:rPr sz="1639"/>
              <a:t>28.4%  Keyword enrichment</a:t>
            </a:r>
          </a:p>
        </p:txBody>
      </p:sp>
      <p:sp>
        <p:nvSpPr>
          <p:cNvPr id="9" name="Text Placeholder 8"/>
          <p:cNvSpPr>
            <a:spLocks noGrp="1"/>
          </p:cNvSpPr>
          <p:nvPr>
            <p:ph type="body" idx="6"/>
          </p:nvPr>
        </p:nvSpPr>
        <p:spPr/>
        <p:txBody>
          <a:bodyPr wrap="square"/>
          <a:lstStyle/>
          <a:p>
            <a:r>
              <a:t>FeedHero's own flag marks 28.4% of UK SKUs as keyword-processed — against 40.0% in Germany and 44.4% in Ireland.</a:t>
            </a:r>
          </a:p>
          <a:p>
            <a:r>
              <a:t>The largest market has the lowest coverage of the three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 (cont.)</a:t>
            </a:r>
          </a:p>
        </p:txBody>
      </p:sp>
      <p:sp>
        <p:nvSpPr>
          <p:cNvPr id="4" name="Text Placeholder 3"/>
          <p:cNvSpPr>
            <a:spLocks noGrp="1"/>
          </p:cNvSpPr>
          <p:nvPr>
            <p:ph type="body" idx="1"/>
          </p:nvPr>
        </p:nvSpPr>
        <p:spPr/>
        <p:txBody>
          <a:bodyPr wrap="square"/>
          <a:lstStyle/>
          <a:p>
            <a:r>
              <a:rPr sz="1639"/>
              <a:t>2.05  GPC depth (avg. levels)</a:t>
            </a:r>
          </a:p>
        </p:txBody>
      </p:sp>
      <p:sp>
        <p:nvSpPr>
          <p:cNvPr id="5" name="Text Placeholder 4"/>
          <p:cNvSpPr>
            <a:spLocks noGrp="1"/>
          </p:cNvSpPr>
          <p:nvPr>
            <p:ph type="body" idx="2"/>
          </p:nvPr>
        </p:nvSpPr>
        <p:spPr/>
        <p:txBody>
          <a:bodyPr wrap="square"/>
          <a:lstStyle/>
          <a:p>
            <a:r>
              <a:t>Two levels on every SKU in every market — typically "Clothing &amp; Accessories &gt; Shoes" and no deeper.</a:t>
            </a:r>
          </a:p>
          <a:p>
            <a:r>
              <a:t>Category enrichment has never run: the flag reads Cat:N on 100% of UK and DE</a:t>
            </a:r>
          </a:p>
        </p:txBody>
      </p:sp>
      <p:sp>
        <p:nvSpPr>
          <p:cNvPr id="6" name="Text Placeholder 5"/>
          <p:cNvSpPr>
            <a:spLocks noGrp="1"/>
          </p:cNvSpPr>
          <p:nvPr>
            <p:ph type="body" idx="3"/>
          </p:nvPr>
        </p:nvSpPr>
        <p:spPr/>
        <p:txBody>
          <a:bodyPr wrap="square"/>
          <a:lstStyle/>
          <a:p>
            <a:r>
              <a:t>4.00  Images per SKU</a:t>
            </a:r>
          </a:p>
        </p:txBody>
      </p:sp>
      <p:sp>
        <p:nvSpPr>
          <p:cNvPr id="7" name="Text Placeholder 6"/>
          <p:cNvSpPr>
            <a:spLocks noGrp="1"/>
          </p:cNvSpPr>
          <p:nvPr>
            <p:ph type="body" idx="4"/>
          </p:nvPr>
        </p:nvSpPr>
        <p:spPr/>
        <p:txBody>
          <a:bodyPr wrap="square"/>
          <a:lstStyle/>
          <a:p>
            <a:r>
              <a:t>Exactly four images on every one of 43,492 SKUs across all three markets — a rule applied without exception.</a:t>
            </a:r>
          </a:p>
          <a:p>
            <a:r>
              <a:t>Raw material for Tachyon's visual harvest is already complete</a:t>
            </a:r>
          </a:p>
        </p:txBody>
      </p:sp>
      <p:sp>
        <p:nvSpPr>
          <p:cNvPr id="8" name="Text Placeholder 7"/>
          <p:cNvSpPr>
            <a:spLocks noGrp="1"/>
          </p:cNvSpPr>
          <p:nvPr>
            <p:ph type="body" idx="5"/>
          </p:nvPr>
        </p:nvSpPr>
        <p:spPr/>
        <p:txBody>
          <a:bodyPr wrap="square"/>
          <a:lstStyle/>
          <a:p>
            <a:r>
              <a:rPr sz="1880"/>
              <a:t>9.9%  Product highlights</a:t>
            </a:r>
          </a:p>
        </p:txBody>
      </p:sp>
      <p:sp>
        <p:nvSpPr>
          <p:cNvPr id="9" name="Text Placeholder 8"/>
          <p:cNvSpPr>
            <a:spLocks noGrp="1"/>
          </p:cNvSpPr>
          <p:nvPr>
            <p:ph type="body" idx="6"/>
          </p:nvPr>
        </p:nvSpPr>
        <p:spPr/>
        <p:txBody>
          <a:bodyPr wrap="square"/>
          <a:lstStyle/>
          <a:p>
            <a:r>
              <a:t>90.1% of UK SKUs carry none, and Germany and Ireland none at all. Where they exist they are good — 9.5% sit in Google's 4–10 band.</a:t>
            </a:r>
          </a:p>
          <a:p>
            <a:r>
              <a:t>P0 gap — highlights are what AI surfaces quote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 (cont.)</a:t>
            </a:r>
          </a:p>
        </p:txBody>
      </p:sp>
      <p:sp>
        <p:nvSpPr>
          <p:cNvPr id="4" name="Text Placeholder 3"/>
          <p:cNvSpPr>
            <a:spLocks noGrp="1"/>
          </p:cNvSpPr>
          <p:nvPr>
            <p:ph type="body" idx="1"/>
          </p:nvPr>
        </p:nvSpPr>
        <p:spPr/>
        <p:txBody>
          <a:bodyPr wrap="square"/>
          <a:lstStyle/>
          <a:p>
            <a:r>
              <a:rPr sz="1760"/>
              <a:t>Titles are 100% rewritten and 2.6% AI-ready</a:t>
            </a:r>
          </a:p>
        </p:txBody>
      </p:sp>
      <p:sp>
        <p:nvSpPr>
          <p:cNvPr id="5" name="Text Placeholder 4"/>
          <p:cNvSpPr>
            <a:spLocks noGrp="1"/>
          </p:cNvSpPr>
          <p:nvPr>
            <p:ph type="body" idx="2"/>
          </p:nvPr>
        </p:nvSpPr>
        <p:spPr/>
        <p:txBody>
          <a:bodyPr wrap="square"/>
          <a:lstStyle/>
          <a:p>
            <a:r>
              <a:t>Every UK title in the feed differs from the source title Schuh supplies — the rewrite engine reaches the whole catalogue. 90.5% run through “New Product Name with Size Rules”, the remaining 9.5% are human-reviewed.</a:t>
            </a:r>
          </a:p>
          <a:p>
            <a:r>
              <a:t>What it produces averages 60 characters: “adidas Stadt Trainers in Grey, Size: 8 (EU 42)”. Correct, clean, and about half the 80–120 range AI surfaces reward. Reach is solved; length is not.</a:t>
            </a:r>
          </a:p>
        </p:txBody>
      </p:sp>
      <p:sp>
        <p:nvSpPr>
          <p:cNvPr id="6" name="Text Placeholder 5"/>
          <p:cNvSpPr>
            <a:spLocks noGrp="1"/>
          </p:cNvSpPr>
          <p:nvPr>
            <p:ph type="body" idx="3"/>
          </p:nvPr>
        </p:nvSpPr>
        <p:spPr/>
        <p:txBody>
          <a:bodyPr wrap="square"/>
          <a:lstStyle/>
          <a:p>
            <a:r>
              <a:rPr sz="1760"/>
              <a:t>Germany is running a different title engine</a:t>
            </a:r>
          </a:p>
        </p:txBody>
      </p:sp>
      <p:sp>
        <p:nvSpPr>
          <p:cNvPr id="7" name="Text Placeholder 6"/>
          <p:cNvSpPr>
            <a:spLocks noGrp="1"/>
          </p:cNvSpPr>
          <p:nvPr>
            <p:ph type="body" idx="4"/>
          </p:nvPr>
        </p:nvSpPr>
        <p:spPr/>
        <p:txBody>
          <a:bodyPr wrap="square"/>
          <a:lstStyle/>
          <a:p>
            <a:r>
              <a:t>The UK and Ireland share one: Ireland inherits UK titles on 99.3% of its catalogue. Germany runs “Google product name” on 88.4% instead, and it is the only market where description enrichment has never run at all — 0%, against 100% in the UK.</a:t>
            </a:r>
          </a:p>
          <a:p>
            <a:r>
              <a:t>Germany is not behind on effort; it is on a different pipeline. Bringing it onto the UK engine is a configuration change, not a rebuild.</a:t>
            </a:r>
          </a:p>
        </p:txBody>
      </p:sp>
      <p:sp>
        <p:nvSpPr>
          <p:cNvPr id="8" name="Text Placeholder 7"/>
          <p:cNvSpPr>
            <a:spLocks noGrp="1"/>
          </p:cNvSpPr>
          <p:nvPr>
            <p:ph type="body" idx="14"/>
          </p:nvPr>
        </p:nvSpPr>
        <p:spPr/>
        <p:txBody>
          <a:bodyPr wrap="square"/>
          <a:lstStyle/>
          <a:p>
            <a:r>
              <a:rPr sz="1140"/>
              <a:t>Where the keywords actually live. Every SKU in every market carries two product_type values: its category path, and a 32-character reference code.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six</a:t>
            </a:r>
          </a:p>
        </p:txBody>
      </p:sp>
      <p:sp>
        <p:nvSpPr>
          <p:cNvPr id="3" name="Title 2"/>
          <p:cNvSpPr>
            <a:spLocks noGrp="1"/>
          </p:cNvSpPr>
          <p:nvPr>
            <p:ph type="title"/>
          </p:nvPr>
        </p:nvSpPr>
        <p:spPr/>
        <p:txBody>
          <a:bodyPr wrap="square"/>
          <a:lstStyle/>
          <a:p>
            <a:r>
              <a:t>AI readiness</a:t>
            </a:r>
          </a:p>
        </p:txBody>
      </p:sp>
      <p:sp>
        <p:nvSpPr>
          <p:cNvPr id="4" name="Text Placeholder 3"/>
          <p:cNvSpPr>
            <a:spLocks noGrp="1"/>
          </p:cNvSpPr>
          <p:nvPr>
            <p:ph type="body" idx="1"/>
          </p:nvPr>
        </p:nvSpPr>
        <p:spPr/>
        <p:txBody>
          <a:bodyPr wrap="square"/>
          <a:lstStyle/>
          <a:p>
            <a:r>
              <a:t>Tier 2 reached in the UK, and in the UK only — two conversational attributes are already live on every British SKU.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a:t>
            </a:r>
          </a:p>
        </p:txBody>
      </p:sp>
      <p:sp>
        <p:nvSpPr>
          <p:cNvPr id="4" name="Text Placeholder 3"/>
          <p:cNvSpPr>
            <a:spLocks noGrp="1"/>
          </p:cNvSpPr>
          <p:nvPr>
            <p:ph type="body" idx="1"/>
          </p:nvPr>
        </p:nvSpPr>
        <p:spPr/>
        <p:txBody>
          <a:bodyPr wrap="square"/>
          <a:lstStyle/>
          <a:p>
            <a:r>
              <a:t>Legacy</a:t>
            </a:r>
          </a:p>
        </p:txBody>
      </p:sp>
      <p:sp>
        <p:nvSpPr>
          <p:cNvPr id="5" name="Text Placeholder 4"/>
          <p:cNvSpPr>
            <a:spLocks noGrp="1"/>
          </p:cNvSpPr>
          <p:nvPr>
            <p:ph type="body" idx="2"/>
          </p:nvPr>
        </p:nvSpPr>
        <p:spPr/>
        <p:txBody>
          <a:bodyPr wrap="square"/>
          <a:lstStyle/>
          <a:p>
            <a:r>
              <a:t>The starting point</a:t>
            </a:r>
          </a:p>
          <a:p>
            <a:r>
              <a:t>Feed meets minimum spec</a:t>
            </a:r>
          </a:p>
          <a:p>
            <a:r>
              <a:t>Source titles passed through unchanged</a:t>
            </a:r>
          </a:p>
          <a:p>
            <a:r>
              <a:t>Invisible to AI surfaces</a:t>
            </a:r>
          </a:p>
        </p:txBody>
      </p:sp>
      <p:sp>
        <p:nvSpPr>
          <p:cNvPr id="6" name="Text Placeholder 5"/>
          <p:cNvSpPr>
            <a:spLocks noGrp="1"/>
          </p:cNvSpPr>
          <p:nvPr>
            <p:ph type="body" idx="3"/>
          </p:nvPr>
        </p:nvSpPr>
        <p:spPr/>
        <p:txBody>
          <a:bodyPr wrap="square"/>
          <a:lstStyle/>
          <a:p>
            <a:r>
              <a:t>Titles &amp; data fields</a:t>
            </a:r>
          </a:p>
        </p:txBody>
      </p:sp>
      <p:sp>
        <p:nvSpPr>
          <p:cNvPr id="7" name="Text Placeholder 6"/>
          <p:cNvSpPr>
            <a:spLocks noGrp="1"/>
          </p:cNvSpPr>
          <p:nvPr>
            <p:ph type="body" idx="4"/>
          </p:nvPr>
        </p:nvSpPr>
        <p:spPr/>
        <p:txBody>
          <a:bodyPr wrap="square"/>
          <a:lstStyle/>
          <a:p>
            <a:r>
              <a:t>The foundation</a:t>
            </a:r>
          </a:p>
          <a:p>
            <a:r>
              <a:t>Titles rewritten on 100% of all three markets</a:t>
            </a:r>
          </a:p>
          <a:p>
            <a:r>
              <a:t>Colour, size, gender, age group at 100%</a:t>
            </a:r>
          </a:p>
          <a:p>
            <a:r>
              <a:t>Identifiers at 100%, GTIN 95.9%</a:t>
            </a:r>
          </a:p>
          <a:p>
            <a:r>
              <a:t>Four images on every SKU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 (cont.)</a:t>
            </a:r>
          </a:p>
        </p:txBody>
      </p:sp>
      <p:sp>
        <p:nvSpPr>
          <p:cNvPr id="4" name="Text Placeholder 3"/>
          <p:cNvSpPr>
            <a:spLocks noGrp="1"/>
          </p:cNvSpPr>
          <p:nvPr>
            <p:ph type="body" idx="1"/>
          </p:nvPr>
        </p:nvSpPr>
        <p:spPr/>
        <p:txBody>
          <a:bodyPr wrap="square"/>
          <a:lstStyle/>
          <a:p>
            <a:r>
              <a:t>Descriptions &amp; answers</a:t>
            </a:r>
          </a:p>
        </p:txBody>
      </p:sp>
      <p:sp>
        <p:nvSpPr>
          <p:cNvPr id="5" name="Text Placeholder 4"/>
          <p:cNvSpPr>
            <a:spLocks noGrp="1"/>
          </p:cNvSpPr>
          <p:nvPr>
            <p:ph type="body" idx="2"/>
          </p:nvPr>
        </p:nvSpPr>
        <p:spPr/>
        <p:txBody>
          <a:bodyPr wrap="square"/>
          <a:lstStyle/>
          <a:p>
            <a:r>
              <a:t>The meaning layer</a:t>
            </a:r>
          </a:p>
          <a:p>
            <a:r>
              <a:t>item_group_title live on 100% of UK SKUs</a:t>
            </a:r>
          </a:p>
          <a:p>
            <a:r>
              <a:t>variant_option live on 100% — colour and size</a:t>
            </a:r>
          </a:p>
          <a:p>
            <a:r>
              <a:t>Descriptions enriched on 100% of UK</a:t>
            </a:r>
          </a:p>
          <a:p>
            <a:r>
              <a:t>Germany and Ireland: none of the three</a:t>
            </a:r>
          </a:p>
        </p:txBody>
      </p:sp>
      <p:sp>
        <p:nvSpPr>
          <p:cNvPr id="6" name="Text Placeholder 5"/>
          <p:cNvSpPr>
            <a:spLocks noGrp="1"/>
          </p:cNvSpPr>
          <p:nvPr>
            <p:ph type="body" idx="3"/>
          </p:nvPr>
        </p:nvSpPr>
        <p:spPr/>
        <p:txBody>
          <a:bodyPr wrap="square"/>
          <a:lstStyle/>
          <a:p>
            <a:r>
              <a:t>Image analysis</a:t>
            </a:r>
          </a:p>
        </p:txBody>
      </p:sp>
      <p:sp>
        <p:nvSpPr>
          <p:cNvPr id="7" name="Text Placeholder 6"/>
          <p:cNvSpPr>
            <a:spLocks noGrp="1"/>
          </p:cNvSpPr>
          <p:nvPr>
            <p:ph type="body" idx="4"/>
          </p:nvPr>
        </p:nvSpPr>
        <p:spPr/>
        <p:txBody>
          <a:bodyPr wrap="square"/>
          <a:lstStyle/>
          <a:p>
            <a:r>
              <a:t>The differentiator</a:t>
            </a:r>
          </a:p>
          <a:p>
            <a:r>
              <a:t>Tachyon vision models read product imagery</a:t>
            </a:r>
          </a:p>
          <a:p>
            <a:r>
              <a:t>Four images per SKU already in place</a:t>
            </a:r>
          </a:p>
          <a:p>
            <a:r>
              <a:t>Feeds material and pattern, today at 17.2%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 (cont.)</a:t>
            </a:r>
          </a:p>
        </p:txBody>
      </p:sp>
      <p:sp>
        <p:nvSpPr>
          <p:cNvPr id="4" name="Text Placeholder 3"/>
          <p:cNvSpPr>
            <a:spLocks noGrp="1"/>
          </p:cNvSpPr>
          <p:nvPr>
            <p:ph type="body" idx="1"/>
          </p:nvPr>
        </p:nvSpPr>
        <p:spPr/>
        <p:txBody>
          <a:bodyPr wrap="square"/>
          <a:lstStyle/>
          <a:p>
            <a:r>
              <a:rPr sz="1760"/>
              <a:t>Two of Google's six are already submitted</a:t>
            </a:r>
          </a:p>
        </p:txBody>
      </p:sp>
      <p:sp>
        <p:nvSpPr>
          <p:cNvPr id="5" name="Text Placeholder 4"/>
          <p:cNvSpPr>
            <a:spLocks noGrp="1"/>
          </p:cNvSpPr>
          <p:nvPr>
            <p:ph type="body" idx="2"/>
          </p:nvPr>
        </p:nvSpPr>
        <p:spPr/>
        <p:txBody>
          <a:bodyPr wrap="square"/>
          <a:lstStyle/>
          <a:p>
            <a:r>
              <a:t>Every UK SKU carries item_group_title (“Nike White Court Borough Low Toddler Trainers”) and two variant_option pairs — Colour and Size, structured as name/value rather than buried in the title.</a:t>
            </a:r>
          </a:p>
          <a:p>
            <a:r>
              <a:t>This puts Schuh UK ahead of every other account in the FeedSpark portfolio on this specific measure. Chapter 09 is the detail.</a:t>
            </a:r>
          </a:p>
        </p:txBody>
      </p:sp>
      <p:sp>
        <p:nvSpPr>
          <p:cNvPr id="6" name="Text Placeholder 5"/>
          <p:cNvSpPr>
            <a:spLocks noGrp="1"/>
          </p:cNvSpPr>
          <p:nvPr>
            <p:ph type="body" idx="3"/>
          </p:nvPr>
        </p:nvSpPr>
        <p:spPr/>
        <p:txBody>
          <a:bodyPr wrap="square"/>
          <a:lstStyle/>
          <a:p>
            <a:r>
              <a:t>The honest gap, quantified</a:t>
            </a:r>
          </a:p>
        </p:txBody>
      </p:sp>
      <p:sp>
        <p:nvSpPr>
          <p:cNvPr id="7" name="Text Placeholder 6"/>
          <p:cNvSpPr>
            <a:spLocks noGrp="1"/>
          </p:cNvSpPr>
          <p:nvPr>
            <p:ph type="body" idx="4"/>
          </p:nvPr>
        </p:nvSpPr>
        <p:spPr/>
        <p:txBody>
          <a:bodyPr wrap="square"/>
          <a:lstStyle/>
          <a:p>
            <a:r>
              <a:t>Not “some work to do” — specifically: 19,562 UK SKUs carry no product highlight, Germany and Ireland carry none at all, category depth sits at two levels everywhere, and four of the six conversational attributes are absent from all three feeds.</a:t>
            </a:r>
          </a:p>
          <a:p>
            <a:r>
              <a:t>Four concrete, measured targets — each one read from the live feed this morning, not estimated.</a:t>
            </a:r>
          </a:p>
        </p:txBody>
      </p:sp>
      <p:sp>
        <p:nvSpPr>
          <p:cNvPr id="8" name="Text Placeholder 7"/>
          <p:cNvSpPr>
            <a:spLocks noGrp="1"/>
          </p:cNvSpPr>
          <p:nvPr>
            <p:ph type="body" idx="14"/>
          </p:nvPr>
        </p:nvSpPr>
        <p:spPr/>
        <p:txBody>
          <a:bodyPr wrap="square"/>
          <a:lstStyle/>
          <a:p>
            <a:r>
              <a:t>Three markets, three different levels of AI readiness. The UK has descriptions, highlights and two conversational attributes.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seven</a:t>
            </a:r>
          </a:p>
        </p:txBody>
      </p:sp>
      <p:sp>
        <p:nvSpPr>
          <p:cNvPr id="3" name="Title 2"/>
          <p:cNvSpPr>
            <a:spLocks noGrp="1"/>
          </p:cNvSpPr>
          <p:nvPr>
            <p:ph type="title"/>
          </p:nvPr>
        </p:nvSpPr>
        <p:spPr/>
        <p:txBody>
          <a:bodyPr wrap="square"/>
          <a:lstStyle/>
          <a:p>
            <a:r>
              <a:t>Case studies / test wins</a:t>
            </a:r>
          </a:p>
        </p:txBody>
      </p:sp>
      <p:sp>
        <p:nvSpPr>
          <p:cNvPr id="4" name="Text Placeholder 3"/>
          <p:cNvSpPr>
            <a:spLocks noGrp="1"/>
          </p:cNvSpPr>
          <p:nvPr>
            <p:ph type="body" idx="1"/>
          </p:nvPr>
        </p:nvSpPr>
        <p:spPr/>
        <p:txBody>
          <a:bodyPr wrap="square"/>
          <a:lstStyle/>
          <a:p>
            <a:r>
              <a:t>What the same interventions returned on comparable FeedSpark accounts, and which of them apply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a:t>
            </a:r>
          </a:p>
        </p:txBody>
      </p:sp>
      <p:sp>
        <p:nvSpPr>
          <p:cNvPr id="3" name="Text Placeholder 2"/>
          <p:cNvSpPr>
            <a:spLocks noGrp="1"/>
          </p:cNvSpPr>
          <p:nvPr>
            <p:ph type="body" idx="13"/>
          </p:nvPr>
        </p:nvSpPr>
        <p:spPr/>
        <p:txBody>
          <a:bodyPr wrap="square"/>
          <a:lstStyle/>
          <a:p>
            <a:r>
              <a:t>Chapter 04 is Schuh's own quantified record.</a:t>
            </a:r>
          </a:p>
        </p:txBody>
      </p:sp>
      <p:sp>
        <p:nvSpPr>
          <p:cNvPr id="4" name="Text Placeholder 3"/>
          <p:cNvSpPr>
            <a:spLocks noGrp="1"/>
          </p:cNvSpPr>
          <p:nvPr>
            <p:ph type="body" idx="1"/>
          </p:nvPr>
        </p:nvSpPr>
        <p:spPr/>
        <p:txBody>
          <a:bodyPr wrap="square"/>
          <a:lstStyle/>
          <a:p>
            <a:r>
              <a:t>Benefit-led copy beat feature-led copy</a:t>
            </a:r>
          </a:p>
        </p:txBody>
      </p:sp>
      <p:sp>
        <p:nvSpPr>
          <p:cNvPr id="5" name="Text Placeholder 4"/>
          <p:cNvSpPr>
            <a:spLocks noGrp="1"/>
          </p:cNvSpPr>
          <p:nvPr>
            <p:ph type="body" idx="2"/>
          </p:nvPr>
        </p:nvSpPr>
        <p:spPr/>
        <p:txBody>
          <a:bodyPr wrap="square"/>
          <a:lstStyle/>
          <a:p>
            <a:r>
              <a:t>+24.7% — YuMOVE, pet supplements. Rewriting titles and descriptions around what the product does for the buyer rather than what it is.</a:t>
            </a:r>
          </a:p>
          <a:p>
            <a:r>
              <a:t>Applies directly: Schuh's titles are accurate and descriptive (“Trainers in Grey, Size: 8”) but carry no use-case language at all.</a:t>
            </a:r>
          </a:p>
        </p:txBody>
      </p:sp>
      <p:sp>
        <p:nvSpPr>
          <p:cNvPr id="6" name="Text Placeholder 5"/>
          <p:cNvSpPr>
            <a:spLocks noGrp="1"/>
          </p:cNvSpPr>
          <p:nvPr>
            <p:ph type="body" idx="3"/>
          </p:nvPr>
        </p:nvSpPr>
        <p:spPr/>
        <p:txBody>
          <a:bodyPr wrap="square"/>
          <a:lstStyle/>
          <a:p>
            <a:r>
              <a:rPr sz="1639"/>
              <a:t>Naming the category term the shopper types</a:t>
            </a:r>
          </a:p>
        </p:txBody>
      </p:sp>
      <p:sp>
        <p:nvSpPr>
          <p:cNvPr id="7" name="Text Placeholder 6"/>
          <p:cNvSpPr>
            <a:spLocks noGrp="1"/>
          </p:cNvSpPr>
          <p:nvPr>
            <p:ph type="body" idx="4"/>
          </p:nvPr>
        </p:nvSpPr>
        <p:spPr/>
        <p:txBody>
          <a:bodyPr wrap="square"/>
          <a:lstStyle/>
          <a:p>
            <a:r>
              <a:t>+126.62% — YuMOVE, on the single term “Multivitamins”. Adding the plain category noun a buyer actually searches, rather than the brand's own product name.</a:t>
            </a:r>
          </a:p>
          <a:p>
            <a:r>
              <a:t>Applies with care: Schuh titles already carry a category noun. The equivalent lever here is the second and third noun — occasion, use-case, fit.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 (cont.)</a:t>
            </a:r>
          </a:p>
        </p:txBody>
      </p:sp>
      <p:sp>
        <p:nvSpPr>
          <p:cNvPr id="4" name="Text Placeholder 3"/>
          <p:cNvSpPr>
            <a:spLocks noGrp="1"/>
          </p:cNvSpPr>
          <p:nvPr>
            <p:ph type="body" idx="1"/>
          </p:nvPr>
        </p:nvSpPr>
        <p:spPr/>
        <p:txBody>
          <a:bodyPr wrap="square"/>
          <a:lstStyle/>
          <a:p>
            <a:r>
              <a:t>Occasion and seasonal language</a:t>
            </a:r>
          </a:p>
          <a:p>
            <a:r>
              <a:t>+86% and +61% — Monsoon, on seasonal and category keyword sets. The largest returns on that account came from occasion terms, not brand terms.</a:t>
            </a:r>
          </a:p>
          <a:p>
            <a:r>
              <a:t>Applies directly: school shoes, wedding, festival and gym are real footwear occasions and Schuh already tags Back-to-School in custom_label_1.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 (cont.)</a:t>
            </a:r>
          </a:p>
        </p:txBody>
      </p:sp>
      <p:sp>
        <p:nvSpPr>
          <p:cNvPr id="4" name="Text Placeholder 3"/>
          <p:cNvSpPr>
            <a:spLocks noGrp="1"/>
          </p:cNvSpPr>
          <p:nvPr>
            <p:ph type="body" idx="1"/>
          </p:nvPr>
        </p:nvSpPr>
        <p:spPr/>
        <p:txBody>
          <a:bodyPr wrap="square"/>
          <a:lstStyle/>
          <a:p>
            <a:r>
              <a:t>The pattern across all four</a:t>
            </a:r>
          </a:p>
        </p:txBody>
      </p:sp>
      <p:sp>
        <p:nvSpPr>
          <p:cNvPr id="5" name="Text Placeholder 4"/>
          <p:cNvSpPr>
            <a:spLocks noGrp="1"/>
          </p:cNvSpPr>
          <p:nvPr>
            <p:ph type="body" idx="2"/>
          </p:nvPr>
        </p:nvSpPr>
        <p:spPr/>
        <p:txBody>
          <a:bodyPr wrap="square"/>
          <a:lstStyle/>
          <a:p>
            <a:r>
              <a:t>Every one came from putting more specific, more decomposable language into the product data — the occasion, the benefit, the category noun the shopper types. None came from bidding, budget or campaign structure.</a:t>
            </a:r>
          </a:p>
          <a:p>
            <a:r>
              <a:t>That is what makes them portable to Schuh: they are feed-side changes, and Schuh's feed is already structurally cleaner than either account these results came from.</a:t>
            </a:r>
          </a:p>
        </p:txBody>
      </p:sp>
      <p:sp>
        <p:nvSpPr>
          <p:cNvPr id="6" name="Text Placeholder 5"/>
          <p:cNvSpPr>
            <a:spLocks noGrp="1"/>
          </p:cNvSpPr>
          <p:nvPr>
            <p:ph type="body" idx="3"/>
          </p:nvPr>
        </p:nvSpPr>
        <p:spPr/>
        <p:txBody>
          <a:bodyPr wrap="square"/>
          <a:lstStyle/>
          <a:p>
            <a:r>
              <a:rPr sz="1639"/>
              <a:t>What does not transfer, and why that matters</a:t>
            </a:r>
          </a:p>
        </p:txBody>
      </p:sp>
      <p:sp>
        <p:nvSpPr>
          <p:cNvPr id="7" name="Text Placeholder 6"/>
          <p:cNvSpPr>
            <a:spLocks noGrp="1"/>
          </p:cNvSpPr>
          <p:nvPr>
            <p:ph type="body" idx="4"/>
          </p:nvPr>
        </p:nvSpPr>
        <p:spPr/>
        <p:txBody>
          <a:bodyPr wrap="square"/>
          <a:lstStyle/>
          <a:p>
            <a:r>
              <a:t>Both accounts started from far weaker attribute coverage than Schuh has. YuMOVE and Monsoon gained partly by fixing gaps Schuh does not have — colour, size and identifiers are already at 100% here.</a:t>
            </a:r>
          </a:p>
          <a:p>
            <a:r>
              <a:t>So these figures point at which lever, not at the size of the return. Schuh's own median in chapter 04 — +14.0% impressions on keyword optimisation — is the number to plan against.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eight</a:t>
            </a:r>
          </a:p>
        </p:txBody>
      </p:sp>
      <p:sp>
        <p:nvSpPr>
          <p:cNvPr id="3" name="Title 2"/>
          <p:cNvSpPr>
            <a:spLocks noGrp="1"/>
          </p:cNvSpPr>
          <p:nvPr>
            <p:ph type="title"/>
          </p:nvPr>
        </p:nvSpPr>
        <p:spPr/>
        <p:txBody>
          <a:bodyPr wrap="square"/>
          <a:lstStyle/>
          <a:p>
            <a:r>
              <a:t>Roadmap / next quarter</a:t>
            </a:r>
          </a:p>
        </p:txBody>
      </p:sp>
      <p:sp>
        <p:nvSpPr>
          <p:cNvPr id="4" name="Text Placeholder 3"/>
          <p:cNvSpPr>
            <a:spLocks noGrp="1"/>
          </p:cNvSpPr>
          <p:nvPr>
            <p:ph type="body" idx="1"/>
          </p:nvPr>
        </p:nvSpPr>
        <p:spPr/>
        <p:txBody>
          <a:bodyPr wrap="square"/>
          <a:lstStyle/>
          <a:p>
            <a:r>
              <a:t>Three unblocks, one rollout that pays for itself twice, and a testing programme that needs restarting.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rPr sz="1689"/>
              <a:t>Clear what is waiting on Schuh</a:t>
            </a:r>
          </a:p>
        </p:txBody>
      </p:sp>
      <p:sp>
        <p:nvSpPr>
          <p:cNvPr id="6" name="Text Placeholder 5"/>
          <p:cNvSpPr>
            <a:spLocks noGrp="1"/>
          </p:cNvSpPr>
          <p:nvPr>
            <p:ph type="body" idx="3"/>
          </p:nvPr>
        </p:nvSpPr>
        <p:spPr/>
        <p:txBody>
          <a:bodyPr wrap="square"/>
          <a:lstStyle/>
          <a:p>
            <a:r>
              <a:t>Oct 2026</a:t>
            </a:r>
          </a:p>
          <a:p>
            <a:r>
              <a:t>s360 description prompt — Will</a:t>
            </a:r>
          </a:p>
          <a:p>
            <a:r>
              <a:t>LIA / GMC setup — Schuh dev team</a:t>
            </a:r>
          </a:p>
          <a:p>
            <a:r>
              <a:t>Product rating fields — Schuh dev</a:t>
            </a:r>
          </a:p>
          <a:p>
            <a:r>
              <a:t>Hero Sizes mapping — close out</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rPr sz="1689"/>
              <a:t>Take the UK build to DE and IE</a:t>
            </a:r>
          </a:p>
        </p:txBody>
      </p:sp>
      <p:sp>
        <p:nvSpPr>
          <p:cNvPr id="9" name="Text Placeholder 8"/>
          <p:cNvSpPr>
            <a:spLocks noGrp="1"/>
          </p:cNvSpPr>
          <p:nvPr>
            <p:ph type="body" idx="6"/>
          </p:nvPr>
        </p:nvSpPr>
        <p:spPr/>
        <p:txBody>
          <a:bodyPr wrap="square"/>
          <a:lstStyle/>
          <a:p>
            <a:r>
              <a:rPr sz="1320"/>
              <a:t>Oct – Nov 2026</a:t>
            </a:r>
          </a:p>
          <a:p>
            <a:r>
              <a:rPr sz="1320"/>
              <a:t>Description enrichment — 0% DE, 2.2% IE</a:t>
            </a:r>
          </a:p>
          <a:p>
            <a:r>
              <a:rPr sz="1320"/>
              <a:t>Conversational attributes — UK pair to both</a:t>
            </a:r>
          </a:p>
          <a:p>
            <a:r>
              <a:rPr sz="1320"/>
              <a:t>Product highlights — none outside UK</a:t>
            </a:r>
          </a:p>
          <a:p>
            <a:r>
              <a:rPr sz="1320"/>
              <a:t>DE onto the UK title engine</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689"/>
              <a:t>Stable, no architecture changes</a:t>
            </a:r>
          </a:p>
        </p:txBody>
      </p:sp>
      <p:sp>
        <p:nvSpPr>
          <p:cNvPr id="12" name="Text Placeholder 11"/>
          <p:cNvSpPr>
            <a:spLocks noGrp="1"/>
          </p:cNvSpPr>
          <p:nvPr>
            <p:ph type="body" idx="9"/>
          </p:nvPr>
        </p:nvSpPr>
        <p:spPr/>
        <p:txBody>
          <a:bodyPr wrap="square"/>
          <a:lstStyle/>
          <a:p>
            <a:r>
              <a:rPr sz="1410"/>
              <a:t>Nov – Dec 2026</a:t>
            </a:r>
          </a:p>
          <a:p>
            <a:r>
              <a:rPr sz="1410"/>
              <a:t>Margin + stock banding hold through sale</a:t>
            </a:r>
          </a:p>
          <a:p>
            <a:r>
              <a:rPr sz="1410"/>
              <a:t>EOSS sale keywords re-applied</a:t>
            </a:r>
          </a:p>
          <a:p>
            <a:r>
              <a:rPr sz="1410"/>
              <a:t>Disapproval monitoring across six feeds</a:t>
            </a:r>
          </a:p>
          <a:p>
            <a:r>
              <a:rPr sz="1410"/>
              <a:t>Title-length test reads out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graphicFrame>
        <p:nvGraphicFramePr>
          <p:cNvPr id="5" name="Table 4"/>
          <p:cNvGraphicFramePr>
            <a:graphicFrameLocks noGrp="1"/>
          </p:cNvGraphicFramePr>
          <p:nvPr/>
        </p:nvGraphicFramePr>
        <p:xfrm>
          <a:off x="612648" y="1847088"/>
          <a:ext cx="10972797" cy="3840480"/>
        </p:xfrm>
        <a:graphic>
          <a:graphicData uri="http://schemas.openxmlformats.org/drawingml/2006/table">
            <a:tbl>
              <a:tblPr firstRow="1" bandRow="1">
                <a:tableStyleId>{5C22544A-7EE6-4342-B048-85BDC9FD1C3A}</a:tableStyleId>
              </a:tblPr>
              <a:tblGrid>
                <a:gridCol w="775771"/>
                <a:gridCol w="2503550"/>
                <a:gridCol w="5929462"/>
                <a:gridCol w="988243"/>
                <a:gridCol w="775771"/>
              </a:tblGrid>
              <a:tr h="384048">
                <a:tc>
                  <a:txBody>
                    <a:bodyPr/>
                    <a:lstStyle/>
                    <a:p>
                      <a:r>
                        <a:rPr sz="1300" b="1">
                          <a:solidFill>
                            <a:srgbClr val="FFFFFF"/>
                          </a:solidFill>
                        </a:rPr>
                        <a:t>#</a:t>
                      </a:r>
                    </a:p>
                  </a:txBody>
                  <a:tcPr/>
                </a:tc>
                <a:tc>
                  <a:txBody>
                    <a:bodyPr/>
                    <a:lstStyle/>
                    <a:p>
                      <a:r>
                        <a:rPr sz="1300" b="1">
                          <a:solidFill>
                            <a:srgbClr val="FFFFFF"/>
                          </a:solidFill>
                        </a:rPr>
                        <a:t>Workstream</a:t>
                      </a:r>
                    </a:p>
                  </a:txBody>
                  <a:tcPr/>
                </a:tc>
                <a:tc>
                  <a:txBody>
                    <a:bodyPr/>
                    <a:lstStyle/>
                    <a:p>
                      <a:r>
                        <a:rPr sz="1300" b="1">
                          <a:solidFill>
                            <a:srgbClr val="FFFFFF"/>
                          </a:solidFill>
                        </a:rPr>
                        <a:t>What it needs</a:t>
                      </a:r>
                    </a:p>
                  </a:txBody>
                  <a:tcPr/>
                </a:tc>
                <a:tc>
                  <a:txBody>
                    <a:bodyPr/>
                    <a:lstStyle/>
                    <a:p>
                      <a:r>
                        <a:rPr sz="1300" b="1">
                          <a:solidFill>
                            <a:srgbClr val="FFFFFF"/>
                          </a:solidFill>
                        </a:rPr>
                        <a:t>Owner</a:t>
                      </a:r>
                    </a:p>
                  </a:txBody>
                  <a:tcPr/>
                </a:tc>
                <a:tc>
                  <a:txBody>
                    <a:bodyPr/>
                    <a:lstStyle/>
                    <a:p>
                      <a:r>
                        <a:rPr sz="1300" b="1">
                          <a:solidFill>
                            <a:srgbClr val="FFFFFF"/>
                          </a:solidFill>
                        </a:rPr>
                        <a:t>Priority</a:t>
                      </a:r>
                    </a:p>
                  </a:txBody>
                  <a:tcPr/>
                </a:tc>
              </a:tr>
              <a:tr h="384048">
                <a:tc>
                  <a:txBody>
                    <a:bodyPr/>
                    <a:lstStyle/>
                    <a:p>
                      <a:r>
                        <a:rPr sz="1100"/>
                        <a:t>W1</a:t>
                      </a:r>
                    </a:p>
                  </a:txBody>
                  <a:tcPr/>
                </a:tc>
                <a:tc>
                  <a:txBody>
                    <a:bodyPr/>
                    <a:lstStyle/>
                    <a:p>
                      <a:r>
                        <a:rPr sz="1100"/>
                        <a:t>Title length toward the MASK band</a:t>
                      </a:r>
                    </a:p>
                  </a:txBody>
                  <a:tcPr/>
                </a:tc>
                <a:tc>
                  <a:txBody>
                    <a:bodyPr/>
                    <a:lstStyle/>
                    <a:p>
                      <a:r>
                        <a:rPr sz="1100"/>
                        <a:t>A rule change — 2.6% in band today at a 60-character mean; the engine already reaches 100% of the catalogue</a:t>
                      </a:r>
                    </a:p>
                  </a:txBody>
                  <a:tcPr/>
                </a:tc>
                <a:tc>
                  <a:txBody>
                    <a:bodyPr/>
                    <a:lstStyle/>
                    <a:p>
                      <a:r>
                        <a:rPr sz="1100"/>
                        <a:t>Ray / Steven</a:t>
                      </a:r>
                    </a:p>
                  </a:txBody>
                  <a:tcPr/>
                </a:tc>
                <a:tc>
                  <a:txBody>
                    <a:bodyPr/>
                    <a:lstStyle/>
                    <a:p>
                      <a:r>
                        <a:rPr sz="1100" b="1">
                          <a:solidFill>
                            <a:srgbClr val="2E7D32"/>
                          </a:solidFill>
                        </a:rPr>
                        <a:t>High</a:t>
                      </a:r>
                    </a:p>
                  </a:txBody>
                  <a:tcPr/>
                </a:tc>
              </a:tr>
              <a:tr h="384048">
                <a:tc>
                  <a:txBody>
                    <a:bodyPr/>
                    <a:lstStyle/>
                    <a:p>
                      <a:r>
                        <a:rPr sz="1100"/>
                        <a:t>W2</a:t>
                      </a:r>
                    </a:p>
                  </a:txBody>
                  <a:tcPr/>
                </a:tc>
                <a:tc>
                  <a:txBody>
                    <a:bodyPr/>
                    <a:lstStyle/>
                    <a:p>
                      <a:r>
                        <a:rPr sz="1100"/>
                        <a:t>Description enrichment to DE and IE</a:t>
                      </a:r>
                    </a:p>
                  </a:txBody>
                  <a:tcPr/>
                </a:tc>
                <a:tc>
                  <a:txBody>
                    <a:bodyPr/>
                    <a:lstStyle/>
                    <a:p>
                      <a:r>
                        <a:rPr sz="1100"/>
                        <a:t>Will's s360 prompt — the one dependency holding two markets at 0% and 2.2%</a:t>
                      </a:r>
                    </a:p>
                  </a:txBody>
                  <a:tcPr/>
                </a:tc>
                <a:tc>
                  <a:txBody>
                    <a:bodyPr/>
                    <a:lstStyle/>
                    <a:p>
                      <a:r>
                        <a:rPr sz="1100"/>
                        <a:t>Will → Ray</a:t>
                      </a:r>
                    </a:p>
                  </a:txBody>
                  <a:tcPr/>
                </a:tc>
                <a:tc>
                  <a:txBody>
                    <a:bodyPr/>
                    <a:lstStyle/>
                    <a:p>
                      <a:r>
                        <a:rPr sz="1100" b="1">
                          <a:solidFill>
                            <a:srgbClr val="2E7D32"/>
                          </a:solidFill>
                        </a:rPr>
                        <a:t>High</a:t>
                      </a:r>
                    </a:p>
                  </a:txBody>
                  <a:tcPr/>
                </a:tc>
              </a:tr>
              <a:tr h="384048">
                <a:tc>
                  <a:txBody>
                    <a:bodyPr/>
                    <a:lstStyle/>
                    <a:p>
                      <a:r>
                        <a:rPr sz="1100"/>
                        <a:t>W3</a:t>
                      </a:r>
                    </a:p>
                  </a:txBody>
                  <a:tcPr/>
                </a:tc>
                <a:tc>
                  <a:txBody>
                    <a:bodyPr/>
                    <a:lstStyle/>
                    <a:p>
                      <a:r>
                        <a:rPr sz="1100"/>
                        <a:t>Product highlights across all markets</a:t>
                      </a:r>
                    </a:p>
                  </a:txBody>
                  <a:tcPr/>
                </a:tc>
                <a:tc>
                  <a:txBody>
                    <a:bodyPr/>
                    <a:lstStyle/>
                    <a:p>
                      <a:r>
                        <a:rPr sz="1100"/>
                        <a:t>Nothing external — 90.1% of UK and all of DE/IE carry none; the 9.9% that exist are already well-formed</a:t>
                      </a:r>
                    </a:p>
                  </a:txBody>
                  <a:tcPr/>
                </a:tc>
                <a:tc>
                  <a:txBody>
                    <a:bodyPr/>
                    <a:lstStyle/>
                    <a:p>
                      <a:r>
                        <a:rPr sz="1100"/>
                        <a:t>Isa / Mo</a:t>
                      </a:r>
                    </a:p>
                  </a:txBody>
                  <a:tcPr/>
                </a:tc>
                <a:tc>
                  <a:txBody>
                    <a:bodyPr/>
                    <a:lstStyle/>
                    <a:p>
                      <a:r>
                        <a:rPr sz="1100" b="1">
                          <a:solidFill>
                            <a:srgbClr val="2E7D32"/>
                          </a:solidFill>
                        </a:rPr>
                        <a:t>High</a:t>
                      </a:r>
                    </a:p>
                  </a:txBody>
                  <a:tcPr/>
                </a:tc>
              </a:tr>
              <a:tr h="384048">
                <a:tc>
                  <a:txBody>
                    <a:bodyPr/>
                    <a:lstStyle/>
                    <a:p>
                      <a:r>
                        <a:rPr sz="1100"/>
                        <a:t>W4</a:t>
                      </a:r>
                    </a:p>
                  </a:txBody>
                  <a:tcPr/>
                </a:tc>
                <a:tc>
                  <a:txBody>
                    <a:bodyPr/>
                    <a:lstStyle/>
                    <a:p>
                      <a:r>
                        <a:rPr sz="1100"/>
                        <a:t>Keyword rollout, UK</a:t>
                      </a:r>
                    </a:p>
                  </a:txBody>
                  <a:tcPr/>
                </a:tc>
                <a:tc>
                  <a:txBody>
                    <a:bodyPr/>
                    <a:lstStyle/>
                    <a:p>
                      <a:r>
                        <a:rPr sz="1100"/>
                        <a:t>Extend the proven pass from 28.4% toward the 44.4% Ireland already runs at</a:t>
                      </a:r>
                    </a:p>
                  </a:txBody>
                  <a:tcPr/>
                </a:tc>
                <a:tc>
                  <a:txBody>
                    <a:bodyPr/>
                    <a:lstStyle/>
                    <a:p>
                      <a:r>
                        <a:rPr sz="1100"/>
                        <a:t>Isa</a:t>
                      </a:r>
                    </a:p>
                  </a:txBody>
                  <a:tcPr/>
                </a:tc>
                <a:tc>
                  <a:txBody>
                    <a:bodyPr/>
                    <a:lstStyle/>
                    <a:p>
                      <a:r>
                        <a:rPr sz="1100" b="1">
                          <a:solidFill>
                            <a:srgbClr val="2E7D32"/>
                          </a:solidFill>
                        </a:rPr>
                        <a:t>High</a:t>
                      </a:r>
                    </a:p>
                  </a:txBody>
                  <a:tcPr/>
                </a:tc>
              </a:tr>
              <a:tr h="384048">
                <a:tc>
                  <a:txBody>
                    <a:bodyPr/>
                    <a:lstStyle/>
                    <a:p>
                      <a:r>
                        <a:rPr sz="1100"/>
                        <a:t>W5</a:t>
                      </a:r>
                    </a:p>
                  </a:txBody>
                  <a:tcPr/>
                </a:tc>
                <a:tc>
                  <a:txBody>
                    <a:bodyPr/>
                    <a:lstStyle/>
                    <a:p>
                      <a:r>
                        <a:rPr sz="1100"/>
                        <a:t>Category depth beyond two levels</a:t>
                      </a:r>
                    </a:p>
                  </a:txBody>
                  <a:tcPr/>
                </a:tc>
                <a:tc>
                  <a:txBody>
                    <a:bodyPr/>
                    <a:lstStyle/>
                    <a:p>
                      <a:r>
                        <a:rPr sz="1100"/>
                        <a:t>Category enrichment has never run — the flag reads Cat:N on 100% of UK and DE</a:t>
                      </a:r>
                    </a:p>
                  </a:txBody>
                  <a:tcPr/>
                </a:tc>
                <a:tc>
                  <a:txBody>
                    <a:bodyPr/>
                    <a:lstStyle/>
                    <a:p>
                      <a:r>
                        <a:rPr sz="1100"/>
                        <a:t>Ray</a:t>
                      </a:r>
                    </a:p>
                  </a:txBody>
                  <a:tcPr/>
                </a:tc>
                <a:tc>
                  <a:txBody>
                    <a:bodyPr/>
                    <a:lstStyle/>
                    <a:p>
                      <a:r>
                        <a:rPr sz="1100" b="1">
                          <a:solidFill>
                            <a:srgbClr val="ED6F0B"/>
                          </a:solidFill>
                        </a:rPr>
                        <a:t>Medium</a:t>
                      </a:r>
                    </a:p>
                  </a:txBody>
                  <a:tcPr/>
                </a:tc>
              </a:tr>
              <a:tr h="384048">
                <a:tc>
                  <a:txBody>
                    <a:bodyPr/>
                    <a:lstStyle/>
                    <a:p>
                      <a:r>
                        <a:rPr sz="1100"/>
                        <a:t>W6</a:t>
                      </a:r>
                    </a:p>
                  </a:txBody>
                  <a:tcPr/>
                </a:tc>
                <a:tc>
                  <a:txBody>
                    <a:bodyPr/>
                    <a:lstStyle/>
                    <a:p>
                      <a:r>
                        <a:rPr sz="1100"/>
                        <a:t>LIA launch</a:t>
                      </a:r>
                    </a:p>
                  </a:txBody>
                  <a:tcPr/>
                </a:tc>
                <a:tc>
                  <a:txBody>
                    <a:bodyPr/>
                    <a:lstStyle/>
                    <a:p>
                      <a:r>
                        <a:rPr sz="1100"/>
                        <a:t>Schuh's dev team on the Merchant Center side; feed and campaign design already agreed</a:t>
                      </a:r>
                    </a:p>
                  </a:txBody>
                  <a:tcPr/>
                </a:tc>
                <a:tc>
                  <a:txBody>
                    <a:bodyPr/>
                    <a:lstStyle/>
                    <a:p>
                      <a:r>
                        <a:rPr sz="1100"/>
                        <a:t>Schuh dev / Ray</a:t>
                      </a:r>
                    </a:p>
                  </a:txBody>
                  <a:tcPr/>
                </a:tc>
                <a:tc>
                  <a:txBody>
                    <a:bodyPr/>
                    <a:lstStyle/>
                    <a:p>
                      <a:r>
                        <a:rPr sz="1100" b="1">
                          <a:solidFill>
                            <a:srgbClr val="ED6F0B"/>
                          </a:solidFill>
                        </a:rPr>
                        <a:t>Medium</a:t>
                      </a:r>
                    </a:p>
                  </a:txBody>
                  <a:tcPr/>
                </a:tc>
              </a:tr>
              <a:tr h="384048">
                <a:tc>
                  <a:txBody>
                    <a:bodyPr/>
                    <a:lstStyle/>
                    <a:p>
                      <a:r>
                        <a:rPr sz="1100"/>
                        <a:t>W7</a:t>
                      </a:r>
                    </a:p>
                  </a:txBody>
                  <a:tcPr/>
                </a:tc>
                <a:tc>
                  <a:txBody>
                    <a:bodyPr/>
                    <a:lstStyle/>
                    <a:p>
                      <a:r>
                        <a:rPr sz="1100"/>
                        <a:t>Conversational attributes to DE and IE</a:t>
                      </a:r>
                    </a:p>
                  </a:txBody>
                  <a:tcPr/>
                </a:tc>
                <a:tc>
                  <a:txBody>
                    <a:bodyPr/>
                    <a:lstStyle/>
                    <a:p>
                      <a:r>
                        <a:rPr sz="1100"/>
                        <a:t>Replicate the UK configuration — item_group_title and variant_option are built and proven</a:t>
                      </a:r>
                    </a:p>
                  </a:txBody>
                  <a:tcPr/>
                </a:tc>
                <a:tc>
                  <a:txBody>
                    <a:bodyPr/>
                    <a:lstStyle/>
                    <a:p>
                      <a:r>
                        <a:rPr sz="1100"/>
                        <a:t>Ray / Steven</a:t>
                      </a:r>
                    </a:p>
                  </a:txBody>
                  <a:tcPr/>
                </a:tc>
                <a:tc>
                  <a:txBody>
                    <a:bodyPr/>
                    <a:lstStyle/>
                    <a:p>
                      <a:r>
                        <a:rPr sz="1100" b="1">
                          <a:solidFill>
                            <a:srgbClr val="ED6F0B"/>
                          </a:solidFill>
                        </a:rPr>
                        <a:t>Medium</a:t>
                      </a:r>
                    </a:p>
                  </a:txBody>
                  <a:tcPr/>
                </a:tc>
              </a:tr>
              <a:tr h="384048">
                <a:tc>
                  <a:txBody>
                    <a:bodyPr/>
                    <a:lstStyle/>
                    <a:p>
                      <a:r>
                        <a:rPr sz="1100"/>
                        <a:t>W8</a:t>
                      </a:r>
                    </a:p>
                  </a:txBody>
                  <a:tcPr/>
                </a:tc>
                <a:tc>
                  <a:txBody>
                    <a:bodyPr/>
                    <a:lstStyle/>
                    <a:p>
                      <a:r>
                        <a:rPr sz="1100"/>
                        <a:t>Margin architecture into Meta</a:t>
                      </a:r>
                    </a:p>
                  </a:txBody>
                  <a:tcPr/>
                </a:tc>
                <a:tc>
                  <a:txBody>
                    <a:bodyPr/>
                    <a:lstStyle/>
                    <a:p>
                      <a:r>
                        <a:rPr sz="1100"/>
                        <a:t>Carry CL0/CL1 through CN into the social feeds</a:t>
                      </a:r>
                    </a:p>
                  </a:txBody>
                  <a:tcPr/>
                </a:tc>
                <a:tc>
                  <a:txBody>
                    <a:bodyPr/>
                    <a:lstStyle/>
                    <a:p>
                      <a:r>
                        <a:rPr sz="1100"/>
                        <a:t>Ray</a:t>
                      </a:r>
                    </a:p>
                  </a:txBody>
                  <a:tcPr/>
                </a:tc>
                <a:tc>
                  <a:txBody>
                    <a:bodyPr/>
                    <a:lstStyle/>
                    <a:p>
                      <a:r>
                        <a:rPr sz="1100" b="1">
                          <a:solidFill>
                            <a:srgbClr val="ED6F0B"/>
                          </a:solidFill>
                        </a:rPr>
                        <a:t>Medium</a:t>
                      </a:r>
                    </a:p>
                  </a:txBody>
                  <a:tcPr/>
                </a:tc>
              </a:tr>
              <a:tr h="384048">
                <a:tc>
                  <a:txBody>
                    <a:bodyPr/>
                    <a:lstStyle/>
                    <a:p>
                      <a:r>
                        <a:rPr sz="1100"/>
                        <a:t>W9</a:t>
                      </a:r>
                    </a:p>
                  </a:txBody>
                  <a:tcPr/>
                </a:tc>
                <a:tc>
                  <a:txBody>
                    <a:bodyPr/>
                    <a:lstStyle/>
                    <a:p>
                      <a:r>
                        <a:rPr sz="1100"/>
                        <a:t>Widen the testing lane</a:t>
                      </a:r>
                    </a:p>
                  </a:txBody>
                  <a:tcPr/>
                </a:tc>
                <a:tc>
                  <a:txBody>
                    <a:bodyPr/>
                    <a:lstStyle/>
                    <a:p>
                      <a:r>
                        <a:rPr sz="1100"/>
                        <a:t>The archive stops in Jul 2025 — re-run the search-intent title test, and log the read this time</a:t>
                      </a:r>
                    </a:p>
                  </a:txBody>
                  <a:tcPr/>
                </a:tc>
                <a:tc>
                  <a:txBody>
                    <a:bodyPr/>
                    <a:lstStyle/>
                    <a:p>
                      <a:r>
                        <a:rPr sz="1100"/>
                        <a:t>Steven</a:t>
                      </a:r>
                    </a:p>
                  </a:txBody>
                  <a:tcPr/>
                </a:tc>
                <a:tc>
                  <a:txBody>
                    <a:bodyPr/>
                    <a:lstStyle/>
                    <a:p>
                      <a:r>
                        <a:rPr sz="1100" b="1">
                          <a:solidFill>
                            <a:srgbClr val="767676"/>
                          </a:solidFill>
                        </a:rPr>
                        <a:t>Low</a:t>
                      </a:r>
                    </a:p>
                  </a:txBody>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sp>
        <p:nvSpPr>
          <p:cNvPr id="4" name="Text Placeholder 3"/>
          <p:cNvSpPr>
            <a:spLocks noGrp="1"/>
          </p:cNvSpPr>
          <p:nvPr>
            <p:ph type="body" idx="1"/>
          </p:nvPr>
        </p:nvSpPr>
        <p:spPr/>
        <p:txBody>
          <a:bodyPr wrap="square"/>
          <a:lstStyle/>
          <a:p>
            <a:r>
              <a:t>Three things we need from Schuh</a:t>
            </a:r>
          </a:p>
        </p:txBody>
      </p:sp>
      <p:sp>
        <p:nvSpPr>
          <p:cNvPr id="5" name="Text Placeholder 4"/>
          <p:cNvSpPr>
            <a:spLocks noGrp="1"/>
          </p:cNvSpPr>
          <p:nvPr>
            <p:ph type="body" idx="2"/>
          </p:nvPr>
        </p:nvSpPr>
        <p:spPr/>
        <p:txBody>
          <a:bodyPr wrap="square"/>
          <a:lstStyle/>
          <a:p>
            <a:r>
              <a:t>Each unblocks work that is already scoped and waiting — none needs new budget.</a:t>
            </a:r>
          </a:p>
          <a:p>
            <a:r>
              <a:t>1. The s360 description prompt — Will. Unblocks description enrichment for Germany and Ireland, currently at 0% and 2.2%.</a:t>
            </a:r>
          </a:p>
          <a:p>
            <a:r>
              <a:t>2. Merchant Center access for LIA — Schuh dev. The feed and the campaign structure are already designed.</a:t>
            </a:r>
          </a:p>
          <a:p>
            <a:r>
              <a:t>3. Product rating fields — Schuh dev. Releases the one initiative currently on hold.</a:t>
            </a:r>
          </a:p>
        </p:txBody>
      </p:sp>
      <p:sp>
        <p:nvSpPr>
          <p:cNvPr id="6" name="Text Placeholder 5"/>
          <p:cNvSpPr>
            <a:spLocks noGrp="1"/>
          </p:cNvSpPr>
          <p:nvPr>
            <p:ph type="body" idx="3"/>
          </p:nvPr>
        </p:nvSpPr>
        <p:spPr/>
        <p:txBody>
          <a:bodyPr wrap="square"/>
          <a:lstStyle/>
          <a:p>
            <a:r>
              <a:t>Sequencing logic</a:t>
            </a:r>
          </a:p>
        </p:txBody>
      </p:sp>
      <p:sp>
        <p:nvSpPr>
          <p:cNvPr id="7" name="Text Placeholder 6"/>
          <p:cNvSpPr>
            <a:spLocks noGrp="1"/>
          </p:cNvSpPr>
          <p:nvPr>
            <p:ph type="body" idx="4"/>
          </p:nvPr>
        </p:nvSpPr>
        <p:spPr/>
        <p:txBody>
          <a:bodyPr wrap="square"/>
          <a:lstStyle/>
          <a:p>
            <a:r>
              <a:t>W1, W3 and W4 come first because none is blocked on anybody: the title engine, the highlight build and the keyword pass are all built and running on part of the catalogue already. They are deployment, not development.</a:t>
            </a:r>
          </a:p>
          <a:p>
            <a:r>
              <a:t>W2, W6 and W7 are chased in parallel as client-side dependencies. Everything structural must be stable before November — no architecture changes once Peak starts.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nine</a:t>
            </a:r>
          </a:p>
        </p:txBody>
      </p:sp>
      <p:sp>
        <p:nvSpPr>
          <p:cNvPr id="3" name="Title 2"/>
          <p:cNvSpPr>
            <a:spLocks noGrp="1"/>
          </p:cNvSpPr>
          <p:nvPr>
            <p:ph type="title"/>
          </p:nvPr>
        </p:nvSpPr>
        <p:spPr/>
        <p:txBody>
          <a:bodyPr wrap="square"/>
          <a:lstStyle/>
          <a:p>
            <a:r>
              <a:t>Google conversational attributes</a:t>
            </a:r>
          </a:p>
        </p:txBody>
      </p:sp>
      <p:sp>
        <p:nvSpPr>
          <p:cNvPr id="4" name="Text Placeholder 3"/>
          <p:cNvSpPr>
            <a:spLocks noGrp="1"/>
          </p:cNvSpPr>
          <p:nvPr>
            <p:ph type="body" idx="1"/>
          </p:nvPr>
        </p:nvSpPr>
        <p:spPr/>
        <p:txBody>
          <a:bodyPr wrap="square"/>
          <a:lstStyle/>
          <a:p>
            <a:r>
              <a:t>Six attributes built for AI assistants. Schuh UK already submits two of them on every product.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Google conversational attributes</a:t>
            </a:r>
          </a:p>
        </p:txBody>
      </p:sp>
      <p:sp>
        <p:nvSpPr>
          <p:cNvPr id="3" name="Text Placeholder 2"/>
          <p:cNvSpPr>
            <a:spLocks noGrp="1"/>
          </p:cNvSpPr>
          <p:nvPr>
            <p:ph type="body" idx="11"/>
          </p:nvPr>
        </p:nvSpPr>
        <p:spPr/>
        <p:txBody>
          <a:bodyPr wrap="square"/>
          <a:lstStyle/>
          <a:p>
            <a:r>
              <a:rPr sz="1390"/>
              <a:t>These six fields exist so an AI assistant can answer a shopper's question from the feed rather than guessing from a description.</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1510474"/>
                <a:gridCol w="769149"/>
                <a:gridCol w="769149"/>
                <a:gridCol w="769149"/>
                <a:gridCol w="7154877"/>
              </a:tblGrid>
              <a:tr h="384048">
                <a:tc>
                  <a:txBody>
                    <a:bodyPr/>
                    <a:lstStyle/>
                    <a:p>
                      <a:r>
                        <a:rPr sz="1300" b="1">
                          <a:solidFill>
                            <a:srgbClr val="FFFFFF"/>
                          </a:solidFill>
                        </a:rPr>
                        <a:t>Attribute</a:t>
                      </a:r>
                    </a:p>
                  </a:txBody>
                  <a:tcPr/>
                </a:tc>
                <a:tc>
                  <a:txBody>
                    <a:bodyPr/>
                    <a:lstStyle/>
                    <a:p>
                      <a:r>
                        <a:rPr sz="1300" b="1">
                          <a:solidFill>
                            <a:srgbClr val="FFFFFF"/>
                          </a:solidFill>
                        </a:rPr>
                        <a:t>UK</a:t>
                      </a:r>
                    </a:p>
                  </a:txBody>
                  <a:tcPr/>
                </a:tc>
                <a:tc>
                  <a:txBody>
                    <a:bodyPr/>
                    <a:lstStyle/>
                    <a:p>
                      <a:r>
                        <a:rPr sz="1300" b="1">
                          <a:solidFill>
                            <a:srgbClr val="FFFFFF"/>
                          </a:solidFill>
                        </a:rPr>
                        <a:t>Germany</a:t>
                      </a:r>
                    </a:p>
                  </a:txBody>
                  <a:tcPr/>
                </a:tc>
                <a:tc>
                  <a:txBody>
                    <a:bodyPr/>
                    <a:lstStyle/>
                    <a:p>
                      <a:r>
                        <a:rPr sz="1300" b="1">
                          <a:solidFill>
                            <a:srgbClr val="FFFFFF"/>
                          </a:solidFill>
                        </a:rPr>
                        <a:t>Ireland</a:t>
                      </a:r>
                    </a:p>
                  </a:txBody>
                  <a:tcPr/>
                </a:tc>
                <a:tc>
                  <a:txBody>
                    <a:bodyPr/>
                    <a:lstStyle/>
                    <a:p>
                      <a:r>
                        <a:rPr sz="1300" b="1">
                          <a:solidFill>
                            <a:srgbClr val="FFFFFF"/>
                          </a:solidFill>
                        </a:rPr>
                        <a:t>Status</a:t>
                      </a:r>
                    </a:p>
                  </a:txBody>
                  <a:tcPr/>
                </a:tc>
              </a:tr>
              <a:tr h="568452">
                <a:tc>
                  <a:txBody>
                    <a:bodyPr/>
                    <a:lstStyle/>
                    <a:p>
                      <a:r>
                        <a:rPr sz="1100"/>
                        <a:t>item_group_title</a:t>
                      </a:r>
                    </a:p>
                  </a:txBody>
                  <a:tcPr/>
                </a:tc>
                <a:tc>
                  <a:txBody>
                    <a:bodyPr/>
                    <a:lstStyle/>
                    <a:p>
                      <a:r>
                        <a:rPr sz="1100"/>
                        <a:t>100%</a:t>
                      </a:r>
                    </a:p>
                  </a:txBody>
                  <a:tcPr/>
                </a:tc>
                <a:tc>
                  <a:txBody>
                    <a:bodyPr/>
                    <a:lstStyle/>
                    <a:p>
                      <a:r>
                        <a:rPr sz="1100"/>
                        <a:t>—</a:t>
                      </a:r>
                    </a:p>
                  </a:txBody>
                  <a:tcPr/>
                </a:tc>
                <a:tc>
                  <a:txBody>
                    <a:bodyPr/>
                    <a:lstStyle/>
                    <a:p>
                      <a:r>
                        <a:rPr sz="1100"/>
                        <a:t>—</a:t>
                      </a:r>
                    </a:p>
                  </a:txBody>
                  <a:tcPr/>
                </a:tc>
                <a:tc>
                  <a:txBody>
                    <a:bodyPr/>
                    <a:lstStyle/>
                    <a:p>
                      <a:r>
                        <a:rPr sz="1100"/>
                        <a:t>Live on all 21,718 UK SKUs — the clean parent name for a variant family</a:t>
                      </a:r>
                    </a:p>
                  </a:txBody>
                  <a:tcPr/>
                </a:tc>
              </a:tr>
              <a:tr h="568452">
                <a:tc>
                  <a:txBody>
                    <a:bodyPr/>
                    <a:lstStyle/>
                    <a:p>
                      <a:r>
                        <a:rPr sz="1100"/>
                        <a:t>variant_option</a:t>
                      </a:r>
                    </a:p>
                  </a:txBody>
                  <a:tcPr/>
                </a:tc>
                <a:tc>
                  <a:txBody>
                    <a:bodyPr/>
                    <a:lstStyle/>
                    <a:p>
                      <a:r>
                        <a:rPr sz="1100"/>
                        <a:t>100%</a:t>
                      </a:r>
                    </a:p>
                  </a:txBody>
                  <a:tcPr/>
                </a:tc>
                <a:tc>
                  <a:txBody>
                    <a:bodyPr/>
                    <a:lstStyle/>
                    <a:p>
                      <a:r>
                        <a:rPr sz="1100"/>
                        <a:t>—</a:t>
                      </a:r>
                    </a:p>
                  </a:txBody>
                  <a:tcPr/>
                </a:tc>
                <a:tc>
                  <a:txBody>
                    <a:bodyPr/>
                    <a:lstStyle/>
                    <a:p>
                      <a:r>
                        <a:rPr sz="1100"/>
                        <a:t>—</a:t>
                      </a:r>
                    </a:p>
                  </a:txBody>
                  <a:tcPr/>
                </a:tc>
                <a:tc>
                  <a:txBody>
                    <a:bodyPr/>
                    <a:lstStyle/>
                    <a:p>
                      <a:r>
                        <a:rPr sz="1100"/>
                        <a:t>Two pairs per UK SKU — Colour and Size, structured name/value</a:t>
                      </a:r>
                    </a:p>
                  </a:txBody>
                  <a:tcPr/>
                </a:tc>
              </a:tr>
              <a:tr h="568452">
                <a:tc>
                  <a:txBody>
                    <a:bodyPr/>
                    <a:lstStyle/>
                    <a:p>
                      <a:r>
                        <a:rPr sz="1100"/>
                        <a:t>question_and_answer</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Highest value and highest governance risk — fit and sizing answers carry return-rate consequences</a:t>
                      </a:r>
                    </a:p>
                  </a:txBody>
                  <a:tcPr/>
                </a:tc>
              </a:tr>
              <a:tr h="568452">
                <a:tc>
                  <a:txBody>
                    <a:bodyPr/>
                    <a:lstStyle/>
                    <a:p>
                      <a:r>
                        <a:rPr sz="1100"/>
                        <a:t>popularity_rank</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Computable from Schuh's own performance data</a:t>
                      </a:r>
                    </a:p>
                  </a:txBody>
                  <a:tcPr/>
                </a:tc>
              </a:tr>
              <a:tr h="568452">
                <a:tc>
                  <a:txBody>
                    <a:bodyPr/>
                    <a:lstStyle/>
                    <a:p>
                      <a:r>
                        <a:rPr sz="1100"/>
                        <a:t>related_product</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The mechanism for footwear-and-care or outfit pairing</a:t>
                      </a:r>
                    </a:p>
                  </a:txBody>
                  <a:tcPr/>
                </a:tc>
              </a:tr>
              <a:tr h="568452">
                <a:tc>
                  <a:txBody>
                    <a:bodyPr/>
                    <a:lstStyle/>
                    <a:p>
                      <a:r>
                        <a:rPr sz="1100"/>
                        <a:t>document_link</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Size guides and care instructions where stable URLs exist</a:t>
                      </a:r>
                    </a:p>
                  </a:txBody>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Google conversational attributes (cont.)</a:t>
            </a:r>
          </a:p>
        </p:txBody>
      </p:sp>
      <p:sp>
        <p:nvSpPr>
          <p:cNvPr id="4" name="Text Placeholder 3"/>
          <p:cNvSpPr>
            <a:spLocks noGrp="1"/>
          </p:cNvSpPr>
          <p:nvPr>
            <p:ph type="body" idx="1"/>
          </p:nvPr>
        </p:nvSpPr>
        <p:spPr/>
        <p:txBody>
          <a:bodyPr wrap="square"/>
          <a:lstStyle/>
          <a:p>
            <a:r>
              <a:t>Two live is ahead of most retailers</a:t>
            </a:r>
          </a:p>
        </p:txBody>
      </p:sp>
      <p:sp>
        <p:nvSpPr>
          <p:cNvPr id="5" name="Text Placeholder 4"/>
          <p:cNvSpPr>
            <a:spLocks noGrp="1"/>
          </p:cNvSpPr>
          <p:nvPr>
            <p:ph type="body" idx="2"/>
          </p:nvPr>
        </p:nvSpPr>
        <p:spPr/>
        <p:txBody>
          <a:bodyPr wrap="square"/>
          <a:lstStyle/>
          <a:p>
            <a:r>
              <a:t>Both are structural attributes — they describe the catalogue rather than make a claim about a product, so neither needed copy sign-off. That is exactly why they landed first, and it is the same reason the next two should be popularity_rank and related_product.</a:t>
            </a:r>
          </a:p>
          <a:p>
            <a:r>
              <a:t>Extending both to Germany and Ireland is a configuration change on a build that is already proven in production.</a:t>
            </a:r>
          </a:p>
        </p:txBody>
      </p:sp>
      <p:sp>
        <p:nvSpPr>
          <p:cNvPr id="6" name="Text Placeholder 5"/>
          <p:cNvSpPr>
            <a:spLocks noGrp="1"/>
          </p:cNvSpPr>
          <p:nvPr>
            <p:ph type="body" idx="3"/>
          </p:nvPr>
        </p:nvSpPr>
        <p:spPr/>
        <p:txBody>
          <a:bodyPr wrap="square"/>
          <a:lstStyle/>
          <a:p>
            <a:r>
              <a:t>The governance flag — Q&amp;A copy</a:t>
            </a:r>
          </a:p>
        </p:txBody>
      </p:sp>
      <p:sp>
        <p:nvSpPr>
          <p:cNvPr id="7" name="Text Placeholder 6"/>
          <p:cNvSpPr>
            <a:spLocks noGrp="1"/>
          </p:cNvSpPr>
          <p:nvPr>
            <p:ph type="body" idx="4"/>
          </p:nvPr>
        </p:nvSpPr>
        <p:spPr/>
        <p:txBody>
          <a:bodyPr wrap="square"/>
          <a:lstStyle/>
          <a:p>
            <a:r>
              <a:t>question_and_answer is the highest-value attribute and the highest-risk one for a footwear retailer. “Do these run true to size?” is the single most-asked question in the category, and a wrong answer at feed scale drives returns.</a:t>
            </a:r>
          </a:p>
          <a:p>
            <a:r>
              <a:t>Proposal: draft from approved PDP copy only, nothing live without Schuh's sign-off. The roadmap keeps structural attributes and claims attributes on separate tracks for this reason.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ten</a:t>
            </a:r>
          </a:p>
        </p:txBody>
      </p:sp>
      <p:sp>
        <p:nvSpPr>
          <p:cNvPr id="3" name="Title 2"/>
          <p:cNvSpPr>
            <a:spLocks noGrp="1"/>
          </p:cNvSpPr>
          <p:nvPr>
            <p:ph type="title"/>
          </p:nvPr>
        </p:nvSpPr>
        <p:spPr/>
        <p:txBody>
          <a:bodyPr wrap="square"/>
          <a:lstStyle/>
          <a:p>
            <a:r>
              <a:t>Value delivered</a:t>
            </a:r>
          </a:p>
        </p:txBody>
      </p:sp>
      <p:sp>
        <p:nvSpPr>
          <p:cNvPr id="4" name="Text Placeholder 3"/>
          <p:cNvSpPr>
            <a:spLocks noGrp="1"/>
          </p:cNvSpPr>
          <p:nvPr>
            <p:ph type="body" idx="1"/>
          </p:nvPr>
        </p:nvSpPr>
        <p:spPr/>
        <p:txBody>
          <a:bodyPr wrap="square"/>
          <a:lstStyle/>
          <a:p>
            <a:r>
              <a:t>Six feeds, three markets, 43,492 live products — held by rules that keep applying to every new arrival.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Value delivered</a:t>
            </a:r>
          </a:p>
        </p:txBody>
      </p:sp>
      <p:sp>
        <p:nvSpPr>
          <p:cNvPr id="4" name="Text Placeholder 3"/>
          <p:cNvSpPr>
            <a:spLocks noGrp="1"/>
          </p:cNvSpPr>
          <p:nvPr>
            <p:ph type="body" idx="1"/>
          </p:nvPr>
        </p:nvSpPr>
        <p:spPr/>
        <p:txBody>
          <a:bodyPr wrap="square"/>
          <a:lstStyle/>
          <a:p>
            <a:r>
              <a:t>43,492</a:t>
            </a:r>
          </a:p>
        </p:txBody>
      </p:sp>
      <p:sp>
        <p:nvSpPr>
          <p:cNvPr id="5" name="Text Placeholder 4"/>
          <p:cNvSpPr>
            <a:spLocks noGrp="1"/>
          </p:cNvSpPr>
          <p:nvPr>
            <p:ph type="body" idx="2"/>
          </p:nvPr>
        </p:nvSpPr>
        <p:spPr/>
        <p:txBody>
          <a:bodyPr wrap="square"/>
          <a:lstStyle/>
          <a:p>
            <a:r>
              <a:t>Live SKUs held across three Google markets</a:t>
            </a:r>
          </a:p>
        </p:txBody>
      </p:sp>
      <p:sp>
        <p:nvSpPr>
          <p:cNvPr id="6" name="Text Placeholder 5"/>
          <p:cNvSpPr>
            <a:spLocks noGrp="1"/>
          </p:cNvSpPr>
          <p:nvPr>
            <p:ph type="body" idx="3"/>
          </p:nvPr>
        </p:nvSpPr>
        <p:spPr/>
        <p:txBody>
          <a:bodyPr wrap="square"/>
          <a:lstStyle/>
          <a:p>
            <a:r>
              <a:t>6</a:t>
            </a:r>
          </a:p>
        </p:txBody>
      </p:sp>
      <p:sp>
        <p:nvSpPr>
          <p:cNvPr id="7" name="Text Placeholder 6"/>
          <p:cNvSpPr>
            <a:spLocks noGrp="1"/>
          </p:cNvSpPr>
          <p:nvPr>
            <p:ph type="body" idx="4"/>
          </p:nvPr>
        </p:nvSpPr>
        <p:spPr/>
        <p:txBody>
          <a:bodyPr wrap="square"/>
          <a:lstStyle/>
          <a:p>
            <a:r>
              <a:t>Feeds maintained — 3 Shopping, 3 Meta</a:t>
            </a:r>
          </a:p>
        </p:txBody>
      </p:sp>
      <p:sp>
        <p:nvSpPr>
          <p:cNvPr id="8" name="Text Placeholder 7"/>
          <p:cNvSpPr>
            <a:spLocks noGrp="1"/>
          </p:cNvSpPr>
          <p:nvPr>
            <p:ph type="body" idx="5"/>
          </p:nvPr>
        </p:nvSpPr>
        <p:spPr/>
        <p:txBody>
          <a:bodyPr wrap="square"/>
          <a:lstStyle/>
          <a:p>
            <a:r>
              <a:t>101</a:t>
            </a:r>
          </a:p>
        </p:txBody>
      </p:sp>
      <p:sp>
        <p:nvSpPr>
          <p:cNvPr id="9" name="Text Placeholder 8"/>
          <p:cNvSpPr>
            <a:spLocks noGrp="1"/>
          </p:cNvSpPr>
          <p:nvPr>
            <p:ph type="body" idx="6"/>
          </p:nvPr>
        </p:nvSpPr>
        <p:spPr/>
        <p:txBody>
          <a:bodyPr wrap="square"/>
          <a:lstStyle/>
          <a:p>
            <a:r>
              <a:t>Brands in the UK catalogue alone</a:t>
            </a:r>
          </a:p>
        </p:txBody>
      </p:sp>
      <p:sp>
        <p:nvSpPr>
          <p:cNvPr id="10" name="Text Placeholder 9"/>
          <p:cNvSpPr>
            <a:spLocks noGrp="1"/>
          </p:cNvSpPr>
          <p:nvPr>
            <p:ph type="body" idx="7"/>
          </p:nvPr>
        </p:nvSpPr>
        <p:spPr/>
        <p:txBody>
          <a:bodyPr wrap="square"/>
          <a:lstStyle/>
          <a:p>
            <a:r>
              <a:t>≈2,353</a:t>
            </a:r>
          </a:p>
        </p:txBody>
      </p:sp>
      <p:sp>
        <p:nvSpPr>
          <p:cNvPr id="11" name="Text Placeholder 10"/>
          <p:cNvSpPr>
            <a:spLocks noGrp="1"/>
          </p:cNvSpPr>
          <p:nvPr>
            <p:ph type="body" idx="8"/>
          </p:nvPr>
        </p:nvSpPr>
        <p:spPr/>
        <p:txBody>
          <a:bodyPr wrap="square"/>
          <a:lstStyle/>
          <a:p>
            <a:r>
              <a:t>New products absorbed per month, all markets</a:t>
            </a:r>
          </a:p>
        </p:txBody>
      </p:sp>
      <p:sp>
        <p:nvSpPr>
          <p:cNvPr id="12" name="Text Placeholder 11"/>
          <p:cNvSpPr>
            <a:spLocks noGrp="1"/>
          </p:cNvSpPr>
          <p:nvPr>
            <p:ph type="body" idx="9"/>
          </p:nvPr>
        </p:nvSpPr>
        <p:spPr/>
        <p:txBody>
          <a:bodyPr wrap="square"/>
          <a:lstStyle/>
          <a:p>
            <a:r>
              <a:t>61</a:t>
            </a:r>
          </a:p>
        </p:txBody>
      </p:sp>
      <p:sp>
        <p:nvSpPr>
          <p:cNvPr id="13" name="Text Placeholder 12"/>
          <p:cNvSpPr>
            <a:spLocks noGrp="1"/>
          </p:cNvSpPr>
          <p:nvPr>
            <p:ph type="body" idx="10"/>
          </p:nvPr>
        </p:nvSpPr>
        <p:spPr/>
        <p:txBody>
          <a:bodyPr wrap="square"/>
          <a:lstStyle/>
          <a:p>
            <a:r>
              <a:t>Initiatives closed to 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Value delivered (cont.)</a:t>
            </a:r>
          </a:p>
        </p:txBody>
      </p:sp>
      <p:sp>
        <p:nvSpPr>
          <p:cNvPr id="4" name="Text Placeholder 3"/>
          <p:cNvSpPr>
            <a:spLocks noGrp="1"/>
          </p:cNvSpPr>
          <p:nvPr>
            <p:ph type="body" idx="1"/>
          </p:nvPr>
        </p:nvSpPr>
        <p:spPr/>
        <p:txBody>
          <a:bodyPr wrap="square"/>
          <a:lstStyle/>
          <a:p>
            <a:r>
              <a:t>The work that compounds</a:t>
            </a:r>
          </a:p>
        </p:txBody>
      </p:sp>
      <p:sp>
        <p:nvSpPr>
          <p:cNvPr id="5" name="Text Placeholder 4"/>
          <p:cNvSpPr>
            <a:spLocks noGrp="1"/>
          </p:cNvSpPr>
          <p:nvPr>
            <p:ph type="body" idx="2"/>
          </p:nvPr>
        </p:nvSpPr>
        <p:spPr/>
        <p:txBody>
          <a:bodyPr wrap="square"/>
          <a:lstStyle/>
          <a:p>
            <a:r>
              <a:t>Every mechanic built on this account is a rule, not a one-off edit. A product arriving in the feed tomorrow gets a rewritten title, four images, a margin band, a stock band and a variant structure without anyone touching it.</a:t>
            </a:r>
          </a:p>
          <a:p>
            <a:r>
              <a:t>That is what absorbs 2,353 new products a month across three markets without the retainer moving — and it is why the coverage figures in chapter 05 describe batch work, not the automated layer.</a:t>
            </a:r>
          </a:p>
        </p:txBody>
      </p:sp>
      <p:sp>
        <p:nvSpPr>
          <p:cNvPr id="6" name="Text Placeholder 5"/>
          <p:cNvSpPr>
            <a:spLocks noGrp="1"/>
          </p:cNvSpPr>
          <p:nvPr>
            <p:ph type="body" idx="3"/>
          </p:nvPr>
        </p:nvSpPr>
        <p:spPr/>
        <p:txBody>
          <a:bodyPr wrap="square"/>
          <a:lstStyle/>
          <a:p>
            <a:r>
              <a:t>The work that never appears as a win</a:t>
            </a:r>
          </a:p>
        </p:txBody>
      </p:sp>
      <p:sp>
        <p:nvSpPr>
          <p:cNvPr id="7" name="Text Placeholder 6"/>
          <p:cNvSpPr>
            <a:spLocks noGrp="1"/>
          </p:cNvSpPr>
          <p:nvPr>
            <p:ph type="body" idx="4"/>
          </p:nvPr>
        </p:nvSpPr>
        <p:spPr/>
        <p:txBody>
          <a:bodyPr wrap="square"/>
          <a:lstStyle/>
          <a:p>
            <a:r>
              <a:t>A meaningful share of any feed retainer goes on keeping things from breaking, and none of it produces an uplift number:</a:t>
            </a:r>
          </a:p>
          <a:p>
            <a:r>
              <a:t>Three markets, three languages of source data, one set of rules holding them to the same standard.</a:t>
            </a:r>
          </a:p>
          <a:p>
            <a:r>
              <a:t>GMC disapproval sweeps</a:t>
            </a:r>
          </a:p>
          <a:p>
            <a:r>
              <a:t>Six feeds kept in sync</a:t>
            </a:r>
          </a:p>
          <a:p>
            <a:r>
              <a:t>101 brands of naming variance</a:t>
            </a:r>
          </a:p>
          <a:p>
            <a:r>
              <a:t>Stock &amp; margin re-banding</a:t>
            </a:r>
          </a:p>
        </p:txBody>
      </p:sp>
      <p:sp>
        <p:nvSpPr>
          <p:cNvPr id="8" name="Text Placeholder 7"/>
          <p:cNvSpPr>
            <a:spLocks noGrp="1"/>
          </p:cNvSpPr>
          <p:nvPr>
            <p:ph type="body" idx="14"/>
          </p:nvPr>
        </p:nvSpPr>
        <p:spPr/>
        <p:txBody>
          <a:bodyPr wrap="square"/>
          <a:lstStyle/>
          <a:p>
            <a:r>
              <a:t>Nine of eleven workstreams are more than half complete.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eleven</a:t>
            </a:r>
          </a:p>
        </p:txBody>
      </p:sp>
      <p:sp>
        <p:nvSpPr>
          <p:cNvPr id="3" name="Title 2"/>
          <p:cNvSpPr>
            <a:spLocks noGrp="1"/>
          </p:cNvSpPr>
          <p:nvPr>
            <p:ph type="title"/>
          </p:nvPr>
        </p:nvSpPr>
        <p:spPr/>
        <p:txBody>
          <a:bodyPr wrap="square"/>
          <a:lstStyle/>
          <a:p>
            <a:r>
              <a:t>Spark AI engine (Tachyon)</a:t>
            </a:r>
          </a:p>
        </p:txBody>
      </p:sp>
      <p:sp>
        <p:nvSpPr>
          <p:cNvPr id="4" name="Text Placeholder 3"/>
          <p:cNvSpPr>
            <a:spLocks noGrp="1"/>
          </p:cNvSpPr>
          <p:nvPr>
            <p:ph type="body" idx="1"/>
          </p:nvPr>
        </p:nvSpPr>
        <p:spPr/>
        <p:txBody>
          <a:bodyPr wrap="square"/>
          <a:lstStyle/>
          <a:p>
            <a:r>
              <a:t>Intent generation, description enrichment and visual attribute harvest — run against a catalogue that is already 100% image-complete.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Spark AI engine (Tachyon)</a:t>
            </a:r>
          </a:p>
        </p:txBody>
      </p:sp>
      <p:sp>
        <p:nvSpPr>
          <p:cNvPr id="4" name="Text Placeholder 3"/>
          <p:cNvSpPr>
            <a:spLocks noGrp="1"/>
          </p:cNvSpPr>
          <p:nvPr>
            <p:ph type="body" idx="1"/>
          </p:nvPr>
        </p:nvSpPr>
        <p:spPr/>
        <p:txBody>
          <a:bodyPr wrap="square"/>
          <a:lstStyle/>
          <a:p>
            <a:r>
              <a:t>Feed extraction</a:t>
            </a:r>
          </a:p>
        </p:txBody>
      </p:sp>
      <p:sp>
        <p:nvSpPr>
          <p:cNvPr id="5" name="Text Placeholder 4"/>
          <p:cNvSpPr>
            <a:spLocks noGrp="1"/>
          </p:cNvSpPr>
          <p:nvPr>
            <p:ph type="body" idx="2"/>
          </p:nvPr>
        </p:nvSpPr>
        <p:spPr/>
        <p:txBody>
          <a:bodyPr wrap="square"/>
          <a:lstStyle/>
          <a:p>
            <a:r>
              <a:t>Tachyon reads live Schuh product data — title, description, colour, size, material, brand, price.</a:t>
            </a:r>
          </a:p>
        </p:txBody>
      </p:sp>
      <p:sp>
        <p:nvSpPr>
          <p:cNvPr id="6" name="Text Placeholder 5"/>
          <p:cNvSpPr>
            <a:spLocks noGrp="1"/>
          </p:cNvSpPr>
          <p:nvPr>
            <p:ph type="body" idx="3"/>
          </p:nvPr>
        </p:nvSpPr>
        <p:spPr/>
        <p:txBody>
          <a:bodyPr wrap="square"/>
          <a:lstStyle/>
          <a:p>
            <a:r>
              <a:t>Intent generation</a:t>
            </a:r>
          </a:p>
        </p:txBody>
      </p:sp>
      <p:sp>
        <p:nvSpPr>
          <p:cNvPr id="7" name="Text Placeholder 6"/>
          <p:cNvSpPr>
            <a:spLocks noGrp="1"/>
          </p:cNvSpPr>
          <p:nvPr>
            <p:ph type="body" idx="4"/>
          </p:nvPr>
        </p:nvSpPr>
        <p:spPr/>
        <p:txBody>
          <a:bodyPr wrap="square"/>
          <a:lstStyle/>
          <a:p>
            <a:r>
              <a:t>20–40 long-tail intent phrases per SKU, generated from the attributes already in the feed.</a:t>
            </a:r>
          </a:p>
        </p:txBody>
      </p:sp>
      <p:sp>
        <p:nvSpPr>
          <p:cNvPr id="8" name="Text Placeholder 7"/>
          <p:cNvSpPr>
            <a:spLocks noGrp="1"/>
          </p:cNvSpPr>
          <p:nvPr>
            <p:ph type="body" idx="5"/>
          </p:nvPr>
        </p:nvSpPr>
        <p:spPr/>
        <p:txBody>
          <a:bodyPr wrap="square"/>
          <a:lstStyle/>
          <a:p>
            <a:r>
              <a:t>Scoring &amp; validation</a:t>
            </a:r>
          </a:p>
        </p:txBody>
      </p:sp>
      <p:sp>
        <p:nvSpPr>
          <p:cNvPr id="9" name="Text Placeholder 8"/>
          <p:cNvSpPr>
            <a:spLocks noGrp="1"/>
          </p:cNvSpPr>
          <p:nvPr>
            <p:ph type="body" idx="6"/>
          </p:nvPr>
        </p:nvSpPr>
        <p:spPr/>
        <p:txBody>
          <a:bodyPr wrap="square"/>
          <a:lstStyle/>
          <a:p>
            <a:r>
              <a:t>Terms scored against search-term reports; winners selected per SKU.</a:t>
            </a:r>
          </a:p>
        </p:txBody>
      </p:sp>
      <p:sp>
        <p:nvSpPr>
          <p:cNvPr id="10" name="Text Placeholder 9"/>
          <p:cNvSpPr>
            <a:spLocks noGrp="1"/>
          </p:cNvSpPr>
          <p:nvPr>
            <p:ph type="body" idx="7"/>
          </p:nvPr>
        </p:nvSpPr>
        <p:spPr/>
        <p:txBody>
          <a:bodyPr wrap="square"/>
          <a:lstStyle/>
          <a:p>
            <a:r>
              <a:t>Feed injection</a:t>
            </a:r>
          </a:p>
        </p:txBody>
      </p:sp>
      <p:sp>
        <p:nvSpPr>
          <p:cNvPr id="11" name="Text Placeholder 10"/>
          <p:cNvSpPr>
            <a:spLocks noGrp="1"/>
          </p:cNvSpPr>
          <p:nvPr>
            <p:ph type="body" idx="8"/>
          </p:nvPr>
        </p:nvSpPr>
        <p:spPr/>
        <p:txBody>
          <a:bodyPr wrap="square"/>
          <a:lstStyle/>
          <a:p>
            <a:r>
              <a:t>Winning terms embedded in title, description and product highlights — the 90.1% of UK SKUs that carry none today.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Spark AI engine (Tachyon) (cont.)</a:t>
            </a:r>
          </a:p>
        </p:txBody>
      </p:sp>
      <p:sp>
        <p:nvSpPr>
          <p:cNvPr id="4" name="Text Placeholder 3"/>
          <p:cNvSpPr>
            <a:spLocks noGrp="1"/>
          </p:cNvSpPr>
          <p:nvPr>
            <p:ph type="body" idx="1"/>
          </p:nvPr>
        </p:nvSpPr>
        <p:spPr/>
        <p:txBody>
          <a:bodyPr wrap="square"/>
          <a:lstStyle/>
          <a:p>
            <a:r>
              <a:rPr sz="1639"/>
              <a:t>Schuh example — Lelli Kelly Sabrina Scarpa</a:t>
            </a:r>
          </a:p>
        </p:txBody>
      </p:sp>
      <p:sp>
        <p:nvSpPr>
          <p:cNvPr id="5" name="Text Placeholder 4"/>
          <p:cNvSpPr>
            <a:spLocks noGrp="1"/>
          </p:cNvSpPr>
          <p:nvPr>
            <p:ph type="body" idx="2"/>
          </p:nvPr>
        </p:nvSpPr>
        <p:spPr/>
        <p:txBody>
          <a:bodyPr wrap="square"/>
          <a:lstStyle/>
          <a:p>
            <a:r>
              <a:rPr sz="1310"/>
              <a:t>A real SKU from today's UK feed. Input: Black · Patent Leather · Heart Detail · Girls · £60 · School Shoes</a:t>
            </a:r>
          </a:p>
          <a:p>
            <a:r>
              <a:rPr sz="1310"/>
              <a:t>Title today (60 chars):</a:t>
            </a:r>
          </a:p>
          <a:p>
            <a:r>
              <a:rPr sz="1310"/>
              <a:t>“Lelli Kelly Girls Sabrina Scarpa School Shoes in Black, Heart Detail, Patent Leather, Size: 12”</a:t>
            </a:r>
          </a:p>
          <a:p>
            <a:r>
              <a:rPr sz="1310"/>
              <a:t>Intent terms Tachyon would generate:</a:t>
            </a:r>
          </a:p>
          <a:p>
            <a:r>
              <a:rPr sz="1310"/>
              <a:t>“patent leather school shoes girls size 12” · “black school shoes with heart detail” · “lelli kelly first day of school shoes” · “scuff resistant girls school shoes”</a:t>
            </a:r>
          </a:p>
          <a:p>
            <a:r>
              <a:rPr sz="1310"/>
              <a:t>20–40 generated per SKU, top 4–6 used. The occasion language — school, first day — is exactly the lever that returned the largest gains on comparable accounts in chapter 07.</a:t>
            </a:r>
          </a:p>
        </p:txBody>
      </p:sp>
      <p:sp>
        <p:nvSpPr>
          <p:cNvPr id="6" name="Text Placeholder 5"/>
          <p:cNvSpPr>
            <a:spLocks noGrp="1"/>
          </p:cNvSpPr>
          <p:nvPr>
            <p:ph type="body" idx="3"/>
          </p:nvPr>
        </p:nvSpPr>
        <p:spPr/>
        <p:txBody>
          <a:bodyPr wrap="square"/>
          <a:lstStyle/>
          <a:p>
            <a:r>
              <a:rPr sz="1760"/>
              <a:t>Why the visual harvest matters most here</a:t>
            </a:r>
          </a:p>
        </p:txBody>
      </p:sp>
      <p:sp>
        <p:nvSpPr>
          <p:cNvPr id="7" name="Text Placeholder 6"/>
          <p:cNvSpPr>
            <a:spLocks noGrp="1"/>
          </p:cNvSpPr>
          <p:nvPr>
            <p:ph type="body" idx="4"/>
          </p:nvPr>
        </p:nvSpPr>
        <p:spPr/>
        <p:txBody>
          <a:bodyPr wrap="square"/>
          <a:lstStyle/>
          <a:p>
            <a:r>
              <a:rPr sz="1500"/>
              <a:t>Tier 3 normally waits on imagery. Schuh is the rare account where it does not: four images on every one of 43,492 SKUs, with no exceptions in any market.</a:t>
            </a:r>
          </a:p>
          <a:p>
            <a:r>
              <a:rPr sz="1500"/>
              <a:t>Vision models read those images for the attributes the feed is thinnest on — material at 17.2% and pattern at 15.7% in the UK, and 7.3% / 4.4% in Ireland. Both are visible in a product photograph.</a:t>
            </a:r>
          </a:p>
          <a:p>
            <a:r>
              <a:rPr sz="1500"/>
              <a:t>The raw material for the most differentiated part of the stack is already sitting in the feed, complete, today.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Every structural win here — titles rewritten across three markets, identifiers and sizing at 100%, four images per product, margin banded on every UK SKU — is one pattern: fuller, more decomposable data, applied as a rule not a task. Tachyon and the attribute rollout are the next steps on that line.</a:t>
            </a:r>
          </a:p>
        </p:txBody>
      </p:sp>
      <p:sp>
        <p:nvSpPr>
          <p:cNvPr id="3" name="Text Placeholder 2"/>
          <p:cNvSpPr>
            <a:spLocks noGrp="1"/>
          </p:cNvSpPr>
          <p:nvPr>
            <p:ph type="body" idx="11"/>
          </p:nvPr>
        </p:nvSpPr>
        <p:spPr/>
        <p:txBody>
          <a:bodyPr wrap="square"/>
          <a:lstStyle/>
          <a:p>
            <a:r>
              <a:t>The through-line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Questions?</a:t>
            </a:r>
          </a:p>
        </p:txBody>
      </p:sp>
      <p:sp>
        <p:nvSpPr>
          <p:cNvPr id="3" name="Text Placeholder 2"/>
          <p:cNvSpPr>
            <a:spLocks noGrp="1"/>
          </p:cNvSpPr>
          <p:nvPr>
            <p:ph type="body" idx="1"/>
          </p:nvPr>
        </p:nvSpPr>
        <p:spPr/>
        <p:txBody>
          <a:bodyPr wrap="square"/>
          <a:lstStyle/>
          <a:p>
            <a:r>
              <a:t>Ray Vũ</a:t>
            </a:r>
          </a:p>
        </p:txBody>
      </p:sp>
      <p:sp>
        <p:nvSpPr>
          <p:cNvPr id="4" name="Text Placeholder 3"/>
          <p:cNvSpPr>
            <a:spLocks noGrp="1"/>
          </p:cNvSpPr>
          <p:nvPr>
            <p:ph type="body" idx="11"/>
          </p:nvPr>
        </p:nvSpPr>
        <p:spPr/>
        <p:txBody>
          <a:bodyPr wrap="square"/>
          <a:lstStyle/>
          <a:p>
            <a:r>
              <a:t>Senior Account Manager</a:t>
            </a:r>
          </a:p>
        </p:txBody>
      </p:sp>
      <p:sp>
        <p:nvSpPr>
          <p:cNvPr id="5" name="Text Placeholder 4"/>
          <p:cNvSpPr>
            <a:spLocks noGrp="1"/>
          </p:cNvSpPr>
          <p:nvPr>
            <p:ph type="body" idx="2"/>
          </p:nvPr>
        </p:nvSpPr>
        <p:spPr/>
        <p:txBody>
          <a:bodyPr wrap="square"/>
          <a:lstStyle/>
          <a:p>
            <a:r>
              <a:t>ray@feedspark.com</a:t>
            </a:r>
          </a:p>
        </p:txBody>
      </p:sp>
      <p:sp>
        <p:nvSpPr>
          <p:cNvPr id="6" name="Text Placeholder 5"/>
          <p:cNvSpPr>
            <a:spLocks noGrp="1"/>
          </p:cNvSpPr>
          <p:nvPr>
            <p:ph type="body" idx="3"/>
          </p:nvPr>
        </p:nvSpPr>
        <p:spPr/>
        <p:txBody>
          <a:bodyPr wrap="square"/>
          <a:lstStyle/>
          <a:p>
            <a:r>
              <a:t>Also on the account</a:t>
            </a:r>
          </a:p>
        </p:txBody>
      </p:sp>
      <p:sp>
        <p:nvSpPr>
          <p:cNvPr id="7" name="Text Placeholder 6"/>
          <p:cNvSpPr>
            <a:spLocks noGrp="1"/>
          </p:cNvSpPr>
          <p:nvPr>
            <p:ph type="body" idx="4"/>
          </p:nvPr>
        </p:nvSpPr>
        <p:spPr/>
        <p:txBody>
          <a:bodyPr wrap="square"/>
          <a:lstStyle/>
          <a:p>
            <a:r>
              <a:t>Steven Opuni — steven@feedspark.com</a:t>
            </a:r>
          </a:p>
          <a:p>
            <a:r>
              <a:t>Schuh team — schuh@feedspark.com</a:t>
            </a:r>
          </a:p>
        </p:txBody>
      </p:sp>
    </p:spTree>
  </p:cSld>
  <p:clrMapOvr>
    <a:masterClrMapping/>
  </p:clrMapOvr>
</p:sld>
</file>

<file path=ppt/theme/theme1.xml><?xml version="1.0" encoding="utf-8"?>
<a:theme xmlns:a="http://schemas.openxmlformats.org/drawingml/2006/main" name="Office Theme">
  <a:themeElements>
    <a:clrScheme name="FeedSpark Modern">
      <a:dk1>
        <a:srgbClr val="0F172A"/>
      </a:dk1>
      <a:lt1>
        <a:srgbClr val="FFFFFF"/>
      </a:lt1>
      <a:dk2>
        <a:srgbClr val="1E293B"/>
      </a:dk2>
      <a:lt2>
        <a:srgbClr val="F8FAFC"/>
      </a:lt2>
      <a:accent1>
        <a:srgbClr val="F7941E"/>
      </a:accent1>
      <a:accent2>
        <a:srgbClr val="0F172A"/>
      </a:accent2>
      <a:accent3>
        <a:srgbClr val="3B82F6"/>
      </a:accent3>
      <a:accent4>
        <a:srgbClr val="10B981"/>
      </a:accent4>
      <a:accent5>
        <a:srgbClr val="8B5CF6"/>
      </a:accent5>
      <a:accent6>
        <a:srgbClr val="EC4899"/>
      </a:accent6>
      <a:hlink>
        <a:srgbClr val="F7941E"/>
      </a:hlink>
      <a:folHlink>
        <a:srgbClr val="94A3B8"/>
      </a:folHlink>
    </a:clrScheme>
    <a:fontScheme name="FeedSpark Modern">
      <a:majorFont>
        <a:latin typeface="Inter" panose="02110004020202020204"/>
        <a:ea typeface=""/>
        <a:cs typeface=""/>
      </a:majorFont>
      <a:minorFont>
        <a:latin typeface="Inter"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4449</Words>
  <Application>Microsoft Office PowerPoint</Application>
  <PresentationFormat>Widescreen</PresentationFormat>
  <Paragraphs>523</Paragraphs>
  <Slides>50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Inter</vt:lpstr>
      <vt:lpstr>Office Theme</vt:lpstr>
      <vt:lpstr>Superdry × FeedSpark</vt:lpstr>
      <vt:lpstr>PowerPoint Presentation</vt:lpstr>
      <vt:lpstr>What we’ll cover</vt:lpstr>
      <vt:lpstr>Service scope &amp; scale</vt:lpstr>
      <vt:lpstr>The programme in five numbers</vt:lpstr>
      <vt:lpstr>Channels and coverage</vt:lpstr>
      <vt:lpstr>Where the hours went — by market</vt:lpstr>
      <vt:lpstr>The delivery stack</vt:lpstr>
      <vt:lpstr>Four layers, live on the account today</vt:lpstr>
      <vt:lpstr>Review &amp; project recap</vt:lpstr>
      <vt:lpstr>Where the plan stands</vt:lpstr>
      <vt:lpstr>Action by action — what’s closed</vt:lpstr>
      <vt:lpstr>Action by action — open and parked</vt:lpstr>
      <vt:lpstr>The look-back period</vt:lpstr>
      <vt:lpstr>Sustained delivery, Jul 2024 → Jul 2026</vt:lpstr>
      <vt:lpstr>By activity type</vt:lpstr>
      <vt:lpstr>The task families behind the hours</vt:lpstr>
      <vt:lpstr>The value delivered</vt:lpstr>
      <vt:lpstr>Two years delivered, a third given</vt:lpstr>
      <vt:lpstr>The invested-hours story</vt:lpstr>
      <vt:lpstr>The protection work, quantified</vt:lpstr>
      <vt:lpstr>Automation &amp; readiness</vt:lpstr>
      <vt:lpstr>What runs on rules</vt:lpstr>
      <vt:lpstr>What still needs a hand</vt:lpstr>
      <vt:lpstr>The A/B test archive</vt:lpstr>
      <vt:lpstr>36 tests, read straight</vt:lpstr>
      <vt:lpstr>The archive by test type</vt:lpstr>
      <vt:lpstr>Reading the average straight</vt:lpstr>
      <vt:lpstr>Keyword tests — the results that moved</vt:lpstr>
      <vt:lpstr>Brand in the title — it depends</vt:lpstr>
      <vt:lpstr>External benchmark — retail feeds</vt:lpstr>
      <vt:lpstr>Four launches that woke dormant stock</vt:lpstr>
      <vt:lpstr>Team &amp; ways of working</vt:lpstr>
      <vt:lpstr>One manager, one pod, one cadence</vt:lpstr>
      <vt:lpstr>How work moves</vt:lpstr>
      <vt:lpstr>Feed optimisation score</vt:lpstr>
      <vt:lpstr>Superdry feed optimisation — 70 / 100</vt:lpstr>
      <vt:lpstr>The GB feed, scored — 22,527 SKUs</vt:lpstr>
      <vt:lpstr>Where plan and feed agree — and don’t</vt:lpstr>
      <vt:lpstr>A second internal signal worth flagging</vt:lpstr>
      <vt:lpstr>AI readiness</vt:lpstr>
      <vt:lpstr>Where Superdry sits on the climb</vt:lpstr>
      <vt:lpstr>AI-readiness audit — Superdry GB</vt:lpstr>
      <vt:lpstr>PowerPoint Presentation</vt:lpstr>
      <vt:lpstr>Roadmap — next quarter</vt:lpstr>
      <vt:lpstr>What comes next</vt:lpstr>
      <vt:lpstr>The tests queued for the coming quarter</vt:lpstr>
      <vt:lpstr>The testing queue — medium and low</vt:lpstr>
      <vt:lpstr>PowerPoint Presentation</vt:lpstr>
      <vt:lpstr>Questions?</vt:lpstr>
    </vt:vector>
  </TitlesOfParts>
  <Company>FeedSpark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FeedSpark Template</dc:title>
  <dc:creator>FeedSpark</dc:creator>
  <cp:lastModifiedBy>Ray Vu</cp:lastModifiedBy>
  <cp:revision>1</cp:revision>
  <dcterms:modified xsi:type="dcterms:W3CDTF">2026-08-04T13:18:53Z</dcterms:modified>
</cp:coreProperties>
</file>