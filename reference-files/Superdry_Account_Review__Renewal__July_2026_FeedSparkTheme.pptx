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sldIdLst>
    <p:sldId id="256" r:id="rId1"/>
    <p:sldId id="257" r:id="rId8"/>
    <p:sldId id="258" r:id="rId9"/>
    <p:sldId id="259" r:id="rId10"/>
    <p:sldId id="260" r:id="rId11"/>
    <p:sldId id="280" r:id="rId3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16x9"/>
  <p:notesSz cx="6858000" cy="9144000"/>
  <p:defaultTextStyle>
    <a:defPPr>
      <a:defRPr lang="en-GB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2601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headline: GB alone put £460K of Shopping revenue through the feed in the last 30 days at 6.35 ROAS. We run 16 markets and 41 feeds. Today: what we've delivered, what the data says, what AI lets us do next, and the 2-year renewal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scope is still right: 16 markets, 41 feeds, 50 hours a month, plus UK image clipping and the LIA feed. Ask: any changes to markets or priorities given the Superdry &amp; Co strategy?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core team throughout — Ray and the crew Superdry already work well with (their words in our July session). 15 specialists have logged time on the account this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migration was the monster — a simple feed swap-out became 50+ rules and full re-testing, absorbed within the retainer. Bench is the proof point: launched cleanly and already one of the most efficient labels on the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312 tasks and nearly 300 hours logged this year to date. GB takes the lion's share (171 tasks), then DE (44), FR (37), IE (29). Roughly 60% of time goes to optimisation, 40% to issues and account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days to 7 July, GB only. The full-price vs sale split matters for their margin story: FULL label does 6.53 ROAS at a £61.70 AOV. We can push this further with margin-band custom labels — covered in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Shorts and jackets carry the volume; shirts and polos are the efficiency stars. Dresses at 4.64 ROAS is the obvious fix-first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live audit numbers from this morning (7 July). The point isn't that the feed is bad — it's that the remaining gaps can't be closed by hand at 62K SKUs. Perfect segue into the AI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their ask directly: which AI features exist today, which are in beta, what's on the roadmap. Key line: no integration work needed their side, and no change to how they send us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logic from our July session: 1 sort the base data, 2 enhance for spend efficiency, 3 future-proof for LLMs, 4 leverage the value-added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One-off enrichment cost per product, tuned per channel. Time freed by AI efficiency gets redeployed into under-served markets — not billed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 expectations: AI shopping is real but nascent. The pitch is the double payoff: enrichment pays for itself on Google/Meta now, and positions Superdry for AI surfaces as they scale. We also advise NOT integrating agent checkout (UCP/ACP) — protect margin, brand and customer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these was flagged in the 2024 review as under-used; the difference now is the data foundation and the AI tooling to deliver them without big time budgets. Margin-band steering is the one to lead with given the profitability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Anchor: no increase since the last review, and the account already sits on legacy discounts (50% off core rates, £425 day rate vs £625 card). The ask: 2-year term in exchange for holding base costs. Last review evidenced £5.35m incremental UK revenue at a 42x return on our costs. Be ready for the 'reduce total cost' question: the Oct 24 analysis showed feed-only markets cost ~£265-305 each and support live email revenue — cutting them saves little and breaks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ED6F0B">
                  <a:alpha val="15000"/>
                </a:srgbClr>
              </a:gs>
              <a:gs pos="100000">
                <a:srgbClr val="ED6F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828800"/>
            <a:ext cx="43560" cy="274104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ctrTitle"/>
          </p:nvPr>
        </p:nvSpPr>
        <p:spPr>
          <a:xfrm>
            <a:off x="914400" y="1828800"/>
            <a:ext cx="9599040" cy="136944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4000"/>
              </a:lnSpc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Subtitle"/>
          <p:cNvSpPr>
            <a:spLocks noGrp="1"/>
          </p:cNvSpPr>
          <p:nvPr>
            <p:ph type="subTitle" idx="1"/>
          </p:nvPr>
        </p:nvSpPr>
        <p:spPr>
          <a:xfrm>
            <a:off x="914400" y="3300000"/>
            <a:ext cx="959904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defRPr sz="20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Date / Prepared by"/>
          <p:cNvSpPr>
            <a:spLocks noGrp="1"/>
          </p:cNvSpPr>
          <p:nvPr>
            <p:ph type="body" idx="11"/>
          </p:nvPr>
        </p:nvSpPr>
        <p:spPr>
          <a:xfrm>
            <a:off x="914400" y="4150000"/>
            <a:ext cx="9599040" cy="3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defRPr sz="1400" b="1" i="0">
                <a:solidFill>
                  <a:srgbClr val="ED6F0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Marker">
    <p:bg>
      <p:bgPr>
        <a:solidFill>
          <a:srgbClr val="ED6F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gCircle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</a:ln>
        </p:spPr>
        <p:txBody>
          <a:bodyPr/>
          <a:p>
            <a:endParaRPr lang="en-GB"/>
          </a:p>
        </p:txBody>
      </p:sp>
      <p:sp>
        <p:nvSpPr>
          <p:cNvPr id="12" name="SmallCircle"/>
          <p:cNvSpPr/>
          <p:nvPr/>
        </p:nvSpPr>
        <p:spPr>
          <a:xfrm>
            <a:off x="10058400" y="914400"/>
            <a:ext cx="3200400" cy="32004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</a:ln>
        </p:spPr>
        <p:txBody>
          <a:bodyPr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77240" y="1828800"/>
            <a:ext cx="45720" cy="2286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Section Label"/>
          <p:cNvSpPr>
            <a:spLocks noGrp="1"/>
          </p:cNvSpPr>
          <p:nvPr>
            <p:ph type="body" idx="11"/>
          </p:nvPr>
        </p:nvSpPr>
        <p:spPr>
          <a:xfrm>
            <a:off x="960120" y="1874520"/>
            <a:ext cx="5486400" cy="3200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400" b="0" i="0" spc="40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ection Title"/>
          <p:cNvSpPr>
            <a:spLocks noGrp="1"/>
          </p:cNvSpPr>
          <p:nvPr>
            <p:ph type="title"/>
          </p:nvPr>
        </p:nvSpPr>
        <p:spPr>
          <a:xfrm>
            <a:off x="960120" y="2194560"/>
            <a:ext cx="10058400" cy="13716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04000"/>
              </a:lnSpc>
              <a:defRPr sz="48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ection Subtitle"/>
          <p:cNvSpPr>
            <a:spLocks noGrp="1"/>
          </p:cNvSpPr>
          <p:nvPr>
            <p:ph type="body" idx="1"/>
          </p:nvPr>
        </p:nvSpPr>
        <p:spPr>
          <a:xfrm>
            <a:off x="960120" y="3657600"/>
            <a:ext cx="9601200" cy="54864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600" b="0" i="0">
                <a:solidFill>
                  <a:srgbClr val="FFE4C4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FFFFFF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1097304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Left Content"/>
          <p:cNvSpPr>
            <a:spLocks noGrp="1"/>
          </p:cNvSpPr>
          <p:nvPr>
            <p:ph type="body" idx="1"/>
          </p:nvPr>
        </p:nvSpPr>
        <p:spPr>
          <a:xfrm>
            <a:off x="60948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Right Content"/>
          <p:cNvSpPr>
            <a:spLocks noGrp="1"/>
          </p:cNvSpPr>
          <p:nvPr>
            <p:ph type="body" idx="2"/>
          </p:nvPr>
        </p:nvSpPr>
        <p:spPr>
          <a:xfrm>
            <a:off x="6252000" y="1780000"/>
            <a:ext cx="5330520" cy="38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0000"/>
              </a:lnSpc>
              <a:defRPr sz="16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2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0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Left, Content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3" name="Image"/>
          <p:cNvSpPr>
            <a:spLocks noGrp="1"/>
          </p:cNvSpPr>
          <p:nvPr>
            <p:ph type="pic" idx="1"/>
          </p:nvPr>
        </p:nvSpPr>
        <p:spPr>
          <a:xfrm>
            <a:off x="60948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p>
            <a:endParaRPr lang="en-GB"/>
          </a:p>
        </p:txBody>
      </p:sp>
      <p:sp>
        <p:nvSpPr>
          <p:cNvPr id="14" name="Content"/>
          <p:cNvSpPr>
            <a:spLocks noGrp="1"/>
          </p:cNvSpPr>
          <p:nvPr>
            <p:ph type="body" idx="1"/>
          </p:nvPr>
        </p:nvSpPr>
        <p:spPr>
          <a:xfrm>
            <a:off x="642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Content Left, Image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Underline"/>
          <p:cNvSpPr/>
          <p:nvPr/>
        </p:nvSpPr>
        <p:spPr>
          <a:xfrm>
            <a:off x="609480" y="119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3" name="Content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5153040" cy="39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2000"/>
              </a:lnSpc>
              <a:defRPr sz="17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4" name="Image"/>
          <p:cNvSpPr>
            <a:spLocks noGrp="1"/>
          </p:cNvSpPr>
          <p:nvPr>
            <p:ph type="pic" idx="1"/>
          </p:nvPr>
        </p:nvSpPr>
        <p:spPr>
          <a:xfrm>
            <a:off x="6182520" y="1500000"/>
            <a:ext cx="5400000" cy="3960000"/>
          </a:xfrm>
          <a:prstGeom prst="roundRect">
            <a:avLst>
              <a:gd name="adj" fmla="val 45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/>
          <a:p>
            <a:endParaRPr lang="en-GB"/>
          </a:p>
        </p:txBody>
      </p:sp>
      <p:sp>
        <p:nvSpPr>
          <p:cNvPr id="15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7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9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9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0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4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26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6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7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364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364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364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364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20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28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6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6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6252000" y="176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6252000" y="1760000"/>
            <a:ext cx="73152" cy="176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6502000" y="191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6502000" y="244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60948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609480" y="3750000"/>
            <a:ext cx="73152" cy="176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5948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5948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252000" y="3750000"/>
            <a:ext cx="5330520" cy="176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252000" y="3750000"/>
            <a:ext cx="73152" cy="176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6502000" y="3900000"/>
            <a:ext cx="488052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6502000" y="4430000"/>
            <a:ext cx="4880520" cy="9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4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ive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249032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249032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274032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274032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625200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625200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650200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650200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8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x-Card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3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1760000"/>
            <a:ext cx="73152" cy="179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Card 1 Heading"/>
          <p:cNvSpPr>
            <a:spLocks noGrp="1"/>
          </p:cNvSpPr>
          <p:nvPr>
            <p:ph type="body" idx="1"/>
          </p:nvPr>
        </p:nvSpPr>
        <p:spPr>
          <a:xfrm>
            <a:off x="85948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Card 1 Body"/>
          <p:cNvSpPr>
            <a:spLocks noGrp="1"/>
          </p:cNvSpPr>
          <p:nvPr>
            <p:ph type="body" idx="2"/>
          </p:nvPr>
        </p:nvSpPr>
        <p:spPr>
          <a:xfrm>
            <a:off x="85948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ard"/>
          <p:cNvSpPr/>
          <p:nvPr/>
        </p:nvSpPr>
        <p:spPr>
          <a:xfrm>
            <a:off x="437116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BEA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9" name="CardAccent"/>
          <p:cNvSpPr/>
          <p:nvPr/>
        </p:nvSpPr>
        <p:spPr>
          <a:xfrm>
            <a:off x="4371160" y="1760000"/>
            <a:ext cx="73152" cy="1790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0" name="Card 2 Heading"/>
          <p:cNvSpPr>
            <a:spLocks noGrp="1"/>
          </p:cNvSpPr>
          <p:nvPr>
            <p:ph type="body" idx="3"/>
          </p:nvPr>
        </p:nvSpPr>
        <p:spPr>
          <a:xfrm>
            <a:off x="462116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Card 2 Body"/>
          <p:cNvSpPr>
            <a:spLocks noGrp="1"/>
          </p:cNvSpPr>
          <p:nvPr>
            <p:ph type="body" idx="4"/>
          </p:nvPr>
        </p:nvSpPr>
        <p:spPr>
          <a:xfrm>
            <a:off x="462116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2" name="Card"/>
          <p:cNvSpPr/>
          <p:nvPr/>
        </p:nvSpPr>
        <p:spPr>
          <a:xfrm>
            <a:off x="8132840" y="176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D1FAE5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3" name="CardAccent"/>
          <p:cNvSpPr/>
          <p:nvPr/>
        </p:nvSpPr>
        <p:spPr>
          <a:xfrm>
            <a:off x="8132840" y="1760000"/>
            <a:ext cx="73152" cy="179000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4" name="Card 3 Heading"/>
          <p:cNvSpPr>
            <a:spLocks noGrp="1"/>
          </p:cNvSpPr>
          <p:nvPr>
            <p:ph type="body" idx="5"/>
          </p:nvPr>
        </p:nvSpPr>
        <p:spPr>
          <a:xfrm>
            <a:off x="8382840" y="191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Card 3 Body"/>
          <p:cNvSpPr>
            <a:spLocks noGrp="1"/>
          </p:cNvSpPr>
          <p:nvPr>
            <p:ph type="body" idx="6"/>
          </p:nvPr>
        </p:nvSpPr>
        <p:spPr>
          <a:xfrm>
            <a:off x="8382840" y="244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EDE9FE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3780000"/>
            <a:ext cx="73152" cy="17900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8" name="Card 4 Heading"/>
          <p:cNvSpPr>
            <a:spLocks noGrp="1"/>
          </p:cNvSpPr>
          <p:nvPr>
            <p:ph type="body" idx="7"/>
          </p:nvPr>
        </p:nvSpPr>
        <p:spPr>
          <a:xfrm>
            <a:off x="85948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9" name="Card 4 Body"/>
          <p:cNvSpPr>
            <a:spLocks noGrp="1"/>
          </p:cNvSpPr>
          <p:nvPr>
            <p:ph type="body" idx="8"/>
          </p:nvPr>
        </p:nvSpPr>
        <p:spPr>
          <a:xfrm>
            <a:off x="85948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0" name="Card"/>
          <p:cNvSpPr/>
          <p:nvPr/>
        </p:nvSpPr>
        <p:spPr>
          <a:xfrm>
            <a:off x="437116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CE7F3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1" name="CardAccent"/>
          <p:cNvSpPr/>
          <p:nvPr/>
        </p:nvSpPr>
        <p:spPr>
          <a:xfrm>
            <a:off x="4371160" y="3780000"/>
            <a:ext cx="73152" cy="179000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2" name="Card 5 Heading"/>
          <p:cNvSpPr>
            <a:spLocks noGrp="1"/>
          </p:cNvSpPr>
          <p:nvPr>
            <p:ph type="body" idx="9"/>
          </p:nvPr>
        </p:nvSpPr>
        <p:spPr>
          <a:xfrm>
            <a:off x="462116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3" name="Card 5 Body"/>
          <p:cNvSpPr>
            <a:spLocks noGrp="1"/>
          </p:cNvSpPr>
          <p:nvPr>
            <p:ph type="body" idx="10"/>
          </p:nvPr>
        </p:nvSpPr>
        <p:spPr>
          <a:xfrm>
            <a:off x="462116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4" name="Card"/>
          <p:cNvSpPr/>
          <p:nvPr/>
        </p:nvSpPr>
        <p:spPr>
          <a:xfrm>
            <a:off x="8132840" y="3780000"/>
            <a:ext cx="3449680" cy="179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5" name="CardAccent"/>
          <p:cNvSpPr/>
          <p:nvPr/>
        </p:nvSpPr>
        <p:spPr>
          <a:xfrm>
            <a:off x="8132840" y="3780000"/>
            <a:ext cx="73152" cy="179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6" name="Card 6 Heading"/>
          <p:cNvSpPr>
            <a:spLocks noGrp="1"/>
          </p:cNvSpPr>
          <p:nvPr>
            <p:ph type="body" idx="11"/>
          </p:nvPr>
        </p:nvSpPr>
        <p:spPr>
          <a:xfrm>
            <a:off x="8382840" y="3930000"/>
            <a:ext cx="299968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37" name="Card 6 Body"/>
          <p:cNvSpPr>
            <a:spLocks noGrp="1"/>
          </p:cNvSpPr>
          <p:nvPr>
            <p:ph type="body" idx="12"/>
          </p:nvPr>
        </p:nvSpPr>
        <p:spPr>
          <a:xfrm>
            <a:off x="8382840" y="4460000"/>
            <a:ext cx="2999680" cy="95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1400" b="0" i="0">
                <a:solidFill>
                  <a:srgbClr val="334155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8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9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40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4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4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42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4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g Sta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1" name="Stat 1 Number"/>
          <p:cNvSpPr>
            <a:spLocks noGrp="1"/>
          </p:cNvSpPr>
          <p:nvPr>
            <p:ph type="body" idx="1"/>
          </p:nvPr>
        </p:nvSpPr>
        <p:spPr>
          <a:xfrm>
            <a:off x="6094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6000" b="1" i="0">
                <a:solidFill>
                  <a:srgbClr val="ED6F0B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tat 1 Label"/>
          <p:cNvSpPr>
            <a:spLocks noGrp="1"/>
          </p:cNvSpPr>
          <p:nvPr>
            <p:ph type="body" idx="2"/>
          </p:nvPr>
        </p:nvSpPr>
        <p:spPr>
          <a:xfrm>
            <a:off x="6094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Stat 2 Number"/>
          <p:cNvSpPr>
            <a:spLocks noGrp="1"/>
          </p:cNvSpPr>
          <p:nvPr>
            <p:ph type="body" idx="3"/>
          </p:nvPr>
        </p:nvSpPr>
        <p:spPr>
          <a:xfrm>
            <a:off x="43908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6000" b="1" i="0">
                <a:solidFill>
                  <a:srgbClr val="3B82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at 2 Label"/>
          <p:cNvSpPr>
            <a:spLocks noGrp="1"/>
          </p:cNvSpPr>
          <p:nvPr>
            <p:ph type="body" idx="4"/>
          </p:nvPr>
        </p:nvSpPr>
        <p:spPr>
          <a:xfrm>
            <a:off x="43908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at 3 Number"/>
          <p:cNvSpPr>
            <a:spLocks noGrp="1"/>
          </p:cNvSpPr>
          <p:nvPr>
            <p:ph type="body" idx="5"/>
          </p:nvPr>
        </p:nvSpPr>
        <p:spPr>
          <a:xfrm>
            <a:off x="8172280" y="2150000"/>
            <a:ext cx="3454400" cy="120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6000" b="1" i="0">
                <a:solidFill>
                  <a:srgbClr val="8B5CF6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6" name="Stat 3 Label"/>
          <p:cNvSpPr>
            <a:spLocks noGrp="1"/>
          </p:cNvSpPr>
          <p:nvPr>
            <p:ph type="body" idx="6"/>
          </p:nvPr>
        </p:nvSpPr>
        <p:spPr>
          <a:xfrm>
            <a:off x="8172280" y="3500000"/>
            <a:ext cx="34544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lnSpc>
                <a:spcPct val="116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1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2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3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24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24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25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5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1" name="Step 1 Circle"/>
          <p:cNvSpPr/>
          <p:nvPr/>
        </p:nvSpPr>
        <p:spPr>
          <a:xfrm>
            <a:off x="1956680" y="1840000"/>
            <a:ext cx="760000" cy="760000"/>
          </a:xfrm>
          <a:prstGeom prst="ellipse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2" name="Step 1 Number"/>
          <p:cNvSpPr>
            <a:spLocks noGrp="1"/>
          </p:cNvSpPr>
          <p:nvPr>
            <p:ph type="body" idx="1"/>
          </p:nvPr>
        </p:nvSpPr>
        <p:spPr>
          <a:xfrm>
            <a:off x="19566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3" name="Step 1 Heading"/>
          <p:cNvSpPr>
            <a:spLocks noGrp="1"/>
          </p:cNvSpPr>
          <p:nvPr>
            <p:ph type="body" idx="2"/>
          </p:nvPr>
        </p:nvSpPr>
        <p:spPr>
          <a:xfrm>
            <a:off x="6094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defRPr sz="18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Step 1 Detail"/>
          <p:cNvSpPr>
            <a:spLocks noGrp="1"/>
          </p:cNvSpPr>
          <p:nvPr>
            <p:ph type="body" idx="3"/>
          </p:nvPr>
        </p:nvSpPr>
        <p:spPr>
          <a:xfrm>
            <a:off x="6094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5" name="Step 2 Circle"/>
          <p:cNvSpPr/>
          <p:nvPr/>
        </p:nvSpPr>
        <p:spPr>
          <a:xfrm>
            <a:off x="5738080" y="1840000"/>
            <a:ext cx="760000" cy="760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Step 2 Number"/>
          <p:cNvSpPr>
            <a:spLocks noGrp="1"/>
          </p:cNvSpPr>
          <p:nvPr>
            <p:ph type="body" idx="4"/>
          </p:nvPr>
        </p:nvSpPr>
        <p:spPr>
          <a:xfrm>
            <a:off x="57380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Step 2 Heading"/>
          <p:cNvSpPr>
            <a:spLocks noGrp="1"/>
          </p:cNvSpPr>
          <p:nvPr>
            <p:ph type="body" idx="5"/>
          </p:nvPr>
        </p:nvSpPr>
        <p:spPr>
          <a:xfrm>
            <a:off x="43908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defRPr sz="18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8" name="Step 2 Detail"/>
          <p:cNvSpPr>
            <a:spLocks noGrp="1"/>
          </p:cNvSpPr>
          <p:nvPr>
            <p:ph type="body" idx="6"/>
          </p:nvPr>
        </p:nvSpPr>
        <p:spPr>
          <a:xfrm>
            <a:off x="43908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tep 3 Circle"/>
          <p:cNvSpPr/>
          <p:nvPr/>
        </p:nvSpPr>
        <p:spPr>
          <a:xfrm>
            <a:off x="9519480" y="1840000"/>
            <a:ext cx="760000" cy="760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0" name="Step 3 Number"/>
          <p:cNvSpPr>
            <a:spLocks noGrp="1"/>
          </p:cNvSpPr>
          <p:nvPr>
            <p:ph type="body" idx="7"/>
          </p:nvPr>
        </p:nvSpPr>
        <p:spPr>
          <a:xfrm>
            <a:off x="9519480" y="1840000"/>
            <a:ext cx="7600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32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1" name="Step 3 Heading"/>
          <p:cNvSpPr>
            <a:spLocks noGrp="1"/>
          </p:cNvSpPr>
          <p:nvPr>
            <p:ph type="body" idx="8"/>
          </p:nvPr>
        </p:nvSpPr>
        <p:spPr>
          <a:xfrm>
            <a:off x="8172280" y="2720000"/>
            <a:ext cx="3454400" cy="52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defRPr sz="18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2" name="Step 3 Detail"/>
          <p:cNvSpPr>
            <a:spLocks noGrp="1"/>
          </p:cNvSpPr>
          <p:nvPr>
            <p:ph type="body" idx="9"/>
          </p:nvPr>
        </p:nvSpPr>
        <p:spPr>
          <a:xfrm>
            <a:off x="8172280" y="3260000"/>
            <a:ext cx="34544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 marL="0" indent="0">
              <a:lnSpc>
                <a:spcPct val="122000"/>
              </a:lnSpc>
              <a:defRPr sz="15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7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8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0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0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ricing / Tier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7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8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1" name="Tier 1 Card"/>
          <p:cNvSpPr/>
          <p:nvPr/>
        </p:nvSpPr>
        <p:spPr>
          <a:xfrm>
            <a:off x="6094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txBody>
          <a:bodyPr/>
          <a:p>
            <a:endParaRPr lang="en-GB"/>
          </a:p>
        </p:txBody>
      </p:sp>
      <p:sp>
        <p:nvSpPr>
          <p:cNvPr id="12" name="Tier 1 Band"/>
          <p:cNvSpPr/>
          <p:nvPr/>
        </p:nvSpPr>
        <p:spPr>
          <a:xfrm>
            <a:off x="6094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64748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3" name="Tier 1 Name"/>
          <p:cNvSpPr>
            <a:spLocks noGrp="1"/>
          </p:cNvSpPr>
          <p:nvPr>
            <p:ph type="body" idx="1"/>
          </p:nvPr>
        </p:nvSpPr>
        <p:spPr>
          <a:xfrm>
            <a:off x="6094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4" name="Tier 1 Price"/>
          <p:cNvSpPr>
            <a:spLocks noGrp="1"/>
          </p:cNvSpPr>
          <p:nvPr>
            <p:ph type="body" idx="2"/>
          </p:nvPr>
        </p:nvSpPr>
        <p:spPr>
          <a:xfrm>
            <a:off x="7594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Tier 1 Features"/>
          <p:cNvSpPr>
            <a:spLocks noGrp="1"/>
          </p:cNvSpPr>
          <p:nvPr>
            <p:ph type="body" idx="3"/>
          </p:nvPr>
        </p:nvSpPr>
        <p:spPr>
          <a:xfrm>
            <a:off x="8694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Tier 2 Card"/>
          <p:cNvSpPr/>
          <p:nvPr/>
        </p:nvSpPr>
        <p:spPr>
          <a:xfrm>
            <a:off x="43908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D6F0B"/>
            </a:solidFill>
          </a:ln>
        </p:spPr>
        <p:txBody>
          <a:bodyPr/>
          <a:p>
            <a:endParaRPr lang="en-GB"/>
          </a:p>
        </p:txBody>
      </p:sp>
      <p:sp>
        <p:nvSpPr>
          <p:cNvPr id="17" name="Tier 2 Band"/>
          <p:cNvSpPr/>
          <p:nvPr/>
        </p:nvSpPr>
        <p:spPr>
          <a:xfrm>
            <a:off x="43908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8" name="Tier 2 Name"/>
          <p:cNvSpPr>
            <a:spLocks noGrp="1"/>
          </p:cNvSpPr>
          <p:nvPr>
            <p:ph type="body" idx="4"/>
          </p:nvPr>
        </p:nvSpPr>
        <p:spPr>
          <a:xfrm>
            <a:off x="43908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9" name="Tier 2 Price"/>
          <p:cNvSpPr>
            <a:spLocks noGrp="1"/>
          </p:cNvSpPr>
          <p:nvPr>
            <p:ph type="body" idx="5"/>
          </p:nvPr>
        </p:nvSpPr>
        <p:spPr>
          <a:xfrm>
            <a:off x="45408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0" name="Tier 2 Features"/>
          <p:cNvSpPr>
            <a:spLocks noGrp="1"/>
          </p:cNvSpPr>
          <p:nvPr>
            <p:ph type="body" idx="6"/>
          </p:nvPr>
        </p:nvSpPr>
        <p:spPr>
          <a:xfrm>
            <a:off x="46508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Tier 3 Card"/>
          <p:cNvSpPr/>
          <p:nvPr/>
        </p:nvSpPr>
        <p:spPr>
          <a:xfrm>
            <a:off x="8172280" y="1700000"/>
            <a:ext cx="3454400" cy="3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/>
          <a:p>
            <a:endParaRPr lang="en-GB"/>
          </a:p>
        </p:txBody>
      </p:sp>
      <p:sp>
        <p:nvSpPr>
          <p:cNvPr id="22" name="Tier 3 Band"/>
          <p:cNvSpPr/>
          <p:nvPr/>
        </p:nvSpPr>
        <p:spPr>
          <a:xfrm>
            <a:off x="8172280" y="1700000"/>
            <a:ext cx="3454400" cy="680000"/>
          </a:xfrm>
          <a:prstGeom prst="roundRect">
            <a:avLst>
              <a:gd name="adj" fmla="val 4000"/>
            </a:avLst>
          </a:prstGeom>
          <a:solidFill>
            <a:srgbClr val="3B82F6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23" name="Tier 3 Name"/>
          <p:cNvSpPr>
            <a:spLocks noGrp="1"/>
          </p:cNvSpPr>
          <p:nvPr>
            <p:ph type="body" idx="7"/>
          </p:nvPr>
        </p:nvSpPr>
        <p:spPr>
          <a:xfrm>
            <a:off x="8172280" y="1750000"/>
            <a:ext cx="3454400" cy="5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19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4" name="Tier 3 Price"/>
          <p:cNvSpPr>
            <a:spLocks noGrp="1"/>
          </p:cNvSpPr>
          <p:nvPr>
            <p:ph type="body" idx="8"/>
          </p:nvPr>
        </p:nvSpPr>
        <p:spPr>
          <a:xfrm>
            <a:off x="8322280" y="2500000"/>
            <a:ext cx="3154400" cy="76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ctr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25" name="Tier 3 Features"/>
          <p:cNvSpPr>
            <a:spLocks noGrp="1"/>
          </p:cNvSpPr>
          <p:nvPr>
            <p:ph type="body" idx="9"/>
          </p:nvPr>
        </p:nvSpPr>
        <p:spPr>
          <a:xfrm>
            <a:off x="8432280" y="3380000"/>
            <a:ext cx="2934400" cy="21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26000"/>
              </a:lnSpc>
              <a:defRPr sz="1400" b="0" i="0">
                <a:solidFill>
                  <a:srgbClr val="475569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9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0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31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32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33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33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34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7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3600" b="1" i="0">
                <a:solidFill>
                  <a:srgbClr val="1A365D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480" y="1130000"/>
            <a:ext cx="10973040" cy="43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700" b="0" i="0">
                <a:solidFill>
                  <a:srgbClr val="64748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3" name="Underline"/>
          <p:cNvSpPr/>
          <p:nvPr/>
        </p:nvSpPr>
        <p:spPr>
          <a:xfrm>
            <a:off x="609480" y="1610000"/>
            <a:ext cx="1691640" cy="36576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Card"/>
          <p:cNvSpPr/>
          <p:nvPr/>
        </p:nvSpPr>
        <p:spPr>
          <a:xfrm>
            <a:off x="609480" y="5800000"/>
            <a:ext cx="10973040" cy="380000"/>
          </a:xfrm>
          <a:prstGeom prst="roundRect">
            <a:avLst>
              <a:gd name="adj" fmla="val 5500"/>
            </a:avLst>
          </a:prstGeom>
          <a:solidFill>
            <a:srgbClr val="FDEAD7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5" name="CardAccent"/>
          <p:cNvSpPr/>
          <p:nvPr/>
        </p:nvSpPr>
        <p:spPr>
          <a:xfrm>
            <a:off x="609480" y="5800000"/>
            <a:ext cx="73152" cy="38000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Key Message"/>
          <p:cNvSpPr>
            <a:spLocks noGrp="1"/>
          </p:cNvSpPr>
          <p:nvPr>
            <p:ph type="body" idx="14"/>
          </p:nvPr>
        </p:nvSpPr>
        <p:spPr>
          <a:xfrm>
            <a:off x="909480" y="5828000"/>
            <a:ext cx="10413040" cy="324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marL="0" indent="0">
              <a:lnSpc>
                <a:spcPct val="108000"/>
              </a:lnSpc>
              <a:defRPr sz="1300" b="0" i="0">
                <a:solidFill>
                  <a:srgbClr val="1A365D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7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8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8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9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 / Statement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ED6F0B">
                  <a:alpha val="15000"/>
                </a:srgbClr>
              </a:gs>
              <a:gs pos="100000">
                <a:srgbClr val="ED6F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3" name="QuoteMark"/>
          <p:cNvSpPr/>
          <p:nvPr/>
        </p:nvSpPr>
        <p:spPr>
          <a:xfrm>
            <a:off x="609480" y="1120000"/>
            <a:ext cx="1900000" cy="14000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p>
            <a:r>
              <a:rPr lang="en-GB" sz="9600" b="1">
                <a:solidFill>
                  <a:srgbClr val="ED6F0B"/>
                </a:solidFill>
                <a:latin typeface="+mj-lt"/>
              </a:rPr>
              <a:t>“</a:t>
            </a:r>
          </a:p>
        </p:txBody>
      </p:sp>
      <p:sp>
        <p:nvSpPr>
          <p:cNvPr id="14" name="Quote"/>
          <p:cNvSpPr>
            <a:spLocks noGrp="1"/>
          </p:cNvSpPr>
          <p:nvPr>
            <p:ph type="body" idx="1"/>
          </p:nvPr>
        </p:nvSpPr>
        <p:spPr>
          <a:xfrm>
            <a:off x="609480" y="2520000"/>
            <a:ext cx="10973040" cy="22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16000"/>
              </a:lnSpc>
              <a:defRPr sz="3200" b="0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Attribution"/>
          <p:cNvSpPr>
            <a:spLocks noGrp="1"/>
          </p:cNvSpPr>
          <p:nvPr>
            <p:ph type="body" idx="11"/>
          </p:nvPr>
        </p:nvSpPr>
        <p:spPr>
          <a:xfrm>
            <a:off x="609480" y="4900000"/>
            <a:ext cx="1097304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600" b="0" i="0">
                <a:solidFill>
                  <a:srgbClr val="94A3B8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6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17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7}" type="slidenum">
              <a:rPr lang="en-GB" sz="1100">
                <a:solidFill>
                  <a:srgbClr val="94A3B8"/>
                </a:solidFill>
              </a:rPr>
              <a:t>1</a:t>
            </a:fld>
            <a:endParaRPr lang="en-GB" sz="1100">
              <a:solidFill>
                <a:srgbClr val="94A3B8"/>
              </a:solidFill>
            </a:endParaRPr>
          </a:p>
        </p:txBody>
      </p:sp>
      <p:sp>
        <p:nvSpPr>
          <p:cNvPr id="18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opLine"/>
          <p:cNvSpPr/>
          <p:nvPr/>
        </p:nvSpPr>
        <p:spPr>
          <a:xfrm>
            <a:off x="0" y="0"/>
            <a:ext cx="12192000" cy="3456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40000">
                <a:srgbClr val="3B82F6"/>
              </a:gs>
              <a:gs pos="70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2" name="GlowCircle"/>
          <p:cNvSpPr/>
          <p:nvPr/>
        </p:nvSpPr>
        <p:spPr>
          <a:xfrm>
            <a:off x="8229600" y="-914400"/>
            <a:ext cx="4569840" cy="4569840"/>
          </a:xfrm>
          <a:prstGeom prst="ellipse">
            <a:avLst/>
          </a:prstGeom>
          <a:gradFill rotWithShape="0">
            <a:gsLst>
              <a:gs pos="0">
                <a:srgbClr val="ED6F0B">
                  <a:alpha val="15000"/>
                </a:srgbClr>
              </a:gs>
              <a:gs pos="100000">
                <a:srgbClr val="ED6F0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3" name="LeftAccent"/>
          <p:cNvSpPr/>
          <p:nvPr/>
        </p:nvSpPr>
        <p:spPr>
          <a:xfrm>
            <a:off x="731520" y="1371600"/>
            <a:ext cx="45720" cy="310896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914400" y="1371600"/>
            <a:ext cx="9599040" cy="109728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54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5" name="Divider"/>
          <p:cNvSpPr/>
          <p:nvPr/>
        </p:nvSpPr>
        <p:spPr>
          <a:xfrm>
            <a:off x="914400" y="2480000"/>
            <a:ext cx="3200400" cy="22860"/>
          </a:xfrm>
          <a:prstGeom prst="rect">
            <a:avLst/>
          </a:prstGeom>
          <a:solidFill>
            <a:srgbClr val="ED6F0B"/>
          </a:solidFill>
          <a:ln w="0">
            <a:noFill/>
          </a:ln>
        </p:spPr>
        <p:txBody>
          <a:bodyPr/>
          <a:p>
            <a:endParaRPr lang="en-GB"/>
          </a:p>
        </p:txBody>
      </p:sp>
      <p:sp>
        <p:nvSpPr>
          <p:cNvPr id="16" name="Name"/>
          <p:cNvSpPr>
            <a:spLocks noGrp="1"/>
          </p:cNvSpPr>
          <p:nvPr>
            <p:ph type="body" idx="1"/>
          </p:nvPr>
        </p:nvSpPr>
        <p:spPr>
          <a:xfrm>
            <a:off x="914400" y="2620000"/>
            <a:ext cx="5400000" cy="4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2000" b="1" i="0">
                <a:solidFill>
                  <a:srgbClr val="FFFFFF"/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17" name="Role / Title"/>
          <p:cNvSpPr>
            <a:spLocks noGrp="1"/>
          </p:cNvSpPr>
          <p:nvPr>
            <p:ph type="body" idx="11"/>
          </p:nvPr>
        </p:nvSpPr>
        <p:spPr>
          <a:xfrm>
            <a:off x="914400" y="3090000"/>
            <a:ext cx="54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600" b="1" i="0">
                <a:solidFill>
                  <a:srgbClr val="ED6F0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8" name="Contact details"/>
          <p:cNvSpPr>
            <a:spLocks noGrp="1"/>
          </p:cNvSpPr>
          <p:nvPr>
            <p:ph type="body" idx="2"/>
          </p:nvPr>
        </p:nvSpPr>
        <p:spPr>
          <a:xfrm>
            <a:off x="914400" y="3620000"/>
            <a:ext cx="5400000" cy="150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32000"/>
              </a:lnSpc>
              <a:defRPr sz="15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19" name="Second-Column Heading"/>
          <p:cNvSpPr>
            <a:spLocks noGrp="1"/>
          </p:cNvSpPr>
          <p:nvPr>
            <p:ph type="body" idx="3"/>
          </p:nvPr>
        </p:nvSpPr>
        <p:spPr>
          <a:xfrm>
            <a:off x="6858000" y="3090000"/>
            <a:ext cx="4700000" cy="38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defRPr sz="1400" b="1" i="0" spc="200">
                <a:solidFill>
                  <a:srgbClr val="ED6F0B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0" name="Second-Column Content"/>
          <p:cNvSpPr>
            <a:spLocks noGrp="1"/>
          </p:cNvSpPr>
          <p:nvPr>
            <p:ph type="body" idx="4"/>
          </p:nvPr>
        </p:nvSpPr>
        <p:spPr>
          <a:xfrm>
            <a:off x="6858000" y="3560000"/>
            <a:ext cx="4700000" cy="156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lnSpc>
                <a:spcPct val="130000"/>
              </a:lnSpc>
              <a:defRPr sz="1400" b="0" i="0">
                <a:solidFill>
                  <a:srgbClr val="E2E8F0"/>
                </a:solidFill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2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FFFFFF"/>
                </a:solidFill>
              </a:rPr>
              <a:t>Spark</a:t>
            </a:r>
          </a:p>
        </p:txBody>
      </p:sp>
      <p:sp>
        <p:nvSpPr>
          <p:cNvPr id="22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12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012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13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480" y="350000"/>
            <a:ext cx="10973040" cy="82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/>
              <a:t>Click to edit 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609480" y="1500000"/>
            <a:ext cx="10973040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Master text styles</a:t>
            </a:r>
          </a:p>
        </p:txBody>
      </p:sp>
      <p:sp>
        <p:nvSpPr>
          <p:cNvPr id="904" name="FooterWordmark"/>
          <p:cNvSpPr/>
          <p:nvPr/>
        </p:nvSpPr>
        <p:spPr>
          <a:xfrm>
            <a:off x="609480" y="6350000"/>
            <a:ext cx="2600000" cy="330000"/>
          </a:xfrm>
          <a:prstGeom prst="rect">
            <a:avLst/>
          </a:prstGeom>
          <a:noFill/>
        </p:spPr>
        <p:txBody>
          <a:bodyPr lIns="0" tIns="0" rIns="0" bIns="0" anchor="ctr">
            <a:noAutofit/>
          </a:bodyPr>
          <a:p>
            <a:pPr algn="l"/>
            <a:r>
              <a:rPr lang="en-GB" sz="1200" b="1">
                <a:solidFill>
                  <a:srgbClr val="ED6F0B"/>
                </a:solidFill>
              </a:rPr>
              <a:t>Feed</a:t>
            </a:r>
            <a:r>
              <a:rPr lang="en-GB" sz="1200" b="1">
                <a:solidFill>
                  <a:srgbClr val="1A365D"/>
                </a:solidFill>
              </a:rPr>
              <a:t>Spark</a:t>
            </a:r>
          </a:p>
        </p:txBody>
      </p:sp>
      <p:sp>
        <p:nvSpPr>
          <p:cNvPr id="905" name="SlideNumber"/>
          <p:cNvSpPr>
            <a:spLocks noGrp="1"/>
          </p:cNvSpPr>
          <p:nvPr>
            <p:ph type="sldNum" sz="quarter" idx="20"/>
          </p:nvPr>
        </p:nvSpPr>
        <p:spPr>
          <a:xfrm>
            <a:off x="11100000" y="6350000"/>
            <a:ext cx="680000" cy="3300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r"/>
            <a:fld id="{B7C0E5A0-0001-4F2A-9C00-000000000905}" type="slidenum">
              <a:rPr lang="en-GB" sz="1100">
                <a:solidFill>
                  <a:srgbClr val="64748B"/>
                </a:solidFill>
              </a:rPr>
              <a:t>1</a:t>
            </a:fld>
            <a:endParaRPr lang="en-GB" sz="1100">
              <a:solidFill>
                <a:srgbClr val="64748B"/>
              </a:solidFill>
            </a:endParaRPr>
          </a:p>
        </p:txBody>
      </p:sp>
      <p:sp>
        <p:nvSpPr>
          <p:cNvPr id="901" name="GradientBar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rotWithShape="0">
            <a:gsLst>
              <a:gs pos="0">
                <a:srgbClr val="ED6F0B"/>
              </a:gs>
              <a:gs pos="28000">
                <a:srgbClr val="3B82F6"/>
              </a:gs>
              <a:gs pos="55000">
                <a:srgbClr val="3B82F6"/>
              </a:gs>
              <a:gs pos="78000">
                <a:srgbClr val="8B5CF6"/>
              </a:gs>
              <a:gs pos="100000">
                <a:srgbClr val="EC4899"/>
              </a:gs>
            </a:gsLst>
            <a:lin ang="0"/>
          </a:gradFill>
          <a:ln w="0">
            <a:noFill/>
          </a:ln>
        </p:spPr>
        <p:txBody>
          <a:bodyPr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>
        <a:lnSpc>
          <a:spcPct val="100000"/>
        </a:lnSpc>
        <a:defRPr sz="3600" b="1">
          <a:solidFill>
            <a:srgbClr val="1A365D"/>
          </a:solidFill>
          <a:latin typeface="+mj-lt"/>
        </a:defRPr>
      </a:lvl1pPr>
    </p:titleStyle>
    <p:bodyStyle>
      <a:lvl1pPr marL="0" indent="0">
        <a:lnSpc>
          <a:spcPct val="118000"/>
        </a:lnSpc>
        <a:spcBef>
          <a:spcPts val="600"/>
        </a:spcBef>
        <a:buNone/>
        <a:defRPr sz="1600">
          <a:solidFill>
            <a:srgbClr val="475569"/>
          </a:solidFill>
          <a:latin typeface="+mn-lt"/>
        </a:defRPr>
      </a:lvl1pPr>
      <a:lvl2pPr marL="274320" indent="-274320">
        <a:lnSpc>
          <a:spcPct val="118000"/>
        </a:lnSpc>
        <a:spcBef>
          <a:spcPts val="500"/>
        </a:spcBef>
        <a:buClr>
          <a:srgbClr val="ED6F0B"/>
        </a:buClr>
        <a:buFont typeface="Arial"/>
        <a:buChar char="•"/>
        <a:defRPr sz="1500">
          <a:solidFill>
            <a:srgbClr val="475569"/>
          </a:solidFill>
          <a:latin typeface="+mn-lt"/>
        </a:defRPr>
      </a:lvl2pPr>
      <a:lvl3pPr marL="548640" indent="-274320">
        <a:spcBef>
          <a:spcPts val="300"/>
        </a:spcBef>
        <a:buClr>
          <a:srgbClr val="94A3B8"/>
        </a:buClr>
        <a:buFont typeface="Arial"/>
        <a:buChar char="–"/>
        <a:defRPr sz="1400">
          <a:solidFill>
            <a:srgbClr val="475569"/>
          </a:solidFill>
        </a:defRPr>
      </a:lvl3pPr>
    </p:bodyStyle>
    <p:otherStyle>
      <a:defPPr>
        <a:defRPr lang="en-GB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Superdry × FeedSpark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Account review &amp; renewal — two years delivered: performance, service and the AI roadmap for the next two.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July 2026  ·  Prepared by Matt Rogers  ·  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Six sections — ending with the two-year offer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 · Partnership Today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Scope, markets, feeds and the team behind the account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02 · Two Years' Delivery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Migration, rebrand, Bench and the work logged in 2026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03 · GB Performance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What the Shopping data says — and where the gaps are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04 · AI at FeedSpark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Live today, ready to deploy, in development — specifics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05 · Growth Levers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Margin-led spend, LIA, landing pages, overlays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06 · The Renewal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Current investment and the two-year offer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Everything before the commercials is the evidence for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 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Partnership Today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Partners since 2022 — sixteen markets, one team that knows Superdry inside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Feed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16 markets · 10 languages · 19 systems · 41 feeds · 50 hrs / month on FeedHero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Core markets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UK · Germany · France · Ireland</a:t>
            </a:r>
          </a:p>
          <a:p>
            <a:r>
              <a:t>Google Shopping, Meta, Rakuten &amp; Wunderkind feeds. ~75% of account time and the full optimisation programme.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Light touch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US · Netherlands · Belgium</a:t>
            </a:r>
          </a:p>
          <a:p>
            <a:r>
              <a:t>Shopping &amp; social feeds maintained and requests actioned, with limited optimisation time.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Feed-only — 9 markets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Nordics · CA · CH · IT · ES · PL</a:t>
            </a:r>
          </a:p>
          <a:p>
            <a:r>
              <a:t>Wunderkind / Bloomreach email feeds kept live and monitored, powering CRM at minimal cost.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GB system — 7 live feeds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Google Shopping · Facebook · Rakuten · FB FR/DE/NL</a:t>
            </a:r>
          </a:p>
          <a:p>
            <a:r>
              <a:t>Wunderkind · Generic CSV → US/IE · GS Audit</a:t>
            </a:r>
          </a:p>
          <a:p>
            <a:r>
              <a:t>5,500–62,300 products each, refreshed daily.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Also included: UK image clipping, the LIA feed and free Shopping overlays.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People Behind the Account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Fifteen specialists worked on Superdry in 2026 — not a self-service ticket queue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Ray — Senior AM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Your lead: strategy, the optimisation programme and monthly catch-ups.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Ezgi — Account Manager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Day-to-day delivery, titles, keywords and A/B testing.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Gary — Category Mapping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Product-type and GPC accuracy across all markets.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Venkatesh — Monitoring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Proactive monthly health and anomaly checks.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Lara &amp; Jessica — GMC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Merchant Center health and disapproval resolution.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Data Tech — Tony &amp; team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Rules, exclusions, feed engineering, QC and reporting.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Same core team throughout — the people you told us in July you work well with.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 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Years of Delivery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we've built, fixed and optimised since the last review — through a re-platforming, a rebrand and a turnaround.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Big Things Delivered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Headline projects on top of business-as-usual feed management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SFCC migration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Full re-platforming absorbed — 50+ migration rules built, feeds re-mapped and QC'd, no channel downtime.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Superdry &amp; Co rebrand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Titles, brand fields and feed logic updated for the new identity, protected by brand-inclusion A/B tests.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Bench brand launch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Onboarded to feeds, custom labels and DE launch. Bench runs at 8.3 ROAS on a £0.18 CPC in GB.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Stock fixes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Warehouse vs website availability managed — sell-out rules, range exclusions, stock messaging overlays.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Always-on optimisation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Monthly keyword programmes, AI titles for FR &amp; DE, image-cycler tests, gender splits, hero sizes.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New channels &amp; extras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t>Snapchat feed, Click &amp; Collect setup (~20% cheaper CPCs), LIA first steps, free Shopping overlays.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All absorbed within the existing retainer — alongside 300 hours of business-as-usual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Year's Work, By the Numbers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Task system and ticket desk, January – July 2026, every Superdry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tasks delivered — 98% done, 0 urgent open, across 10 live market accounts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295+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hours of hands-on delivery logged by 15 specialists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416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emails over the group inbox — 211 threads, 58 client-initiated, same-day SLA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Top task types: general AM (39) · category mapping (26) · disapprovals (24) · monitoring (19) · titles (17) — ~60% of time on optimisation.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 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GB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 last 30 days of Google Shopping data says — and where the next gains are hiding.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GB Shopping Performance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Google Shopping, GB — 30 days to 7 July 2026, item-level report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£460K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revenue from £72.4K spend — 16.9M impressions, 230,086 clicks, 7,999 conversions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6.35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ROAS — every £1 of ad spend returned £6.35, on a £0.31 CPC and £9.06 CPA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£57.49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average order value — CTR 1.36%, conversion rate 3.48%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Full-price lines did £281K at 6.53 ROAS vs 5.98 on sale — which fits the margin-led strategy exactly.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Money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Top GB categories by revenue — last 30 days, custom-label 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Minimum margin per category is already tracked in FeedHero — the foundation for margin-band bidding.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737360"/>
          <a:ext cx="1100023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0791"/>
                <a:gridCol w="1737360"/>
                <a:gridCol w="1737360"/>
                <a:gridCol w="1737360"/>
                <a:gridCol w="1737360"/>
              </a:tblGrid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62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SKUs</a:t>
                      </a:r>
                    </a:p>
                  </a:txBody>
                  <a:tcPr>
                    <a:solidFill>
                      <a:srgbClr val="162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162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Spend</a:t>
                      </a:r>
                    </a:p>
                  </a:txBody>
                  <a:tcPr>
                    <a:solidFill>
                      <a:srgbClr val="16213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</a:rPr>
                        <a:t>ROAS</a:t>
                      </a:r>
                    </a:p>
                  </a:txBody>
                  <a:tcPr>
                    <a:solidFill>
                      <a:srgbClr val="16213C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Shorts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3,433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£67.0K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£9.9K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6.80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Jackets &amp; Coats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8,487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£58.8K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£10.4K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5.67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Shirts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4,091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£43.0K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£5.3K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5803D"/>
                          </a:solidFill>
                        </a:rPr>
                        <a:t>8.18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T-Shirts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8,538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£41.9K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£7.0K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5.99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Dresses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2,708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£36.7K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£7.9K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4.64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5,930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£31.1K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£4.4K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7.02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Trousers &amp; Chinos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2,278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£26.0K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£4.3K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6.01</a:t>
                      </a:r>
                    </a:p>
                  </a:txBody>
                  <a:tcPr/>
                </a:tc>
              </a:tr>
              <a:tr h="4368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Polo Shirts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£18.9K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E293B"/>
                          </a:solidFill>
                        </a:rPr>
                        <a:t>£2.3K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5803D"/>
                          </a:solidFill>
                        </a:rPr>
                        <a:t>8.07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Stand-Outs in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What the category numbers actually tell 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Menswear staples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Shirts (8.2 ROAS), polo shirts (8.1) and tops (7.0) combine strong returns with full-price AOVs — the clearest scale candidates on the account.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Bench is flying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982 SKUs, 8.28 ROAS, £0.18 CPC and the lowest zombie rate of any major label (25%). The launch playbook worked — ready to repeat for the next brand.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Dresses &amp; jackets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The laggards: big revenue lines at only 4.6–5.7 ROAS. Title, image and margin-band work here is the fastest efficiency win available.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Fix first: dresses &amp; jackets. Scale: menswear staples. Repeat: the Bench playbook.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 Gaps Holding GB 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FeedHero's live audit of 61,491 GB products, refreshed 7 July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53.2% zombie SKUs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33,000+ products getting almost no impressions in 30 days — spend concentrates on a small head while the tail goes unseen.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32% name gaps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19,195 products with missing or weak name data — a direct drag on match quality.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39% missing highlights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23,651 products under-using product highlights — content Google and AI surfaces feed on.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20,177 low-res images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Images below Google's preferred resolution, capping CTR and eligibility for premium placements.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Closing these gaps lifts impressions, CTR and AI-readiness at once — exactly what our AI stack does at scale.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 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at FeedSpark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thought leadership. What's live on your account today, what's ready to deploy, and what's in development.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on Superdry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Every item is a concrete capability, not a roadmap promise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on your account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AI titles delivered for FR &amp; DE (June 2026)</a:t>
            </a:r>
          </a:p>
          <a:p>
            <a:r>
              <a:t>Keyword &amp; search-term embedding programme</a:t>
            </a:r>
          </a:p>
          <a:p>
            <a:r>
              <a:t>AI-assisted category &amp; data verification</a:t>
            </a:r>
          </a:p>
          <a:p>
            <a:r>
              <a:t>Zombie SKU identification in FeedHero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Ready to deploy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TachyonAI: data-field population from image vision + text enrichment</a:t>
            </a:r>
          </a:p>
          <a:p>
            <a:r>
              <a:t>Rich titles &amp; descriptions at scale, human-QC'd</a:t>
            </a:r>
          </a:p>
          <a:p>
            <a:r>
              <a:t>Highlights, FAQs and bespoke channel fields</a:t>
            </a:r>
          </a:p>
          <a:p>
            <a:r>
              <a:t>Google's 6 conversational attributes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In development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Agentic descriptions built for ChatGPT / Gemini / AI Mode</a:t>
            </a:r>
          </a:p>
          <a:p>
            <a:r>
              <a:t>AI visibility monitoring — where Superdry appears in LLM answers</a:t>
            </a:r>
          </a:p>
          <a:p>
            <a:r>
              <a:t>Direct LLM feed integration as platforms open ingestion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Zero integration work on the Superdry side — it all runs inside the feed pipeline we already operate.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TachyonAI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AI + human QC rewrites the catalogue once — every channel and AI surface benefits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Read everything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Your feed, website copy, specs — and the images: vision AI reads neckline, fit, pattern, fabric and occasion straight from the photo.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Rewrite &amp; enrich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Titles, descriptions, attributes, highlights and Q&amp;As rebuilt at catalogue scale, tuned per channel.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Human QC, then ship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Tone-of-voice and brand checks before anything goes live — with A/B tests to prove the uplift.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Example: “Floral wrap dress, navy” → “Women's Navy Ditsy Floral V-Neck Wrap Midi Dress — 3/4 Sleeve, Chiffon”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TachyonAI — Optimisation Tiers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One-off enrichment, priced per product — phasing and monthly upkeep agreed per market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Basic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£0.10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Per product</a:t>
            </a:r>
          </a:p>
          <a:p>
            <a:r>
              <a:t>GPC mapping &amp; data-field fixes</a:t>
            </a:r>
          </a:p>
          <a:p>
            <a:r>
              <a:t>Fixes the foundations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Extended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£0.50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Per product</a:t>
            </a:r>
          </a:p>
          <a:p>
            <a:r>
              <a:t>Titles, descriptions, highlights &amp; category fixes</a:t>
            </a:r>
          </a:p>
          <a:p>
            <a:r>
              <a:t>Recommended starting point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Full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£1.00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Per product</a:t>
            </a:r>
          </a:p>
          <a:p>
            <a:r>
              <a:t>Full AI rewrite, keywords, image analysis</a:t>
            </a:r>
          </a:p>
          <a:p>
            <a:r>
              <a:t>Agentic-ready data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Recommended: Extended tier on GB first — it targets the 53% zombie tail and the 19K name gaps directly.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Feed Now Decides AI Visibility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AI shopping is nascent but moving fast — the product feed is the lever you already own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1B+ users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Google AI Mode monthly users — product cards, price comparison and checkout links built from Merchant Center data.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ChatGPT ads live in UK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Since June 2026 — and ChatGPT accepts product feeds up to 1M SKUs. The feed decides who gets recommended.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68% zero-click searches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The answer increasingly forms before your site is visited. Rich titles, highlights and Q&amp;As decide whether Superdry is in it.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42% better conversion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ChatGPT-referred visitors convert 42% better than human-sourced traffic (Adobe) — they arrive pre-sold.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Honest view: AI conversions are small today — but the same enrichment lifts Google &amp; Meta immediately. You're paid to wait.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Opportunities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levers already sitting in the account — each aligned to the margin-led, premium strategy.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Levers Ready to Pull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All run on the feeds and data we already manage — no new tech on your side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Margin-band steering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You asked for margin focus — RoAS Intelligence already tracks minimum margin per category. Next: margin-band custom labels so spend follows profit, not just revenue.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Local Inventory Ads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First steps already done (pickup-later onboarding under way). LIAs surface “in stock nearby” at local intent, at typically lower CPCs — building on the store estate you're keeping.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Landing pages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Shopping clicks land on optimised category pages, clicked product top-of-page. Across our portfolio: −65% bounce, +25–94% conversion rate. One JS tag via Tag Manager.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Image overlays at scale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You already use free overlays. Structured roundel campaigns tied to the marketing calendar: +77% ROAS / +20% CR on Google, +93% revenue on Meta.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Sequenced over the two-year term — margin-band steering first, to match the profitability strategy.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SECTION 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Commercials &amp; Renewal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you pay, the value behind it, and our offer for a two-year term.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Commercial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Your monthly cost — unchanged since the last review — and the two-year offer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Today: £9,479 / month + VAT</a:t>
            </a:r>
          </a:p>
          <a:p>
            <a:r>
              <a:t>16 markets · 19 systems · 41 feeds · 50 hrs account time</a:t>
            </a:r>
          </a:p>
          <a:p>
            <a:r>
              <a:t>UK image clipping, LIA feed and free overlays included</a:t>
            </a:r>
          </a:p>
          <a:p>
            <a:r>
              <a:t>Already carries a 50% discount on core platform &amp; feed rates</a:t>
            </a:r>
          </a:p>
          <a:p>
            <a:r>
              <a:t>Day rate held at the historic £425 vs our current £625 rate card</a:t>
            </a:r>
          </a:p>
          <a:p>
            <a:r>
              <a:t>No price increase since the last review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The two-year offer</a:t>
            </a:r>
          </a:p>
          <a:p>
            <a:r>
              <a:t>Base cost held for the full 24-month term — despite our own cost pressure — in exchange for moving off the 3-month rolling contract</a:t>
            </a:r>
          </a:p>
          <a:p>
            <a:r>
              <a:t>AI deployment quoted separately: one-off TachyonAI dataset optimisation plus modest monthly upkeep, phased UK-first</a:t>
            </a:r>
          </a:p>
          <a:p>
            <a:r>
              <a:t>Time freed by AI efficiency is redeployed into under-served markets — not billed on top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GB Shopping alone puts ~£460K/month through the feed — the whole 16-market retainer is ~2% of that one channel.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A simple, low-risk path — most of it starts inside the current retainer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Agree the renewal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Now: lock the held base cost and move off the 3-month rolling contract. Updated service extension letter within a week.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TachyonAI pilot on GB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This quarter: Extended-tier enrichment on priority GB categories (dresses &amp; jackets first), measured against the 53% zombie baseline.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Margin bands &amp; LIA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r>
              <a:t>Next quarter: margin-band custom labels live in GB, complete the LIA onboarding, scope landing pages for the new site.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One signature starts all three.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Matt Rogers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t>Co-Founder, FeedSpark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matt@feedspark.com</a:t>
            </a:r>
          </a:p>
          <a:p>
            <a:r>
              <a:t>+44 (0)20 7096 1362</a:t>
            </a:r>
          </a:p>
          <a:p>
            <a:r>
              <a:t>feedspark.com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A two-year term at today's base cost — and a TachyonAI pilot to prove the next step-change on GB.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Account Is Run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The governance model behind a same-day SLA and 98% task completion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Two-tier ownership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Ray (Senior AM) owns strategy, the optimisation programme and the monthly relationship. Ezgi runs day-to-day delivery — titles, keywords, testing. One senior escalation point, one delivery lead.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Everything tracked, nothing informal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Every request — 312 this year — runs through the same task system from scope to sign-off. No work happens over ad hoc email that isn't also logged and owned.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r>
              <a:t>Same-day response, by default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r>
              <a:t>211 email threads, 58 client-initiated, actioned same-day. The group inbox is covered by the team — nothing waits on one person being available.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r>
              <a:t>Monthly cadence, live visibility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r>
              <a:t>Monthly strategy catch-ups with Ray, plus specialist coverage — category mapping, GMC, monitoring, data/tech — running continuously in between. Status is visible before it needs escalating.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The same model that absorbed a full re-platform and a rebrand without missing a beat is what runs renewal-quarter delivery.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edSpark Modern">
      <a:dk1>
        <a:srgbClr val="1A365D"/>
      </a:dk1>
      <a:lt1>
        <a:srgbClr val="FFFFFF"/>
      </a:lt1>
      <a:dk2>
        <a:srgbClr val="1E293B"/>
      </a:dk2>
      <a:lt2>
        <a:srgbClr val="F8FAFC"/>
      </a:lt2>
      <a:accent1>
        <a:srgbClr val="ED6F0B"/>
      </a:accent1>
      <a:accent2>
        <a:srgbClr val="1A365D"/>
      </a:accent2>
      <a:accent3>
        <a:srgbClr val="3B82F6"/>
      </a:accent3>
      <a:accent4>
        <a:srgbClr val="10B981"/>
      </a:accent4>
      <a:accent5>
        <a:srgbClr val="8B5CF6"/>
      </a:accent5>
      <a:accent6>
        <a:srgbClr val="EC4899"/>
      </a:accent6>
      <a:hlink>
        <a:srgbClr val="ED6F0B"/>
      </a:hlink>
      <a:folHlink>
        <a:srgbClr val="94A3B8"/>
      </a:folHlink>
    </a:clrScheme>
    <a:fontScheme name="FeedSpark Modern">
      <a:majorFont>
        <a:latin typeface="Inter" panose="02110004020202020204"/>
        <a:ea typeface=""/>
        <a:cs typeface=""/>
      </a:majorFont>
      <a:minorFont>
        <a:latin typeface="Inter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Company>FeedSpark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FeedSpark Template</dc:title>
  <dc:creator>FeedSpark</dc:creator>
  <cp:lastModifiedBy>FeedSpark</cp:lastModifiedBy>
</cp:coreProperties>
</file>