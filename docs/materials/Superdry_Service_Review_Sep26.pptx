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t>Superdry</a:t>
            </a:r>
          </a:p>
        </p:txBody>
      </p:sp>
      <p:sp>
        <p:nvSpPr>
          <p:cNvPr id="3" name="Subtitle 2"/>
          <p:cNvSpPr>
            <a:spLocks noGrp="1"/>
          </p:cNvSpPr>
          <p:nvPr>
            <p:ph type="subTitle" idx="1"/>
          </p:nvPr>
        </p:nvSpPr>
        <p:spPr/>
        <p:txBody>
          <a:bodyPr wrap="square"/>
          <a:lstStyle/>
          <a:p>
            <a:r>
              <a:t>Value for money, in both directions: what the retainer bought, and what changes next.</a:t>
            </a:r>
          </a:p>
        </p:txBody>
      </p:sp>
      <p:sp>
        <p:nvSpPr>
          <p:cNvPr id="4" name="Text Placeholder 3"/>
          <p:cNvSpPr>
            <a:spLocks noGrp="1"/>
          </p:cNvSpPr>
          <p:nvPr>
            <p:ph type="body" idx="11"/>
          </p:nvPr>
        </p:nvSpPr>
        <p:spPr/>
        <p:txBody>
          <a:bodyPr wrap="square"/>
          <a:lstStyle/>
          <a:p>
            <a:r>
              <a:t>Estate 19 markets · 53 feeds  ·  Since June 2022 · four years  ·  Delivered 3,793 hours · 2,846 tasks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work behind the retainer</a:t>
            </a:r>
          </a:p>
        </p:txBody>
      </p:sp>
      <p:sp>
        <p:nvSpPr>
          <p:cNvPr id="3" name="Text Placeholder 2"/>
          <p:cNvSpPr>
            <a:spLocks noGrp="1"/>
          </p:cNvSpPr>
          <p:nvPr>
            <p:ph type="body" idx="11"/>
          </p:nvPr>
        </p:nvSpPr>
        <p:spPr/>
        <p:txBody>
          <a:bodyPr wrap="square"/>
          <a:lstStyle/>
          <a:p>
            <a:r>
              <a:t>The eight largest lanes — 2,225 of the 3,793 hours delivered since June 2022.</a:t>
            </a:r>
          </a:p>
        </p:txBody>
      </p:sp>
      <p:sp>
        <p:nvSpPr>
          <p:cNvPr id="4" name="Text Placeholder 3"/>
          <p:cNvSpPr>
            <a:spLocks noGrp="1"/>
          </p:cNvSpPr>
          <p:nvPr>
            <p:ph type="body" idx="14"/>
          </p:nvPr>
        </p:nvSpPr>
        <p:spPr/>
        <p:txBody>
          <a:bodyPr wrap="square"/>
          <a:lstStyle/>
          <a:p>
            <a:r>
              <a:t>Two years to September 2026: 2,036.75 hours delivered against 1,008 hours sold. 648 of them were never charged.</a:t>
            </a:r>
          </a:p>
        </p:txBody>
      </p:sp>
      <p:graphicFrame>
        <p:nvGraphicFramePr>
          <p:cNvPr id="5" name="Table 4"/>
          <p:cNvGraphicFramePr>
            <a:graphicFrameLocks noGrp="1"/>
          </p:cNvGraphicFramePr>
          <p:nvPr/>
        </p:nvGraphicFramePr>
        <p:xfrm>
          <a:off x="612648" y="1847088"/>
          <a:ext cx="10972797" cy="3794760"/>
        </p:xfrm>
        <a:graphic>
          <a:graphicData uri="http://schemas.openxmlformats.org/drawingml/2006/table">
            <a:tbl>
              <a:tblPr firstRow="1" bandRow="1">
                <a:tableStyleId>{5C22544A-7EE6-4342-B048-85BDC9FD1C3A}</a:tableStyleId>
              </a:tblPr>
              <a:tblGrid>
                <a:gridCol w="1216243"/>
                <a:gridCol w="786757"/>
                <a:gridCol w="4459560"/>
                <a:gridCol w="4510237"/>
              </a:tblGrid>
              <a:tr h="384048">
                <a:tc>
                  <a:txBody>
                    <a:bodyPr/>
                    <a:lstStyle/>
                    <a:p>
                      <a:r>
                        <a:rPr sz="1300" b="1">
                          <a:solidFill>
                            <a:srgbClr val="FFFFFF"/>
                          </a:solidFill>
                        </a:rPr>
                        <a:t>Lane</a:t>
                      </a:r>
                    </a:p>
                  </a:txBody>
                  <a:tcPr/>
                </a:tc>
                <a:tc>
                  <a:txBody>
                    <a:bodyPr/>
                    <a:lstStyle/>
                    <a:p>
                      <a:r>
                        <a:rPr sz="1300" b="1">
                          <a:solidFill>
                            <a:srgbClr val="FFFFFF"/>
                          </a:solidFill>
                        </a:rPr>
                        <a:t>Hours</a:t>
                      </a:r>
                    </a:p>
                  </a:txBody>
                  <a:tcPr/>
                </a:tc>
                <a:tc>
                  <a:txBody>
                    <a:bodyPr/>
                    <a:lstStyle/>
                    <a:p>
                      <a:r>
                        <a:rPr sz="1300" b="1">
                          <a:solidFill>
                            <a:srgbClr val="FFFFFF"/>
                          </a:solidFill>
                        </a:rPr>
                        <a:t>What the task actually is</a:t>
                      </a:r>
                    </a:p>
                  </a:txBody>
                  <a:tcPr/>
                </a:tc>
                <a:tc>
                  <a:txBody>
                    <a:bodyPr/>
                    <a:lstStyle/>
                    <a:p>
                      <a:r>
                        <a:rPr sz="1300" b="1">
                          <a:solidFill>
                            <a:srgbClr val="FFFFFF"/>
                          </a:solidFill>
                        </a:rPr>
                        <a:t>Where AI helps — and where it cannot</a:t>
                      </a:r>
                    </a:p>
                  </a:txBody>
                  <a:tcPr/>
                </a:tc>
              </a:tr>
              <a:tr h="426339">
                <a:tc>
                  <a:txBody>
                    <a:bodyPr/>
                    <a:lstStyle/>
                    <a:p>
                      <a:r>
                        <a:rPr sz="1100"/>
                        <a:t>Keyword optimisation</a:t>
                      </a:r>
                    </a:p>
                  </a:txBody>
                  <a:tcPr/>
                </a:tc>
                <a:tc>
                  <a:txBody>
                    <a:bodyPr/>
                    <a:lstStyle/>
                    <a:p>
                      <a:r>
                        <a:rPr sz="1100"/>
                        <a:t>598.5</a:t>
                      </a:r>
                    </a:p>
                  </a:txBody>
                  <a:tcPr/>
                </a:tc>
                <a:tc>
                  <a:txBody>
                    <a:bodyPr/>
                    <a:lstStyle/>
                    <a:p>
                      <a:r>
                        <a:rPr sz="1100"/>
                        <a:t>Term research per category, then a rule per term set, then a controlled test to prove it</a:t>
                      </a:r>
                    </a:p>
                  </a:txBody>
                  <a:tcPr/>
                </a:tc>
                <a:tc>
                  <a:txBody>
                    <a:bodyPr/>
                    <a:lstStyle/>
                    <a:p>
                      <a:r>
                        <a:rPr sz="1100"/>
                        <a:t>Drafts candidate terms. Cannot write the rule, run the test or read the result</a:t>
                      </a:r>
                    </a:p>
                  </a:txBody>
                  <a:tcPr/>
                </a:tc>
              </a:tr>
              <a:tr h="426339">
                <a:tc>
                  <a:txBody>
                    <a:bodyPr/>
                    <a:lstStyle/>
                    <a:p>
                      <a:r>
                        <a:rPr sz="1100"/>
                        <a:t>Account management</a:t>
                      </a:r>
                    </a:p>
                  </a:txBody>
                  <a:tcPr/>
                </a:tc>
                <a:tc>
                  <a:txBody>
                    <a:bodyPr/>
                    <a:lstStyle/>
                    <a:p>
                      <a:r>
                        <a:rPr sz="1100"/>
                        <a:t>443.0</a:t>
                      </a:r>
                    </a:p>
                  </a:txBody>
                  <a:tcPr/>
                </a:tc>
                <a:tc>
                  <a:txBody>
                    <a:bodyPr/>
                    <a:lstStyle/>
                    <a:p>
                      <a:r>
                        <a:rPr sz="1100"/>
                        <a:t>Calls, reporting, plan upkeep, inbound requests across 19 markets</a:t>
                      </a:r>
                    </a:p>
                  </a:txBody>
                  <a:tcPr/>
                </a:tc>
                <a:tc>
                  <a:txBody>
                    <a:bodyPr/>
                    <a:lstStyle/>
                    <a:p>
                      <a:r>
                        <a:rPr sz="1100"/>
                        <a:t>This is where time can come out</a:t>
                      </a:r>
                    </a:p>
                  </a:txBody>
                  <a:tcPr/>
                </a:tc>
              </a:tr>
              <a:tr h="426339">
                <a:tc>
                  <a:txBody>
                    <a:bodyPr/>
                    <a:lstStyle/>
                    <a:p>
                      <a:r>
                        <a:rPr sz="1100"/>
                        <a:t>Data field population</a:t>
                      </a:r>
                    </a:p>
                  </a:txBody>
                  <a:tcPr/>
                </a:tc>
                <a:tc>
                  <a:txBody>
                    <a:bodyPr/>
                    <a:lstStyle/>
                    <a:p>
                      <a:r>
                        <a:rPr sz="1100"/>
                        <a:t>410.25</a:t>
                      </a:r>
                    </a:p>
                  </a:txBody>
                  <a:tcPr/>
                </a:tc>
                <a:tc>
                  <a:txBody>
                    <a:bodyPr/>
                    <a:lstStyle/>
                    <a:p>
                      <a:r>
                        <a:rPr sz="1100"/>
                        <a:t>Size, colour, material, identifier and availability mapped across 19 localisations</a:t>
                      </a:r>
                    </a:p>
                  </a:txBody>
                  <a:tcPr/>
                </a:tc>
                <a:tc>
                  <a:txBody>
                    <a:bodyPr/>
                    <a:lstStyle/>
                    <a:p>
                      <a:r>
                        <a:rPr sz="1100"/>
                        <a:t>Nothing to generate from — the source values do not exist in the master feed</a:t>
                      </a:r>
                    </a:p>
                  </a:txBody>
                  <a:tcPr/>
                </a:tc>
              </a:tr>
              <a:tr h="426339">
                <a:tc>
                  <a:txBody>
                    <a:bodyPr/>
                    <a:lstStyle/>
                    <a:p>
                      <a:r>
                        <a:rPr sz="1100"/>
                        <a:t>Title optimisation</a:t>
                      </a:r>
                    </a:p>
                  </a:txBody>
                  <a:tcPr/>
                </a:tc>
                <a:tc>
                  <a:txBody>
                    <a:bodyPr/>
                    <a:lstStyle/>
                    <a:p>
                      <a:r>
                        <a:rPr sz="1100"/>
                        <a:t>259.5</a:t>
                      </a:r>
                    </a:p>
                  </a:txBody>
                  <a:tcPr/>
                </a:tc>
                <a:tc>
                  <a:txBody>
                    <a:bodyPr/>
                    <a:lstStyle/>
                    <a:p>
                      <a:r>
                        <a:rPr sz="1100"/>
                        <a:t>29 characters supplied per product; 83 shipped. 100% of the catalogue rewritten</a:t>
                      </a:r>
                    </a:p>
                  </a:txBody>
                  <a:tcPr/>
                </a:tc>
                <a:tc>
                  <a:txBody>
                    <a:bodyPr/>
                    <a:lstStyle/>
                    <a:p>
                      <a:r>
                        <a:rPr sz="1100"/>
                        <a:t>Drafts copy. A human sets the pattern per category — and the pattern is category-specific</a:t>
                      </a:r>
                    </a:p>
                  </a:txBody>
                  <a:tcPr/>
                </a:tc>
              </a:tr>
              <a:tr h="426339">
                <a:tc>
                  <a:txBody>
                    <a:bodyPr/>
                    <a:lstStyle/>
                    <a:p>
                      <a:r>
                        <a:rPr sz="1100"/>
                        <a:t>Category mapping</a:t>
                      </a:r>
                    </a:p>
                  </a:txBody>
                  <a:tcPr/>
                </a:tc>
                <a:tc>
                  <a:txBody>
                    <a:bodyPr/>
                    <a:lstStyle/>
                    <a:p>
                      <a:r>
                        <a:rPr sz="1100"/>
                        <a:t>217.75</a:t>
                      </a:r>
                    </a:p>
                  </a:txBody>
                  <a:tcPr/>
                </a:tc>
                <a:tc>
                  <a:txBody>
                    <a:bodyPr/>
                    <a:lstStyle/>
                    <a:p>
                      <a:r>
                        <a:rPr sz="1100"/>
                        <a:t>Google’s fixed taxonomy plus a 305-path product_type tree, 93% of it four levels deep</a:t>
                      </a:r>
                    </a:p>
                  </a:txBody>
                  <a:tcPr/>
                </a:tc>
                <a:tc>
                  <a:txBody>
                    <a:bodyPr/>
                    <a:lstStyle/>
                    <a:p>
                      <a:r>
                        <a:rPr sz="1100"/>
                        <a:t>No. GPC is a fixed taxonomy to be matched, not text to be generated</a:t>
                      </a:r>
                    </a:p>
                  </a:txBody>
                  <a:tcPr/>
                </a:tc>
              </a:tr>
              <a:tr h="426339">
                <a:tc>
                  <a:txBody>
                    <a:bodyPr/>
                    <a:lstStyle/>
                    <a:p>
                      <a:r>
                        <a:rPr sz="1100"/>
                        <a:t>Rule engineering &amp; build</a:t>
                      </a:r>
                    </a:p>
                  </a:txBody>
                  <a:tcPr/>
                </a:tc>
                <a:tc>
                  <a:txBody>
                    <a:bodyPr/>
                    <a:lstStyle/>
                    <a:p>
                      <a:r>
                        <a:rPr sz="1100"/>
                        <a:t>133.5</a:t>
                      </a:r>
                    </a:p>
                  </a:txBody>
                  <a:tcPr/>
                </a:tc>
                <a:tc>
                  <a:txBody>
                    <a:bodyPr/>
                    <a:lstStyle/>
                    <a:p>
                      <a:r>
                        <a:rPr sz="1100"/>
                        <a:t>1,774 live rules over 53 feeds and 19 scheduled imports</a:t>
                      </a:r>
                    </a:p>
                  </a:txBody>
                  <a:tcPr/>
                </a:tc>
                <a:tc>
                  <a:txBody>
                    <a:bodyPr/>
                    <a:lstStyle/>
                    <a:p>
                      <a:r>
                        <a:rPr sz="1100"/>
                        <a:t>No. This is engineering against a live revenue channel</a:t>
                      </a:r>
                    </a:p>
                  </a:txBody>
                  <a:tcPr/>
                </a:tc>
              </a:tr>
              <a:tr h="426339">
                <a:tc>
                  <a:txBody>
                    <a:bodyPr/>
                    <a:lstStyle/>
                    <a:p>
                      <a:r>
                        <a:rPr sz="1100"/>
                        <a:t>Custom label maintenance</a:t>
                      </a:r>
                    </a:p>
                  </a:txBody>
                  <a:tcPr/>
                </a:tc>
                <a:tc>
                  <a:txBody>
                    <a:bodyPr/>
                    <a:lstStyle/>
                    <a:p>
                      <a:r>
                        <a:rPr sz="1100"/>
                        <a:t>88.0</a:t>
                      </a:r>
                    </a:p>
                  </a:txBody>
                  <a:tcPr/>
                </a:tc>
                <a:tc>
                  <a:txBody>
                    <a:bodyPr/>
                    <a:lstStyle/>
                    <a:p>
                      <a:r>
                        <a:rPr sz="1100"/>
                        <a:t>The labels PMax bids and structures against — kept in step with stock and season</a:t>
                      </a:r>
                    </a:p>
                  </a:txBody>
                  <a:tcPr/>
                </a:tc>
                <a:tc>
                  <a:txBody>
                    <a:bodyPr/>
                    <a:lstStyle/>
                    <a:p>
                      <a:r>
                        <a:rPr sz="1100"/>
                        <a:t>No. It reads Superdry’s own trading intent, which is not in the feed</a:t>
                      </a:r>
                    </a:p>
                  </a:txBody>
                  <a:tcPr/>
                </a:tc>
              </a:tr>
              <a:tr h="426339">
                <a:tc>
                  <a:txBody>
                    <a:bodyPr/>
                    <a:lstStyle/>
                    <a:p>
                      <a:r>
                        <a:rPr sz="1100"/>
                        <a:t>Disapprovals cleared</a:t>
                      </a:r>
                    </a:p>
                  </a:txBody>
                  <a:tcPr/>
                </a:tc>
                <a:tc>
                  <a:txBody>
                    <a:bodyPr/>
                    <a:lstStyle/>
                    <a:p>
                      <a:r>
                        <a:rPr sz="1100"/>
                        <a:t>74.75</a:t>
                      </a:r>
                    </a:p>
                  </a:txBody>
                  <a:tcPr/>
                </a:tc>
                <a:tc>
                  <a:txBody>
                    <a:bodyPr/>
                    <a:lstStyle/>
                    <a:p>
                      <a:r>
                        <a:rPr sz="1100"/>
                        <a:t>Merchant Center rejections, policy classes, price and stock mismatches</a:t>
                      </a:r>
                    </a:p>
                  </a:txBody>
                  <a:tcPr/>
                </a:tc>
                <a:tc>
                  <a:txBody>
                    <a:bodyPr/>
                    <a:lstStyle/>
                    <a:p>
                      <a:r>
                        <a:rPr sz="1100"/>
                        <a:t>No. Needs access to Superdry’s systems and a judgement call on each</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comes out, and what you take on</a:t>
            </a:r>
          </a:p>
        </p:txBody>
      </p:sp>
      <p:sp>
        <p:nvSpPr>
          <p:cNvPr id="3" name="Text Placeholder 2"/>
          <p:cNvSpPr>
            <a:spLocks noGrp="1"/>
          </p:cNvSpPr>
          <p:nvPr>
            <p:ph type="body" idx="11"/>
          </p:nvPr>
        </p:nvSpPr>
        <p:spPr/>
        <p:txBody>
          <a:bodyPr wrap="square"/>
          <a:lstStyle/>
          <a:p>
            <a:r>
              <a:t>Hours released are monthly averages read over the 51 months since June 2022.</a:t>
            </a:r>
          </a:p>
        </p:txBody>
      </p:sp>
      <p:sp>
        <p:nvSpPr>
          <p:cNvPr id="4" name="Text Placeholder 3"/>
          <p:cNvSpPr>
            <a:spLocks noGrp="1"/>
          </p:cNvSpPr>
          <p:nvPr>
            <p:ph type="body" idx="14"/>
          </p:nvPr>
        </p:nvSpPr>
        <p:spPr/>
        <p:txBody>
          <a:bodyPr wrap="square"/>
          <a:lstStyle/>
          <a:p>
            <a:r>
              <a:t>About 12.5 hours a month comes back. None of it comes out of optimisation, keyword work or disapprovals.</a:t>
            </a:r>
          </a:p>
        </p:txBody>
      </p:sp>
      <p:graphicFrame>
        <p:nvGraphicFramePr>
          <p:cNvPr id="5" name="Table 4"/>
          <p:cNvGraphicFramePr>
            <a:graphicFrameLocks noGrp="1"/>
          </p:cNvGraphicFramePr>
          <p:nvPr/>
        </p:nvGraphicFramePr>
        <p:xfrm>
          <a:off x="612648" y="1847088"/>
          <a:ext cx="10972797" cy="3794760"/>
        </p:xfrm>
        <a:graphic>
          <a:graphicData uri="http://schemas.openxmlformats.org/drawingml/2006/table">
            <a:tbl>
              <a:tblPr firstRow="1" bandRow="1">
                <a:tableStyleId>{5C22544A-7EE6-4342-B048-85BDC9FD1C3A}</a:tableStyleId>
              </a:tblPr>
              <a:tblGrid>
                <a:gridCol w="2373707"/>
                <a:gridCol w="806164"/>
                <a:gridCol w="4030824"/>
                <a:gridCol w="3762102"/>
              </a:tblGrid>
              <a:tr h="384048">
                <a:tc>
                  <a:txBody>
                    <a:bodyPr/>
                    <a:lstStyle/>
                    <a:p>
                      <a:r>
                        <a:rPr sz="1300" b="1">
                          <a:solidFill>
                            <a:srgbClr val="FFFFFF"/>
                          </a:solidFill>
                        </a:rPr>
                        <a:t>Proposal</a:t>
                      </a:r>
                    </a:p>
                  </a:txBody>
                  <a:tcPr/>
                </a:tc>
                <a:tc>
                  <a:txBody>
                    <a:bodyPr/>
                    <a:lstStyle/>
                    <a:p>
                      <a:r>
                        <a:rPr sz="1300" b="1">
                          <a:solidFill>
                            <a:srgbClr val="FFFFFF"/>
                          </a:solidFill>
                        </a:rPr>
                        <a:t>Released</a:t>
                      </a:r>
                    </a:p>
                  </a:txBody>
                  <a:tcPr/>
                </a:tc>
                <a:tc>
                  <a:txBody>
                    <a:bodyPr/>
                    <a:lstStyle/>
                    <a:p>
                      <a:r>
                        <a:rPr sz="1300" b="1">
                          <a:solidFill>
                            <a:srgbClr val="FFFFFF"/>
                          </a:solidFill>
                        </a:rPr>
                        <a:t>What it means for Superdry</a:t>
                      </a:r>
                    </a:p>
                  </a:txBody>
                  <a:tcPr/>
                </a:tc>
                <a:tc>
                  <a:txBody>
                    <a:bodyPr/>
                    <a:lstStyle/>
                    <a:p>
                      <a:r>
                        <a:rPr sz="1300" b="1">
                          <a:solidFill>
                            <a:srgbClr val="FFFFFF"/>
                          </a:solidFill>
                        </a:rPr>
                        <a:t>What it means for us</a:t>
                      </a:r>
                    </a:p>
                  </a:txBody>
                  <a:tcPr/>
                </a:tc>
              </a:tr>
              <a:tr h="568452">
                <a:tc>
                  <a:txBody>
                    <a:bodyPr/>
                    <a:lstStyle/>
                    <a:p>
                      <a:r>
                        <a:rPr sz="1100"/>
                        <a:t>Freeze the 12 unfunded markets to feed integrity only</a:t>
                      </a:r>
                    </a:p>
                  </a:txBody>
                  <a:tcPr/>
                </a:tc>
                <a:tc>
                  <a:txBody>
                    <a:bodyPr/>
                    <a:lstStyle/>
                    <a:p>
                      <a:r>
                        <a:rPr sz="1100"/>
                        <a:t>≈ 7.5 / month</a:t>
                      </a:r>
                    </a:p>
                  </a:txBody>
                  <a:tcPr/>
                </a:tc>
                <a:tc>
                  <a:txBody>
                    <a:bodyPr/>
                    <a:lstStyle/>
                    <a:p>
                      <a:r>
                        <a:rPr sz="1100"/>
                        <a:t>No change in the seven funded markets. The other twelve keep trading, and stop being optimised</a:t>
                      </a:r>
                    </a:p>
                  </a:txBody>
                  <a:tcPr/>
                </a:tc>
                <a:tc>
                  <a:txBody>
                    <a:bodyPr/>
                    <a:lstStyle/>
                    <a:p>
                      <a:r>
                        <a:rPr sz="1100"/>
                        <a:t>We stop absorbing work that has never been billed — 388 hours of it since 2022</a:t>
                      </a:r>
                    </a:p>
                  </a:txBody>
                  <a:tcPr/>
                </a:tc>
              </a:tr>
              <a:tr h="568452">
                <a:tc>
                  <a:txBody>
                    <a:bodyPr/>
                    <a:lstStyle/>
                    <a:p>
                      <a:r>
                        <a:rPr sz="1100"/>
                        <a:t>Monthly reporting moves to the FeedSpark dashboard</a:t>
                      </a:r>
                    </a:p>
                  </a:txBody>
                  <a:tcPr/>
                </a:tc>
                <a:tc>
                  <a:txBody>
                    <a:bodyPr/>
                    <a:lstStyle/>
                    <a:p>
                      <a:r>
                        <a:rPr sz="1100"/>
                        <a:t>≈ 4 / month</a:t>
                      </a:r>
                    </a:p>
                  </a:txBody>
                  <a:tcPr/>
                </a:tc>
                <a:tc>
                  <a:txBody>
                    <a:bodyPr/>
                    <a:lstStyle/>
                    <a:p>
                      <a:r>
                        <a:rPr sz="1100"/>
                        <a:t>Live numbers on demand rather than a monthly pack. One review call a quarter instead of one a month</a:t>
                      </a:r>
                    </a:p>
                  </a:txBody>
                  <a:tcPr/>
                </a:tc>
                <a:tc>
                  <a:txBody>
                    <a:bodyPr/>
                    <a:lstStyle/>
                    <a:p>
                      <a:r>
                        <a:rPr sz="1100"/>
                        <a:t>Admin time returns to optimisation, which is where you want it</a:t>
                      </a:r>
                    </a:p>
                  </a:txBody>
                  <a:tcPr/>
                </a:tc>
              </a:tr>
              <a:tr h="568452">
                <a:tc>
                  <a:txBody>
                    <a:bodyPr/>
                    <a:lstStyle/>
                    <a:p>
                      <a:r>
                        <a:rPr sz="1100"/>
                        <a:t>Disapproval sweeps become automated alerts</a:t>
                      </a:r>
                    </a:p>
                  </a:txBody>
                  <a:tcPr/>
                </a:tc>
                <a:tc>
                  <a:txBody>
                    <a:bodyPr/>
                    <a:lstStyle/>
                    <a:p>
                      <a:r>
                        <a:rPr sz="1100"/>
                        <a:t>≈ 1 / month</a:t>
                      </a:r>
                    </a:p>
                  </a:txBody>
                  <a:tcPr/>
                </a:tc>
                <a:tc>
                  <a:txBody>
                    <a:bodyPr/>
                    <a:lstStyle/>
                    <a:p>
                      <a:r>
                        <a:rPr sz="1100"/>
                        <a:t>You hear about a rejection the hour it happens, not at the next scheduled sweep</a:t>
                      </a:r>
                    </a:p>
                  </a:txBody>
                  <a:tcPr/>
                </a:tc>
                <a:tc>
                  <a:txBody>
                    <a:bodyPr/>
                    <a:lstStyle/>
                    <a:p>
                      <a:r>
                        <a:rPr sz="1100"/>
                        <a:t>Alerts have to be configured first. None are set up on any of the 19 instances today</a:t>
                      </a:r>
                    </a:p>
                  </a:txBody>
                  <a:tcPr/>
                </a:tc>
              </a:tr>
              <a:tr h="568452">
                <a:tc>
                  <a:txBody>
                    <a:bodyPr/>
                    <a:lstStyle/>
                    <a:p>
                      <a:r>
                        <a:rPr sz="1100"/>
                        <a:t>Product names populated at source</a:t>
                      </a:r>
                    </a:p>
                  </a:txBody>
                  <a:tcPr/>
                </a:tc>
                <a:tc>
                  <a:txBody>
                    <a:bodyPr/>
                    <a:lstStyle/>
                    <a:p>
                      <a:r>
                        <a:rPr sz="1100"/>
                        <a:t>Superdry side</a:t>
                      </a:r>
                    </a:p>
                  </a:txBody>
                  <a:tcPr/>
                </a:tc>
                <a:tc>
                  <a:txBody>
                    <a:bodyPr/>
                    <a:lstStyle/>
                    <a:p>
                      <a:r>
                        <a:rPr sz="1100"/>
                        <a:t>22,368 products — 39% of the master feed — reach us with no product name at all</a:t>
                      </a:r>
                    </a:p>
                  </a:txBody>
                  <a:tcPr/>
                </a:tc>
                <a:tc>
                  <a:txBody>
                    <a:bodyPr/>
                    <a:lstStyle/>
                    <a:p>
                      <a:r>
                        <a:rPr sz="1100"/>
                        <a:t>Removes a whole repair layer, so title hours buy optimisation instead of patching</a:t>
                      </a:r>
                    </a:p>
                  </a:txBody>
                  <a:tcPr/>
                </a:tc>
              </a:tr>
              <a:tr h="568452">
                <a:tc>
                  <a:txBody>
                    <a:bodyPr/>
                    <a:lstStyle/>
                    <a:p>
                      <a:r>
                        <a:rPr sz="1100"/>
                        <a:t>Margin and stock-depth data supplied</a:t>
                      </a:r>
                    </a:p>
                  </a:txBody>
                  <a:tcPr/>
                </a:tc>
                <a:tc>
                  <a:txBody>
                    <a:bodyPr/>
                    <a:lstStyle/>
                    <a:p>
                      <a:r>
                        <a:rPr sz="1100"/>
                        <a:t>Superdry side</a:t>
                      </a:r>
                    </a:p>
                  </a:txBody>
                  <a:tcPr/>
                </a:tc>
                <a:tc>
                  <a:txBody>
                    <a:bodyPr/>
                    <a:lstStyle/>
                    <a:p>
                      <a:r>
                        <a:rPr sz="1100"/>
                        <a:t>Two fields we have asked for repeatedly. They gate range completion and stock exclusion</a:t>
                      </a:r>
                    </a:p>
                  </a:txBody>
                  <a:tcPr/>
                </a:tc>
                <a:tc>
                  <a:txBody>
                    <a:bodyPr/>
                    <a:lstStyle/>
                    <a:p>
                      <a:r>
                        <a:rPr sz="1100"/>
                        <a:t>Unlocks the largest measured opportunity on the account — see the next slide</a:t>
                      </a:r>
                    </a:p>
                  </a:txBody>
                  <a:tcPr/>
                </a:tc>
              </a:tr>
              <a:tr h="568452">
                <a:tc>
                  <a:txBody>
                    <a:bodyPr/>
                    <a:lstStyle/>
                    <a:p>
                      <a:r>
                        <a:rPr sz="1100"/>
                        <a:t>Google Analytics access</a:t>
                      </a:r>
                    </a:p>
                  </a:txBody>
                  <a:tcPr/>
                </a:tc>
                <a:tc>
                  <a:txBody>
                    <a:bodyPr/>
                    <a:lstStyle/>
                    <a:p>
                      <a:r>
                        <a:rPr sz="1100"/>
                        <a:t>Superdry side</a:t>
                      </a:r>
                    </a:p>
                  </a:txBody>
                  <a:tcPr/>
                </a:tc>
                <a:tc>
                  <a:txBody>
                    <a:bodyPr/>
                    <a:lstStyle/>
                    <a:p>
                      <a:r>
                        <a:rPr sz="1100"/>
                        <a:t>Lets us read behaviour behind the click rather than inferring it from Ads alone</a:t>
                      </a:r>
                    </a:p>
                  </a:txBody>
                  <a:tcPr/>
                </a:tc>
                <a:tc>
                  <a:txBody>
                    <a:bodyPr/>
                    <a:lstStyle/>
                    <a:p>
                      <a:r>
                        <a:rPr sz="1100"/>
                        <a:t>Without it we cannot measure what we actually caused</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we would add, and what it is worth</a:t>
            </a:r>
          </a:p>
        </p:txBody>
      </p:sp>
      <p:sp>
        <p:nvSpPr>
          <p:cNvPr id="3" name="Text Placeholder 2"/>
          <p:cNvSpPr>
            <a:spLocks noGrp="1"/>
          </p:cNvSpPr>
          <p:nvPr>
            <p:ph type="body" idx="11"/>
          </p:nvPr>
        </p:nvSpPr>
        <p:spPr/>
        <p:txBody>
          <a:bodyPr wrap="square"/>
          <a:lstStyle/>
          <a:p>
            <a:r>
              <a:t>Every figure below was read from the live feeds and the Google Ads record this morning.</a:t>
            </a:r>
          </a:p>
        </p:txBody>
      </p:sp>
      <p:sp>
        <p:nvSpPr>
          <p:cNvPr id="4" name="Text Placeholder 3"/>
          <p:cNvSpPr>
            <a:spLocks noGrp="1"/>
          </p:cNvSpPr>
          <p:nvPr>
            <p:ph type="body" idx="14"/>
          </p:nvPr>
        </p:nvSpPr>
        <p:spPr/>
        <p:txBody>
          <a:bodyPr wrap="square"/>
          <a:lstStyle/>
          <a:p>
            <a:r>
              <a:t>Four of the five are already written into Superdry’s own plan. What is missing is funded time, not a plan.</a:t>
            </a:r>
          </a:p>
        </p:txBody>
      </p:sp>
      <p:graphicFrame>
        <p:nvGraphicFramePr>
          <p:cNvPr id="5" name="Table 4"/>
          <p:cNvGraphicFramePr>
            <a:graphicFrameLocks noGrp="1"/>
          </p:cNvGraphicFramePr>
          <p:nvPr/>
        </p:nvGraphicFramePr>
        <p:xfrm>
          <a:off x="612648" y="1847088"/>
          <a:ext cx="10972798" cy="3794758"/>
        </p:xfrm>
        <a:graphic>
          <a:graphicData uri="http://schemas.openxmlformats.org/drawingml/2006/table">
            <a:tbl>
              <a:tblPr firstRow="1" bandRow="1">
                <a:tableStyleId>{5C22544A-7EE6-4342-B048-85BDC9FD1C3A}</a:tableStyleId>
              </a:tblPr>
              <a:tblGrid>
                <a:gridCol w="2312275"/>
                <a:gridCol w="3783724"/>
                <a:gridCol w="3783724"/>
                <a:gridCol w="1093075"/>
              </a:tblGrid>
              <a:tr h="384048">
                <a:tc>
                  <a:txBody>
                    <a:bodyPr/>
                    <a:lstStyle/>
                    <a:p>
                      <a:r>
                        <a:rPr sz="1300" b="1">
                          <a:solidFill>
                            <a:srgbClr val="FFFFFF"/>
                          </a:solidFill>
                        </a:rPr>
                        <a:t>New service</a:t>
                      </a:r>
                    </a:p>
                  </a:txBody>
                  <a:tcPr/>
                </a:tc>
                <a:tc>
                  <a:txBody>
                    <a:bodyPr/>
                    <a:lstStyle/>
                    <a:p>
                      <a:r>
                        <a:rPr sz="1300" b="1">
                          <a:solidFill>
                            <a:srgbClr val="FFFFFF"/>
                          </a:solidFill>
                        </a:rPr>
                        <a:t>The evidence it is needed</a:t>
                      </a:r>
                    </a:p>
                  </a:txBody>
                  <a:tcPr/>
                </a:tc>
                <a:tc>
                  <a:txBody>
                    <a:bodyPr/>
                    <a:lstStyle/>
                    <a:p>
                      <a:r>
                        <a:rPr sz="1300" b="1">
                          <a:solidFill>
                            <a:srgbClr val="FFFFFF"/>
                          </a:solidFill>
                        </a:rPr>
                        <a:t>The prize</a:t>
                      </a:r>
                    </a:p>
                  </a:txBody>
                  <a:tcPr/>
                </a:tc>
                <a:tc>
                  <a:txBody>
                    <a:bodyPr/>
                    <a:lstStyle/>
                    <a:p>
                      <a:r>
                        <a:rPr sz="1300" b="1">
                          <a:solidFill>
                            <a:srgbClr val="FFFFFF"/>
                          </a:solidFill>
                        </a:rPr>
                        <a:t>State</a:t>
                      </a:r>
                    </a:p>
                  </a:txBody>
                  <a:tcPr/>
                </a:tc>
              </a:tr>
              <a:tr h="682142">
                <a:tc>
                  <a:txBody>
                    <a:bodyPr/>
                    <a:lstStyle/>
                    <a:p>
                      <a:r>
                        <a:rPr sz="1100"/>
                        <a:t>Catalogue activation</a:t>
                      </a:r>
                    </a:p>
                    <a:p>
                      <a:r>
                        <a:rPr sz="1100"/>
                        <a:t>Range completion &amp; stock exclusion</a:t>
                      </a:r>
                    </a:p>
                  </a:txBody>
                  <a:tcPr/>
                </a:tc>
                <a:tc>
                  <a:txBody>
                    <a:bodyPr/>
                    <a:lstStyle/>
                    <a:p>
                      <a:r>
                        <a:rPr sz="1100"/>
                        <a:t>47.1% of the UK catalogue took under 100 impressions in thirty days. Germany 51.2%, France 48.8%, the Netherlands 57.6%</a:t>
                      </a:r>
                    </a:p>
                  </a:txBody>
                  <a:tcPr/>
                </a:tc>
                <a:tc>
                  <a:txBody>
                    <a:bodyPr/>
                    <a:lstStyle/>
                    <a:p>
                      <a:r>
                        <a:rPr sz="1100"/>
                        <a:t>Roughly 12,100 of 25,699 UK products are effectively invisible. The largest single opportunity on the account</a:t>
                      </a:r>
                    </a:p>
                  </a:txBody>
                  <a:tcPr/>
                </a:tc>
                <a:tc>
                  <a:txBody>
                    <a:bodyPr/>
                    <a:lstStyle/>
                    <a:p>
                      <a:r>
                        <a:rPr sz="1100"/>
                        <a:t>Written &amp; open in the plan</a:t>
                      </a:r>
                    </a:p>
                  </a:txBody>
                  <a:tcPr/>
                </a:tc>
              </a:tr>
              <a:tr h="682142">
                <a:tc>
                  <a:txBody>
                    <a:bodyPr/>
                    <a:lstStyle/>
                    <a:p>
                      <a:r>
                        <a:rPr sz="1100"/>
                        <a:t>Germany, France &amp; Netherlands parity</a:t>
                      </a:r>
                    </a:p>
                  </a:txBody>
                  <a:tcPr/>
                </a:tc>
                <a:tc>
                  <a:txBody>
                    <a:bodyPr/>
                    <a:lstStyle/>
                    <a:p>
                      <a:r>
                        <a:rPr sz="1100"/>
                        <a:t>All three carry the title rewrite and the category tree and nothing else — 0% product highlights, 0% keyword enrichment</a:t>
                      </a:r>
                    </a:p>
                  </a:txBody>
                  <a:tcPr/>
                </a:tc>
                <a:tc>
                  <a:txBody>
                    <a:bodyPr/>
                    <a:lstStyle/>
                    <a:p>
                      <a:r>
                        <a:rPr sz="1100"/>
                        <a:t>Germany already returns the highest ROAS on the account — 1,042% — from the least-built feed we run</a:t>
                      </a:r>
                    </a:p>
                  </a:txBody>
                  <a:tcPr/>
                </a:tc>
                <a:tc>
                  <a:txBody>
                    <a:bodyPr/>
                    <a:lstStyle/>
                    <a:p>
                      <a:r>
                        <a:rPr sz="1100"/>
                        <a:t>Scoped, never funded</a:t>
                      </a:r>
                    </a:p>
                  </a:txBody>
                  <a:tcPr/>
                </a:tc>
              </a:tr>
              <a:tr h="682142">
                <a:tc>
                  <a:txBody>
                    <a:bodyPr/>
                    <a:lstStyle/>
                    <a:p>
                      <a:r>
                        <a:rPr sz="1100"/>
                        <a:t>Search-term coverage</a:t>
                      </a:r>
                    </a:p>
                  </a:txBody>
                  <a:tcPr/>
                </a:tc>
                <a:tc>
                  <a:txBody>
                    <a:bodyPr/>
                    <a:lstStyle/>
                    <a:p>
                      <a:r>
                        <a:rPr sz="1100"/>
                        <a:t>578 of the top 1,000 UK search terms (58%) appear in no product title. 313 return zero hits at all</a:t>
                      </a:r>
                    </a:p>
                  </a:txBody>
                  <a:tcPr/>
                </a:tc>
                <a:tc>
                  <a:txBody>
                    <a:bodyPr/>
                    <a:lstStyle/>
                    <a:p>
                      <a:r>
                        <a:rPr sz="1100"/>
                        <a:t>“Jackets for men”: 14,800 searches a month, 100% title miss. “Jacket in yellow”: 8,100, zero hits anywhere</a:t>
                      </a:r>
                    </a:p>
                  </a:txBody>
                  <a:tcPr/>
                </a:tc>
                <a:tc>
                  <a:txBody>
                    <a:bodyPr/>
                    <a:lstStyle/>
                    <a:p>
                      <a:r>
                        <a:rPr sz="1100"/>
                        <a:t>Method proven on 13 tests</a:t>
                      </a:r>
                    </a:p>
                  </a:txBody>
                  <a:tcPr/>
                </a:tc>
              </a:tr>
              <a:tr h="682142">
                <a:tc>
                  <a:txBody>
                    <a:bodyPr/>
                    <a:lstStyle/>
                    <a:p>
                      <a:r>
                        <a:rPr sz="1100"/>
                        <a:t>AI-surface readiness</a:t>
                      </a:r>
                    </a:p>
                  </a:txBody>
                  <a:tcPr/>
                </a:tc>
                <a:tc>
                  <a:txBody>
                    <a:bodyPr/>
                    <a:lstStyle/>
                    <a:p>
                      <a:r>
                        <a:rPr sz="1100"/>
                        <a:t>0 of 6 of Google’s conversational attributes are present on any of the 19 markets</a:t>
                      </a:r>
                    </a:p>
                  </a:txBody>
                  <a:tcPr/>
                </a:tc>
                <a:tc>
                  <a:txBody>
                    <a:bodyPr/>
                    <a:lstStyle/>
                    <a:p>
                      <a:r>
                        <a:rPr sz="1100"/>
                        <a:t>The fields AI Mode and agentic shopping read. 62.7% of UK titles are already in the band they need</a:t>
                      </a:r>
                    </a:p>
                  </a:txBody>
                  <a:tcPr/>
                </a:tc>
                <a:tc>
                  <a:txBody>
                    <a:bodyPr/>
                    <a:lstStyle/>
                    <a:p>
                      <a:r>
                        <a:rPr sz="1100"/>
                        <a:t>Not started</a:t>
                      </a:r>
                    </a:p>
                  </a:txBody>
                  <a:tcPr/>
                </a:tc>
              </a:tr>
              <a:tr h="682142">
                <a:tc>
                  <a:txBody>
                    <a:bodyPr/>
                    <a:lstStyle/>
                    <a:p>
                      <a:r>
                        <a:rPr sz="1100"/>
                        <a:t>ALP &amp; DPA overlay</a:t>
                      </a:r>
                    </a:p>
                  </a:txBody>
                  <a:tcPr/>
                </a:tc>
                <a:tc>
                  <a:txBody>
                    <a:bodyPr/>
                    <a:lstStyle/>
                    <a:p>
                      <a:r>
                        <a:rPr sz="1100"/>
                        <a:t>Local inventory fields are already live in the UK feed — ship-to-store, next-day — and unused by any campaign</a:t>
                      </a:r>
                    </a:p>
                  </a:txBody>
                  <a:tcPr/>
                </a:tc>
                <a:tc>
                  <a:txBody>
                    <a:bodyPr/>
                    <a:lstStyle/>
                    <a:p>
                      <a:r>
                        <a:rPr sz="1100"/>
                        <a:t>Store stock into Shopping, and creative overlays onto the social feeds already running</a:t>
                      </a:r>
                    </a:p>
                  </a:txBody>
                  <a:tcPr/>
                </a:tc>
                <a:tc>
                  <a:txBody>
                    <a:bodyPr/>
                    <a:lstStyle/>
                    <a:p>
                      <a:r>
                        <a:rPr sz="1100"/>
                        <a:t>Ready to present</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number we should be judged on</a:t>
            </a:r>
          </a:p>
        </p:txBody>
      </p:sp>
      <p:sp>
        <p:nvSpPr>
          <p:cNvPr id="3" name="Text Placeholder 2"/>
          <p:cNvSpPr>
            <a:spLocks noGrp="1"/>
          </p:cNvSpPr>
          <p:nvPr>
            <p:ph type="body" idx="11"/>
          </p:nvPr>
        </p:nvSpPr>
        <p:spPr/>
        <p:txBody>
          <a:bodyPr wrap="square"/>
          <a:lstStyle/>
          <a:p>
            <a:r>
              <a:t>Five candidate measures, and who can actually stand behind each one.</a:t>
            </a:r>
          </a:p>
        </p:txBody>
      </p:sp>
      <p:sp>
        <p:nvSpPr>
          <p:cNvPr id="4" name="Text Placeholder 3"/>
          <p:cNvSpPr>
            <a:spLocks noGrp="1"/>
          </p:cNvSpPr>
          <p:nvPr>
            <p:ph type="body" idx="14"/>
          </p:nvPr>
        </p:nvSpPr>
        <p:spPr/>
        <p:txBody>
          <a:bodyPr wrap="square"/>
          <a:lstStyle/>
          <a:p>
            <a:r>
              <a:t>We are not asking to be measured on attributed revenue. We are asking to be measured on what we can prove we caused.</a:t>
            </a:r>
          </a:p>
        </p:txBody>
      </p:sp>
      <p:graphicFrame>
        <p:nvGraphicFramePr>
          <p:cNvPr id="5" name="Table 4"/>
          <p:cNvGraphicFramePr>
            <a:graphicFrameLocks noGrp="1"/>
          </p:cNvGraphicFramePr>
          <p:nvPr/>
        </p:nvGraphicFramePr>
        <p:xfrm>
          <a:off x="612648" y="1847088"/>
          <a:ext cx="10972799" cy="3794758"/>
        </p:xfrm>
        <a:graphic>
          <a:graphicData uri="http://schemas.openxmlformats.org/drawingml/2006/table">
            <a:tbl>
              <a:tblPr firstRow="1" bandRow="1">
                <a:tableStyleId>{5C22544A-7EE6-4342-B048-85BDC9FD1C3A}</a:tableStyleId>
              </a:tblPr>
              <a:tblGrid>
                <a:gridCol w="1855694"/>
                <a:gridCol w="3429000"/>
                <a:gridCol w="3550023"/>
                <a:gridCol w="2138082"/>
              </a:tblGrid>
              <a:tr h="384048">
                <a:tc>
                  <a:txBody>
                    <a:bodyPr/>
                    <a:lstStyle/>
                    <a:p>
                      <a:r>
                        <a:rPr sz="1300" b="1">
                          <a:solidFill>
                            <a:srgbClr val="FFFFFF"/>
                          </a:solidFill>
                        </a:rPr>
                        <a:t>Measure</a:t>
                      </a:r>
                    </a:p>
                  </a:txBody>
                  <a:tcPr/>
                </a:tc>
                <a:tc>
                  <a:txBody>
                    <a:bodyPr/>
                    <a:lstStyle/>
                    <a:p>
                      <a:r>
                        <a:rPr sz="1300" b="1">
                          <a:solidFill>
                            <a:srgbClr val="FFFFFF"/>
                          </a:solidFill>
                        </a:rPr>
                        <a:t>What it currently reads</a:t>
                      </a:r>
                    </a:p>
                  </a:txBody>
                  <a:tcPr/>
                </a:tc>
                <a:tc>
                  <a:txBody>
                    <a:bodyPr/>
                    <a:lstStyle/>
                    <a:p>
                      <a:r>
                        <a:rPr sz="1300" b="1">
                          <a:solidFill>
                            <a:srgbClr val="FFFFFF"/>
                          </a:solidFill>
                        </a:rPr>
                        <a:t>What it really measures</a:t>
                      </a:r>
                    </a:p>
                  </a:txBody>
                  <a:tcPr/>
                </a:tc>
                <a:tc>
                  <a:txBody>
                    <a:bodyPr/>
                    <a:lstStyle/>
                    <a:p>
                      <a:r>
                        <a:rPr sz="1300" b="1">
                          <a:solidFill>
                            <a:srgbClr val="FFFFFF"/>
                          </a:solidFill>
                        </a:rPr>
                        <a:t>Our position</a:t>
                      </a:r>
                    </a:p>
                  </a:txBody>
                  <a:tcPr/>
                </a:tc>
              </a:tr>
              <a:tr h="682142">
                <a:tc>
                  <a:txBody>
                    <a:bodyPr/>
                    <a:lstStyle/>
                    <a:p>
                      <a:r>
                        <a:rPr sz="1100"/>
                        <a:t>Shopping &amp; PMax revenue</a:t>
                      </a:r>
                    </a:p>
                    <a:p>
                      <a:r>
                        <a:rPr sz="1100"/>
                        <a:t>Google Ads, last click</a:t>
                      </a:r>
                    </a:p>
                  </a:txBody>
                  <a:tcPr/>
                </a:tc>
                <a:tc>
                  <a:txBody>
                    <a:bodyPr/>
                    <a:lstStyle/>
                    <a:p>
                      <a:r>
                        <a:rPr sz="1100"/>
                        <a:t>UK £16.18m on £1.68m spend — 966% ROAS. Germany 1,042%, France 968%, Netherlands 816%</a:t>
                      </a:r>
                    </a:p>
                  </a:txBody>
                  <a:tcPr/>
                </a:tc>
                <a:tc>
                  <a:txBody>
                    <a:bodyPr/>
                    <a:lstStyle/>
                    <a:p>
                      <a:r>
                        <a:rPr sz="1100"/>
                        <a:t>Everything the channel did. The feed is necessary to it and is not the only cause</a:t>
                      </a:r>
                    </a:p>
                  </a:txBody>
                  <a:tcPr/>
                </a:tc>
                <a:tc>
                  <a:txBody>
                    <a:bodyPr/>
                    <a:lstStyle/>
                    <a:p>
                      <a:r>
                        <a:rPr sz="1100"/>
                        <a:t>We should stop claiming this as ours</a:t>
                      </a:r>
                    </a:p>
                  </a:txBody>
                  <a:tcPr/>
                </a:tc>
              </a:tr>
              <a:tr h="682142">
                <a:tc>
                  <a:txBody>
                    <a:bodyPr/>
                    <a:lstStyle/>
                    <a:p>
                      <a:r>
                        <a:rPr sz="1100"/>
                        <a:t>Controlled A/B on the same catalogue</a:t>
                      </a:r>
                    </a:p>
                  </a:txBody>
                  <a:tcPr/>
                </a:tc>
                <a:tc>
                  <a:txBody>
                    <a:bodyPr/>
                    <a:lstStyle/>
                    <a:p>
                      <a:r>
                        <a:rPr sz="1100"/>
                        <a:t>13 controlled tests, 9 won. Median +9.42% impressions, +8.54% clicks</a:t>
                      </a:r>
                    </a:p>
                  </a:txBody>
                  <a:tcPr/>
                </a:tc>
                <a:tc>
                  <a:txBody>
                    <a:bodyPr/>
                    <a:lstStyle/>
                    <a:p>
                      <a:r>
                        <a:rPr sz="1100"/>
                        <a:t>Causal. Same products, same moment, one group changed — nothing else can explain the gap</a:t>
                      </a:r>
                    </a:p>
                  </a:txBody>
                  <a:tcPr/>
                </a:tc>
                <a:tc>
                  <a:txBody>
                    <a:bodyPr/>
                    <a:lstStyle/>
                    <a:p>
                      <a:r>
                        <a:rPr sz="1100"/>
                        <a:t>Propose as the primary measure</a:t>
                      </a:r>
                    </a:p>
                  </a:txBody>
                  <a:tcPr/>
                </a:tc>
              </a:tr>
              <a:tr h="682142">
                <a:tc>
                  <a:txBody>
                    <a:bodyPr/>
                    <a:lstStyle/>
                    <a:p>
                      <a:r>
                        <a:rPr sz="1100"/>
                        <a:t>Catalogue activation</a:t>
                      </a:r>
                    </a:p>
                  </a:txBody>
                  <a:tcPr/>
                </a:tc>
                <a:tc>
                  <a:txBody>
                    <a:bodyPr/>
                    <a:lstStyle/>
                    <a:p>
                      <a:r>
                        <a:rPr sz="1100"/>
                        <a:t>47.1% of the UK range under 100 impressions in thirty days</a:t>
                      </a:r>
                    </a:p>
                  </a:txBody>
                  <a:tcPr/>
                </a:tc>
                <a:tc>
                  <a:txBody>
                    <a:bodyPr/>
                    <a:lstStyle/>
                    <a:p>
                      <a:r>
                        <a:rPr sz="1100"/>
                        <a:t>How much of what Superdry pays to hold is actually in circulation</a:t>
                      </a:r>
                    </a:p>
                  </a:txBody>
                  <a:tcPr/>
                </a:tc>
                <a:tc>
                  <a:txBody>
                    <a:bodyPr/>
                    <a:lstStyle/>
                    <a:p>
                      <a:r>
                        <a:rPr sz="1100"/>
                        <a:t>Propose as the headline KPI</a:t>
                      </a:r>
                    </a:p>
                  </a:txBody>
                  <a:tcPr/>
                </a:tc>
              </a:tr>
              <a:tr h="682142">
                <a:tc>
                  <a:txBody>
                    <a:bodyPr/>
                    <a:lstStyle/>
                    <a:p>
                      <a:r>
                        <a:rPr sz="1100"/>
                        <a:t>Search-term coverage</a:t>
                      </a:r>
                    </a:p>
                  </a:txBody>
                  <a:tcPr/>
                </a:tc>
                <a:tc>
                  <a:txBody>
                    <a:bodyPr/>
                    <a:lstStyle/>
                    <a:p>
                      <a:r>
                        <a:rPr sz="1100"/>
                        <a:t>58% of the top 1,000 terms absent from every title</a:t>
                      </a:r>
                    </a:p>
                  </a:txBody>
                  <a:tcPr/>
                </a:tc>
                <a:tc>
                  <a:txBody>
                    <a:bodyPr/>
                    <a:lstStyle/>
                    <a:p>
                      <a:r>
                        <a:rPr sz="1100"/>
                        <a:t>Directly attributable to feed copy, and to nothing else</a:t>
                      </a:r>
                    </a:p>
                  </a:txBody>
                  <a:tcPr/>
                </a:tc>
                <a:tc>
                  <a:txBody>
                    <a:bodyPr/>
                    <a:lstStyle/>
                    <a:p>
                      <a:r>
                        <a:rPr sz="1100"/>
                        <a:t>Propose as a monthly tracker</a:t>
                      </a:r>
                    </a:p>
                  </a:txBody>
                  <a:tcPr/>
                </a:tc>
              </a:tr>
              <a:tr h="682142">
                <a:tc>
                  <a:txBody>
                    <a:bodyPr/>
                    <a:lstStyle/>
                    <a:p>
                      <a:r>
                        <a:rPr sz="1100"/>
                        <a:t>Incremental revenue</a:t>
                      </a:r>
                    </a:p>
                  </a:txBody>
                  <a:tcPr/>
                </a:tc>
                <a:tc>
                  <a:txBody>
                    <a:bodyPr/>
                    <a:lstStyle/>
                    <a:p>
                      <a:r>
                        <a:rPr sz="1100"/>
                        <a:t>Not measured by anyone today</a:t>
                      </a:r>
                    </a:p>
                  </a:txBody>
                  <a:tcPr/>
                </a:tc>
                <a:tc>
                  <a:txBody>
                    <a:bodyPr/>
                    <a:lstStyle/>
                    <a:p>
                      <a:r>
                        <a:rPr sz="1100"/>
                        <a:t>What would not have happened without the work. Needs a geo split or a holdout</a:t>
                      </a:r>
                    </a:p>
                  </a:txBody>
                  <a:tcPr/>
                </a:tc>
                <a:tc>
                  <a:txBody>
                    <a:bodyPr/>
                    <a:lstStyle/>
                    <a:p>
                      <a:r>
                        <a:rPr sz="1100"/>
                        <a:t>We will build it if the DM team will agree the design</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six hardest questions, asked for you</a:t>
            </a:r>
          </a:p>
        </p:txBody>
      </p:sp>
      <p:sp>
        <p:nvSpPr>
          <p:cNvPr id="3" name="Text Placeholder 2"/>
          <p:cNvSpPr>
            <a:spLocks noGrp="1"/>
          </p:cNvSpPr>
          <p:nvPr>
            <p:ph type="body" idx="11"/>
          </p:nvPr>
        </p:nvSpPr>
        <p:spPr/>
        <p:txBody>
          <a:bodyPr wrap="square"/>
          <a:lstStyle/>
          <a:p>
            <a:r>
              <a:t>We would rather put these on the table than have them found.</a:t>
            </a:r>
          </a:p>
        </p:txBody>
      </p:sp>
      <p:sp>
        <p:nvSpPr>
          <p:cNvPr id="4" name="Text Placeholder 3"/>
          <p:cNvSpPr>
            <a:spLocks noGrp="1"/>
          </p:cNvSpPr>
          <p:nvPr>
            <p:ph type="body" idx="14"/>
          </p:nvPr>
        </p:nvSpPr>
        <p:spPr/>
        <p:txBody>
          <a:bodyPr wrap="square"/>
          <a:lstStyle/>
          <a:p>
            <a:r>
              <a:t>None of these six is new to us. Every one is already in the plan, the audit or the test archive.</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2271901"/>
                <a:gridCol w="4350449"/>
                <a:gridCol w="4350449"/>
              </a:tblGrid>
              <a:tr h="384048">
                <a:tc>
                  <a:txBody>
                    <a:bodyPr/>
                    <a:lstStyle/>
                    <a:p>
                      <a:r>
                        <a:rPr sz="1300" b="1">
                          <a:solidFill>
                            <a:srgbClr val="FFFFFF"/>
                          </a:solidFill>
                        </a:rPr>
                        <a:t>The challenge</a:t>
                      </a:r>
                    </a:p>
                  </a:txBody>
                  <a:tcPr/>
                </a:tc>
                <a:tc>
                  <a:txBody>
                    <a:bodyPr/>
                    <a:lstStyle/>
                    <a:p>
                      <a:r>
                        <a:rPr sz="1300" b="1">
                          <a:solidFill>
                            <a:srgbClr val="FFFFFF"/>
                          </a:solidFill>
                        </a:rPr>
                        <a:t>What is true</a:t>
                      </a:r>
                    </a:p>
                  </a:txBody>
                  <a:tcPr/>
                </a:tc>
                <a:tc>
                  <a:txBody>
                    <a:bodyPr/>
                    <a:lstStyle/>
                    <a:p>
                      <a:r>
                        <a:rPr sz="1300" b="1">
                          <a:solidFill>
                            <a:srgbClr val="FFFFFF"/>
                          </a:solidFill>
                        </a:rPr>
                        <a:t>What we are doing about it</a:t>
                      </a:r>
                    </a:p>
                  </a:txBody>
                  <a:tcPr/>
                </a:tc>
              </a:tr>
              <a:tr h="568452">
                <a:tc>
                  <a:txBody>
                    <a:bodyPr/>
                    <a:lstStyle/>
                    <a:p>
                      <a:r>
                        <a:rPr sz="1100"/>
                        <a:t>“The title rewrite has never been proved”</a:t>
                      </a:r>
                    </a:p>
                  </a:txBody>
                  <a:tcPr/>
                </a:tc>
                <a:tc>
                  <a:txBody>
                    <a:bodyPr/>
                    <a:lstStyle/>
                    <a:p>
                      <a:r>
                        <a:rPr sz="1100"/>
                        <a:t>Correct. Eight of forty tests returned no data, and five of those eight were title tests. The change from 29 to 83 characters is the biggest single change made to this feed and it has no control behind it</a:t>
                      </a:r>
                    </a:p>
                  </a:txBody>
                  <a:tcPr/>
                </a:tc>
                <a:tc>
                  <a:txBody>
                    <a:bodyPr/>
                    <a:lstStyle/>
                    <a:p>
                      <a:r>
                        <a:rPr sz="1100"/>
                        <a:t>The first batch of the new cycle is a title A/B on 10,000 products with a control group held back</a:t>
                      </a:r>
                    </a:p>
                  </a:txBody>
                  <a:tcPr/>
                </a:tc>
              </a:tr>
              <a:tr h="568452">
                <a:tc>
                  <a:txBody>
                    <a:bodyPr/>
                    <a:lstStyle/>
                    <a:p>
                      <a:r>
                        <a:rPr sz="1100"/>
                        <a:t>“Only half the retainer goes on optimisation”</a:t>
                      </a:r>
                    </a:p>
                  </a:txBody>
                  <a:tcPr/>
                </a:tc>
                <a:tc>
                  <a:txBody>
                    <a:bodyPr/>
                    <a:lstStyle/>
                    <a:p>
                      <a:r>
                        <a:rPr sz="1100"/>
                        <a:t>Correct. 2,057 of the 3,738 classified hours — 55% — went on optimisation. The rest went on management, build and repair. Superdry’s own target is 80%</a:t>
                      </a:r>
                    </a:p>
                  </a:txBody>
                  <a:tcPr/>
                </a:tc>
                <a:tc>
                  <a:txBody>
                    <a:bodyPr/>
                    <a:lstStyle/>
                    <a:p>
                      <a:r>
                        <a:rPr sz="1100"/>
                        <a:t>The cut list releases 12.5 hours a month, and every hour of it comes from the other 45%</a:t>
                      </a:r>
                    </a:p>
                  </a:txBody>
                  <a:tcPr/>
                </a:tc>
              </a:tr>
              <a:tr h="568452">
                <a:tc>
                  <a:txBody>
                    <a:bodyPr/>
                    <a:lstStyle/>
                    <a:p>
                      <a:r>
                        <a:rPr sz="1100"/>
                        <a:t>“Half the range is invisible and you knew”</a:t>
                      </a:r>
                    </a:p>
                  </a:txBody>
                  <a:tcPr/>
                </a:tc>
                <a:tc>
                  <a:txBody>
                    <a:bodyPr/>
                    <a:lstStyle/>
                    <a:p>
                      <a:r>
                        <a:rPr sz="1100"/>
                        <a:t>Correct. The UK zombie rate is 47.1% and both fixes have sat open in the plan</a:t>
                      </a:r>
                    </a:p>
                  </a:txBody>
                  <a:tcPr/>
                </a:tc>
                <a:tc>
                  <a:txBody>
                    <a:bodyPr/>
                    <a:lstStyle/>
                    <a:p>
                      <a:r>
                        <a:rPr sz="1100"/>
                        <a:t>They are gated on margin and stock-depth data we have asked for since 2024 and not received</a:t>
                      </a:r>
                    </a:p>
                  </a:txBody>
                  <a:tcPr/>
                </a:tc>
              </a:tr>
              <a:tr h="568452">
                <a:tc>
                  <a:txBody>
                    <a:bodyPr/>
                    <a:lstStyle/>
                    <a:p>
                      <a:r>
                        <a:rPr sz="1100"/>
                        <a:t>“Three markets are half-built after four years”</a:t>
                      </a:r>
                    </a:p>
                  </a:txBody>
                  <a:tcPr/>
                </a:tc>
                <a:tc>
                  <a:txBody>
                    <a:bodyPr/>
                    <a:lstStyle/>
                    <a:p>
                      <a:r>
                        <a:rPr sz="1100"/>
                        <a:t>Correct. Germany, France and the Netherlands carry 0% product highlights and 0% keyword enrichment</a:t>
                      </a:r>
                    </a:p>
                  </a:txBody>
                  <a:tcPr/>
                </a:tc>
                <a:tc>
                  <a:txBody>
                    <a:bodyPr/>
                    <a:lstStyle/>
                    <a:p>
                      <a:r>
                        <a:rPr sz="1100"/>
                        <a:t>Scoped and never funded. It is back on the table as a costed build</a:t>
                      </a:r>
                    </a:p>
                  </a:txBody>
                  <a:tcPr/>
                </a:tc>
              </a:tr>
              <a:tr h="568452">
                <a:tc>
                  <a:txBody>
                    <a:bodyPr/>
                    <a:lstStyle/>
                    <a:p>
                      <a:r>
                        <a:rPr sz="1100"/>
                        <a:t>“Nothing alerts you when we break”</a:t>
                      </a:r>
                    </a:p>
                  </a:txBody>
                  <a:tcPr/>
                </a:tc>
                <a:tc>
                  <a:txBody>
                    <a:bodyPr/>
                    <a:lstStyle/>
                    <a:p>
                      <a:r>
                        <a:rPr sz="1100"/>
                        <a:t>Correct. No custom alerts are configured on any of the 19 instances. A rejection is found at the next sweep</a:t>
                      </a:r>
                    </a:p>
                  </a:txBody>
                  <a:tcPr/>
                </a:tc>
                <a:tc>
                  <a:txBody>
                    <a:bodyPr/>
                    <a:lstStyle/>
                    <a:p>
                      <a:r>
                        <a:rPr sz="1100"/>
                        <a:t>Included in the cut list at no additional fee, as part of what the released hours pay for</a:t>
                      </a:r>
                    </a:p>
                  </a:txBody>
                  <a:tcPr/>
                </a:tc>
              </a:tr>
              <a:tr h="568452">
                <a:tc>
                  <a:txBody>
                    <a:bodyPr/>
                    <a:lstStyle/>
                    <a:p>
                      <a:r>
                        <a:rPr sz="1100"/>
                        <a:t>“Your own audit grades you E”</a:t>
                      </a:r>
                    </a:p>
                  </a:txBody>
                  <a:tcPr/>
                </a:tc>
                <a:tc>
                  <a:txBody>
                    <a:bodyPr/>
                    <a:lstStyle/>
                    <a:p>
                      <a:r>
                        <a:rPr sz="1100"/>
                        <a:t>It grades high-priority issues E, reviews E, search terms E and alerting F</a:t>
                      </a:r>
                    </a:p>
                  </a:txBody>
                  <a:tcPr/>
                </a:tc>
                <a:tc>
                  <a:txBody>
                    <a:bodyPr/>
                    <a:lstStyle/>
                    <a:p>
                      <a:r>
                        <a:rPr sz="1100"/>
                        <a:t>Alerting is ours and is fixed above. Reviews and 39% missing product names are upstream of us — the three rows we asked you to own</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The net position</a:t>
            </a:r>
          </a:p>
        </p:txBody>
      </p:sp>
      <p:sp>
        <p:nvSpPr>
          <p:cNvPr id="3" name="Text Placeholder 2"/>
          <p:cNvSpPr>
            <a:spLocks noGrp="1"/>
          </p:cNvSpPr>
          <p:nvPr>
            <p:ph type="body" idx="11"/>
          </p:nvPr>
        </p:nvSpPr>
        <p:spPr/>
        <p:txBody>
          <a:bodyPr wrap="square"/>
          <a:lstStyle/>
          <a:p>
            <a:r>
              <a:t>42 hours a month are sold. 84.9 hours a month have been delivered, every month, for two years.</a:t>
            </a:r>
          </a:p>
        </p:txBody>
      </p:sp>
      <p:sp>
        <p:nvSpPr>
          <p:cNvPr id="4" name="Text Placeholder 3"/>
          <p:cNvSpPr>
            <a:spLocks noGrp="1"/>
          </p:cNvSpPr>
          <p:nvPr>
            <p:ph type="body" idx="14"/>
          </p:nvPr>
        </p:nvSpPr>
        <p:spPr/>
        <p:txBody>
          <a:bodyPr wrap="square"/>
          <a:lstStyle/>
          <a:p>
            <a:r>
              <a:t>What we need agreed today: the cut list, one primary measure, and a budget for the new services.</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5012556"/>
                <a:gridCol w="822372"/>
                <a:gridCol w="877197"/>
                <a:gridCol w="4260673"/>
              </a:tblGrid>
              <a:tr h="384048">
                <a:tc>
                  <a:txBody>
                    <a:bodyPr/>
                    <a:lstStyle/>
                    <a:p>
                      <a:r>
                        <a:rPr sz="1300" b="1">
                          <a:solidFill>
                            <a:srgbClr val="FFFFFF"/>
                          </a:solidFill>
                        </a:rPr>
                        <a:t>Line</a:t>
                      </a:r>
                    </a:p>
                  </a:txBody>
                  <a:tcPr/>
                </a:tc>
                <a:tc>
                  <a:txBody>
                    <a:bodyPr/>
                    <a:lstStyle/>
                    <a:p>
                      <a:r>
                        <a:rPr sz="1300" b="1">
                          <a:solidFill>
                            <a:srgbClr val="FFFFFF"/>
                          </a:solidFill>
                        </a:rPr>
                        <a:t>Hours</a:t>
                      </a:r>
                    </a:p>
                  </a:txBody>
                  <a:tcPr/>
                </a:tc>
                <a:tc>
                  <a:txBody>
                    <a:bodyPr/>
                    <a:lstStyle/>
                    <a:p>
                      <a:r>
                        <a:rPr sz="1300" b="1">
                          <a:solidFill>
                            <a:srgbClr val="FFFFFF"/>
                          </a:solidFill>
                        </a:rPr>
                        <a:t>Fee</a:t>
                      </a:r>
                    </a:p>
                  </a:txBody>
                  <a:tcPr/>
                </a:tc>
                <a:tc>
                  <a:txBody>
                    <a:bodyPr/>
                    <a:lstStyle/>
                    <a:p>
                      <a:r>
                        <a:rPr sz="1300" b="1">
                          <a:solidFill>
                            <a:srgbClr val="FFFFFF"/>
                          </a:solidFill>
                        </a:rPr>
                        <a:t>What changes</a:t>
                      </a:r>
                    </a:p>
                  </a:txBody>
                  <a:tcPr/>
                </a:tc>
              </a:tr>
              <a:tr h="426339">
                <a:tc>
                  <a:txBody>
                    <a:bodyPr/>
                    <a:lstStyle/>
                    <a:p>
                      <a:r>
                        <a:rPr sz="1100"/>
                        <a:t>Released — twelve unfunded markets held at feed integrity</a:t>
                      </a:r>
                    </a:p>
                  </a:txBody>
                  <a:tcPr/>
                </a:tc>
                <a:tc>
                  <a:txBody>
                    <a:bodyPr/>
                    <a:lstStyle/>
                    <a:p>
                      <a:r>
                        <a:rPr sz="1100"/>
                        <a:t>−7.5</a:t>
                      </a:r>
                    </a:p>
                  </a:txBody>
                  <a:tcPr/>
                </a:tc>
                <a:tc>
                  <a:txBody>
                    <a:bodyPr/>
                    <a:lstStyle/>
                    <a:p>
                      <a:r>
                        <a:rPr sz="1100"/>
                        <a:t>—</a:t>
                      </a:r>
                    </a:p>
                  </a:txBody>
                  <a:tcPr/>
                </a:tc>
                <a:tc>
                  <a:txBody>
                    <a:bodyPr/>
                    <a:lstStyle/>
                    <a:p>
                      <a:r>
                        <a:rPr sz="1100"/>
                        <a:t>Never billed, so no fee moves. The absorbed cost stops</a:t>
                      </a:r>
                    </a:p>
                  </a:txBody>
                  <a:tcPr/>
                </a:tc>
              </a:tr>
              <a:tr h="426339">
                <a:tc>
                  <a:txBody>
                    <a:bodyPr/>
                    <a:lstStyle/>
                    <a:p>
                      <a:r>
                        <a:rPr sz="1100"/>
                        <a:t>Released — reporting moves to the FeedSpark dashboard</a:t>
                      </a:r>
                    </a:p>
                  </a:txBody>
                  <a:tcPr/>
                </a:tc>
                <a:tc>
                  <a:txBody>
                    <a:bodyPr/>
                    <a:lstStyle/>
                    <a:p>
                      <a:r>
                        <a:rPr sz="1100"/>
                        <a:t>−4.0</a:t>
                      </a:r>
                    </a:p>
                  </a:txBody>
                  <a:tcPr/>
                </a:tc>
                <a:tc>
                  <a:txBody>
                    <a:bodyPr/>
                    <a:lstStyle/>
                    <a:p>
                      <a:r>
                        <a:rPr sz="1100"/>
                        <a:t>—</a:t>
                      </a:r>
                    </a:p>
                  </a:txBody>
                  <a:tcPr/>
                </a:tc>
                <a:tc>
                  <a:txBody>
                    <a:bodyPr/>
                    <a:lstStyle/>
                    <a:p>
                      <a:r>
                        <a:rPr sz="1100"/>
                        <a:t>Live numbers on demand; one review call a quarter</a:t>
                      </a:r>
                    </a:p>
                  </a:txBody>
                  <a:tcPr/>
                </a:tc>
              </a:tr>
              <a:tr h="426339">
                <a:tc>
                  <a:txBody>
                    <a:bodyPr/>
                    <a:lstStyle/>
                    <a:p>
                      <a:r>
                        <a:rPr sz="1100"/>
                        <a:t>Released — disapproval sweeps become automated alerts</a:t>
                      </a:r>
                    </a:p>
                  </a:txBody>
                  <a:tcPr/>
                </a:tc>
                <a:tc>
                  <a:txBody>
                    <a:bodyPr/>
                    <a:lstStyle/>
                    <a:p>
                      <a:r>
                        <a:rPr sz="1100"/>
                        <a:t>−1.0</a:t>
                      </a:r>
                    </a:p>
                  </a:txBody>
                  <a:tcPr/>
                </a:tc>
                <a:tc>
                  <a:txBody>
                    <a:bodyPr/>
                    <a:lstStyle/>
                    <a:p>
                      <a:r>
                        <a:rPr sz="1100"/>
                        <a:t>—</a:t>
                      </a:r>
                    </a:p>
                  </a:txBody>
                  <a:tcPr/>
                </a:tc>
                <a:tc>
                  <a:txBody>
                    <a:bodyPr/>
                    <a:lstStyle/>
                    <a:p>
                      <a:r>
                        <a:rPr sz="1100"/>
                        <a:t>Faster detection, and it costs nothing to switch on</a:t>
                      </a:r>
                    </a:p>
                  </a:txBody>
                  <a:tcPr/>
                </a:tc>
              </a:tr>
              <a:tr h="426339">
                <a:tc>
                  <a:txBody>
                    <a:bodyPr/>
                    <a:lstStyle/>
                    <a:p>
                      <a:r>
                        <a:rPr sz="1100"/>
                        <a:t>Total released back into the retainer</a:t>
                      </a:r>
                    </a:p>
                  </a:txBody>
                  <a:tcPr/>
                </a:tc>
                <a:tc>
                  <a:txBody>
                    <a:bodyPr/>
                    <a:lstStyle/>
                    <a:p>
                      <a:r>
                        <a:rPr sz="1100"/>
                        <a:t>−12.5</a:t>
                      </a:r>
                    </a:p>
                  </a:txBody>
                  <a:tcPr/>
                </a:tc>
                <a:tc>
                  <a:txBody>
                    <a:bodyPr/>
                    <a:lstStyle/>
                    <a:p>
                      <a:r>
                        <a:rPr sz="1100"/>
                        <a:t>£0</a:t>
                      </a:r>
                    </a:p>
                  </a:txBody>
                  <a:tcPr/>
                </a:tc>
                <a:tc>
                  <a:txBody>
                    <a:bodyPr/>
                    <a:lstStyle/>
                    <a:p>
                      <a:r>
                        <a:rPr sz="1100"/>
                        <a:t>30% of the contracted 42 hours, redeployed</a:t>
                      </a:r>
                    </a:p>
                  </a:txBody>
                  <a:tcPr/>
                </a:tc>
              </a:tr>
              <a:tr h="426339">
                <a:tc>
                  <a:txBody>
                    <a:bodyPr/>
                    <a:lstStyle/>
                    <a:p>
                      <a:r>
                        <a:rPr sz="1100"/>
                        <a:t>Added — catalogue activation, and parity for Germany, France and the Netherlands</a:t>
                      </a:r>
                    </a:p>
                  </a:txBody>
                  <a:tcPr/>
                </a:tc>
                <a:tc>
                  <a:txBody>
                    <a:bodyPr/>
                    <a:lstStyle/>
                    <a:p>
                      <a:r>
                        <a:rPr sz="1100"/>
                        <a:t>To scope</a:t>
                      </a:r>
                    </a:p>
                  </a:txBody>
                  <a:tcPr/>
                </a:tc>
                <a:tc>
                  <a:txBody>
                    <a:bodyPr/>
                    <a:lstStyle/>
                    <a:p>
                      <a:r>
                        <a:rPr sz="1100"/>
                        <a:t>To quote</a:t>
                      </a:r>
                    </a:p>
                  </a:txBody>
                  <a:tcPr/>
                </a:tc>
                <a:tc>
                  <a:txBody>
                    <a:bodyPr/>
                    <a:lstStyle/>
                    <a:p>
                      <a:r>
                        <a:rPr sz="1100"/>
                        <a:t>12,100 invisible UK products; three feeds brought up to the UK build</a:t>
                      </a:r>
                    </a:p>
                  </a:txBody>
                  <a:tcPr/>
                </a:tc>
              </a:tr>
              <a:tr h="426339">
                <a:tc>
                  <a:txBody>
                    <a:bodyPr/>
                    <a:lstStyle/>
                    <a:p>
                      <a:r>
                        <a:rPr sz="1100"/>
                        <a:t>Added — search-term coverage and AI-surface readiness</a:t>
                      </a:r>
                    </a:p>
                  </a:txBody>
                  <a:tcPr/>
                </a:tc>
                <a:tc>
                  <a:txBody>
                    <a:bodyPr/>
                    <a:lstStyle/>
                    <a:p>
                      <a:r>
                        <a:rPr sz="1100"/>
                        <a:t>To scope</a:t>
                      </a:r>
                    </a:p>
                  </a:txBody>
                  <a:tcPr/>
                </a:tc>
                <a:tc>
                  <a:txBody>
                    <a:bodyPr/>
                    <a:lstStyle/>
                    <a:p>
                      <a:r>
                        <a:rPr sz="1100"/>
                        <a:t>To quote</a:t>
                      </a:r>
                    </a:p>
                  </a:txBody>
                  <a:tcPr/>
                </a:tc>
                <a:tc>
                  <a:txBody>
                    <a:bodyPr/>
                    <a:lstStyle/>
                    <a:p>
                      <a:r>
                        <a:rPr sz="1100"/>
                        <a:t>58% of the top 1,000 terms covered; the conversational six populated</a:t>
                      </a:r>
                    </a:p>
                  </a:txBody>
                  <a:tcPr/>
                </a:tc>
              </a:tr>
              <a:tr h="426339">
                <a:tc>
                  <a:txBody>
                    <a:bodyPr/>
                    <a:lstStyle/>
                    <a:p>
                      <a:r>
                        <a:rPr sz="1100"/>
                        <a:t>Added — ALP and DPA overlay</a:t>
                      </a:r>
                    </a:p>
                  </a:txBody>
                  <a:tcPr/>
                </a:tc>
                <a:tc>
                  <a:txBody>
                    <a:bodyPr/>
                    <a:lstStyle/>
                    <a:p>
                      <a:r>
                        <a:rPr sz="1100"/>
                        <a:t>To scope</a:t>
                      </a:r>
                    </a:p>
                  </a:txBody>
                  <a:tcPr/>
                </a:tc>
                <a:tc>
                  <a:txBody>
                    <a:bodyPr/>
                    <a:lstStyle/>
                    <a:p>
                      <a:r>
                        <a:rPr sz="1100"/>
                        <a:t>To quote</a:t>
                      </a:r>
                    </a:p>
                  </a:txBody>
                  <a:tcPr/>
                </a:tc>
                <a:tc>
                  <a:txBody>
                    <a:bodyPr/>
                    <a:lstStyle/>
                    <a:p>
                      <a:r>
                        <a:rPr sz="1100"/>
                        <a:t>Store stock into Shopping; creative overlays on the social feeds</a:t>
                      </a:r>
                    </a:p>
                  </a:txBody>
                  <a:tcPr/>
                </a:tc>
              </a:tr>
              <a:tr h="426339">
                <a:tc>
                  <a:txBody>
                    <a:bodyPr/>
                    <a:lstStyle/>
                    <a:p>
                      <a:r>
                        <a:rPr sz="1100"/>
                        <a:t>Net position</a:t>
                      </a:r>
                    </a:p>
                  </a:txBody>
                  <a:tcPr/>
                </a:tc>
                <a:tc>
                  <a:txBody>
                    <a:bodyPr/>
                    <a:lstStyle/>
                    <a:p>
                      <a:r>
                        <a:rPr sz="1100"/>
                        <a:t>12.5 released</a:t>
                      </a:r>
                    </a:p>
                  </a:txBody>
                  <a:tcPr/>
                </a:tc>
                <a:tc>
                  <a:txBody>
                    <a:bodyPr/>
                    <a:lstStyle/>
                    <a:p>
                      <a:r>
                        <a:rPr sz="1100"/>
                        <a:t>New scope only</a:t>
                      </a:r>
                    </a:p>
                  </a:txBody>
                  <a:tcPr/>
                </a:tc>
                <a:tc>
                  <a:txBody>
                    <a:bodyPr/>
                    <a:lstStyle/>
                    <a:p>
                      <a:r>
                        <a:rPr sz="1100"/>
                        <a:t>The existing service costs less to run before any new fee is agreed</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Vu</a:t>
            </a:r>
          </a:p>
        </p:txBody>
      </p:sp>
      <p:sp>
        <p:nvSpPr>
          <p:cNvPr id="4" name="Text Placeholder 3"/>
          <p:cNvSpPr>
            <a:spLocks noGrp="1"/>
          </p:cNvSpPr>
          <p:nvPr>
            <p:ph type="body" idx="11"/>
          </p:nvPr>
        </p:nvSpPr>
        <p:spPr/>
        <p:txBody>
          <a:bodyPr wrap="square"/>
          <a:lstStyle/>
          <a:p>
            <a:r>
              <a:t>Account Director</a:t>
            </a:r>
          </a:p>
        </p:txBody>
      </p:sp>
      <p:sp>
        <p:nvSpPr>
          <p:cNvPr id="5" name="Text Placeholder 4"/>
          <p:cNvSpPr>
            <a:spLocks noGrp="1"/>
          </p:cNvSpPr>
          <p:nvPr>
            <p:ph type="body" idx="2"/>
          </p:nvPr>
        </p:nvSpPr>
        <p:spPr/>
        <p:txBody>
          <a:bodyPr wrap="square"/>
          <a:lstStyle/>
          <a:p>
            <a:r>
              <a:t>ray@feedspark.com</a:t>
            </a:r>
          </a:p>
        </p:txBody>
      </p:sp>
      <p:sp>
        <p:nvSpPr>
          <p:cNvPr id="6" name="Text Placeholder 5"/>
          <p:cNvSpPr>
            <a:spLocks noGrp="1"/>
          </p:cNvSpPr>
          <p:nvPr>
            <p:ph type="body" idx="3"/>
          </p:nvPr>
        </p:nvSpPr>
        <p:spPr/>
        <p:txBody>
          <a:bodyPr wrap="square"/>
          <a:lstStyle/>
          <a:p>
            <a:r>
              <a:t>Also on the account</a:t>
            </a:r>
          </a:p>
        </p:txBody>
      </p:sp>
      <p:sp>
        <p:nvSpPr>
          <p:cNvPr id="7" name="Text Placeholder 6"/>
          <p:cNvSpPr>
            <a:spLocks noGrp="1"/>
          </p:cNvSpPr>
          <p:nvPr>
            <p:ph type="body" idx="4"/>
          </p:nvPr>
        </p:nvSpPr>
        <p:spPr/>
        <p:txBody>
          <a:bodyPr wrap="square"/>
          <a:lstStyle/>
          <a:p>
            <a:r>
              <a:t>Steven Opuni — steven@feedspark.com</a:t>
            </a:r>
          </a:p>
          <a:p>
            <a:r>
              <a:t>FeedSpark Technical AM — tech-am@feedspark.com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