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GB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opLine"/>
          <p:cNvSpPr/>
          <p:nvPr/>
        </p:nvSpPr>
        <p:spPr>
          <a:xfrm>
            <a:off x="0" y="0"/>
            <a:ext cx="12192000" cy="3456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40000">
                <a:srgbClr val="3B82F6"/>
              </a:gs>
              <a:gs pos="70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GlowCircle"/>
          <p:cNvSpPr/>
          <p:nvPr/>
        </p:nvSpPr>
        <p:spPr>
          <a:xfrm>
            <a:off x="8229600" y="-914400"/>
            <a:ext cx="4569840" cy="4569840"/>
          </a:xfrm>
          <a:prstGeom prst="ellipse">
            <a:avLst/>
          </a:prstGeom>
          <a:gradFill rotWithShape="0">
            <a:gsLst>
              <a:gs pos="0">
                <a:srgbClr val="ED6F0B">
                  <a:alpha val="15000"/>
                </a:srgbClr>
              </a:gs>
              <a:gs pos="100000">
                <a:srgbClr val="ED6F0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LeftAccent"/>
          <p:cNvSpPr/>
          <p:nvPr/>
        </p:nvSpPr>
        <p:spPr>
          <a:xfrm>
            <a:off x="731520" y="1828800"/>
            <a:ext cx="43560" cy="274104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Title"/>
          <p:cNvSpPr>
            <a:spLocks noGrp="1"/>
          </p:cNvSpPr>
          <p:nvPr>
            <p:ph type="ctrTitle"/>
          </p:nvPr>
        </p:nvSpPr>
        <p:spPr>
          <a:xfrm>
            <a:off x="914400" y="1828800"/>
            <a:ext cx="9599040" cy="136944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4000"/>
              </a:lnSpc>
              <a:defRPr sz="54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5" name="Subtitle"/>
          <p:cNvSpPr>
            <a:spLocks noGrp="1"/>
          </p:cNvSpPr>
          <p:nvPr>
            <p:ph type="subTitle" idx="1"/>
          </p:nvPr>
        </p:nvSpPr>
        <p:spPr>
          <a:xfrm>
            <a:off x="914400" y="3300000"/>
            <a:ext cx="959904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defRPr sz="2000" b="0" i="0">
                <a:solidFill>
                  <a:srgbClr val="94A3B8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6" name="Date / Prepared by"/>
          <p:cNvSpPr>
            <a:spLocks noGrp="1"/>
          </p:cNvSpPr>
          <p:nvPr>
            <p:ph type="body" idx="11"/>
          </p:nvPr>
        </p:nvSpPr>
        <p:spPr>
          <a:xfrm>
            <a:off x="914400" y="4150000"/>
            <a:ext cx="9599040" cy="38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defRPr sz="1400" b="1" i="0">
                <a:solidFill>
                  <a:srgbClr val="ED6F0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7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FFFFFF"/>
                </a:solidFill>
              </a:rPr>
              <a:t>Spark</a:t>
            </a:r>
          </a:p>
        </p:txBody>
      </p:sp>
      <p:sp>
        <p:nvSpPr>
          <p:cNvPr id="18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Marker">
    <p:bg>
      <p:bgPr>
        <a:solidFill>
          <a:srgbClr val="ED6F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gCircle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SmallCircle"/>
          <p:cNvSpPr/>
          <p:nvPr/>
        </p:nvSpPr>
        <p:spPr>
          <a:xfrm>
            <a:off x="10058400" y="914400"/>
            <a:ext cx="3200400" cy="32004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3" name="LeftAccent"/>
          <p:cNvSpPr/>
          <p:nvPr/>
        </p:nvSpPr>
        <p:spPr>
          <a:xfrm>
            <a:off x="777240" y="1828800"/>
            <a:ext cx="45720" cy="2286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Section Label"/>
          <p:cNvSpPr>
            <a:spLocks noGrp="1"/>
          </p:cNvSpPr>
          <p:nvPr>
            <p:ph type="body" idx="11"/>
          </p:nvPr>
        </p:nvSpPr>
        <p:spPr>
          <a:xfrm>
            <a:off x="960120" y="1874520"/>
            <a:ext cx="5486400" cy="32004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400" b="0" i="0" spc="400">
                <a:solidFill>
                  <a:srgbClr val="FFFFFF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5" name="Section Title"/>
          <p:cNvSpPr>
            <a:spLocks noGrp="1"/>
          </p:cNvSpPr>
          <p:nvPr>
            <p:ph type="title"/>
          </p:nvPr>
        </p:nvSpPr>
        <p:spPr>
          <a:xfrm>
            <a:off x="960120" y="2194560"/>
            <a:ext cx="10058400" cy="1371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4000"/>
              </a:lnSpc>
              <a:defRPr sz="48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6" name="Section Subtitle"/>
          <p:cNvSpPr>
            <a:spLocks noGrp="1"/>
          </p:cNvSpPr>
          <p:nvPr>
            <p:ph type="body" idx="1"/>
          </p:nvPr>
        </p:nvSpPr>
        <p:spPr>
          <a:xfrm>
            <a:off x="960120" y="3657600"/>
            <a:ext cx="9601200" cy="54864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600" b="0" i="0">
                <a:solidFill>
                  <a:srgbClr val="FFE4C4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7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FFFFFF"/>
                </a:solidFill>
              </a:rPr>
              <a:t>FeedSpark</a:t>
            </a:r>
          </a:p>
        </p:txBody>
      </p:sp>
      <p:sp>
        <p:nvSpPr>
          <p:cNvPr id="18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Content"/>
          <p:cNvSpPr>
            <a:spLocks noGrp="1"/>
          </p:cNvSpPr>
          <p:nvPr>
            <p:ph type="body" idx="1"/>
          </p:nvPr>
        </p:nvSpPr>
        <p:spPr>
          <a:xfrm>
            <a:off x="609480" y="1780000"/>
            <a:ext cx="10973040" cy="388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defRPr sz="17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5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1A365D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1A365D"/>
                </a:solidFill>
              </a:rPr>
              <a:t>Spark</a:t>
            </a:r>
          </a:p>
        </p:txBody>
      </p:sp>
      <p:sp>
        <p:nvSpPr>
          <p:cNvPr id="19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19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20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Left Content"/>
          <p:cNvSpPr>
            <a:spLocks noGrp="1"/>
          </p:cNvSpPr>
          <p:nvPr>
            <p:ph type="body" idx="1"/>
          </p:nvPr>
        </p:nvSpPr>
        <p:spPr>
          <a:xfrm>
            <a:off x="609480" y="1780000"/>
            <a:ext cx="5330520" cy="388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defRPr sz="16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5" name="Right Content"/>
          <p:cNvSpPr>
            <a:spLocks noGrp="1"/>
          </p:cNvSpPr>
          <p:nvPr>
            <p:ph type="body" idx="2"/>
          </p:nvPr>
        </p:nvSpPr>
        <p:spPr>
          <a:xfrm>
            <a:off x="6252000" y="1780000"/>
            <a:ext cx="5330520" cy="388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defRPr sz="16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6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1A365D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9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1A365D"/>
                </a:solidFill>
              </a:rPr>
              <a:t>Spark</a:t>
            </a:r>
          </a:p>
        </p:txBody>
      </p:sp>
      <p:sp>
        <p:nvSpPr>
          <p:cNvPr id="20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20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21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Left, Content R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Underline"/>
          <p:cNvSpPr/>
          <p:nvPr/>
        </p:nvSpPr>
        <p:spPr>
          <a:xfrm>
            <a:off x="609480" y="1190000"/>
            <a:ext cx="1691640" cy="36576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Image"/>
          <p:cNvSpPr>
            <a:spLocks noGrp="1"/>
          </p:cNvSpPr>
          <p:nvPr>
            <p:ph type="pic" idx="1"/>
          </p:nvPr>
        </p:nvSpPr>
        <p:spPr>
          <a:xfrm>
            <a:off x="609480" y="1500000"/>
            <a:ext cx="5400000" cy="39600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4" name="Content"/>
          <p:cNvSpPr>
            <a:spLocks noGrp="1"/>
          </p:cNvSpPr>
          <p:nvPr>
            <p:ph type="body" idx="1"/>
          </p:nvPr>
        </p:nvSpPr>
        <p:spPr>
          <a:xfrm>
            <a:off x="6429480" y="1500000"/>
            <a:ext cx="5153040" cy="39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2000"/>
              </a:lnSpc>
              <a:defRPr sz="17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5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1A365D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1A365D"/>
                </a:solidFill>
              </a:rPr>
              <a:t>Spark</a:t>
            </a:r>
          </a:p>
        </p:txBody>
      </p:sp>
      <p:sp>
        <p:nvSpPr>
          <p:cNvPr id="19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19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20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Content Left, Image R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Underline"/>
          <p:cNvSpPr/>
          <p:nvPr/>
        </p:nvSpPr>
        <p:spPr>
          <a:xfrm>
            <a:off x="609480" y="1190000"/>
            <a:ext cx="1691640" cy="36576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Content"/>
          <p:cNvSpPr>
            <a:spLocks noGrp="1"/>
          </p:cNvSpPr>
          <p:nvPr>
            <p:ph type="body" idx="1"/>
          </p:nvPr>
        </p:nvSpPr>
        <p:spPr>
          <a:xfrm>
            <a:off x="609480" y="1500000"/>
            <a:ext cx="5153040" cy="39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2000"/>
              </a:lnSpc>
              <a:defRPr sz="17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4" name="Image"/>
          <p:cNvSpPr>
            <a:spLocks noGrp="1"/>
          </p:cNvSpPr>
          <p:nvPr>
            <p:ph type="pic" idx="1"/>
          </p:nvPr>
        </p:nvSpPr>
        <p:spPr>
          <a:xfrm>
            <a:off x="6182520" y="1500000"/>
            <a:ext cx="5400000" cy="39600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5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1A365D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1A365D"/>
                </a:solidFill>
              </a:rPr>
              <a:t>Spark</a:t>
            </a:r>
          </a:p>
        </p:txBody>
      </p:sp>
      <p:sp>
        <p:nvSpPr>
          <p:cNvPr id="19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19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20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-Card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3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Card"/>
          <p:cNvSpPr/>
          <p:nvPr/>
        </p:nvSpPr>
        <p:spPr>
          <a:xfrm>
            <a:off x="609480" y="1760000"/>
            <a:ext cx="5330520" cy="364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CardAccent"/>
          <p:cNvSpPr/>
          <p:nvPr/>
        </p:nvSpPr>
        <p:spPr>
          <a:xfrm>
            <a:off x="609480" y="1760000"/>
            <a:ext cx="73152" cy="364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 1 Heading"/>
          <p:cNvSpPr>
            <a:spLocks noGrp="1"/>
          </p:cNvSpPr>
          <p:nvPr>
            <p:ph type="body" idx="1"/>
          </p:nvPr>
        </p:nvSpPr>
        <p:spPr>
          <a:xfrm>
            <a:off x="859480" y="1910000"/>
            <a:ext cx="488052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20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Card 1 Body"/>
          <p:cNvSpPr>
            <a:spLocks noGrp="1"/>
          </p:cNvSpPr>
          <p:nvPr>
            <p:ph type="body" idx="2"/>
          </p:nvPr>
        </p:nvSpPr>
        <p:spPr>
          <a:xfrm>
            <a:off x="859480" y="2440000"/>
            <a:ext cx="4880520" cy="28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6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Card"/>
          <p:cNvSpPr/>
          <p:nvPr/>
        </p:nvSpPr>
        <p:spPr>
          <a:xfrm>
            <a:off x="6252000" y="1760000"/>
            <a:ext cx="5330520" cy="3640000"/>
          </a:xfrm>
          <a:prstGeom prst="roundRect">
            <a:avLst>
              <a:gd name="adj" fmla="val 5500"/>
            </a:avLst>
          </a:prstGeom>
          <a:solidFill>
            <a:srgbClr val="DBEAF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9" name="CardAccent"/>
          <p:cNvSpPr/>
          <p:nvPr/>
        </p:nvSpPr>
        <p:spPr>
          <a:xfrm>
            <a:off x="6252000" y="1760000"/>
            <a:ext cx="73152" cy="3640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Card 2 Heading"/>
          <p:cNvSpPr>
            <a:spLocks noGrp="1"/>
          </p:cNvSpPr>
          <p:nvPr>
            <p:ph type="body" idx="3"/>
          </p:nvPr>
        </p:nvSpPr>
        <p:spPr>
          <a:xfrm>
            <a:off x="6502000" y="1910000"/>
            <a:ext cx="488052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20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1" name="Card 2 Body"/>
          <p:cNvSpPr>
            <a:spLocks noGrp="1"/>
          </p:cNvSpPr>
          <p:nvPr>
            <p:ph type="body" idx="4"/>
          </p:nvPr>
        </p:nvSpPr>
        <p:spPr>
          <a:xfrm>
            <a:off x="6502000" y="2440000"/>
            <a:ext cx="4880520" cy="28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6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2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1A365D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5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1A365D"/>
                </a:solidFill>
              </a:rPr>
              <a:t>Spark</a:t>
            </a:r>
          </a:p>
        </p:txBody>
      </p:sp>
      <p:sp>
        <p:nvSpPr>
          <p:cNvPr id="26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26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27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hree-Card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3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Card"/>
          <p:cNvSpPr/>
          <p:nvPr/>
        </p:nvSpPr>
        <p:spPr>
          <a:xfrm>
            <a:off x="609480" y="1760000"/>
            <a:ext cx="3449680" cy="364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CardAccent"/>
          <p:cNvSpPr/>
          <p:nvPr/>
        </p:nvSpPr>
        <p:spPr>
          <a:xfrm>
            <a:off x="609480" y="1760000"/>
            <a:ext cx="73152" cy="364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 1 Heading"/>
          <p:cNvSpPr>
            <a:spLocks noGrp="1"/>
          </p:cNvSpPr>
          <p:nvPr>
            <p:ph type="body" idx="1"/>
          </p:nvPr>
        </p:nvSpPr>
        <p:spPr>
          <a:xfrm>
            <a:off x="85948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20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Card 1 Body"/>
          <p:cNvSpPr>
            <a:spLocks noGrp="1"/>
          </p:cNvSpPr>
          <p:nvPr>
            <p:ph type="body" idx="2"/>
          </p:nvPr>
        </p:nvSpPr>
        <p:spPr>
          <a:xfrm>
            <a:off x="859480" y="2440000"/>
            <a:ext cx="2999680" cy="28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6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Card"/>
          <p:cNvSpPr/>
          <p:nvPr/>
        </p:nvSpPr>
        <p:spPr>
          <a:xfrm>
            <a:off x="4371160" y="1760000"/>
            <a:ext cx="3449680" cy="3640000"/>
          </a:xfrm>
          <a:prstGeom prst="roundRect">
            <a:avLst>
              <a:gd name="adj" fmla="val 5500"/>
            </a:avLst>
          </a:prstGeom>
          <a:solidFill>
            <a:srgbClr val="DBEAF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9" name="CardAccent"/>
          <p:cNvSpPr/>
          <p:nvPr/>
        </p:nvSpPr>
        <p:spPr>
          <a:xfrm>
            <a:off x="4371160" y="1760000"/>
            <a:ext cx="73152" cy="3640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Card 2 Heading"/>
          <p:cNvSpPr>
            <a:spLocks noGrp="1"/>
          </p:cNvSpPr>
          <p:nvPr>
            <p:ph type="body" idx="3"/>
          </p:nvPr>
        </p:nvSpPr>
        <p:spPr>
          <a:xfrm>
            <a:off x="462116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20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1" name="Card 2 Body"/>
          <p:cNvSpPr>
            <a:spLocks noGrp="1"/>
          </p:cNvSpPr>
          <p:nvPr>
            <p:ph type="body" idx="4"/>
          </p:nvPr>
        </p:nvSpPr>
        <p:spPr>
          <a:xfrm>
            <a:off x="4621160" y="2440000"/>
            <a:ext cx="2999680" cy="28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6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2" name="Card"/>
          <p:cNvSpPr/>
          <p:nvPr/>
        </p:nvSpPr>
        <p:spPr>
          <a:xfrm>
            <a:off x="8132840" y="1760000"/>
            <a:ext cx="3449680" cy="3640000"/>
          </a:xfrm>
          <a:prstGeom prst="roundRect">
            <a:avLst>
              <a:gd name="adj" fmla="val 5500"/>
            </a:avLst>
          </a:prstGeom>
          <a:solidFill>
            <a:srgbClr val="D1FAE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CardAccent"/>
          <p:cNvSpPr/>
          <p:nvPr/>
        </p:nvSpPr>
        <p:spPr>
          <a:xfrm>
            <a:off x="8132840" y="1760000"/>
            <a:ext cx="73152" cy="36400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Card 3 Heading"/>
          <p:cNvSpPr>
            <a:spLocks noGrp="1"/>
          </p:cNvSpPr>
          <p:nvPr>
            <p:ph type="body" idx="5"/>
          </p:nvPr>
        </p:nvSpPr>
        <p:spPr>
          <a:xfrm>
            <a:off x="838284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20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5" name="Card 3 Body"/>
          <p:cNvSpPr>
            <a:spLocks noGrp="1"/>
          </p:cNvSpPr>
          <p:nvPr>
            <p:ph type="body" idx="6"/>
          </p:nvPr>
        </p:nvSpPr>
        <p:spPr>
          <a:xfrm>
            <a:off x="8382840" y="2440000"/>
            <a:ext cx="2999680" cy="28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6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6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7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8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1A365D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9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1A365D"/>
                </a:solidFill>
              </a:rPr>
              <a:t>Spark</a:t>
            </a:r>
          </a:p>
        </p:txBody>
      </p:sp>
      <p:sp>
        <p:nvSpPr>
          <p:cNvPr id="30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30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31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our-Card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3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Card"/>
          <p:cNvSpPr/>
          <p:nvPr/>
        </p:nvSpPr>
        <p:spPr>
          <a:xfrm>
            <a:off x="609480" y="1760000"/>
            <a:ext cx="5330520" cy="176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CardAccent"/>
          <p:cNvSpPr/>
          <p:nvPr/>
        </p:nvSpPr>
        <p:spPr>
          <a:xfrm>
            <a:off x="609480" y="1760000"/>
            <a:ext cx="73152" cy="176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 1 Heading"/>
          <p:cNvSpPr>
            <a:spLocks noGrp="1"/>
          </p:cNvSpPr>
          <p:nvPr>
            <p:ph type="body" idx="1"/>
          </p:nvPr>
        </p:nvSpPr>
        <p:spPr>
          <a:xfrm>
            <a:off x="859480" y="1910000"/>
            <a:ext cx="488052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Card 1 Body"/>
          <p:cNvSpPr>
            <a:spLocks noGrp="1"/>
          </p:cNvSpPr>
          <p:nvPr>
            <p:ph type="body" idx="2"/>
          </p:nvPr>
        </p:nvSpPr>
        <p:spPr>
          <a:xfrm>
            <a:off x="859480" y="2440000"/>
            <a:ext cx="4880520" cy="9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Card"/>
          <p:cNvSpPr/>
          <p:nvPr/>
        </p:nvSpPr>
        <p:spPr>
          <a:xfrm>
            <a:off x="6252000" y="1760000"/>
            <a:ext cx="5330520" cy="1760000"/>
          </a:xfrm>
          <a:prstGeom prst="roundRect">
            <a:avLst>
              <a:gd name="adj" fmla="val 5500"/>
            </a:avLst>
          </a:prstGeom>
          <a:solidFill>
            <a:srgbClr val="DBEAF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9" name="CardAccent"/>
          <p:cNvSpPr/>
          <p:nvPr/>
        </p:nvSpPr>
        <p:spPr>
          <a:xfrm>
            <a:off x="6252000" y="1760000"/>
            <a:ext cx="73152" cy="1760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Card 2 Heading"/>
          <p:cNvSpPr>
            <a:spLocks noGrp="1"/>
          </p:cNvSpPr>
          <p:nvPr>
            <p:ph type="body" idx="3"/>
          </p:nvPr>
        </p:nvSpPr>
        <p:spPr>
          <a:xfrm>
            <a:off x="6502000" y="1910000"/>
            <a:ext cx="488052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1" name="Card 2 Body"/>
          <p:cNvSpPr>
            <a:spLocks noGrp="1"/>
          </p:cNvSpPr>
          <p:nvPr>
            <p:ph type="body" idx="4"/>
          </p:nvPr>
        </p:nvSpPr>
        <p:spPr>
          <a:xfrm>
            <a:off x="6502000" y="2440000"/>
            <a:ext cx="4880520" cy="9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2" name="Card"/>
          <p:cNvSpPr/>
          <p:nvPr/>
        </p:nvSpPr>
        <p:spPr>
          <a:xfrm>
            <a:off x="609480" y="3750000"/>
            <a:ext cx="5330520" cy="1760000"/>
          </a:xfrm>
          <a:prstGeom prst="roundRect">
            <a:avLst>
              <a:gd name="adj" fmla="val 5500"/>
            </a:avLst>
          </a:prstGeom>
          <a:solidFill>
            <a:srgbClr val="D1FAE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CardAccent"/>
          <p:cNvSpPr/>
          <p:nvPr/>
        </p:nvSpPr>
        <p:spPr>
          <a:xfrm>
            <a:off x="609480" y="3750000"/>
            <a:ext cx="73152" cy="17600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Card 3 Heading"/>
          <p:cNvSpPr>
            <a:spLocks noGrp="1"/>
          </p:cNvSpPr>
          <p:nvPr>
            <p:ph type="body" idx="5"/>
          </p:nvPr>
        </p:nvSpPr>
        <p:spPr>
          <a:xfrm>
            <a:off x="859480" y="3900000"/>
            <a:ext cx="488052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5" name="Card 3 Body"/>
          <p:cNvSpPr>
            <a:spLocks noGrp="1"/>
          </p:cNvSpPr>
          <p:nvPr>
            <p:ph type="body" idx="6"/>
          </p:nvPr>
        </p:nvSpPr>
        <p:spPr>
          <a:xfrm>
            <a:off x="859480" y="4430000"/>
            <a:ext cx="4880520" cy="9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6" name="Card"/>
          <p:cNvSpPr/>
          <p:nvPr/>
        </p:nvSpPr>
        <p:spPr>
          <a:xfrm>
            <a:off x="6252000" y="3750000"/>
            <a:ext cx="5330520" cy="1760000"/>
          </a:xfrm>
          <a:prstGeom prst="roundRect">
            <a:avLst>
              <a:gd name="adj" fmla="val 5500"/>
            </a:avLst>
          </a:prstGeom>
          <a:solidFill>
            <a:srgbClr val="EDE9F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7" name="CardAccent"/>
          <p:cNvSpPr/>
          <p:nvPr/>
        </p:nvSpPr>
        <p:spPr>
          <a:xfrm>
            <a:off x="6252000" y="3750000"/>
            <a:ext cx="73152" cy="17600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8" name="Card 4 Heading"/>
          <p:cNvSpPr>
            <a:spLocks noGrp="1"/>
          </p:cNvSpPr>
          <p:nvPr>
            <p:ph type="body" idx="7"/>
          </p:nvPr>
        </p:nvSpPr>
        <p:spPr>
          <a:xfrm>
            <a:off x="6502000" y="3900000"/>
            <a:ext cx="488052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9" name="Card 4 Body"/>
          <p:cNvSpPr>
            <a:spLocks noGrp="1"/>
          </p:cNvSpPr>
          <p:nvPr>
            <p:ph type="body" idx="8"/>
          </p:nvPr>
        </p:nvSpPr>
        <p:spPr>
          <a:xfrm>
            <a:off x="6502000" y="4430000"/>
            <a:ext cx="4880520" cy="9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0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1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2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1A365D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3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1A365D"/>
                </a:solidFill>
              </a:rPr>
              <a:t>Spark</a:t>
            </a:r>
          </a:p>
        </p:txBody>
      </p:sp>
      <p:sp>
        <p:nvSpPr>
          <p:cNvPr id="34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34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35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ive-Card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3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Card"/>
          <p:cNvSpPr/>
          <p:nvPr/>
        </p:nvSpPr>
        <p:spPr>
          <a:xfrm>
            <a:off x="609480" y="176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CardAccent"/>
          <p:cNvSpPr/>
          <p:nvPr/>
        </p:nvSpPr>
        <p:spPr>
          <a:xfrm>
            <a:off x="609480" y="1760000"/>
            <a:ext cx="73152" cy="179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 1 Heading"/>
          <p:cNvSpPr>
            <a:spLocks noGrp="1"/>
          </p:cNvSpPr>
          <p:nvPr>
            <p:ph type="body" idx="1"/>
          </p:nvPr>
        </p:nvSpPr>
        <p:spPr>
          <a:xfrm>
            <a:off x="85948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Card 1 Body"/>
          <p:cNvSpPr>
            <a:spLocks noGrp="1"/>
          </p:cNvSpPr>
          <p:nvPr>
            <p:ph type="body" idx="2"/>
          </p:nvPr>
        </p:nvSpPr>
        <p:spPr>
          <a:xfrm>
            <a:off x="859480" y="244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Card"/>
          <p:cNvSpPr/>
          <p:nvPr/>
        </p:nvSpPr>
        <p:spPr>
          <a:xfrm>
            <a:off x="4371160" y="176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DBEAF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9" name="CardAccent"/>
          <p:cNvSpPr/>
          <p:nvPr/>
        </p:nvSpPr>
        <p:spPr>
          <a:xfrm>
            <a:off x="4371160" y="1760000"/>
            <a:ext cx="73152" cy="1790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Card 2 Heading"/>
          <p:cNvSpPr>
            <a:spLocks noGrp="1"/>
          </p:cNvSpPr>
          <p:nvPr>
            <p:ph type="body" idx="3"/>
          </p:nvPr>
        </p:nvSpPr>
        <p:spPr>
          <a:xfrm>
            <a:off x="462116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1" name="Card 2 Body"/>
          <p:cNvSpPr>
            <a:spLocks noGrp="1"/>
          </p:cNvSpPr>
          <p:nvPr>
            <p:ph type="body" idx="4"/>
          </p:nvPr>
        </p:nvSpPr>
        <p:spPr>
          <a:xfrm>
            <a:off x="4621160" y="244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2" name="Card"/>
          <p:cNvSpPr/>
          <p:nvPr/>
        </p:nvSpPr>
        <p:spPr>
          <a:xfrm>
            <a:off x="8132840" y="176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D1FAE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CardAccent"/>
          <p:cNvSpPr/>
          <p:nvPr/>
        </p:nvSpPr>
        <p:spPr>
          <a:xfrm>
            <a:off x="8132840" y="1760000"/>
            <a:ext cx="73152" cy="17900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Card 3 Heading"/>
          <p:cNvSpPr>
            <a:spLocks noGrp="1"/>
          </p:cNvSpPr>
          <p:nvPr>
            <p:ph type="body" idx="5"/>
          </p:nvPr>
        </p:nvSpPr>
        <p:spPr>
          <a:xfrm>
            <a:off x="838284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5" name="Card 3 Body"/>
          <p:cNvSpPr>
            <a:spLocks noGrp="1"/>
          </p:cNvSpPr>
          <p:nvPr>
            <p:ph type="body" idx="6"/>
          </p:nvPr>
        </p:nvSpPr>
        <p:spPr>
          <a:xfrm>
            <a:off x="8382840" y="244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6" name="Card"/>
          <p:cNvSpPr/>
          <p:nvPr/>
        </p:nvSpPr>
        <p:spPr>
          <a:xfrm>
            <a:off x="2490320" y="378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EDE9F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7" name="CardAccent"/>
          <p:cNvSpPr/>
          <p:nvPr/>
        </p:nvSpPr>
        <p:spPr>
          <a:xfrm>
            <a:off x="2490320" y="3780000"/>
            <a:ext cx="73152" cy="17900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8" name="Card 4 Heading"/>
          <p:cNvSpPr>
            <a:spLocks noGrp="1"/>
          </p:cNvSpPr>
          <p:nvPr>
            <p:ph type="body" idx="7"/>
          </p:nvPr>
        </p:nvSpPr>
        <p:spPr>
          <a:xfrm>
            <a:off x="2740320" y="393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9" name="Card 4 Body"/>
          <p:cNvSpPr>
            <a:spLocks noGrp="1"/>
          </p:cNvSpPr>
          <p:nvPr>
            <p:ph type="body" idx="8"/>
          </p:nvPr>
        </p:nvSpPr>
        <p:spPr>
          <a:xfrm>
            <a:off x="2740320" y="446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0" name="Card"/>
          <p:cNvSpPr/>
          <p:nvPr/>
        </p:nvSpPr>
        <p:spPr>
          <a:xfrm>
            <a:off x="6252000" y="378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FCE7F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1" name="CardAccent"/>
          <p:cNvSpPr/>
          <p:nvPr/>
        </p:nvSpPr>
        <p:spPr>
          <a:xfrm>
            <a:off x="6252000" y="3780000"/>
            <a:ext cx="73152" cy="1790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2" name="Card 5 Heading"/>
          <p:cNvSpPr>
            <a:spLocks noGrp="1"/>
          </p:cNvSpPr>
          <p:nvPr>
            <p:ph type="body" idx="9"/>
          </p:nvPr>
        </p:nvSpPr>
        <p:spPr>
          <a:xfrm>
            <a:off x="6502000" y="393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33" name="Card 5 Body"/>
          <p:cNvSpPr>
            <a:spLocks noGrp="1"/>
          </p:cNvSpPr>
          <p:nvPr>
            <p:ph type="body" idx="10"/>
          </p:nvPr>
        </p:nvSpPr>
        <p:spPr>
          <a:xfrm>
            <a:off x="6502000" y="446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4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5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6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1A365D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7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1A365D"/>
                </a:solidFill>
              </a:rPr>
              <a:t>Spark</a:t>
            </a:r>
          </a:p>
        </p:txBody>
      </p:sp>
      <p:sp>
        <p:nvSpPr>
          <p:cNvPr id="38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38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39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ix-Card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3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Card"/>
          <p:cNvSpPr/>
          <p:nvPr/>
        </p:nvSpPr>
        <p:spPr>
          <a:xfrm>
            <a:off x="609480" y="176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CardAccent"/>
          <p:cNvSpPr/>
          <p:nvPr/>
        </p:nvSpPr>
        <p:spPr>
          <a:xfrm>
            <a:off x="609480" y="1760000"/>
            <a:ext cx="73152" cy="179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Card 1 Heading"/>
          <p:cNvSpPr>
            <a:spLocks noGrp="1"/>
          </p:cNvSpPr>
          <p:nvPr>
            <p:ph type="body" idx="1"/>
          </p:nvPr>
        </p:nvSpPr>
        <p:spPr>
          <a:xfrm>
            <a:off x="85948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Card 1 Body"/>
          <p:cNvSpPr>
            <a:spLocks noGrp="1"/>
          </p:cNvSpPr>
          <p:nvPr>
            <p:ph type="body" idx="2"/>
          </p:nvPr>
        </p:nvSpPr>
        <p:spPr>
          <a:xfrm>
            <a:off x="859480" y="244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Card"/>
          <p:cNvSpPr/>
          <p:nvPr/>
        </p:nvSpPr>
        <p:spPr>
          <a:xfrm>
            <a:off x="4371160" y="176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DBEAF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9" name="CardAccent"/>
          <p:cNvSpPr/>
          <p:nvPr/>
        </p:nvSpPr>
        <p:spPr>
          <a:xfrm>
            <a:off x="4371160" y="1760000"/>
            <a:ext cx="73152" cy="1790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Card 2 Heading"/>
          <p:cNvSpPr>
            <a:spLocks noGrp="1"/>
          </p:cNvSpPr>
          <p:nvPr>
            <p:ph type="body" idx="3"/>
          </p:nvPr>
        </p:nvSpPr>
        <p:spPr>
          <a:xfrm>
            <a:off x="462116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1" name="Card 2 Body"/>
          <p:cNvSpPr>
            <a:spLocks noGrp="1"/>
          </p:cNvSpPr>
          <p:nvPr>
            <p:ph type="body" idx="4"/>
          </p:nvPr>
        </p:nvSpPr>
        <p:spPr>
          <a:xfrm>
            <a:off x="4621160" y="244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2" name="Card"/>
          <p:cNvSpPr/>
          <p:nvPr/>
        </p:nvSpPr>
        <p:spPr>
          <a:xfrm>
            <a:off x="8132840" y="176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D1FAE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CardAccent"/>
          <p:cNvSpPr/>
          <p:nvPr/>
        </p:nvSpPr>
        <p:spPr>
          <a:xfrm>
            <a:off x="8132840" y="1760000"/>
            <a:ext cx="73152" cy="17900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Card 3 Heading"/>
          <p:cNvSpPr>
            <a:spLocks noGrp="1"/>
          </p:cNvSpPr>
          <p:nvPr>
            <p:ph type="body" idx="5"/>
          </p:nvPr>
        </p:nvSpPr>
        <p:spPr>
          <a:xfrm>
            <a:off x="838284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5" name="Card 3 Body"/>
          <p:cNvSpPr>
            <a:spLocks noGrp="1"/>
          </p:cNvSpPr>
          <p:nvPr>
            <p:ph type="body" idx="6"/>
          </p:nvPr>
        </p:nvSpPr>
        <p:spPr>
          <a:xfrm>
            <a:off x="8382840" y="244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6" name="Card"/>
          <p:cNvSpPr/>
          <p:nvPr/>
        </p:nvSpPr>
        <p:spPr>
          <a:xfrm>
            <a:off x="609480" y="378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EDE9F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7" name="CardAccent"/>
          <p:cNvSpPr/>
          <p:nvPr/>
        </p:nvSpPr>
        <p:spPr>
          <a:xfrm>
            <a:off x="609480" y="3780000"/>
            <a:ext cx="73152" cy="17900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8" name="Card 4 Heading"/>
          <p:cNvSpPr>
            <a:spLocks noGrp="1"/>
          </p:cNvSpPr>
          <p:nvPr>
            <p:ph type="body" idx="7"/>
          </p:nvPr>
        </p:nvSpPr>
        <p:spPr>
          <a:xfrm>
            <a:off x="859480" y="393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9" name="Card 4 Body"/>
          <p:cNvSpPr>
            <a:spLocks noGrp="1"/>
          </p:cNvSpPr>
          <p:nvPr>
            <p:ph type="body" idx="8"/>
          </p:nvPr>
        </p:nvSpPr>
        <p:spPr>
          <a:xfrm>
            <a:off x="859480" y="446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0" name="Card"/>
          <p:cNvSpPr/>
          <p:nvPr/>
        </p:nvSpPr>
        <p:spPr>
          <a:xfrm>
            <a:off x="4371160" y="378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FCE7F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1" name="CardAccent"/>
          <p:cNvSpPr/>
          <p:nvPr/>
        </p:nvSpPr>
        <p:spPr>
          <a:xfrm>
            <a:off x="4371160" y="3780000"/>
            <a:ext cx="73152" cy="1790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2" name="Card 5 Heading"/>
          <p:cNvSpPr>
            <a:spLocks noGrp="1"/>
          </p:cNvSpPr>
          <p:nvPr>
            <p:ph type="body" idx="9"/>
          </p:nvPr>
        </p:nvSpPr>
        <p:spPr>
          <a:xfrm>
            <a:off x="4621160" y="393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33" name="Card 5 Body"/>
          <p:cNvSpPr>
            <a:spLocks noGrp="1"/>
          </p:cNvSpPr>
          <p:nvPr>
            <p:ph type="body" idx="10"/>
          </p:nvPr>
        </p:nvSpPr>
        <p:spPr>
          <a:xfrm>
            <a:off x="4621160" y="446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4" name="Card"/>
          <p:cNvSpPr/>
          <p:nvPr/>
        </p:nvSpPr>
        <p:spPr>
          <a:xfrm>
            <a:off x="8132840" y="378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5" name="CardAccent"/>
          <p:cNvSpPr/>
          <p:nvPr/>
        </p:nvSpPr>
        <p:spPr>
          <a:xfrm>
            <a:off x="8132840" y="3780000"/>
            <a:ext cx="73152" cy="179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6" name="Card 6 Heading"/>
          <p:cNvSpPr>
            <a:spLocks noGrp="1"/>
          </p:cNvSpPr>
          <p:nvPr>
            <p:ph type="body" idx="11"/>
          </p:nvPr>
        </p:nvSpPr>
        <p:spPr>
          <a:xfrm>
            <a:off x="8382840" y="393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37" name="Card 6 Body"/>
          <p:cNvSpPr>
            <a:spLocks noGrp="1"/>
          </p:cNvSpPr>
          <p:nvPr>
            <p:ph type="body" idx="12"/>
          </p:nvPr>
        </p:nvSpPr>
        <p:spPr>
          <a:xfrm>
            <a:off x="8382840" y="446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8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9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0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1A365D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1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1A365D"/>
                </a:solidFill>
              </a:rPr>
              <a:t>Spark</a:t>
            </a:r>
          </a:p>
        </p:txBody>
      </p:sp>
      <p:sp>
        <p:nvSpPr>
          <p:cNvPr id="42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42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43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ig Sta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9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Stat 1 Number"/>
          <p:cNvSpPr>
            <a:spLocks noGrp="1"/>
          </p:cNvSpPr>
          <p:nvPr>
            <p:ph type="body" idx="1"/>
          </p:nvPr>
        </p:nvSpPr>
        <p:spPr>
          <a:xfrm>
            <a:off x="609480" y="2150000"/>
            <a:ext cx="3454400" cy="120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6000" b="1" i="0">
                <a:solidFill>
                  <a:srgbClr val="ED6F0B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tat 1 Label"/>
          <p:cNvSpPr>
            <a:spLocks noGrp="1"/>
          </p:cNvSpPr>
          <p:nvPr>
            <p:ph type="body" idx="2"/>
          </p:nvPr>
        </p:nvSpPr>
        <p:spPr>
          <a:xfrm>
            <a:off x="609480" y="3500000"/>
            <a:ext cx="3454400" cy="15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6000"/>
              </a:lnSpc>
              <a:defRPr sz="15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Stat 2 Number"/>
          <p:cNvSpPr>
            <a:spLocks noGrp="1"/>
          </p:cNvSpPr>
          <p:nvPr>
            <p:ph type="body" idx="3"/>
          </p:nvPr>
        </p:nvSpPr>
        <p:spPr>
          <a:xfrm>
            <a:off x="4390880" y="2150000"/>
            <a:ext cx="3454400" cy="120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6000" b="1" i="0">
                <a:solidFill>
                  <a:srgbClr val="3B82F6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4" name="Stat 2 Label"/>
          <p:cNvSpPr>
            <a:spLocks noGrp="1"/>
          </p:cNvSpPr>
          <p:nvPr>
            <p:ph type="body" idx="4"/>
          </p:nvPr>
        </p:nvSpPr>
        <p:spPr>
          <a:xfrm>
            <a:off x="4390880" y="3500000"/>
            <a:ext cx="3454400" cy="15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6000"/>
              </a:lnSpc>
              <a:defRPr sz="15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5" name="Stat 3 Number"/>
          <p:cNvSpPr>
            <a:spLocks noGrp="1"/>
          </p:cNvSpPr>
          <p:nvPr>
            <p:ph type="body" idx="5"/>
          </p:nvPr>
        </p:nvSpPr>
        <p:spPr>
          <a:xfrm>
            <a:off x="8172280" y="2150000"/>
            <a:ext cx="3454400" cy="120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6000" b="1" i="0">
                <a:solidFill>
                  <a:srgbClr val="8B5CF6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6" name="Stat 3 Label"/>
          <p:cNvSpPr>
            <a:spLocks noGrp="1"/>
          </p:cNvSpPr>
          <p:nvPr>
            <p:ph type="body" idx="6"/>
          </p:nvPr>
        </p:nvSpPr>
        <p:spPr>
          <a:xfrm>
            <a:off x="8172280" y="3500000"/>
            <a:ext cx="3454400" cy="15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6000"/>
              </a:lnSpc>
              <a:defRPr sz="15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0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2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1A365D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3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1A365D"/>
                </a:solidFill>
              </a:rPr>
              <a:t>Spark</a:t>
            </a:r>
          </a:p>
        </p:txBody>
      </p:sp>
      <p:sp>
        <p:nvSpPr>
          <p:cNvPr id="24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24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25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ed Ste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4" name="Subtitle"/>
          <p:cNvSpPr>
            <a:spLocks noGrp="1"/>
          </p:cNvSpPr>
          <p:nvPr>
            <p:ph type="body" idx="11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5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Step 1 Circle"/>
          <p:cNvSpPr/>
          <p:nvPr/>
        </p:nvSpPr>
        <p:spPr>
          <a:xfrm>
            <a:off x="1956680" y="1840000"/>
            <a:ext cx="760000" cy="760000"/>
          </a:xfrm>
          <a:prstGeom prst="ellipse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Step 1 Number"/>
          <p:cNvSpPr>
            <a:spLocks noGrp="1"/>
          </p:cNvSpPr>
          <p:nvPr>
            <p:ph type="body" idx="1"/>
          </p:nvPr>
        </p:nvSpPr>
        <p:spPr>
          <a:xfrm>
            <a:off x="1956680" y="1840000"/>
            <a:ext cx="76000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32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3" name="Step 1 Heading"/>
          <p:cNvSpPr>
            <a:spLocks noGrp="1"/>
          </p:cNvSpPr>
          <p:nvPr>
            <p:ph type="body" idx="2"/>
          </p:nvPr>
        </p:nvSpPr>
        <p:spPr>
          <a:xfrm>
            <a:off x="609480" y="2720000"/>
            <a:ext cx="3454400" cy="5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defRPr sz="18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4" name="Step 1 Detail"/>
          <p:cNvSpPr>
            <a:spLocks noGrp="1"/>
          </p:cNvSpPr>
          <p:nvPr>
            <p:ph type="body" idx="3"/>
          </p:nvPr>
        </p:nvSpPr>
        <p:spPr>
          <a:xfrm>
            <a:off x="609480" y="3260000"/>
            <a:ext cx="3454400" cy="15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2000"/>
              </a:lnSpc>
              <a:defRPr sz="15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5" name="Step 2 Circle"/>
          <p:cNvSpPr/>
          <p:nvPr/>
        </p:nvSpPr>
        <p:spPr>
          <a:xfrm>
            <a:off x="5738080" y="1840000"/>
            <a:ext cx="760000" cy="76000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Step 2 Number"/>
          <p:cNvSpPr>
            <a:spLocks noGrp="1"/>
          </p:cNvSpPr>
          <p:nvPr>
            <p:ph type="body" idx="4"/>
          </p:nvPr>
        </p:nvSpPr>
        <p:spPr>
          <a:xfrm>
            <a:off x="5738080" y="1840000"/>
            <a:ext cx="76000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32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Step 2 Heading"/>
          <p:cNvSpPr>
            <a:spLocks noGrp="1"/>
          </p:cNvSpPr>
          <p:nvPr>
            <p:ph type="body" idx="5"/>
          </p:nvPr>
        </p:nvSpPr>
        <p:spPr>
          <a:xfrm>
            <a:off x="4390880" y="2720000"/>
            <a:ext cx="3454400" cy="5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defRPr sz="18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8" name="Step 2 Detail"/>
          <p:cNvSpPr>
            <a:spLocks noGrp="1"/>
          </p:cNvSpPr>
          <p:nvPr>
            <p:ph type="body" idx="6"/>
          </p:nvPr>
        </p:nvSpPr>
        <p:spPr>
          <a:xfrm>
            <a:off x="4390880" y="3260000"/>
            <a:ext cx="3454400" cy="15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2000"/>
              </a:lnSpc>
              <a:defRPr sz="15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9" name="Step 3 Circle"/>
          <p:cNvSpPr/>
          <p:nvPr/>
        </p:nvSpPr>
        <p:spPr>
          <a:xfrm>
            <a:off x="9519480" y="1840000"/>
            <a:ext cx="760000" cy="76000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Step 3 Number"/>
          <p:cNvSpPr>
            <a:spLocks noGrp="1"/>
          </p:cNvSpPr>
          <p:nvPr>
            <p:ph type="body" idx="7"/>
          </p:nvPr>
        </p:nvSpPr>
        <p:spPr>
          <a:xfrm>
            <a:off x="9519480" y="1840000"/>
            <a:ext cx="76000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32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1" name="Step 3 Heading"/>
          <p:cNvSpPr>
            <a:spLocks noGrp="1"/>
          </p:cNvSpPr>
          <p:nvPr>
            <p:ph type="body" idx="8"/>
          </p:nvPr>
        </p:nvSpPr>
        <p:spPr>
          <a:xfrm>
            <a:off x="8172280" y="2720000"/>
            <a:ext cx="3454400" cy="5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defRPr sz="18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2" name="Step 3 Detail"/>
          <p:cNvSpPr>
            <a:spLocks noGrp="1"/>
          </p:cNvSpPr>
          <p:nvPr>
            <p:ph type="body" idx="9"/>
          </p:nvPr>
        </p:nvSpPr>
        <p:spPr>
          <a:xfrm>
            <a:off x="8172280" y="3260000"/>
            <a:ext cx="3454400" cy="15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2000"/>
              </a:lnSpc>
              <a:defRPr sz="15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6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7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8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1A365D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9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1A365D"/>
                </a:solidFill>
              </a:rPr>
              <a:t>Spark</a:t>
            </a:r>
          </a:p>
        </p:txBody>
      </p:sp>
      <p:sp>
        <p:nvSpPr>
          <p:cNvPr id="30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30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31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icing / Tier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7" name="Subtitle"/>
          <p:cNvSpPr>
            <a:spLocks noGrp="1"/>
          </p:cNvSpPr>
          <p:nvPr>
            <p:ph type="body" idx="11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8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Tier 1 Card"/>
          <p:cNvSpPr/>
          <p:nvPr/>
        </p:nvSpPr>
        <p:spPr>
          <a:xfrm>
            <a:off x="609480" y="1700000"/>
            <a:ext cx="3454400" cy="3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Tier 1 Band"/>
          <p:cNvSpPr/>
          <p:nvPr/>
        </p:nvSpPr>
        <p:spPr>
          <a:xfrm>
            <a:off x="609480" y="1700000"/>
            <a:ext cx="3454400" cy="680000"/>
          </a:xfrm>
          <a:prstGeom prst="roundRect">
            <a:avLst>
              <a:gd name="adj" fmla="val 4000"/>
            </a:avLst>
          </a:prstGeom>
          <a:solidFill>
            <a:srgbClr val="64748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Tier 1 Name"/>
          <p:cNvSpPr>
            <a:spLocks noGrp="1"/>
          </p:cNvSpPr>
          <p:nvPr>
            <p:ph type="body" idx="1"/>
          </p:nvPr>
        </p:nvSpPr>
        <p:spPr>
          <a:xfrm>
            <a:off x="609480" y="1750000"/>
            <a:ext cx="3454400" cy="5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19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4" name="Tier 1 Price"/>
          <p:cNvSpPr>
            <a:spLocks noGrp="1"/>
          </p:cNvSpPr>
          <p:nvPr>
            <p:ph type="body" idx="2"/>
          </p:nvPr>
        </p:nvSpPr>
        <p:spPr>
          <a:xfrm>
            <a:off x="759480" y="2500000"/>
            <a:ext cx="315440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36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5" name="Tier 1 Features"/>
          <p:cNvSpPr>
            <a:spLocks noGrp="1"/>
          </p:cNvSpPr>
          <p:nvPr>
            <p:ph type="body" idx="3"/>
          </p:nvPr>
        </p:nvSpPr>
        <p:spPr>
          <a:xfrm>
            <a:off x="869480" y="3380000"/>
            <a:ext cx="2934400" cy="21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6000"/>
              </a:lnSpc>
              <a:defRPr sz="14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6" name="Tier 2 Card"/>
          <p:cNvSpPr/>
          <p:nvPr/>
        </p:nvSpPr>
        <p:spPr>
          <a:xfrm>
            <a:off x="4390880" y="1700000"/>
            <a:ext cx="3454400" cy="3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D6F0B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7" name="Tier 2 Band"/>
          <p:cNvSpPr/>
          <p:nvPr/>
        </p:nvSpPr>
        <p:spPr>
          <a:xfrm>
            <a:off x="4390880" y="1700000"/>
            <a:ext cx="3454400" cy="680000"/>
          </a:xfrm>
          <a:prstGeom prst="roundRect">
            <a:avLst>
              <a:gd name="adj" fmla="val 4000"/>
            </a:avLst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Tier 2 Name"/>
          <p:cNvSpPr>
            <a:spLocks noGrp="1"/>
          </p:cNvSpPr>
          <p:nvPr>
            <p:ph type="body" idx="4"/>
          </p:nvPr>
        </p:nvSpPr>
        <p:spPr>
          <a:xfrm>
            <a:off x="4390880" y="1750000"/>
            <a:ext cx="3454400" cy="5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19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9" name="Tier 2 Price"/>
          <p:cNvSpPr>
            <a:spLocks noGrp="1"/>
          </p:cNvSpPr>
          <p:nvPr>
            <p:ph type="body" idx="5"/>
          </p:nvPr>
        </p:nvSpPr>
        <p:spPr>
          <a:xfrm>
            <a:off x="4540880" y="2500000"/>
            <a:ext cx="315440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36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0" name="Tier 2 Features"/>
          <p:cNvSpPr>
            <a:spLocks noGrp="1"/>
          </p:cNvSpPr>
          <p:nvPr>
            <p:ph type="body" idx="6"/>
          </p:nvPr>
        </p:nvSpPr>
        <p:spPr>
          <a:xfrm>
            <a:off x="4650880" y="3380000"/>
            <a:ext cx="2934400" cy="21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6000"/>
              </a:lnSpc>
              <a:defRPr sz="14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1" name="Tier 3 Card"/>
          <p:cNvSpPr/>
          <p:nvPr/>
        </p:nvSpPr>
        <p:spPr>
          <a:xfrm>
            <a:off x="8172280" y="1700000"/>
            <a:ext cx="3454400" cy="3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2" name="Tier 3 Band"/>
          <p:cNvSpPr/>
          <p:nvPr/>
        </p:nvSpPr>
        <p:spPr>
          <a:xfrm>
            <a:off x="8172280" y="1700000"/>
            <a:ext cx="3454400" cy="680000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Tier 3 Name"/>
          <p:cNvSpPr>
            <a:spLocks noGrp="1"/>
          </p:cNvSpPr>
          <p:nvPr>
            <p:ph type="body" idx="7"/>
          </p:nvPr>
        </p:nvSpPr>
        <p:spPr>
          <a:xfrm>
            <a:off x="8172280" y="1750000"/>
            <a:ext cx="3454400" cy="5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19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4" name="Tier 3 Price"/>
          <p:cNvSpPr>
            <a:spLocks noGrp="1"/>
          </p:cNvSpPr>
          <p:nvPr>
            <p:ph type="body" idx="8"/>
          </p:nvPr>
        </p:nvSpPr>
        <p:spPr>
          <a:xfrm>
            <a:off x="8322280" y="2500000"/>
            <a:ext cx="315440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defRPr sz="36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5" name="Tier 3 Features"/>
          <p:cNvSpPr>
            <a:spLocks noGrp="1"/>
          </p:cNvSpPr>
          <p:nvPr>
            <p:ph type="body" idx="9"/>
          </p:nvPr>
        </p:nvSpPr>
        <p:spPr>
          <a:xfrm>
            <a:off x="8432280" y="3380000"/>
            <a:ext cx="2934400" cy="21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6000"/>
              </a:lnSpc>
              <a:defRPr sz="14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9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0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1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1A365D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2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1A365D"/>
                </a:solidFill>
              </a:rPr>
              <a:t>Spark</a:t>
            </a:r>
          </a:p>
        </p:txBody>
      </p:sp>
      <p:sp>
        <p:nvSpPr>
          <p:cNvPr id="33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33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34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36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8000"/>
              </a:lnSpc>
              <a:defRPr sz="1300" b="0" i="0">
                <a:solidFill>
                  <a:srgbClr val="1A365D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7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1A365D"/>
                </a:solidFill>
              </a:rPr>
              <a:t>Spark</a:t>
            </a:r>
          </a:p>
        </p:txBody>
      </p:sp>
      <p:sp>
        <p:nvSpPr>
          <p:cNvPr id="18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18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19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 / Statement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opLine"/>
          <p:cNvSpPr/>
          <p:nvPr/>
        </p:nvSpPr>
        <p:spPr>
          <a:xfrm>
            <a:off x="0" y="0"/>
            <a:ext cx="12192000" cy="3456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40000">
                <a:srgbClr val="3B82F6"/>
              </a:gs>
              <a:gs pos="70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GlowCircle"/>
          <p:cNvSpPr/>
          <p:nvPr/>
        </p:nvSpPr>
        <p:spPr>
          <a:xfrm>
            <a:off x="8229600" y="-914400"/>
            <a:ext cx="4569840" cy="4569840"/>
          </a:xfrm>
          <a:prstGeom prst="ellipse">
            <a:avLst/>
          </a:prstGeom>
          <a:gradFill rotWithShape="0">
            <a:gsLst>
              <a:gs pos="0">
                <a:srgbClr val="ED6F0B">
                  <a:alpha val="15000"/>
                </a:srgbClr>
              </a:gs>
              <a:gs pos="100000">
                <a:srgbClr val="ED6F0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QuoteMark"/>
          <p:cNvSpPr/>
          <p:nvPr/>
        </p:nvSpPr>
        <p:spPr>
          <a:xfrm>
            <a:off x="609480" y="1120000"/>
            <a:ext cx="1900000" cy="1400000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/>
          <a:p>
            <a:r>
              <a:rPr lang="en-GB" sz="9600" b="1">
                <a:solidFill>
                  <a:srgbClr val="ED6F0B"/>
                </a:solidFill>
                <a:latin typeface="+mj-lt"/>
              </a:rPr>
              <a:t>“</a:t>
            </a:r>
          </a:p>
        </p:txBody>
      </p:sp>
      <p:sp>
        <p:nvSpPr>
          <p:cNvPr id="14" name="Quote"/>
          <p:cNvSpPr>
            <a:spLocks noGrp="1"/>
          </p:cNvSpPr>
          <p:nvPr>
            <p:ph type="body" idx="1"/>
          </p:nvPr>
        </p:nvSpPr>
        <p:spPr>
          <a:xfrm>
            <a:off x="609480" y="2520000"/>
            <a:ext cx="10973040" cy="22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6000"/>
              </a:lnSpc>
              <a:defRPr sz="3200" b="0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5" name="Attribution"/>
          <p:cNvSpPr>
            <a:spLocks noGrp="1"/>
          </p:cNvSpPr>
          <p:nvPr>
            <p:ph type="body" idx="11"/>
          </p:nvPr>
        </p:nvSpPr>
        <p:spPr>
          <a:xfrm>
            <a:off x="609480" y="4900000"/>
            <a:ext cx="1097304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600" b="0" i="0">
                <a:solidFill>
                  <a:srgbClr val="94A3B8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6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FFFFFF"/>
                </a:solidFill>
              </a:rPr>
              <a:t>Spark</a:t>
            </a:r>
          </a:p>
        </p:txBody>
      </p:sp>
      <p:sp>
        <p:nvSpPr>
          <p:cNvPr id="17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17}" type="slidenum">
              <a:rPr lang="en-GB" sz="1100">
                <a:solidFill>
                  <a:srgbClr val="94A3B8"/>
                </a:solidFill>
              </a:rPr>
              <a:t>‹#›</a:t>
            </a:fld>
            <a:endParaRPr lang="en-GB" sz="1100">
              <a:solidFill>
                <a:srgbClr val="94A3B8"/>
              </a:solidFill>
            </a:endParaRPr>
          </a:p>
        </p:txBody>
      </p:sp>
      <p:sp>
        <p:nvSpPr>
          <p:cNvPr id="18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losing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opLine"/>
          <p:cNvSpPr/>
          <p:nvPr/>
        </p:nvSpPr>
        <p:spPr>
          <a:xfrm>
            <a:off x="0" y="0"/>
            <a:ext cx="12192000" cy="3456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40000">
                <a:srgbClr val="3B82F6"/>
              </a:gs>
              <a:gs pos="70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GlowCircle"/>
          <p:cNvSpPr/>
          <p:nvPr/>
        </p:nvSpPr>
        <p:spPr>
          <a:xfrm>
            <a:off x="8229600" y="-914400"/>
            <a:ext cx="4569840" cy="4569840"/>
          </a:xfrm>
          <a:prstGeom prst="ellipse">
            <a:avLst/>
          </a:prstGeom>
          <a:gradFill rotWithShape="0">
            <a:gsLst>
              <a:gs pos="0">
                <a:srgbClr val="ED6F0B">
                  <a:alpha val="15000"/>
                </a:srgbClr>
              </a:gs>
              <a:gs pos="100000">
                <a:srgbClr val="ED6F0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LeftAccent"/>
          <p:cNvSpPr/>
          <p:nvPr/>
        </p:nvSpPr>
        <p:spPr>
          <a:xfrm>
            <a:off x="731520" y="1371600"/>
            <a:ext cx="45720" cy="310896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914400" y="1371600"/>
            <a:ext cx="9599040" cy="10972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54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5" name="Divider"/>
          <p:cNvSpPr/>
          <p:nvPr/>
        </p:nvSpPr>
        <p:spPr>
          <a:xfrm>
            <a:off x="914400" y="2480000"/>
            <a:ext cx="3200400" cy="2286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Name"/>
          <p:cNvSpPr>
            <a:spLocks noGrp="1"/>
          </p:cNvSpPr>
          <p:nvPr>
            <p:ph type="body" idx="1"/>
          </p:nvPr>
        </p:nvSpPr>
        <p:spPr>
          <a:xfrm>
            <a:off x="914400" y="2620000"/>
            <a:ext cx="540000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20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Role / Title"/>
          <p:cNvSpPr>
            <a:spLocks noGrp="1"/>
          </p:cNvSpPr>
          <p:nvPr>
            <p:ph type="body" idx="11"/>
          </p:nvPr>
        </p:nvSpPr>
        <p:spPr>
          <a:xfrm>
            <a:off x="914400" y="3090000"/>
            <a:ext cx="5400000" cy="38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600" b="1" i="0">
                <a:solidFill>
                  <a:srgbClr val="ED6F0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Contact details"/>
          <p:cNvSpPr>
            <a:spLocks noGrp="1"/>
          </p:cNvSpPr>
          <p:nvPr>
            <p:ph type="body" idx="2"/>
          </p:nvPr>
        </p:nvSpPr>
        <p:spPr>
          <a:xfrm>
            <a:off x="914400" y="3620000"/>
            <a:ext cx="5400000" cy="15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32000"/>
              </a:lnSpc>
              <a:defRPr sz="1500" b="0" i="0">
                <a:solidFill>
                  <a:srgbClr val="E2E8F0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9" name="Second-Column Heading"/>
          <p:cNvSpPr>
            <a:spLocks noGrp="1"/>
          </p:cNvSpPr>
          <p:nvPr>
            <p:ph type="body" idx="3"/>
          </p:nvPr>
        </p:nvSpPr>
        <p:spPr>
          <a:xfrm>
            <a:off x="6858000" y="3090000"/>
            <a:ext cx="4700000" cy="38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defRPr sz="1400" b="1" i="0" spc="200">
                <a:solidFill>
                  <a:srgbClr val="ED6F0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0" name="Second-Column Content"/>
          <p:cNvSpPr>
            <a:spLocks noGrp="1"/>
          </p:cNvSpPr>
          <p:nvPr>
            <p:ph type="body" idx="4"/>
          </p:nvPr>
        </p:nvSpPr>
        <p:spPr>
          <a:xfrm>
            <a:off x="6858000" y="3560000"/>
            <a:ext cx="4700000" cy="15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30000"/>
              </a:lnSpc>
              <a:defRPr sz="1400" b="0" i="0">
                <a:solidFill>
                  <a:srgbClr val="E2E8F0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1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FFFFFF"/>
                </a:solidFill>
              </a:rPr>
              <a:t>Spark</a:t>
            </a:r>
          </a:p>
        </p:txBody>
      </p:sp>
      <p:sp>
        <p:nvSpPr>
          <p:cNvPr id="22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1A365D"/>
                </a:solidFill>
              </a:rPr>
              <a:t>Spark</a:t>
            </a:r>
          </a:p>
        </p:txBody>
      </p:sp>
      <p:sp>
        <p:nvSpPr>
          <p:cNvPr id="12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12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13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82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GB"/>
              <a:t>Click to edit Master title</a:t>
            </a:r>
          </a:p>
        </p:txBody>
      </p:sp>
      <p:sp>
        <p:nvSpPr>
          <p:cNvPr id="3" name="Body Placeholder"/>
          <p:cNvSpPr>
            <a:spLocks noGrp="1"/>
          </p:cNvSpPr>
          <p:nvPr>
            <p:ph type="body" idx="1"/>
          </p:nvPr>
        </p:nvSpPr>
        <p:spPr>
          <a:xfrm>
            <a:off x="609480" y="1500000"/>
            <a:ext cx="10973040" cy="4700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Master text styles</a:t>
            </a:r>
          </a:p>
        </p:txBody>
      </p:sp>
      <p:sp>
        <p:nvSpPr>
          <p:cNvPr id="904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1A365D"/>
                </a:solidFill>
              </a:rPr>
              <a:t>Spark</a:t>
            </a:r>
          </a:p>
        </p:txBody>
      </p:sp>
      <p:sp>
        <p:nvSpPr>
          <p:cNvPr id="905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905}" type="slidenum">
              <a:rPr lang="en-GB" sz="1100">
                <a:solidFill>
                  <a:srgbClr val="64748B"/>
                </a:solidFill>
              </a:rPr>
              <a:t>‹#›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901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>
        <a:lnSpc>
          <a:spcPct val="100000"/>
        </a:lnSpc>
        <a:defRPr sz="3600" b="1">
          <a:solidFill>
            <a:srgbClr val="1A365D"/>
          </a:solidFill>
          <a:latin typeface="+mj-lt"/>
        </a:defRPr>
      </a:lvl1pPr>
    </p:titleStyle>
    <p:bodyStyle>
      <a:lvl1pPr marL="0" indent="0">
        <a:lnSpc>
          <a:spcPct val="118000"/>
        </a:lnSpc>
        <a:spcBef>
          <a:spcPts val="600"/>
        </a:spcBef>
        <a:buNone/>
        <a:defRPr sz="1600">
          <a:solidFill>
            <a:srgbClr val="475569"/>
          </a:solidFill>
          <a:latin typeface="+mn-lt"/>
        </a:defRPr>
      </a:lvl1pPr>
      <a:lvl2pPr marL="274320" indent="-274320">
        <a:lnSpc>
          <a:spcPct val="118000"/>
        </a:lnSpc>
        <a:spcBef>
          <a:spcPts val="500"/>
        </a:spcBef>
        <a:buClr>
          <a:srgbClr val="ED6F0B"/>
        </a:buClr>
        <a:buFont typeface="Arial"/>
        <a:buChar char="•"/>
        <a:defRPr sz="1500">
          <a:solidFill>
            <a:srgbClr val="475569"/>
          </a:solidFill>
          <a:latin typeface="+mn-lt"/>
        </a:defRPr>
      </a:lvl2pPr>
      <a:lvl3pPr marL="548640" indent="-274320">
        <a:spcBef>
          <a:spcPts val="300"/>
        </a:spcBef>
        <a:buClr>
          <a:srgbClr val="94A3B8"/>
        </a:buClr>
        <a:buFont typeface="Arial"/>
        <a:buChar char="–"/>
        <a:defRPr sz="1400">
          <a:solidFill>
            <a:srgbClr val="475569"/>
          </a:solidFill>
        </a:defRPr>
      </a:lvl3pPr>
    </p:bodyStyle>
    <p:otherStyle>
      <a:defPPr>
        <a:defRPr lang="en-GB"/>
      </a:def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Profit-Based Bidding — Implementation Playbook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Switching Monsoon &amp; Accessorize from revenue bidding to bidding on profit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Monsoon &amp; Accessorize  ·  Google Shopping / Performance Max  ·  Prepared by FeedSpark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Changing — and Why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From chasing revenue to bidding on profit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sz="1100" b="1">
                <a:solidFill>
                  <a:srgbClr val="B1550A"/>
                </a:solidFill>
                <a:latin typeface="Inter"/>
              </a:rPr>
              <a:t>The goal:  </a:t>
            </a:r>
            <a:r>
              <a:rPr sz="1100" b="0">
                <a:solidFill>
                  <a:srgbClr val="475569"/>
                </a:solidFill>
                <a:latin typeface="Inter"/>
              </a:rPr>
              <a:t>close Monsoon's demand gap from </a:t>
            </a:r>
            <a:r>
              <a:rPr sz="1100" b="1">
                <a:solidFill>
                  <a:srgbClr val="1A365D"/>
                </a:solidFill>
                <a:latin typeface="Inter"/>
              </a:rPr>
              <a:t>−20% to −10% by Jan 2027</a:t>
            </a:r>
            <a:r>
              <a:rPr sz="1100" b="0">
                <a:solidFill>
                  <a:srgbClr val="475569"/>
                </a:solidFill>
                <a:latin typeface="Inter"/>
              </a:rPr>
              <a:t> — a projected </a:t>
            </a:r>
            <a:r>
              <a:rPr sz="1100" b="1">
                <a:solidFill>
                  <a:srgbClr val="15803D"/>
                </a:solidFill>
                <a:latin typeface="Inter"/>
              </a:rPr>
              <a:t>+81% conversion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1847088"/>
            <a:ext cx="5074920" cy="3200400"/>
          </a:xfrm>
          <a:prstGeom prst="roundRect">
            <a:avLst>
              <a:gd name="adj" fmla="val 5000"/>
            </a:avLst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2648" y="2103120"/>
            <a:ext cx="73152" cy="2688336"/>
          </a:xfrm>
          <a:prstGeom prst="rect">
            <a:avLst/>
          </a:prstGeom>
          <a:solidFill>
            <a:srgbClr val="6B7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256" y="2121408"/>
            <a:ext cx="4572000" cy="2697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6B7A8D"/>
                </a:solidFill>
                <a:latin typeface="Inter"/>
              </a:rPr>
              <a:t>TODAY  ·  Revenue bidding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6B7A8D"/>
                </a:solidFill>
                <a:latin typeface="Inter"/>
              </a:rPr>
              <a:t>•  </a:t>
            </a:r>
            <a:r>
              <a:rPr sz="1150" b="0">
                <a:solidFill>
                  <a:srgbClr val="475569"/>
                </a:solidFill>
                <a:latin typeface="Inter"/>
              </a:rPr>
              <a:t>800% ROAS target — artificial and over-cautious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6B7A8D"/>
                </a:solidFill>
                <a:latin typeface="Inter"/>
              </a:rPr>
              <a:t>•  </a:t>
            </a:r>
            <a:r>
              <a:rPr sz="1150" b="0">
                <a:solidFill>
                  <a:srgbClr val="475569"/>
                </a:solidFill>
                <a:latin typeface="Inter"/>
              </a:rPr>
              <a:t>Optimises to top-line revenue; every sale treated equally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6B7A8D"/>
                </a:solidFill>
                <a:latin typeface="Inter"/>
              </a:rPr>
              <a:t>•  </a:t>
            </a:r>
            <a:r>
              <a:rPr sz="1150" b="0">
                <a:solidFill>
                  <a:srgbClr val="475569"/>
                </a:solidFill>
                <a:latin typeface="Inter"/>
              </a:rPr>
              <a:t>Drops out of valuable auctions early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6B7A8D"/>
                </a:solidFill>
                <a:latin typeface="Inter"/>
              </a:rPr>
              <a:t>•  </a:t>
            </a:r>
            <a:r>
              <a:rPr sz="1150" b="0">
                <a:solidFill>
                  <a:srgbClr val="475569"/>
                </a:solidFill>
                <a:latin typeface="Inter"/>
              </a:rPr>
              <a:t>Cedes branded demand (“monsoon dresses”) to Next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01384" y="1847088"/>
            <a:ext cx="5074920" cy="3200400"/>
          </a:xfrm>
          <a:prstGeom prst="roundRect">
            <a:avLst>
              <a:gd name="adj" fmla="val 5000"/>
            </a:avLst>
          </a:prstGeom>
          <a:solidFill>
            <a:srgbClr val="EC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01384" y="2103120"/>
            <a:ext cx="73152" cy="2688336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93992" y="2121408"/>
            <a:ext cx="4572000" cy="2697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15803D"/>
                </a:solidFill>
                <a:latin typeface="Inter"/>
              </a:rPr>
              <a:t>NEXT  ·  Profit bidding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15803D"/>
                </a:solidFill>
                <a:latin typeface="Inter"/>
              </a:rPr>
              <a:t>•  </a:t>
            </a:r>
            <a:r>
              <a:rPr sz="1150" b="0">
                <a:solidFill>
                  <a:srgbClr val="475569"/>
                </a:solidFill>
                <a:latin typeface="Inter"/>
              </a:rPr>
              <a:t>Bids on each SKU's Margin_Value — its real profit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15803D"/>
                </a:solidFill>
                <a:latin typeface="Inter"/>
              </a:rPr>
              <a:t>•  </a:t>
            </a:r>
            <a:r>
              <a:rPr sz="1150" b="0">
                <a:solidFill>
                  <a:srgbClr val="475569"/>
                </a:solidFill>
                <a:latin typeface="Inter"/>
              </a:rPr>
              <a:t>Target relaxed to the true breakeven (~400% / ~350%)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15803D"/>
                </a:solidFill>
                <a:latin typeface="Inter"/>
              </a:rPr>
              <a:t>•  </a:t>
            </a:r>
            <a:r>
              <a:rPr sz="1150" b="0">
                <a:solidFill>
                  <a:srgbClr val="475569"/>
                </a:solidFill>
                <a:latin typeface="Inter"/>
              </a:rPr>
              <a:t>Wins back auction headroom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15803D"/>
                </a:solidFill>
                <a:latin typeface="Inter"/>
              </a:rPr>
              <a:t>•  </a:t>
            </a:r>
            <a:r>
              <a:rPr sz="1150" b="0">
                <a:solidFill>
                  <a:srgbClr val="475569"/>
                </a:solidFill>
                <a:latin typeface="Inter"/>
              </a:rPr>
              <a:t>Captures full-price, high-intent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7568" y="3127248"/>
            <a:ext cx="713232" cy="6400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D6F0B"/>
                </a:solidFill>
                <a:latin typeface="Inter"/>
              </a:rP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— Two Levers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The feed steers; the target accelerates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steering wheel — the feed  (live)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Every SKU now carries its Margin_Value, so Google knows each item's real profit and automatically favours high-margin products over low-margin or high-return ones — cutting wasted spend at the item level.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The accelerator — the target  (next)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Lower the ROAS target from the artificial 800% toward the true breakeven floor. That widens the auction footprint and releases the full-price volume you're currently leaving on the table.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ROAS = revenue ÷ ad spend   ·   POAS = profit ÷ ad spend (100% = breakeven)   ·   Margin_Value = each product's profit, carried in the feed.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Verified Breakeven Baselines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Where each brand becomes profitable — the floor we calibrate toward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These floors are guardrails, not destinations — you step targets toward them, you don't jump to them.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783080"/>
          <a:ext cx="10972800" cy="1600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Brand (blended)</a:t>
                      </a:r>
                    </a:p>
                  </a:txBody>
                  <a:tcPr marL="109728" marR="73152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AOV</a:t>
                      </a:r>
                    </a:p>
                  </a:txBody>
                  <a:tcPr marL="109728" marR="73152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Gross margin</a:t>
                      </a:r>
                    </a:p>
                  </a:txBody>
                  <a:tcPr marL="109728" marR="73152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Returns</a:t>
                      </a:r>
                    </a:p>
                  </a:txBody>
                  <a:tcPr marL="109728" marR="73152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Net profit / order</a:t>
                      </a:r>
                    </a:p>
                  </a:txBody>
                  <a:tcPr marL="109728" marR="73152" marT="27432" marB="27432"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Breakeven floor</a:t>
                      </a:r>
                    </a:p>
                  </a:txBody>
                  <a:tcPr marL="109728" marR="73152" marT="27432" marB="27432" anchor="ctr"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Inter"/>
                        </a:rPr>
                        <a:t>Monsoon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75569"/>
                          </a:solidFill>
                          <a:latin typeface="Inter"/>
                        </a:rPr>
                        <a:t>£80.00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75569"/>
                          </a:solidFill>
                          <a:latin typeface="Inter"/>
                        </a:rPr>
                        <a:t>60%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75569"/>
                          </a:solidFill>
                          <a:latin typeface="Inter"/>
                        </a:rPr>
                        <a:t>40%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75569"/>
                          </a:solidFill>
                          <a:latin typeface="Inter"/>
                        </a:rPr>
                        <a:t>£20.02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365D"/>
                          </a:solidFill>
                          <a:latin typeface="Inter"/>
                        </a:rPr>
                        <a:t>~400% ROAS  (100% POAS)</a:t>
                      </a:r>
                    </a:p>
                  </a:txBody>
                  <a:tcPr marL="109728" marR="73152" marT="27432" marB="27432" anchor="ctr">
                    <a:solidFill>
                      <a:srgbClr val="EC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  <a:latin typeface="Inter"/>
                        </a:rPr>
                        <a:t>Accessorize</a:t>
                      </a:r>
                    </a:p>
                  </a:txBody>
                  <a:tcPr marL="109728" marR="73152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75569"/>
                          </a:solidFill>
                          <a:latin typeface="Inter"/>
                        </a:rPr>
                        <a:t>£32.00</a:t>
                      </a:r>
                    </a:p>
                  </a:txBody>
                  <a:tcPr marL="109728" marR="73152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75569"/>
                          </a:solidFill>
                          <a:latin typeface="Inter"/>
                        </a:rPr>
                        <a:t>60%</a:t>
                      </a:r>
                    </a:p>
                  </a:txBody>
                  <a:tcPr marL="109728" marR="73152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75569"/>
                          </a:solidFill>
                          <a:latin typeface="Inter"/>
                        </a:rPr>
                        <a:t>18%</a:t>
                      </a:r>
                    </a:p>
                  </a:txBody>
                  <a:tcPr marL="109728" marR="73152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75569"/>
                          </a:solidFill>
                          <a:latin typeface="Inter"/>
                        </a:rPr>
                        <a:t>£8.97</a:t>
                      </a:r>
                    </a:p>
                  </a:txBody>
                  <a:tcPr marL="109728" marR="73152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365D"/>
                          </a:solidFill>
                          <a:latin typeface="Inter"/>
                        </a:rPr>
                        <a:t>~350% ROAS  (100% POAS)</a:t>
                      </a:r>
                    </a:p>
                  </a:txBody>
                  <a:tcPr marL="109728" marR="73152" marT="27432" marB="27432" anchor="ctr">
                    <a:solidFill>
                      <a:srgbClr val="EC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12648" y="3794760"/>
            <a:ext cx="10972800" cy="13716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2648" y="4050791"/>
            <a:ext cx="73152" cy="859536"/>
          </a:xfrm>
          <a:prstGeom prst="rect">
            <a:avLst/>
          </a:prstGeom>
          <a:solidFill>
            <a:srgbClr val="ED6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3950208"/>
            <a:ext cx="10424160" cy="10972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B1550A"/>
                </a:solidFill>
                <a:latin typeface="Inter"/>
              </a:rPr>
              <a:t>KIDS' VAT NUANCE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Inter"/>
              </a:rPr>
              <a:t>The blended tax inputs (16.0% / 16.3%) already account for the </a:t>
            </a:r>
            <a:r>
              <a:rPr sz="1150" b="1">
                <a:solidFill>
                  <a:srgbClr val="1E293B"/>
                </a:solidFill>
                <a:latin typeface="Inter"/>
              </a:rPr>
              <a:t>zero-rated VAT on Kids' inventory</a:t>
            </a:r>
            <a:r>
              <a:rPr sz="1150" b="0">
                <a:solidFill>
                  <a:srgbClr val="475569"/>
                </a:solidFill>
                <a:latin typeface="Inter"/>
              </a:rPr>
              <a:t>. 400% is Monsoon's </a:t>
            </a:r>
            <a:r>
              <a:rPr sz="1150" b="1">
                <a:solidFill>
                  <a:srgbClr val="1E293B"/>
                </a:solidFill>
                <a:latin typeface="Inter"/>
              </a:rPr>
              <a:t>blended</a:t>
            </a:r>
            <a:r>
              <a:rPr sz="1150" b="0">
                <a:solidFill>
                  <a:srgbClr val="475569"/>
                </a:solidFill>
                <a:latin typeface="Inter"/>
              </a:rPr>
              <a:t> floor — the conditional VAT logic in the feed means the algorithm automatically bids more aggressively on Kids' items, protecting margin item-by-item.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3-Step Roadmap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dirty="0"/>
              <a:t>Isolate  →  segment by intent  →  switch to profit and calibrate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Isolate the campaigns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dirty="0"/>
              <a:t>Build standalone campaigns for the focus categories (Monsoon Dresses; Accessorize bags &amp; </a:t>
            </a:r>
            <a:r>
              <a:rPr dirty="0" err="1"/>
              <a:t>jewellery</a:t>
            </a:r>
            <a:r>
              <a:rPr dirty="0"/>
              <a:t>) and exclude those products from mixed commodity </a:t>
            </a:r>
            <a:r>
              <a:rPr dirty="0" err="1"/>
              <a:t>PMax</a:t>
            </a:r>
            <a:r>
              <a:rPr dirty="0"/>
              <a:t>.</a:t>
            </a:r>
          </a:p>
          <a:p>
            <a:r>
              <a:rPr dirty="0"/>
              <a:t>Owner: Brand Performance + FeedSpark (feed).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dirty="0"/>
              <a:t>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r>
              <a:t>Segment by intent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r>
              <a:t>Split ad groups by search intent — high-intent occasion vs core generic — and match landing pages and creative to each.</a:t>
            </a:r>
          </a:p>
          <a:p>
            <a:r>
              <a:t>Owner: Brand Performance.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r>
              <a:t>Switch &amp; calibrate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r>
              <a:t>Optimise on Margin_Value, not revenue. Then step targets down 10–15% every 4–5 days toward breakeven, and add Brand Defense on Search.</a:t>
            </a:r>
          </a:p>
          <a:p>
            <a:r>
              <a:t>Owner: Brand Performance.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Sequence matters — don't calibrate targets until the campaigns are isolated and set to Margin_Value.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Guardrails &amp; What Good Looks Like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Stay inside these rails — and here's the target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Isolate focus products first.</a:t>
            </a:r>
          </a:p>
          <a:p>
            <a:endParaRPr/>
          </a:p>
          <a:p>
            <a:r>
              <a:t>Optimise on Margin_Value before touching targets.</a:t>
            </a:r>
          </a:p>
          <a:p>
            <a:endParaRPr/>
          </a:p>
          <a:p>
            <a:r>
              <a:t>Step targets down 10–15% every 4–5 days.</a:t>
            </a:r>
          </a:p>
          <a:p>
            <a:endParaRPr/>
          </a:p>
          <a:p>
            <a:r>
              <a:t>Run Brand Defense on Search.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Don't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Jump straight to the breakeven floor.</a:t>
            </a:r>
          </a:p>
          <a:p>
            <a:endParaRPr/>
          </a:p>
          <a:p>
            <a:r>
              <a:t>Re-bundle focus lines back into commodity campaigns.</a:t>
            </a:r>
          </a:p>
          <a:p>
            <a:endParaRPr/>
          </a:p>
          <a:p>
            <a:r>
              <a:t>Change targets before the conversion action is switched to profit.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r>
              <a:t>What good looks like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r>
              <a:t>Demand gap narrowing −20% → −10% by Jan 2027.</a:t>
            </a:r>
          </a:p>
          <a:p>
            <a:endParaRPr/>
          </a:p>
          <a:p>
            <a:r>
              <a:t>+81% conversion value on the focus categories.</a:t>
            </a:r>
          </a:p>
          <a:p>
            <a:endParaRPr/>
          </a:p>
          <a:p>
            <a:r>
              <a:t>Campaigns running at or above breakeven (100%+ POAS).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Next: confirm team availability this week to align before the 20 Jul – 7 Aug leave window.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edSpark Modern">
      <a:dk1>
        <a:srgbClr val="1A365D"/>
      </a:dk1>
      <a:lt1>
        <a:srgbClr val="FFFFFF"/>
      </a:lt1>
      <a:dk2>
        <a:srgbClr val="1E293B"/>
      </a:dk2>
      <a:lt2>
        <a:srgbClr val="F8FAFC"/>
      </a:lt2>
      <a:accent1>
        <a:srgbClr val="ED6F0B"/>
      </a:accent1>
      <a:accent2>
        <a:srgbClr val="1A365D"/>
      </a:accent2>
      <a:accent3>
        <a:srgbClr val="3B82F6"/>
      </a:accent3>
      <a:accent4>
        <a:srgbClr val="10B981"/>
      </a:accent4>
      <a:accent5>
        <a:srgbClr val="8B5CF6"/>
      </a:accent5>
      <a:accent6>
        <a:srgbClr val="EC4899"/>
      </a:accent6>
      <a:hlink>
        <a:srgbClr val="ED6F0B"/>
      </a:hlink>
      <a:folHlink>
        <a:srgbClr val="94A3B8"/>
      </a:folHlink>
    </a:clrScheme>
    <a:fontScheme name="FeedSpark Modern">
      <a:majorFont>
        <a:latin typeface="Inter" panose="02110004020202020204"/>
        <a:ea typeface=""/>
        <a:cs typeface=""/>
      </a:majorFont>
      <a:minorFont>
        <a:latin typeface="Inter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688</Words>
  <Application>Microsoft Office PowerPoint</Application>
  <PresentationFormat>Widescreen</PresentationFormat>
  <Paragraphs>85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Inter</vt:lpstr>
      <vt:lpstr>Office Theme</vt:lpstr>
      <vt:lpstr>Profit-Based Bidding — Implementation Playbook</vt:lpstr>
      <vt:lpstr>What's Changing — and Why</vt:lpstr>
      <vt:lpstr>How It Works — Two Levers</vt:lpstr>
      <vt:lpstr>Your Verified Breakeven Baselines</vt:lpstr>
      <vt:lpstr>The 3-Step Roadmap</vt:lpstr>
      <vt:lpstr>Guardrails &amp; What Good Looks Like</vt:lpstr>
    </vt:vector>
  </TitlesOfParts>
  <Company>FeedSpark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FeedSpark Template</dc:title>
  <dc:creator>FeedSpark</dc:creator>
  <cp:lastModifiedBy>Ray Vu</cp:lastModifiedBy>
  <cp:revision>1</cp:revision>
  <dcterms:modified xsi:type="dcterms:W3CDTF">2026-07-15T11:49:58Z</dcterms:modified>
</cp:coreProperties>
</file>