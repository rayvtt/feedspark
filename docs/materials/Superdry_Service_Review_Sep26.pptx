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
    <p:sldId id="303" r:id="rId4"/>
    <p:sldId id="304" r:id="rId3"/>
    <p:sldId id="305" r:id="rId2"/>
    <p:sldId id="306" r:id="rId56"/>
    <p:sldId id="307" r:id="rId57"/>
    <p:sldId id="308" r:id="rId58"/>
    <p:sldId id="309" r:id="rId59"/>
    <p:sldId id="310" r:id="rId60"/>
    <p:sldId id="311" r:id="rId61"/>
    <p:sldId id="312" r:id="rId62"/>
    <p:sldId id="313" r:id="rId63"/>
    <p:sldId id="314" r:id="rId64"/>
    <p:sldId id="315" r:id="rId65"/>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96"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0.xml"/><Relationship Id="rId3" Type="http://schemas.openxmlformats.org/officeDocument/2006/relationships/slide" Target="slides/slide49.xml"/><Relationship Id="rId4" Type="http://schemas.openxmlformats.org/officeDocument/2006/relationships/slide" Target="slides/slide48.xml"/><Relationship Id="rId5" Type="http://schemas.openxmlformats.org/officeDocument/2006/relationships/slide" Target="slides/slide47.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What Superdry supplies</c:v>
                </c:pt>
              </c:strCache>
            </c:strRef>
          </c:tx>
          <c:spPr>
            <a:solidFill>
              <a:srgbClr val="2563EB"/>
            </a:solidFill>
          </c:spPr>
          <c:cat>
            <c:strRef>
              <c:f>Sheet1!$A$2:$A$7</c:f>
              <c:strCache>
                <c:ptCount val="6"/>
                <c:pt idx="0">
                  <c:v>UK</c:v>
                </c:pt>
                <c:pt idx="1">
                  <c:v>Ireland</c:v>
                </c:pt>
                <c:pt idx="2">
                  <c:v>United States</c:v>
                </c:pt>
                <c:pt idx="3">
                  <c:v>Germany</c:v>
                </c:pt>
                <c:pt idx="4">
                  <c:v>France</c:v>
                </c:pt>
                <c:pt idx="5">
                  <c:v>Netherlands</c:v>
                </c:pt>
              </c:strCache>
            </c:strRef>
          </c:cat>
          <c:val>
            <c:numRef>
              <c:f>Sheet1!$B$2:$B$7</c:f>
              <c:numCache>
                <c:formatCode>General</c:formatCode>
                <c:ptCount val="6"/>
                <c:pt idx="0">
                  <c:v>29.1</c:v>
                </c:pt>
                <c:pt idx="1">
                  <c:v>29.1</c:v>
                </c:pt>
                <c:pt idx="2">
                  <c:v>28.9</c:v>
                </c:pt>
                <c:pt idx="3">
                  <c:v>35.8</c:v>
                </c:pt>
                <c:pt idx="4">
                  <c:v>34.6</c:v>
                </c:pt>
                <c:pt idx="5">
                  <c:v>33.3</c:v>
                </c:pt>
              </c:numCache>
            </c:numRef>
          </c:val>
        </c:ser>
        <c:ser>
          <c:idx val="1"/>
          <c:order val="1"/>
          <c:tx>
            <c:strRef>
              <c:f>Sheet1!$C$1</c:f>
              <c:strCache>
                <c:ptCount val="1"/>
                <c:pt idx="0">
                  <c:v>What FeedSpark ships</c:v>
                </c:pt>
              </c:strCache>
            </c:strRef>
          </c:tx>
          <c:spPr>
            <a:solidFill>
              <a:srgbClr val="ED6F0B"/>
            </a:solidFill>
          </c:spPr>
          <c:cat>
            <c:strRef>
              <c:f>Sheet1!$A$2:$A$7</c:f>
              <c:strCache>
                <c:ptCount val="6"/>
                <c:pt idx="0">
                  <c:v>UK</c:v>
                </c:pt>
                <c:pt idx="1">
                  <c:v>Ireland</c:v>
                </c:pt>
                <c:pt idx="2">
                  <c:v>United States</c:v>
                </c:pt>
                <c:pt idx="3">
                  <c:v>Germany</c:v>
                </c:pt>
                <c:pt idx="4">
                  <c:v>France</c:v>
                </c:pt>
                <c:pt idx="5">
                  <c:v>Netherlands</c:v>
                </c:pt>
              </c:strCache>
            </c:strRef>
          </c:cat>
          <c:val>
            <c:numRef>
              <c:f>Sheet1!$C$2:$C$7</c:f>
              <c:numCache>
                <c:formatCode>General</c:formatCode>
                <c:ptCount val="6"/>
                <c:pt idx="0">
                  <c:v>83.1</c:v>
                </c:pt>
                <c:pt idx="1">
                  <c:v>83.2</c:v>
                </c:pt>
                <c:pt idx="2">
                  <c:v>83.2</c:v>
                </c:pt>
                <c:pt idx="3">
                  <c:v>71.4</c:v>
                </c:pt>
                <c:pt idx="4">
                  <c:v>68.4</c:v>
                </c:pt>
                <c:pt idx="5">
                  <c:v>51.4</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100"/>
          </a:pPr>
        </a:p>
      </c:txPr>
    </c:legend>
    <c:dispBlanksAs val="gap"/>
  </c:chart>
  <c:txPr>
    <a:bodyPr/>
    <a:lstStyle/>
    <a:p>
      <a:pPr>
        <a:defRPr sz="1100">
          <a:latin typeface="Inte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c:v>
                </c:pt>
              </c:strCache>
            </c:strRef>
          </c:tx>
          <c:spPr>
            <a:solidFill>
              <a:srgbClr val="2563EB"/>
            </a:solidFill>
          </c:spPr>
          <c:cat>
            <c:strRef>
              <c:f>Sheet1!$A$2:$A$7</c:f>
              <c:strCache>
                <c:ptCount val="6"/>
                <c:pt idx="0">
                  <c:v>UK</c:v>
                </c:pt>
                <c:pt idx="1">
                  <c:v>Ireland</c:v>
                </c:pt>
                <c:pt idx="2">
                  <c:v>United States</c:v>
                </c:pt>
                <c:pt idx="3">
                  <c:v>Germany</c:v>
                </c:pt>
                <c:pt idx="4">
                  <c:v>France</c:v>
                </c:pt>
                <c:pt idx="5">
                  <c:v>Netherlands</c:v>
                </c:pt>
              </c:strCache>
            </c:strRef>
          </c:cat>
          <c:val>
            <c:numRef>
              <c:f>Sheet1!$B$2:$B$7</c:f>
              <c:numCache>
                <c:formatCode>General</c:formatCode>
                <c:ptCount val="6"/>
                <c:pt idx="0">
                  <c:v>0.0</c:v>
                </c:pt>
                <c:pt idx="1">
                  <c:v>0.0</c:v>
                </c:pt>
                <c:pt idx="2">
                  <c:v>0.0</c:v>
                </c:pt>
                <c:pt idx="3">
                  <c:v>0.0</c:v>
                </c:pt>
                <c:pt idx="4">
                  <c:v>0.0</c:v>
                </c:pt>
                <c:pt idx="5">
                  <c:v>0.0</c:v>
                </c:pt>
              </c:numCache>
            </c:numRef>
          </c:val>
        </c:ser>
        <c:ser>
          <c:idx val="1"/>
          <c:order val="1"/>
          <c:tx>
            <c:strRef>
              <c:f>Sheet1!$C$1</c:f>
              <c:strCache>
                <c:ptCount val="1"/>
                <c:pt idx="0">
                  <c:v>After</c:v>
                </c:pt>
              </c:strCache>
            </c:strRef>
          </c:tx>
          <c:spPr>
            <a:solidFill>
              <a:srgbClr val="ED6F0B"/>
            </a:solidFill>
          </c:spPr>
          <c:cat>
            <c:strRef>
              <c:f>Sheet1!$A$2:$A$7</c:f>
              <c:strCache>
                <c:ptCount val="6"/>
                <c:pt idx="0">
                  <c:v>UK</c:v>
                </c:pt>
                <c:pt idx="1">
                  <c:v>Ireland</c:v>
                </c:pt>
                <c:pt idx="2">
                  <c:v>United States</c:v>
                </c:pt>
                <c:pt idx="3">
                  <c:v>Germany</c:v>
                </c:pt>
                <c:pt idx="4">
                  <c:v>France</c:v>
                </c:pt>
                <c:pt idx="5">
                  <c:v>Netherlands</c:v>
                </c:pt>
              </c:strCache>
            </c:strRef>
          </c:cat>
          <c:val>
            <c:numRef>
              <c:f>Sheet1!$C$2:$C$7</c:f>
              <c:numCache>
                <c:formatCode>General</c:formatCode>
                <c:ptCount val="6"/>
                <c:pt idx="0">
                  <c:v>62.7</c:v>
                </c:pt>
                <c:pt idx="1">
                  <c:v>63.0</c:v>
                </c:pt>
                <c:pt idx="2">
                  <c:v>62.5</c:v>
                </c:pt>
                <c:pt idx="3">
                  <c:v>24.3</c:v>
                </c:pt>
                <c:pt idx="4">
                  <c:v>14.2</c:v>
                </c:pt>
                <c:pt idx="5">
                  <c:v>0.4</c:v>
                </c:pt>
              </c:numCache>
            </c:numRef>
          </c:val>
        </c:ser>
        <c:dLbls>
          <c:numFmt formatCode="0.0&quot;%&quot;" sourceLinked="0"/>
          <c:txPr>
            <a:bodyPr/>
            <a:lstStyle/>
            <a:p>
              <a:pPr>
                <a:defRPr sz="10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100"/>
          </a:pPr>
        </a:p>
      </c:txPr>
    </c:legend>
    <c:dispBlanksAs val="gap"/>
  </c:chart>
  <c:txPr>
    <a:bodyPr/>
    <a:lstStyle/>
    <a:p>
      <a:pPr>
        <a:defRPr sz="1100">
          <a:latin typeface="Inte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 delivered</c:v>
                </c:pt>
              </c:strCache>
            </c:strRef>
          </c:tx>
          <c:spPr>
            <a:solidFill>
              <a:srgbClr val="2563EB"/>
            </a:solidFill>
          </c:spPr>
          <c:cat>
            <c:strRef>
              <c:f>Sheet1!$A$2:$A$25</c:f>
              <c:strCache>
                <c:ptCount val="24"/>
                <c:pt idx="0">
                  <c:v>Oct 2024</c:v>
                </c:pt>
                <c:pt idx="1">
                  <c:v>Nov 2024</c:v>
                </c:pt>
                <c:pt idx="2">
                  <c:v>Dec 2024</c:v>
                </c:pt>
                <c:pt idx="3">
                  <c:v>Jan 2025</c:v>
                </c:pt>
                <c:pt idx="4">
                  <c:v>Feb 2025</c:v>
                </c:pt>
                <c:pt idx="5">
                  <c:v>Mar 2025</c:v>
                </c:pt>
                <c:pt idx="6">
                  <c:v>Apr 2025</c:v>
                </c:pt>
                <c:pt idx="7">
                  <c:v>May 2025</c:v>
                </c:pt>
                <c:pt idx="8">
                  <c:v>Jun 2025</c:v>
                </c:pt>
                <c:pt idx="9">
                  <c:v>Jul 2025</c:v>
                </c:pt>
                <c:pt idx="10">
                  <c:v>Aug 2025</c:v>
                </c:pt>
                <c:pt idx="11">
                  <c:v>Sep 2025</c:v>
                </c:pt>
                <c:pt idx="12">
                  <c:v>Oct 2025</c:v>
                </c:pt>
                <c:pt idx="13">
                  <c:v>Nov 2025</c:v>
                </c:pt>
                <c:pt idx="14">
                  <c:v>Dec 2025</c:v>
                </c:pt>
                <c:pt idx="15">
                  <c:v>Jan 2026</c:v>
                </c:pt>
                <c:pt idx="16">
                  <c:v>Feb 2026</c:v>
                </c:pt>
                <c:pt idx="17">
                  <c:v>Mar 2026</c:v>
                </c:pt>
                <c:pt idx="18">
                  <c:v>Apr 2026</c:v>
                </c:pt>
                <c:pt idx="19">
                  <c:v>May 2026</c:v>
                </c:pt>
                <c:pt idx="20">
                  <c:v>Jun 2026</c:v>
                </c:pt>
                <c:pt idx="21">
                  <c:v>Jul 2026</c:v>
                </c:pt>
                <c:pt idx="22">
                  <c:v>Aug 2026</c:v>
                </c:pt>
                <c:pt idx="23">
                  <c:v>Sep 2026</c:v>
                </c:pt>
              </c:strCache>
            </c:strRef>
          </c:cat>
          <c:val>
            <c:numRef>
              <c:f>Sheet1!$B$2:$B$25</c:f>
              <c:numCache>
                <c:formatCode>General</c:formatCode>
                <c:ptCount val="24"/>
                <c:pt idx="0">
                  <c:v>125.75</c:v>
                </c:pt>
                <c:pt idx="1">
                  <c:v>123.5</c:v>
                </c:pt>
                <c:pt idx="2">
                  <c:v>55.5</c:v>
                </c:pt>
                <c:pt idx="3">
                  <c:v>47.5</c:v>
                </c:pt>
                <c:pt idx="4">
                  <c:v>101.5</c:v>
                </c:pt>
                <c:pt idx="5">
                  <c:v>93.25</c:v>
                </c:pt>
                <c:pt idx="6">
                  <c:v>66.0</c:v>
                </c:pt>
                <c:pt idx="7">
                  <c:v>97.0</c:v>
                </c:pt>
                <c:pt idx="8">
                  <c:v>153.5</c:v>
                </c:pt>
                <c:pt idx="9">
                  <c:v>84.75</c:v>
                </c:pt>
                <c:pt idx="10">
                  <c:v>107.75</c:v>
                </c:pt>
                <c:pt idx="11">
                  <c:v>56.5</c:v>
                </c:pt>
                <c:pt idx="12">
                  <c:v>89.5</c:v>
                </c:pt>
                <c:pt idx="13">
                  <c:v>77.5</c:v>
                </c:pt>
                <c:pt idx="14">
                  <c:v>79.5</c:v>
                </c:pt>
                <c:pt idx="15">
                  <c:v>113.25</c:v>
                </c:pt>
                <c:pt idx="16">
                  <c:v>65.25</c:v>
                </c:pt>
                <c:pt idx="17">
                  <c:v>77.0</c:v>
                </c:pt>
                <c:pt idx="18">
                  <c:v>22.0</c:v>
                </c:pt>
                <c:pt idx="19">
                  <c:v>35.25</c:v>
                </c:pt>
                <c:pt idx="20">
                  <c:v>83.25</c:v>
                </c:pt>
                <c:pt idx="21">
                  <c:v>55.0</c:v>
                </c:pt>
                <c:pt idx="22">
                  <c:v>104.5</c:v>
                </c:pt>
                <c:pt idx="23">
                  <c:v>72.0</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100">
          <a:latin typeface="Inte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Impressions</c:v>
                </c:pt>
              </c:strCache>
            </c:strRef>
          </c:tx>
          <c:spPr>
            <a:solidFill>
              <a:srgbClr val="2563EB"/>
            </a:solidFill>
          </c:spPr>
          <c:cat>
            <c:strRef>
              <c:f>Sheet1!$A$2:$A$14</c:f>
              <c:strCache>
                <c:ptCount val="13"/>
                <c:pt idx="0">
                  <c:v>Brand incl. Aug 26</c:v>
                </c:pt>
                <c:pt idx="1">
                  <c:v>Dresses, keyword</c:v>
                </c:pt>
                <c:pt idx="2">
                  <c:v>Dresses, brand</c:v>
                </c:pt>
                <c:pt idx="3">
                  <c:v>T-shirts, brand</c:v>
                </c:pt>
                <c:pt idx="4">
                  <c:v>Aug I 25</c:v>
                </c:pt>
                <c:pt idx="5">
                  <c:v>Jul II 25</c:v>
                </c:pt>
                <c:pt idx="6">
                  <c:v>Jul I 25</c:v>
                </c:pt>
                <c:pt idx="7">
                  <c:v>Jun II 25</c:v>
                </c:pt>
                <c:pt idx="8">
                  <c:v>Jun I 25</c:v>
                </c:pt>
                <c:pt idx="9">
                  <c:v>May II 25</c:v>
                </c:pt>
                <c:pt idx="10">
                  <c:v>May I 25</c:v>
                </c:pt>
                <c:pt idx="11">
                  <c:v>Mar I 25</c:v>
                </c:pt>
                <c:pt idx="12">
                  <c:v>Feb I 25</c:v>
                </c:pt>
              </c:strCache>
            </c:strRef>
          </c:cat>
          <c:val>
            <c:numRef>
              <c:f>Sheet1!$B$2:$B$14</c:f>
              <c:numCache>
                <c:formatCode>General</c:formatCode>
                <c:ptCount val="13"/>
                <c:pt idx="0">
                  <c:v>9.25</c:v>
                </c:pt>
                <c:pt idx="1">
                  <c:v>41.82</c:v>
                </c:pt>
                <c:pt idx="2">
                  <c:v>-7.5</c:v>
                </c:pt>
                <c:pt idx="3">
                  <c:v>10.2</c:v>
                </c:pt>
                <c:pt idx="4">
                  <c:v>12.07</c:v>
                </c:pt>
                <c:pt idx="5">
                  <c:v>2.14</c:v>
                </c:pt>
                <c:pt idx="6">
                  <c:v>15.61</c:v>
                </c:pt>
                <c:pt idx="7">
                  <c:v>18.72</c:v>
                </c:pt>
                <c:pt idx="8">
                  <c:v>-11.99</c:v>
                </c:pt>
                <c:pt idx="9">
                  <c:v>-10.04</c:v>
                </c:pt>
                <c:pt idx="10">
                  <c:v>9.42</c:v>
                </c:pt>
                <c:pt idx="11">
                  <c:v>10.16</c:v>
                </c:pt>
                <c:pt idx="12">
                  <c:v>-14.11</c:v>
                </c:pt>
              </c:numCache>
            </c:numRef>
          </c:val>
        </c:ser>
        <c:dLbls>
          <c:numFmt formatCode="0.0&quot;%&quot;" sourceLinked="0"/>
          <c:txPr>
            <a:bodyPr/>
            <a:lstStyle/>
            <a:p>
              <a:pPr>
                <a:defRPr sz="1000"/>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l"/>
        <c:majorTickMark val="none"/>
        <c:minorTickMark val="none"/>
        <c:tickLblPos val="nextTo"/>
        <c:spPr>
          <a:ln>
            <a:solidFill>
              <a:srgbClr val="767676"/>
            </a:solidFill>
          </a:ln>
        </c:spPr>
        <c:txPr>
          <a:bodyPr/>
          <a:lstStyle/>
          <a:p>
            <a:pPr>
              <a:defRPr sz="11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100">
          <a:latin typeface="Inter"/>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chart" Target="../charts/char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t>Superdry</a:t>
            </a:r>
          </a:p>
        </p:txBody>
      </p:sp>
      <p:sp>
        <p:nvSpPr>
          <p:cNvPr id="3" name="Subtitle 2"/>
          <p:cNvSpPr>
            <a:spLocks noGrp="1"/>
          </p:cNvSpPr>
          <p:nvPr>
            <p:ph type="subTitle" idx="1"/>
          </p:nvPr>
        </p:nvSpPr>
        <p:spPr/>
        <p:txBody>
          <a:bodyPr wrap="square"/>
          <a:lstStyle/>
          <a:p>
            <a:r>
              <a:t>Service Review · September 2026</a:t>
            </a:r>
          </a:p>
        </p:txBody>
      </p:sp>
      <p:sp>
        <p:nvSpPr>
          <p:cNvPr id="4" name="Text Placeholder 3"/>
          <p:cNvSpPr>
            <a:spLocks noGrp="1"/>
          </p:cNvSpPr>
          <p:nvPr>
            <p:ph type="body" idx="11"/>
          </p:nvPr>
        </p:nvSpPr>
        <p:spPr/>
        <p:txBody>
          <a:bodyPr wrap="square"/>
          <a:lstStyle/>
          <a:p>
            <a:r>
              <a:t>Markets 19 live · 53 feeds  ·  Since June 2022 · four years  ·  Cycle Two years: Oct 2024 –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"The feed becomes transaction infrastructure - In agentic commerce, a feed error can affect not only visibility but also the agent's recommendation, cart logic, displayed total, legal notice and ability to complete checkout. Accuracy, identifiers and policy data become commercial controls"</a:t>
            </a:r>
          </a:p>
          <a:p>
            <a:r>
              <a:rPr sz="2430"/>
              <a:t>Google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Eleven chapters, every number read live this morning.</a:t>
            </a:r>
          </a:p>
        </p:txBody>
      </p:sp>
      <p:sp>
        <p:nvSpPr>
          <p:cNvPr id="4" name="Text Placeholder 3"/>
          <p:cNvSpPr>
            <a:spLocks noGrp="1"/>
          </p:cNvSpPr>
          <p:nvPr>
            <p:ph type="body" idx="1"/>
          </p:nvPr>
        </p:nvSpPr>
        <p:spPr/>
        <p:txBody>
          <a:bodyPr wrap="square"/>
          <a:lstStyle/>
          <a:p>
            <a:pPr>
              <a:spcBef>
                <a:spcPts val="0"/>
              </a:spcBef>
              <a:spcAft>
                <a:spcPts val="0"/>
              </a:spcAft>
            </a:pPr>
            <a:r>
              <a:rPr sz="1350" b="1">
                <a:solidFill>
                  <a:schemeClr val="accent1"/>
                </a:solidFill>
              </a:rPr>
              <a:t>01  </a:t>
            </a:r>
            <a:r>
              <a:rPr sz="1350" b="1"/>
              <a:t>Where the account stands</a:t>
            </a:r>
          </a:p>
          <a:p>
            <a:pPr marL="283464" indent="0">
              <a:spcBef>
                <a:spcPts val="200"/>
              </a:spcBef>
              <a:spcAft>
                <a:spcPts val="0"/>
              </a:spcAft>
            </a:pPr>
            <a:r>
              <a:rPr sz="1050">
                <a:solidFill>
                  <a:srgbClr val="767676"/>
                </a:solidFill>
              </a:rPr>
              <a:t>19 markets, 53 feeds, 1,774 live rules, four years</a:t>
            </a:r>
          </a:p>
          <a:p>
            <a:pPr>
              <a:spcBef>
                <a:spcPts val="1100"/>
              </a:spcBef>
              <a:spcAft>
                <a:spcPts val="0"/>
              </a:spcAft>
            </a:pPr>
            <a:r>
              <a:rPr sz="1350" b="1">
                <a:solidFill>
                  <a:schemeClr val="accent1"/>
                </a:solidFill>
              </a:rPr>
              <a:t>02  </a:t>
            </a:r>
            <a:r>
              <a:rPr sz="1350" b="1"/>
              <a:t>What the feed carries</a:t>
            </a:r>
          </a:p>
          <a:p>
            <a:pPr marL="283464" indent="0">
              <a:spcBef>
                <a:spcPts val="200"/>
              </a:spcBef>
              <a:spcAft>
                <a:spcPts val="0"/>
              </a:spcAft>
            </a:pPr>
            <a:r>
              <a:rPr sz="1050">
                <a:solidFill>
                  <a:srgbClr val="767676"/>
                </a:solidFill>
              </a:rPr>
              <a:t>920.8 million impressions and 334,866 conversions in a year</a:t>
            </a:r>
          </a:p>
          <a:p>
            <a:pPr>
              <a:spcBef>
                <a:spcPts val="1100"/>
              </a:spcBef>
              <a:spcAft>
                <a:spcPts val="0"/>
              </a:spcAft>
            </a:pPr>
            <a:r>
              <a:rPr sz="1350" b="1">
                <a:solidFill>
                  <a:schemeClr val="accent1"/>
                </a:solidFill>
              </a:rPr>
              <a:t>03  </a:t>
            </a:r>
            <a:r>
              <a:rPr sz="1350" b="1"/>
              <a:t>The transformation, measured</a:t>
            </a:r>
          </a:p>
          <a:p>
            <a:pPr marL="283464" indent="0">
              <a:spcBef>
                <a:spcPts val="200"/>
              </a:spcBef>
              <a:spcAft>
                <a:spcPts val="0"/>
              </a:spcAft>
            </a:pPr>
            <a:r>
              <a:rPr sz="1050">
                <a:solidFill>
                  <a:srgbClr val="767676"/>
                </a:solidFill>
              </a:rPr>
              <a:t>29 characters in, 83 characters out — on the same products</a:t>
            </a:r>
          </a:p>
          <a:p>
            <a:pPr>
              <a:spcBef>
                <a:spcPts val="1100"/>
              </a:spcBef>
              <a:spcAft>
                <a:spcPts val="0"/>
              </a:spcAft>
            </a:pPr>
            <a:r>
              <a:rPr sz="1350" b="1">
                <a:solidFill>
                  <a:schemeClr val="accent1"/>
                </a:solidFill>
              </a:rPr>
              <a:t>04  </a:t>
            </a:r>
            <a:r>
              <a:rPr sz="1350" b="1"/>
              <a:t>Two years of delivery</a:t>
            </a:r>
          </a:p>
          <a:p>
            <a:pPr marL="283464" indent="0">
              <a:spcBef>
                <a:spcPts val="200"/>
              </a:spcBef>
              <a:spcAft>
                <a:spcPts val="0"/>
              </a:spcAft>
            </a:pPr>
            <a:r>
              <a:rPr sz="1050">
                <a:solidFill>
                  <a:srgbClr val="767676"/>
                </a:solidFill>
              </a:rPr>
              <a:t>2,037 hours against 42 hours a month sold</a:t>
            </a:r>
          </a:p>
          <a:p>
            <a:pPr>
              <a:spcBef>
                <a:spcPts val="1100"/>
              </a:spcBef>
              <a:spcAft>
                <a:spcPts val="0"/>
              </a:spcAft>
            </a:pPr>
            <a:r>
              <a:rPr sz="1350" b="1">
                <a:solidFill>
                  <a:schemeClr val="accent1"/>
                </a:solidFill>
              </a:rPr>
              <a:t>05  </a:t>
            </a:r>
            <a:r>
              <a:rPr sz="1350" b="1"/>
              <a:t>Market coverage</a:t>
            </a:r>
          </a:p>
          <a:p>
            <a:pPr marL="283464" indent="0">
              <a:spcBef>
                <a:spcPts val="200"/>
              </a:spcBef>
              <a:spcAft>
                <a:spcPts val="0"/>
              </a:spcAft>
            </a:pPr>
            <a:r>
              <a:rPr sz="1050">
                <a:solidFill>
                  <a:srgbClr val="767676"/>
                </a:solidFill>
              </a:rPr>
              <a:t>What each of the nineteen has, and what it does not</a:t>
            </a:r>
          </a:p>
          <a:p>
            <a:pPr>
              <a:spcBef>
                <a:spcPts val="1100"/>
              </a:spcBef>
              <a:spcAft>
                <a:spcPts val="0"/>
              </a:spcAft>
            </a:pPr>
            <a:r>
              <a:rPr sz="1350" b="1">
                <a:solidFill>
                  <a:schemeClr val="accent1"/>
                </a:solidFill>
              </a:rPr>
              <a:t>06  </a:t>
            </a:r>
            <a:r>
              <a:rPr sz="1350" b="1"/>
              <a:t>Results</a:t>
            </a:r>
          </a:p>
          <a:p>
            <a:pPr marL="283464" indent="0">
              <a:spcBef>
                <a:spcPts val="200"/>
              </a:spcBef>
              <a:spcAft>
                <a:spcPts val="0"/>
              </a:spcAft>
            </a:pPr>
            <a:r>
              <a:rPr sz="1050">
                <a:solidFill>
                  <a:srgbClr val="767676"/>
                </a:solidFill>
              </a:rPr>
              <a:t>Forty tests in the archive, read honestly</a:t>
            </a:r>
          </a:p>
        </p:txBody>
      </p:sp>
      <p:sp>
        <p:nvSpPr>
          <p:cNvPr id="5" name="Text Placeholder 4"/>
          <p:cNvSpPr>
            <a:spLocks noGrp="1"/>
          </p:cNvSpPr>
          <p:nvPr>
            <p:ph type="body" idx="2"/>
          </p:nvPr>
        </p:nvSpPr>
        <p:spPr/>
        <p:txBody>
          <a:bodyPr wrap="square"/>
          <a:lstStyle/>
          <a:p>
            <a:pPr>
              <a:spcBef>
                <a:spcPts val="0"/>
              </a:spcBef>
              <a:spcAft>
                <a:spcPts val="0"/>
              </a:spcAft>
            </a:pPr>
            <a:r>
              <a:rPr sz="1350" b="1">
                <a:solidFill>
                  <a:schemeClr val="accent1"/>
                </a:solidFill>
              </a:rPr>
              <a:t>07  </a:t>
            </a:r>
            <a:r>
              <a:rPr sz="1350" b="1"/>
              <a:t>Feed optimisation score</a:t>
            </a:r>
          </a:p>
          <a:p>
            <a:pPr marL="283464" indent="0">
              <a:spcBef>
                <a:spcPts val="200"/>
              </a:spcBef>
              <a:spcAft>
                <a:spcPts val="0"/>
              </a:spcAft>
            </a:pPr>
            <a:r>
              <a:rPr sz="1050">
                <a:solidFill>
                  <a:srgbClr val="767676"/>
                </a:solidFill>
              </a:rPr>
              <a:t>70/100 — eleven lanes against the live feed</a:t>
            </a:r>
          </a:p>
          <a:p>
            <a:pPr>
              <a:spcBef>
                <a:spcPts val="1100"/>
              </a:spcBef>
              <a:spcAft>
                <a:spcPts val="0"/>
              </a:spcAft>
            </a:pPr>
            <a:r>
              <a:rPr sz="1350" b="1">
                <a:solidFill>
                  <a:schemeClr val="accent1"/>
                </a:solidFill>
              </a:rPr>
              <a:t>08  </a:t>
            </a:r>
            <a:r>
              <a:rPr sz="1350" b="1"/>
              <a:t>AI readiness</a:t>
            </a:r>
          </a:p>
          <a:p>
            <a:pPr marL="283464" indent="0">
              <a:spcBef>
                <a:spcPts val="200"/>
              </a:spcBef>
              <a:spcAft>
                <a:spcPts val="0"/>
              </a:spcAft>
            </a:pPr>
            <a:r>
              <a:rPr sz="1050">
                <a:solidFill>
                  <a:srgbClr val="767676"/>
                </a:solidFill>
              </a:rPr>
              <a:t>Where the next two years of search are going</a:t>
            </a:r>
          </a:p>
          <a:p>
            <a:pPr>
              <a:spcBef>
                <a:spcPts val="1100"/>
              </a:spcBef>
              <a:spcAft>
                <a:spcPts val="0"/>
              </a:spcAft>
            </a:pPr>
            <a:r>
              <a:rPr sz="1350" b="1">
                <a:solidFill>
                  <a:schemeClr val="accent1"/>
                </a:solidFill>
              </a:rPr>
              <a:t>09  </a:t>
            </a:r>
            <a:r>
              <a:rPr sz="1350" b="1"/>
              <a:t>What it costs against what it returns</a:t>
            </a:r>
          </a:p>
          <a:p>
            <a:pPr marL="283464" indent="0">
              <a:spcBef>
                <a:spcPts val="200"/>
              </a:spcBef>
              <a:spcAft>
                <a:spcPts val="0"/>
              </a:spcAft>
            </a:pPr>
            <a:r>
              <a:rPr sz="1050">
                <a:solidFill>
                  <a:srgbClr val="767676"/>
                </a:solidFill>
              </a:rPr>
              <a:t>The whole argument on one slide</a:t>
            </a:r>
          </a:p>
          <a:p>
            <a:pPr>
              <a:spcBef>
                <a:spcPts val="1100"/>
              </a:spcBef>
              <a:spcAft>
                <a:spcPts val="0"/>
              </a:spcAft>
            </a:pPr>
            <a:r>
              <a:rPr sz="1350" b="1">
                <a:solidFill>
                  <a:schemeClr val="accent1"/>
                </a:solidFill>
              </a:rPr>
              <a:t>10  </a:t>
            </a:r>
            <a:r>
              <a:rPr sz="1350" b="1"/>
              <a:t>Roadmap</a:t>
            </a:r>
          </a:p>
          <a:p>
            <a:pPr marL="283464" indent="0">
              <a:spcBef>
                <a:spcPts val="200"/>
              </a:spcBef>
              <a:spcAft>
                <a:spcPts val="0"/>
              </a:spcAft>
            </a:pPr>
            <a:r>
              <a:rPr sz="1050">
                <a:solidFill>
                  <a:srgbClr val="767676"/>
                </a:solidFill>
              </a:rPr>
              <a:t>Six pieces of work, sequenced and costed in hours</a:t>
            </a:r>
          </a:p>
          <a:p>
            <a:pPr>
              <a:spcBef>
                <a:spcPts val="1100"/>
              </a:spcBef>
              <a:spcAft>
                <a:spcPts val="0"/>
              </a:spcAft>
            </a:pPr>
            <a:r>
              <a:rPr sz="1350" b="1">
                <a:solidFill>
                  <a:schemeClr val="accent1"/>
                </a:solidFill>
              </a:rPr>
              <a:t>11  </a:t>
            </a:r>
            <a:r>
              <a:rPr sz="1350" b="1"/>
              <a:t>Ways of working</a:t>
            </a:r>
          </a:p>
          <a:p>
            <a:pPr marL="283464" indent="0">
              <a:spcBef>
                <a:spcPts val="200"/>
              </a:spcBef>
              <a:spcAft>
                <a:spcPts val="0"/>
              </a:spcAft>
            </a:pPr>
            <a:r>
              <a:rPr sz="1050">
                <a:solidFill>
                  <a:srgbClr val="767676"/>
                </a:solidFill>
              </a:rPr>
              <a:t>Who does what, and what we need from Superdry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Nothing in this deck is estimated. Every figure comes from a live source read this morning — the Google Ads record, the time log, the rule engine, the test archive, and the six output feeds themselves. Where a figure could be read two ways, both readings are shown and the stricter one leads.</a:t>
            </a:r>
          </a:p>
        </p:txBody>
      </p:sp>
      <p:sp>
        <p:nvSpPr>
          <p:cNvPr id="3" name="Text Placeholder 2"/>
          <p:cNvSpPr>
            <a:spLocks noGrp="1"/>
          </p:cNvSpPr>
          <p:nvPr>
            <p:ph type="body" idx="11"/>
          </p:nvPr>
        </p:nvSpPr>
        <p:spPr/>
        <p:txBody>
          <a:bodyPr wrap="square"/>
          <a:lstStyle/>
          <a:p>
            <a:r>
              <a:t>What we'll cover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Where the account stands</a:t>
            </a:r>
          </a:p>
        </p:txBody>
      </p:sp>
      <p:sp>
        <p:nvSpPr>
          <p:cNvPr id="4" name="Text Placeholder 3"/>
          <p:cNvSpPr>
            <a:spLocks noGrp="1"/>
          </p:cNvSpPr>
          <p:nvPr>
            <p:ph type="body" idx="1"/>
          </p:nvPr>
        </p:nvSpPr>
        <p:spPr/>
        <p:txBody>
          <a:bodyPr wrap="square"/>
          <a:lstStyle/>
          <a:p>
            <a:r>
              <a:t>Nineteen markets, fifty-three live feeds and 1,774 rules that run every day — built over four years and two months.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Where the account stands</a:t>
            </a:r>
          </a:p>
        </p:txBody>
      </p:sp>
      <p:sp>
        <p:nvSpPr>
          <p:cNvPr id="3" name="Text Placeholder 2"/>
          <p:cNvSpPr>
            <a:spLocks noGrp="1"/>
          </p:cNvSpPr>
          <p:nvPr>
            <p:ph type="body" idx="11"/>
          </p:nvPr>
        </p:nvSpPr>
        <p:spPr/>
        <p:txBody>
          <a:bodyPr wrap="square"/>
          <a:lstStyle/>
          <a:p>
            <a:r>
              <a:t>The nineteen markets</a:t>
            </a:r>
          </a:p>
        </p:txBody>
      </p:sp>
      <p:graphicFrame>
        <p:nvGraphicFramePr>
          <p:cNvPr id="5" name="Table 4"/>
          <p:cNvGraphicFramePr>
            <a:graphicFrameLocks noGrp="1"/>
          </p:cNvGraphicFramePr>
          <p:nvPr/>
        </p:nvGraphicFramePr>
        <p:xfrm>
          <a:off x="612648" y="1847088"/>
          <a:ext cx="10972798" cy="3794760"/>
        </p:xfrm>
        <a:graphic>
          <a:graphicData uri="http://schemas.openxmlformats.org/drawingml/2006/table">
            <a:tbl>
              <a:tblPr firstRow="1" bandRow="1">
                <a:tableStyleId>{5C22544A-7EE6-4342-B048-85BDC9FD1C3A}</a:tableStyleId>
              </a:tblPr>
              <a:tblGrid>
                <a:gridCol w="4582320"/>
                <a:gridCol w="2353083"/>
                <a:gridCol w="817386"/>
                <a:gridCol w="1486158"/>
                <a:gridCol w="1733851"/>
              </a:tblGrid>
              <a:tr h="384048">
                <a:tc>
                  <a:txBody>
                    <a:bodyPr/>
                    <a:lstStyle/>
                    <a:p>
                      <a:r>
                        <a:rPr sz="1300" b="1">
                          <a:solidFill>
                            <a:srgbClr val="FFFFFF"/>
                          </a:solidFill>
                        </a:rPr>
                        <a:t>Market</a:t>
                      </a:r>
                    </a:p>
                  </a:txBody>
                  <a:tcPr/>
                </a:tc>
                <a:tc>
                  <a:txBody>
                    <a:bodyPr/>
                    <a:lstStyle/>
                    <a:p>
                      <a:r>
                        <a:rPr sz="1300" b="1">
                          <a:solidFill>
                            <a:srgbClr val="FFFFFF"/>
                          </a:solidFill>
                        </a:rPr>
                        <a:t>Live since</a:t>
                      </a:r>
                    </a:p>
                  </a:txBody>
                  <a:tcPr/>
                </a:tc>
                <a:tc>
                  <a:txBody>
                    <a:bodyPr/>
                    <a:lstStyle/>
                    <a:p>
                      <a:r>
                        <a:rPr sz="1300" b="1">
                          <a:solidFill>
                            <a:srgbClr val="FFFFFF"/>
                          </a:solidFill>
                        </a:rPr>
                        <a:t>Feeds</a:t>
                      </a:r>
                    </a:p>
                  </a:txBody>
                  <a:tcPr/>
                </a:tc>
                <a:tc>
                  <a:txBody>
                    <a:bodyPr/>
                    <a:lstStyle/>
                    <a:p>
                      <a:r>
                        <a:rPr sz="1300" b="1">
                          <a:solidFill>
                            <a:srgbClr val="FFFFFF"/>
                          </a:solidFill>
                        </a:rPr>
                        <a:t>Active rules</a:t>
                      </a:r>
                    </a:p>
                  </a:txBody>
                  <a:tcPr/>
                </a:tc>
                <a:tc>
                  <a:txBody>
                    <a:bodyPr/>
                    <a:lstStyle/>
                    <a:p>
                      <a:r>
                        <a:rPr sz="1300" b="1">
                          <a:solidFill>
                            <a:srgbClr val="FFFFFF"/>
                          </a:solidFill>
                        </a:rPr>
                        <a:t>Retainer</a:t>
                      </a:r>
                    </a:p>
                  </a:txBody>
                  <a:tcPr/>
                </a:tc>
              </a:tr>
              <a:tr h="426339">
                <a:tc>
                  <a:txBody>
                    <a:bodyPr/>
                    <a:lstStyle/>
                    <a:p>
                      <a:r>
                        <a:rPr sz="1100"/>
                        <a:t>United Kingdom</a:t>
                      </a:r>
                    </a:p>
                  </a:txBody>
                  <a:tcPr/>
                </a:tc>
                <a:tc>
                  <a:txBody>
                    <a:bodyPr/>
                    <a:lstStyle/>
                    <a:p>
                      <a:r>
                        <a:rPr sz="1100"/>
                        <a:t>Jun 2022</a:t>
                      </a:r>
                    </a:p>
                  </a:txBody>
                  <a:tcPr/>
                </a:tc>
                <a:tc>
                  <a:txBody>
                    <a:bodyPr/>
                    <a:lstStyle/>
                    <a:p>
                      <a:r>
                        <a:rPr sz="1100"/>
                        <a:t>7</a:t>
                      </a:r>
                    </a:p>
                  </a:txBody>
                  <a:tcPr/>
                </a:tc>
                <a:tc>
                  <a:txBody>
                    <a:bodyPr/>
                    <a:lstStyle/>
                    <a:p>
                      <a:r>
                        <a:rPr sz="1100"/>
                        <a:t>221</a:t>
                      </a:r>
                    </a:p>
                  </a:txBody>
                  <a:tcPr/>
                </a:tc>
                <a:tc>
                  <a:txBody>
                    <a:bodyPr/>
                    <a:lstStyle/>
                    <a:p>
                      <a:r>
                        <a:rPr sz="1100"/>
                        <a:t>16 hrs / month</a:t>
                      </a:r>
                    </a:p>
                  </a:txBody>
                  <a:tcPr/>
                </a:tc>
              </a:tr>
              <a:tr h="426339">
                <a:tc>
                  <a:txBody>
                    <a:bodyPr/>
                    <a:lstStyle/>
                    <a:p>
                      <a:r>
                        <a:rPr sz="1100"/>
                        <a:t>Germany</a:t>
                      </a:r>
                    </a:p>
                  </a:txBody>
                  <a:tcPr/>
                </a:tc>
                <a:tc>
                  <a:txBody>
                    <a:bodyPr/>
                    <a:lstStyle/>
                    <a:p>
                      <a:r>
                        <a:rPr sz="1100"/>
                        <a:t>Jun 2022</a:t>
                      </a:r>
                    </a:p>
                  </a:txBody>
                  <a:tcPr/>
                </a:tc>
                <a:tc>
                  <a:txBody>
                    <a:bodyPr/>
                    <a:lstStyle/>
                    <a:p>
                      <a:r>
                        <a:rPr sz="1100"/>
                        <a:t>6</a:t>
                      </a:r>
                    </a:p>
                  </a:txBody>
                  <a:tcPr/>
                </a:tc>
                <a:tc>
                  <a:txBody>
                    <a:bodyPr/>
                    <a:lstStyle/>
                    <a:p>
                      <a:r>
                        <a:rPr sz="1100"/>
                        <a:t>113</a:t>
                      </a:r>
                    </a:p>
                  </a:txBody>
                  <a:tcPr/>
                </a:tc>
                <a:tc>
                  <a:txBody>
                    <a:bodyPr/>
                    <a:lstStyle/>
                    <a:p>
                      <a:r>
                        <a:rPr sz="1100"/>
                        <a:t>8 hrs / month</a:t>
                      </a:r>
                    </a:p>
                  </a:txBody>
                  <a:tcPr/>
                </a:tc>
              </a:tr>
              <a:tr h="426339">
                <a:tc>
                  <a:txBody>
                    <a:bodyPr/>
                    <a:lstStyle/>
                    <a:p>
                      <a:r>
                        <a:rPr sz="1100"/>
                        <a:t>France</a:t>
                      </a:r>
                    </a:p>
                  </a:txBody>
                  <a:tcPr/>
                </a:tc>
                <a:tc>
                  <a:txBody>
                    <a:bodyPr/>
                    <a:lstStyle/>
                    <a:p>
                      <a:r>
                        <a:rPr sz="1100"/>
                        <a:t>Jun 2022</a:t>
                      </a:r>
                    </a:p>
                  </a:txBody>
                  <a:tcPr/>
                </a:tc>
                <a:tc>
                  <a:txBody>
                    <a:bodyPr/>
                    <a:lstStyle/>
                    <a:p>
                      <a:r>
                        <a:rPr sz="1100"/>
                        <a:t>5</a:t>
                      </a:r>
                    </a:p>
                  </a:txBody>
                  <a:tcPr/>
                </a:tc>
                <a:tc>
                  <a:txBody>
                    <a:bodyPr/>
                    <a:lstStyle/>
                    <a:p>
                      <a:r>
                        <a:rPr sz="1100"/>
                        <a:t>110</a:t>
                      </a:r>
                    </a:p>
                  </a:txBody>
                  <a:tcPr/>
                </a:tc>
                <a:tc>
                  <a:txBody>
                    <a:bodyPr/>
                    <a:lstStyle/>
                    <a:p>
                      <a:r>
                        <a:rPr sz="1100"/>
                        <a:t>8 hrs / month</a:t>
                      </a:r>
                    </a:p>
                  </a:txBody>
                  <a:tcPr/>
                </a:tc>
              </a:tr>
              <a:tr h="426339">
                <a:tc>
                  <a:txBody>
                    <a:bodyPr/>
                    <a:lstStyle/>
                    <a:p>
                      <a:r>
                        <a:rPr sz="1100"/>
                        <a:t>Netherlands</a:t>
                      </a:r>
                    </a:p>
                  </a:txBody>
                  <a:tcPr/>
                </a:tc>
                <a:tc>
                  <a:txBody>
                    <a:bodyPr/>
                    <a:lstStyle/>
                    <a:p>
                      <a:r>
                        <a:rPr sz="1100"/>
                        <a:t>Jun 2022</a:t>
                      </a:r>
                    </a:p>
                  </a:txBody>
                  <a:tcPr/>
                </a:tc>
                <a:tc>
                  <a:txBody>
                    <a:bodyPr/>
                    <a:lstStyle/>
                    <a:p>
                      <a:r>
                        <a:rPr sz="1100"/>
                        <a:t>5</a:t>
                      </a:r>
                    </a:p>
                  </a:txBody>
                  <a:tcPr/>
                </a:tc>
                <a:tc>
                  <a:txBody>
                    <a:bodyPr/>
                    <a:lstStyle/>
                    <a:p>
                      <a:r>
                        <a:rPr sz="1100"/>
                        <a:t>103</a:t>
                      </a:r>
                    </a:p>
                  </a:txBody>
                  <a:tcPr/>
                </a:tc>
                <a:tc>
                  <a:txBody>
                    <a:bodyPr/>
                    <a:lstStyle/>
                    <a:p>
                      <a:r>
                        <a:rPr sz="1100"/>
                        <a:t>2 hrs / month</a:t>
                      </a:r>
                    </a:p>
                  </a:txBody>
                  <a:tcPr/>
                </a:tc>
              </a:tr>
              <a:tr h="426339">
                <a:tc>
                  <a:txBody>
                    <a:bodyPr/>
                    <a:lstStyle/>
                    <a:p>
                      <a:r>
                        <a:rPr sz="1100"/>
                        <a:t>Ireland</a:t>
                      </a:r>
                    </a:p>
                  </a:txBody>
                  <a:tcPr/>
                </a:tc>
                <a:tc>
                  <a:txBody>
                    <a:bodyPr/>
                    <a:lstStyle/>
                    <a:p>
                      <a:r>
                        <a:rPr sz="1100"/>
                        <a:t>Jun 2022</a:t>
                      </a:r>
                    </a:p>
                  </a:txBody>
                  <a:tcPr/>
                </a:tc>
                <a:tc>
                  <a:txBody>
                    <a:bodyPr/>
                    <a:lstStyle/>
                    <a:p>
                      <a:r>
                        <a:rPr sz="1100"/>
                        <a:t>3</a:t>
                      </a:r>
                    </a:p>
                  </a:txBody>
                  <a:tcPr/>
                </a:tc>
                <a:tc>
                  <a:txBody>
                    <a:bodyPr/>
                    <a:lstStyle/>
                    <a:p>
                      <a:r>
                        <a:rPr sz="1100"/>
                        <a:t>118</a:t>
                      </a:r>
                    </a:p>
                  </a:txBody>
                  <a:tcPr/>
                </a:tc>
                <a:tc>
                  <a:txBody>
                    <a:bodyPr/>
                    <a:lstStyle/>
                    <a:p>
                      <a:r>
                        <a:rPr sz="1100"/>
                        <a:t>4 hrs / month</a:t>
                      </a:r>
                    </a:p>
                  </a:txBody>
                  <a:tcPr/>
                </a:tc>
              </a:tr>
              <a:tr h="426339">
                <a:tc>
                  <a:txBody>
                    <a:bodyPr/>
                    <a:lstStyle/>
                    <a:p>
                      <a:r>
                        <a:rPr sz="1100"/>
                        <a:t>United States</a:t>
                      </a:r>
                    </a:p>
                  </a:txBody>
                  <a:tcPr/>
                </a:tc>
                <a:tc>
                  <a:txBody>
                    <a:bodyPr/>
                    <a:lstStyle/>
                    <a:p>
                      <a:r>
                        <a:rPr sz="1100"/>
                        <a:t>Jun 2022</a:t>
                      </a:r>
                    </a:p>
                  </a:txBody>
                  <a:tcPr/>
                </a:tc>
                <a:tc>
                  <a:txBody>
                    <a:bodyPr/>
                    <a:lstStyle/>
                    <a:p>
                      <a:r>
                        <a:rPr sz="1100"/>
                        <a:t>3</a:t>
                      </a:r>
                    </a:p>
                  </a:txBody>
                  <a:tcPr/>
                </a:tc>
                <a:tc>
                  <a:txBody>
                    <a:bodyPr/>
                    <a:lstStyle/>
                    <a:p>
                      <a:r>
                        <a:rPr sz="1100"/>
                        <a:t>91</a:t>
                      </a:r>
                    </a:p>
                  </a:txBody>
                  <a:tcPr/>
                </a:tc>
                <a:tc>
                  <a:txBody>
                    <a:bodyPr/>
                    <a:lstStyle/>
                    <a:p>
                      <a:r>
                        <a:rPr sz="1100"/>
                        <a:t>2 hrs / month</a:t>
                      </a:r>
                    </a:p>
                  </a:txBody>
                  <a:tcPr/>
                </a:tc>
              </a:tr>
              <a:tr h="426339">
                <a:tc>
                  <a:txBody>
                    <a:bodyPr/>
                    <a:lstStyle/>
                    <a:p>
                      <a:r>
                        <a:rPr sz="1100"/>
                        <a:t>Poland</a:t>
                      </a:r>
                    </a:p>
                  </a:txBody>
                  <a:tcPr/>
                </a:tc>
                <a:tc>
                  <a:txBody>
                    <a:bodyPr/>
                    <a:lstStyle/>
                    <a:p>
                      <a:r>
                        <a:rPr sz="1100"/>
                        <a:t>Jun 2022</a:t>
                      </a:r>
                    </a:p>
                  </a:txBody>
                  <a:tcPr/>
                </a:tc>
                <a:tc>
                  <a:txBody>
                    <a:bodyPr/>
                    <a:lstStyle/>
                    <a:p>
                      <a:r>
                        <a:rPr sz="1100"/>
                        <a:t>2</a:t>
                      </a:r>
                    </a:p>
                  </a:txBody>
                  <a:tcPr/>
                </a:tc>
                <a:tc>
                  <a:txBody>
                    <a:bodyPr/>
                    <a:lstStyle/>
                    <a:p>
                      <a:r>
                        <a:rPr sz="1100"/>
                        <a:t>69</a:t>
                      </a:r>
                    </a:p>
                  </a:txBody>
                  <a:tcPr/>
                </a:tc>
                <a:tc>
                  <a:txBody>
                    <a:bodyPr/>
                    <a:lstStyle/>
                    <a:p>
                      <a:r>
                        <a:rPr sz="1100"/>
                        <a:t>2 hrs / month</a:t>
                      </a:r>
                    </a:p>
                  </a:txBody>
                  <a:tcPr/>
                </a:tc>
              </a:tr>
              <a:tr h="426339">
                <a:tc>
                  <a:txBody>
                    <a:bodyPr/>
                    <a:lstStyle/>
                    <a:p>
                      <a:r>
                        <a:rPr sz="1100"/>
                        <a:t>Belgium ×2, Canada ×2, Switzerland ×2</a:t>
                      </a:r>
                    </a:p>
                  </a:txBody>
                  <a:tcPr/>
                </a:tc>
                <a:tc>
                  <a:txBody>
                    <a:bodyPr/>
                    <a:lstStyle/>
                    <a:p>
                      <a:r>
                        <a:rPr sz="1100"/>
                        <a:t>Jun 2022 – Jan 2025</a:t>
                      </a:r>
                    </a:p>
                  </a:txBody>
                  <a:tcPr/>
                </a:tc>
                <a:tc>
                  <a:txBody>
                    <a:bodyPr/>
                    <a:lstStyle/>
                    <a:p>
                      <a:r>
                        <a:rPr sz="1100"/>
                        <a:t>12</a:t>
                      </a:r>
                    </a:p>
                  </a:txBody>
                  <a:tcPr/>
                </a:tc>
                <a:tc>
                  <a:txBody>
                    <a:bodyPr/>
                    <a:lstStyle/>
                    <a:p>
                      <a:r>
                        <a:rPr sz="1100"/>
                        <a:t>475</a:t>
                      </a:r>
                    </a:p>
                  </a:txBody>
                  <a:tcPr/>
                </a:tc>
                <a:tc>
                  <a:txBody>
                    <a:bodyPr/>
                    <a:lstStyle/>
                    <a:p>
                      <a:r>
                        <a:rPr sz="1100"/>
                        <a:t>No retainer</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Where the account stands (cont.)</a:t>
            </a:r>
          </a:p>
        </p:txBody>
      </p:sp>
      <p:graphicFrame>
        <p:nvGraphicFramePr>
          <p:cNvPr id="5" name="Table 4"/>
          <p:cNvGraphicFramePr>
            <a:graphicFrameLocks noGrp="1"/>
          </p:cNvGraphicFramePr>
          <p:nvPr/>
        </p:nvGraphicFramePr>
        <p:xfrm>
          <a:off x="612648" y="1389888"/>
          <a:ext cx="10972798" cy="1755648"/>
        </p:xfrm>
        <a:graphic>
          <a:graphicData uri="http://schemas.openxmlformats.org/drawingml/2006/table">
            <a:tbl>
              <a:tblPr firstRow="1" bandRow="1">
                <a:tableStyleId>{5C22544A-7EE6-4342-B048-85BDC9FD1C3A}</a:tableStyleId>
              </a:tblPr>
              <a:tblGrid>
                <a:gridCol w="5342021"/>
                <a:gridCol w="1443789"/>
                <a:gridCol w="866273"/>
                <a:gridCol w="1732547"/>
                <a:gridCol w="1588168"/>
              </a:tblGrid>
              <a:tr h="384048">
                <a:tc>
                  <a:txBody>
                    <a:bodyPr/>
                    <a:lstStyle/>
                    <a:p>
                      <a:r>
                        <a:rPr sz="1300" b="1">
                          <a:solidFill>
                            <a:srgbClr val="FFFFFF"/>
                          </a:solidFill>
                        </a:rPr>
                        <a:t>Market</a:t>
                      </a:r>
                    </a:p>
                  </a:txBody>
                  <a:tcPr/>
                </a:tc>
                <a:tc>
                  <a:txBody>
                    <a:bodyPr/>
                    <a:lstStyle/>
                    <a:p>
                      <a:r>
                        <a:rPr sz="1300" b="1">
                          <a:solidFill>
                            <a:srgbClr val="FFFFFF"/>
                          </a:solidFill>
                        </a:rPr>
                        <a:t>Live since</a:t>
                      </a:r>
                    </a:p>
                  </a:txBody>
                  <a:tcPr/>
                </a:tc>
                <a:tc>
                  <a:txBody>
                    <a:bodyPr/>
                    <a:lstStyle/>
                    <a:p>
                      <a:r>
                        <a:rPr sz="1300" b="1">
                          <a:solidFill>
                            <a:srgbClr val="FFFFFF"/>
                          </a:solidFill>
                        </a:rPr>
                        <a:t>Feeds</a:t>
                      </a:r>
                    </a:p>
                  </a:txBody>
                  <a:tcPr/>
                </a:tc>
                <a:tc>
                  <a:txBody>
                    <a:bodyPr/>
                    <a:lstStyle/>
                    <a:p>
                      <a:r>
                        <a:rPr sz="1300" b="1">
                          <a:solidFill>
                            <a:srgbClr val="FFFFFF"/>
                          </a:solidFill>
                        </a:rPr>
                        <a:t>Active rules</a:t>
                      </a:r>
                    </a:p>
                  </a:txBody>
                  <a:tcPr/>
                </a:tc>
                <a:tc>
                  <a:txBody>
                    <a:bodyPr/>
                    <a:lstStyle/>
                    <a:p>
                      <a:r>
                        <a:rPr sz="1300" b="1">
                          <a:solidFill>
                            <a:srgbClr val="FFFFFF"/>
                          </a:solidFill>
                        </a:rPr>
                        <a:t>Retainer</a:t>
                      </a:r>
                    </a:p>
                  </a:txBody>
                  <a:tcPr/>
                </a:tc>
              </a:tr>
              <a:tr h="685800">
                <a:tc>
                  <a:txBody>
                    <a:bodyPr/>
                    <a:lstStyle/>
                    <a:p>
                      <a:r>
                        <a:rPr sz="1100"/>
                        <a:t>Denmark, Spain, Italy, Norway, Sweden</a:t>
                      </a:r>
                    </a:p>
                  </a:txBody>
                  <a:tcPr/>
                </a:tc>
                <a:tc>
                  <a:txBody>
                    <a:bodyPr/>
                    <a:lstStyle/>
                    <a:p>
                      <a:r>
                        <a:rPr sz="1100"/>
                        <a:t>Jun 2022</a:t>
                      </a:r>
                    </a:p>
                  </a:txBody>
                  <a:tcPr/>
                </a:tc>
                <a:tc>
                  <a:txBody>
                    <a:bodyPr/>
                    <a:lstStyle/>
                    <a:p>
                      <a:r>
                        <a:rPr sz="1100"/>
                        <a:t>9</a:t>
                      </a:r>
                    </a:p>
                  </a:txBody>
                  <a:tcPr/>
                </a:tc>
                <a:tc>
                  <a:txBody>
                    <a:bodyPr/>
                    <a:lstStyle/>
                    <a:p>
                      <a:r>
                        <a:rPr sz="1100"/>
                        <a:t>396</a:t>
                      </a:r>
                    </a:p>
                  </a:txBody>
                  <a:tcPr/>
                </a:tc>
                <a:tc>
                  <a:txBody>
                    <a:bodyPr/>
                    <a:lstStyle/>
                    <a:p>
                      <a:r>
                        <a:rPr sz="1100"/>
                        <a:t>No retainer</a:t>
                      </a:r>
                    </a:p>
                  </a:txBody>
                  <a:tcPr/>
                </a:tc>
              </a:tr>
              <a:tr h="685800">
                <a:tc>
                  <a:txBody>
                    <a:bodyPr/>
                    <a:lstStyle/>
                    <a:p>
                      <a:r>
                        <a:rPr sz="1100"/>
                        <a:t>Finland</a:t>
                      </a:r>
                    </a:p>
                  </a:txBody>
                  <a:tcPr/>
                </a:tc>
                <a:tc>
                  <a:txBody>
                    <a:bodyPr/>
                    <a:lstStyle/>
                    <a:p>
                      <a:r>
                        <a:rPr sz="1100"/>
                        <a:t>Oct 2023</a:t>
                      </a:r>
                    </a:p>
                  </a:txBody>
                  <a:tcPr/>
                </a:tc>
                <a:tc>
                  <a:txBody>
                    <a:bodyPr/>
                    <a:lstStyle/>
                    <a:p>
                      <a:r>
                        <a:rPr sz="1100"/>
                        <a:t>1</a:t>
                      </a:r>
                    </a:p>
                  </a:txBody>
                  <a:tcPr/>
                </a:tc>
                <a:tc>
                  <a:txBody>
                    <a:bodyPr/>
                    <a:lstStyle/>
                    <a:p>
                      <a:r>
                        <a:rPr sz="1100"/>
                        <a:t>78</a:t>
                      </a:r>
                    </a:p>
                  </a:txBody>
                  <a:tcPr/>
                </a:tc>
                <a:tc>
                  <a:txBody>
                    <a:bodyPr/>
                    <a:lstStyle/>
                    <a:p>
                      <a:r>
                        <a:rPr sz="1100"/>
                        <a:t>No retainer</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Seven markets carry a retainer. Twelve do not. Forty-two hours a month are contracted, all of it against the seven. The other twelve — both Belgian markets, both Canadian, both Swiss, Denmark, Spain, Finland, Italy, Norway and Sweden — are maintained, monitored and rule-managed at no charge, because a Superdry catalogue that works in one market and breaks in another is not a service anybody wants to sell.</a:t>
            </a:r>
          </a:p>
        </p:txBody>
      </p:sp>
      <p:sp>
        <p:nvSpPr>
          <p:cNvPr id="3" name="Text Placeholder 2"/>
          <p:cNvSpPr>
            <a:spLocks noGrp="1"/>
          </p:cNvSpPr>
          <p:nvPr>
            <p:ph type="body" idx="11"/>
          </p:nvPr>
        </p:nvSpPr>
        <p:spPr/>
        <p:txBody>
          <a:bodyPr wrap="square"/>
          <a:lstStyle/>
          <a:p>
            <a:r>
              <a:t>Where the account stands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Where the account stands (cont.)</a:t>
            </a:r>
          </a:p>
        </p:txBody>
      </p:sp>
      <p:sp>
        <p:nvSpPr>
          <p:cNvPr id="4" name="Text Placeholder 3"/>
          <p:cNvSpPr>
            <a:spLocks noGrp="1"/>
          </p:cNvSpPr>
          <p:nvPr>
            <p:ph type="body" idx="1"/>
          </p:nvPr>
        </p:nvSpPr>
        <p:spPr/>
        <p:txBody>
          <a:bodyPr wrap="square"/>
          <a:lstStyle/>
          <a:p>
            <a:r>
              <a:t>One catalogue, nineteen localisations</a:t>
            </a:r>
          </a:p>
        </p:txBody>
      </p:sp>
      <p:sp>
        <p:nvSpPr>
          <p:cNvPr id="5" name="Text Placeholder 4"/>
          <p:cNvSpPr>
            <a:spLocks noGrp="1"/>
          </p:cNvSpPr>
          <p:nvPr>
            <p:ph type="body" idx="2"/>
          </p:nvPr>
        </p:nvSpPr>
        <p:spPr/>
        <p:txBody>
          <a:bodyPr wrap="square"/>
          <a:lstStyle/>
          <a:p>
            <a:r>
              <a:t>Each market runs its own instance of the same ~58,800-product range with its own language, currency, shipping, category tree and label architecture. The UK alone carries 221 active rules; the estate carries 1,774, plus 675 held in reserve for seasonal work.</a:t>
            </a:r>
          </a:p>
          <a:p>
            <a:r>
              <a:t>Every one of those rules runs on every import, every day, without anyone touching it. That is what a product arriving tomorrow inherits automatically.</a:t>
            </a:r>
          </a:p>
        </p:txBody>
      </p:sp>
      <p:sp>
        <p:nvSpPr>
          <p:cNvPr id="6" name="Text Placeholder 5"/>
          <p:cNvSpPr>
            <a:spLocks noGrp="1"/>
          </p:cNvSpPr>
          <p:nvPr>
            <p:ph type="body" idx="3"/>
          </p:nvPr>
        </p:nvSpPr>
        <p:spPr/>
        <p:txBody>
          <a:bodyPr wrap="square"/>
          <a:lstStyle/>
          <a:p>
            <a:r>
              <a:t>What the rules actually do</a:t>
            </a:r>
          </a:p>
        </p:txBody>
      </p:sp>
      <p:sp>
        <p:nvSpPr>
          <p:cNvPr id="7" name="Text Placeholder 6"/>
          <p:cNvSpPr>
            <a:spLocks noGrp="1"/>
          </p:cNvSpPr>
          <p:nvPr>
            <p:ph type="body" idx="4"/>
          </p:nvPr>
        </p:nvSpPr>
        <p:spPr/>
        <p:txBody>
          <a:bodyPr wrap="square"/>
          <a:lstStyle/>
          <a:p>
            <a:r>
              <a:rPr sz="1410"/>
              <a:t>They are not cosmetic. On the UK feed alone, rules build or rewrite the title, brand, category tree, colour, MPN, availability, shipping country, price and service, the sale and gender custom labels, range-completion stock logic, hero sizes, the Meta category, the Facebook and overlay image URLs, the Google product URL, UTM tagging, the display-ads fields, the Wunderkind title and class, and — since April — the two Local Inventory Ads pickup fields.</a:t>
            </a:r>
          </a:p>
          <a:p>
            <a:r>
              <a:rPr sz="1410"/>
              <a:t>203 of the UK's 210 rules are impacting products today. The seven that are not are seasonal: Black Friday messaging and sale-phrase appends, dormant until November.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What the feed carries</a:t>
            </a:r>
          </a:p>
        </p:txBody>
      </p:sp>
      <p:sp>
        <p:nvSpPr>
          <p:cNvPr id="4" name="Text Placeholder 3"/>
          <p:cNvSpPr>
            <a:spLocks noGrp="1"/>
          </p:cNvSpPr>
          <p:nvPr>
            <p:ph type="body" idx="1"/>
          </p:nvPr>
        </p:nvSpPr>
        <p:spPr/>
        <p:txBody>
          <a:bodyPr wrap="square"/>
          <a:lstStyle/>
          <a:p>
            <a:r>
              <a:t>920.8 million impressions, 10.9 million clicks and 334,866 conversions in the last twelve months — every one of them served from a feed FeedSpark builds.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feed carries</a:t>
            </a:r>
          </a:p>
        </p:txBody>
      </p:sp>
      <p:sp>
        <p:nvSpPr>
          <p:cNvPr id="3" name="Text Placeholder 2"/>
          <p:cNvSpPr>
            <a:spLocks noGrp="1"/>
          </p:cNvSpPr>
          <p:nvPr>
            <p:ph type="body" idx="11"/>
          </p:nvPr>
        </p:nvSpPr>
        <p:spPr/>
        <p:txBody>
          <a:bodyPr wrap="square"/>
          <a:lstStyle/>
          <a:p>
            <a:r>
              <a:t>Google Ads performance for the four reporting markets, last twelve months, collected this morning.</a:t>
            </a:r>
          </a:p>
        </p:txBody>
      </p:sp>
      <p:graphicFrame>
        <p:nvGraphicFramePr>
          <p:cNvPr id="5" name="Table 4"/>
          <p:cNvGraphicFramePr>
            <a:graphicFrameLocks noGrp="1"/>
          </p:cNvGraphicFramePr>
          <p:nvPr/>
        </p:nvGraphicFramePr>
        <p:xfrm>
          <a:off x="612648" y="1847088"/>
          <a:ext cx="10972797" cy="3794758"/>
        </p:xfrm>
        <a:graphic>
          <a:graphicData uri="http://schemas.openxmlformats.org/drawingml/2006/table">
            <a:tbl>
              <a:tblPr firstRow="1" bandRow="1">
                <a:tableStyleId>{5C22544A-7EE6-4342-B048-85BDC9FD1C3A}</a:tableStyleId>
              </a:tblPr>
              <a:tblGrid>
                <a:gridCol w="2090057"/>
                <a:gridCol w="1741714"/>
                <a:gridCol w="1915885"/>
                <a:gridCol w="1393371"/>
                <a:gridCol w="1915885"/>
                <a:gridCol w="1915885"/>
              </a:tblGrid>
              <a:tr h="384048">
                <a:tc>
                  <a:txBody>
                    <a:bodyPr/>
                    <a:lstStyle/>
                    <a:p>
                      <a:r>
                        <a:rPr sz="1300" b="1">
                          <a:solidFill>
                            <a:srgbClr val="FFFFFF"/>
                          </a:solidFill>
                        </a:rPr>
                        <a:t>Market</a:t>
                      </a:r>
                    </a:p>
                  </a:txBody>
                  <a:tcPr/>
                </a:tc>
                <a:tc>
                  <a:txBody>
                    <a:bodyPr/>
                    <a:lstStyle/>
                    <a:p>
                      <a:r>
                        <a:rPr sz="1300" b="1">
                          <a:solidFill>
                            <a:srgbClr val="FFFFFF"/>
                          </a:solidFill>
                        </a:rPr>
                        <a:t>Spend</a:t>
                      </a:r>
                    </a:p>
                  </a:txBody>
                  <a:tcPr/>
                </a:tc>
                <a:tc>
                  <a:txBody>
                    <a:bodyPr/>
                    <a:lstStyle/>
                    <a:p>
                      <a:r>
                        <a:rPr sz="1300" b="1">
                          <a:solidFill>
                            <a:srgbClr val="FFFFFF"/>
                          </a:solidFill>
                        </a:rPr>
                        <a:t>Revenue</a:t>
                      </a:r>
                    </a:p>
                  </a:txBody>
                  <a:tcPr/>
                </a:tc>
                <a:tc>
                  <a:txBody>
                    <a:bodyPr/>
                    <a:lstStyle/>
                    <a:p>
                      <a:r>
                        <a:rPr sz="1300" b="1">
                          <a:solidFill>
                            <a:srgbClr val="FFFFFF"/>
                          </a:solidFill>
                        </a:rPr>
                        <a:t>ROAS</a:t>
                      </a:r>
                    </a:p>
                  </a:txBody>
                  <a:tcPr/>
                </a:tc>
                <a:tc>
                  <a:txBody>
                    <a:bodyPr/>
                    <a:lstStyle/>
                    <a:p>
                      <a:r>
                        <a:rPr sz="1300" b="1">
                          <a:solidFill>
                            <a:srgbClr val="FFFFFF"/>
                          </a:solidFill>
                        </a:rPr>
                        <a:t>Impressions</a:t>
                      </a:r>
                    </a:p>
                  </a:txBody>
                  <a:tcPr/>
                </a:tc>
                <a:tc>
                  <a:txBody>
                    <a:bodyPr/>
                    <a:lstStyle/>
                    <a:p>
                      <a:r>
                        <a:rPr sz="1300" b="1">
                          <a:solidFill>
                            <a:srgbClr val="FFFFFF"/>
                          </a:solidFill>
                        </a:rPr>
                        <a:t>Conversions</a:t>
                      </a:r>
                    </a:p>
                  </a:txBody>
                  <a:tcPr/>
                </a:tc>
              </a:tr>
              <a:tr h="682142">
                <a:tc>
                  <a:txBody>
                    <a:bodyPr/>
                    <a:lstStyle/>
                    <a:p>
                      <a:r>
                        <a:rPr sz="1100"/>
                        <a:t>UK</a:t>
                      </a:r>
                    </a:p>
                  </a:txBody>
                  <a:tcPr/>
                </a:tc>
                <a:tc>
                  <a:txBody>
                    <a:bodyPr/>
                    <a:lstStyle/>
                    <a:p>
                      <a:r>
                        <a:rPr sz="1100"/>
                        <a:t>£1,675,855</a:t>
                      </a:r>
                    </a:p>
                  </a:txBody>
                  <a:tcPr/>
                </a:tc>
                <a:tc>
                  <a:txBody>
                    <a:bodyPr/>
                    <a:lstStyle/>
                    <a:p>
                      <a:r>
                        <a:rPr sz="1100"/>
                        <a:t>£16,181,338</a:t>
                      </a:r>
                    </a:p>
                  </a:txBody>
                  <a:tcPr/>
                </a:tc>
                <a:tc>
                  <a:txBody>
                    <a:bodyPr/>
                    <a:lstStyle/>
                    <a:p>
                      <a:r>
                        <a:rPr sz="1100"/>
                        <a:t>965.6%</a:t>
                      </a:r>
                    </a:p>
                  </a:txBody>
                  <a:tcPr/>
                </a:tc>
                <a:tc>
                  <a:txBody>
                    <a:bodyPr/>
                    <a:lstStyle/>
                    <a:p>
                      <a:r>
                        <a:rPr sz="1100"/>
                        <a:t>591,622,173</a:t>
                      </a:r>
                    </a:p>
                  </a:txBody>
                  <a:tcPr/>
                </a:tc>
                <a:tc>
                  <a:txBody>
                    <a:bodyPr/>
                    <a:lstStyle/>
                    <a:p>
                      <a:r>
                        <a:rPr sz="1100"/>
                        <a:t>226,145</a:t>
                      </a:r>
                    </a:p>
                  </a:txBody>
                  <a:tcPr/>
                </a:tc>
              </a:tr>
              <a:tr h="682142">
                <a:tc>
                  <a:txBody>
                    <a:bodyPr/>
                    <a:lstStyle/>
                    <a:p>
                      <a:r>
                        <a:rPr sz="1100"/>
                        <a:t>Germany</a:t>
                      </a:r>
                    </a:p>
                  </a:txBody>
                  <a:tcPr/>
                </a:tc>
                <a:tc>
                  <a:txBody>
                    <a:bodyPr/>
                    <a:lstStyle/>
                    <a:p>
                      <a:r>
                        <a:rPr sz="1100"/>
                        <a:t>€694,149</a:t>
                      </a:r>
                    </a:p>
                  </a:txBody>
                  <a:tcPr/>
                </a:tc>
                <a:tc>
                  <a:txBody>
                    <a:bodyPr/>
                    <a:lstStyle/>
                    <a:p>
                      <a:r>
                        <a:rPr sz="1100"/>
                        <a:t>€7,234,584</a:t>
                      </a:r>
                    </a:p>
                  </a:txBody>
                  <a:tcPr/>
                </a:tc>
                <a:tc>
                  <a:txBody>
                    <a:bodyPr/>
                    <a:lstStyle/>
                    <a:p>
                      <a:r>
                        <a:rPr sz="1100"/>
                        <a:t>1,042.2%</a:t>
                      </a:r>
                    </a:p>
                  </a:txBody>
                  <a:tcPr/>
                </a:tc>
                <a:tc>
                  <a:txBody>
                    <a:bodyPr/>
                    <a:lstStyle/>
                    <a:p>
                      <a:r>
                        <a:rPr sz="1100"/>
                        <a:t>134,880,504</a:t>
                      </a:r>
                    </a:p>
                  </a:txBody>
                  <a:tcPr/>
                </a:tc>
                <a:tc>
                  <a:txBody>
                    <a:bodyPr/>
                    <a:lstStyle/>
                    <a:p>
                      <a:r>
                        <a:rPr sz="1100"/>
                        <a:t>51,524</a:t>
                      </a:r>
                    </a:p>
                  </a:txBody>
                  <a:tcPr/>
                </a:tc>
              </a:tr>
              <a:tr h="682142">
                <a:tc>
                  <a:txBody>
                    <a:bodyPr/>
                    <a:lstStyle/>
                    <a:p>
                      <a:r>
                        <a:rPr sz="1100"/>
                        <a:t>France</a:t>
                      </a:r>
                    </a:p>
                  </a:txBody>
                  <a:tcPr/>
                </a:tc>
                <a:tc>
                  <a:txBody>
                    <a:bodyPr/>
                    <a:lstStyle/>
                    <a:p>
                      <a:r>
                        <a:rPr sz="1100"/>
                        <a:t>€402,048</a:t>
                      </a:r>
                    </a:p>
                  </a:txBody>
                  <a:tcPr/>
                </a:tc>
                <a:tc>
                  <a:txBody>
                    <a:bodyPr/>
                    <a:lstStyle/>
                    <a:p>
                      <a:r>
                        <a:rPr sz="1100"/>
                        <a:t>€3,891,212</a:t>
                      </a:r>
                    </a:p>
                  </a:txBody>
                  <a:tcPr/>
                </a:tc>
                <a:tc>
                  <a:txBody>
                    <a:bodyPr/>
                    <a:lstStyle/>
                    <a:p>
                      <a:r>
                        <a:rPr sz="1100"/>
                        <a:t>967.9%</a:t>
                      </a:r>
                    </a:p>
                  </a:txBody>
                  <a:tcPr/>
                </a:tc>
                <a:tc>
                  <a:txBody>
                    <a:bodyPr/>
                    <a:lstStyle/>
                    <a:p>
                      <a:r>
                        <a:rPr sz="1100"/>
                        <a:t>141,258,175</a:t>
                      </a:r>
                    </a:p>
                  </a:txBody>
                  <a:tcPr/>
                </a:tc>
                <a:tc>
                  <a:txBody>
                    <a:bodyPr/>
                    <a:lstStyle/>
                    <a:p>
                      <a:r>
                        <a:rPr sz="1100"/>
                        <a:t>39,737</a:t>
                      </a:r>
                    </a:p>
                  </a:txBody>
                  <a:tcPr/>
                </a:tc>
              </a:tr>
              <a:tr h="682142">
                <a:tc>
                  <a:txBody>
                    <a:bodyPr/>
                    <a:lstStyle/>
                    <a:p>
                      <a:r>
                        <a:rPr sz="1100"/>
                        <a:t>Netherlands</a:t>
                      </a:r>
                    </a:p>
                  </a:txBody>
                  <a:tcPr/>
                </a:tc>
                <a:tc>
                  <a:txBody>
                    <a:bodyPr/>
                    <a:lstStyle/>
                    <a:p>
                      <a:r>
                        <a:rPr sz="1100"/>
                        <a:t>€222,630</a:t>
                      </a:r>
                    </a:p>
                  </a:txBody>
                  <a:tcPr/>
                </a:tc>
                <a:tc>
                  <a:txBody>
                    <a:bodyPr/>
                    <a:lstStyle/>
                    <a:p>
                      <a:r>
                        <a:rPr sz="1100"/>
                        <a:t>€1,817,590</a:t>
                      </a:r>
                    </a:p>
                  </a:txBody>
                  <a:tcPr/>
                </a:tc>
                <a:tc>
                  <a:txBody>
                    <a:bodyPr/>
                    <a:lstStyle/>
                    <a:p>
                      <a:r>
                        <a:rPr sz="1100"/>
                        <a:t>816.4%</a:t>
                      </a:r>
                    </a:p>
                  </a:txBody>
                  <a:tcPr/>
                </a:tc>
                <a:tc>
                  <a:txBody>
                    <a:bodyPr/>
                    <a:lstStyle/>
                    <a:p>
                      <a:r>
                        <a:rPr sz="1100"/>
                        <a:t>53,031,039</a:t>
                      </a:r>
                    </a:p>
                  </a:txBody>
                  <a:tcPr/>
                </a:tc>
                <a:tc>
                  <a:txBody>
                    <a:bodyPr/>
                    <a:lstStyle/>
                    <a:p>
                      <a:r>
                        <a:rPr sz="1100"/>
                        <a:t>17,460</a:t>
                      </a:r>
                    </a:p>
                  </a:txBody>
                  <a:tcPr/>
                </a:tc>
              </a:tr>
              <a:tr h="682142">
                <a:tc>
                  <a:txBody>
                    <a:bodyPr/>
                    <a:lstStyle/>
                    <a:p>
                      <a:r>
                        <a:rPr sz="1100"/>
                        <a:t>Four markets</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920,791,891</a:t>
                      </a:r>
                    </a:p>
                  </a:txBody>
                  <a:tcPr/>
                </a:tc>
                <a:tc>
                  <a:txBody>
                    <a:bodyPr/>
                    <a:lstStyle/>
                    <a:p>
                      <a:r>
                        <a:rPr sz="1100"/>
                        <a:t>334,866</a:t>
                      </a:r>
                    </a:p>
                  </a:txBody>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3010"/>
              <a:t>Revenue is never added across currencies here. Impressions and conversions are, because they are counts. Every market returned between 8× and 10× on ad spend over the year, and Germany — on an eight-hour retainer — returned the most.</a:t>
            </a:r>
          </a:p>
        </p:txBody>
      </p:sp>
      <p:sp>
        <p:nvSpPr>
          <p:cNvPr id="3" name="Text Placeholder 2"/>
          <p:cNvSpPr>
            <a:spLocks noGrp="1"/>
          </p:cNvSpPr>
          <p:nvPr>
            <p:ph type="body" idx="11"/>
          </p:nvPr>
        </p:nvSpPr>
        <p:spPr/>
        <p:txBody>
          <a:bodyPr wrap="square"/>
          <a:lstStyle/>
          <a:p>
            <a:r>
              <a:t>What the feed carries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feed carries (cont.)</a:t>
            </a:r>
          </a:p>
        </p:txBody>
      </p:sp>
      <p:sp>
        <p:nvSpPr>
          <p:cNvPr id="4" name="Text Placeholder 3"/>
          <p:cNvSpPr>
            <a:spLocks noGrp="1"/>
          </p:cNvSpPr>
          <p:nvPr>
            <p:ph type="body" idx="1"/>
          </p:nvPr>
        </p:nvSpPr>
        <p:spPr/>
        <p:txBody>
          <a:bodyPr wrap="square"/>
          <a:lstStyle/>
          <a:p>
            <a:r>
              <a:t>Outerwear is the engine</a:t>
            </a:r>
          </a:p>
        </p:txBody>
      </p:sp>
      <p:sp>
        <p:nvSpPr>
          <p:cNvPr id="5" name="Text Placeholder 4"/>
          <p:cNvSpPr>
            <a:spLocks noGrp="1"/>
          </p:cNvSpPr>
          <p:nvPr>
            <p:ph type="body" idx="2"/>
          </p:nvPr>
        </p:nvSpPr>
        <p:spPr/>
        <p:txBody>
          <a:bodyPr wrap="square"/>
          <a:lstStyle/>
          <a:p>
            <a:r>
              <a:t>In the UK over the last thirty days, Women's Jackets and Coats — 5,006 SKUs — returned £274,554 on £24,279 of spend. That is a ROAS of 1,130% from 8% of the catalogue.</a:t>
            </a:r>
          </a:p>
          <a:p>
            <a:r>
              <a:t>Bomber jackets alone read 1,945%. This is where feed quality pays fastest, and it is where the keyword work has been aimed.</a:t>
            </a:r>
          </a:p>
        </p:txBody>
      </p:sp>
      <p:sp>
        <p:nvSpPr>
          <p:cNvPr id="6" name="Text Placeholder 5"/>
          <p:cNvSpPr>
            <a:spLocks noGrp="1"/>
          </p:cNvSpPr>
          <p:nvPr>
            <p:ph type="body" idx="3"/>
          </p:nvPr>
        </p:nvSpPr>
        <p:spPr/>
        <p:txBody>
          <a:bodyPr wrap="square"/>
          <a:lstStyle/>
          <a:p>
            <a:r>
              <a:t>Womenswear outperforms</a:t>
            </a:r>
          </a:p>
        </p:txBody>
      </p:sp>
      <p:sp>
        <p:nvSpPr>
          <p:cNvPr id="7" name="Text Placeholder 6"/>
          <p:cNvSpPr>
            <a:spLocks noGrp="1"/>
          </p:cNvSpPr>
          <p:nvPr>
            <p:ph type="body" idx="4"/>
          </p:nvPr>
        </p:nvSpPr>
        <p:spPr/>
        <p:txBody>
          <a:bodyPr wrap="square"/>
          <a:lstStyle/>
          <a:p>
            <a:r>
              <a:t>UK women's ROAS is 1,002% against men's 805%, on a similar SKU count — 28,896 against 26,204. Germany shows the same shape.</a:t>
            </a:r>
          </a:p>
          <a:p>
            <a:r>
              <a:t>The gap is not budget. It is that the women's range carries deeper category detail and more of the keyword work has landed there.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the feed carries (cont.)</a:t>
            </a:r>
          </a:p>
        </p:txBody>
      </p:sp>
      <p:sp>
        <p:nvSpPr>
          <p:cNvPr id="4" name="Text Placeholder 3"/>
          <p:cNvSpPr>
            <a:spLocks noGrp="1"/>
          </p:cNvSpPr>
          <p:nvPr>
            <p:ph type="body" idx="1"/>
          </p:nvPr>
        </p:nvSpPr>
        <p:spPr/>
        <p:txBody>
          <a:bodyPr wrap="square"/>
          <a:lstStyle/>
          <a:p>
            <a:r>
              <a:t>And the half that earns nothing</a:t>
            </a:r>
          </a:p>
          <a:p>
            <a:r>
              <a:t>Between 47% and 58% of each market's catalogue took under 100 impressions in thirty days — 47.1% UK, 51.2% Germany, 48.8% France, 57.6% Netherlands.</a:t>
            </a:r>
          </a:p>
          <a:p>
            <a:r>
              <a:t>That is the single largest opportunity in this account, and the work to address it is already written and waiting — chapter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The transformation, measured</a:t>
            </a:r>
          </a:p>
        </p:txBody>
      </p:sp>
      <p:sp>
        <p:nvSpPr>
          <p:cNvPr id="4" name="Text Placeholder 3"/>
          <p:cNvSpPr>
            <a:spLocks noGrp="1"/>
          </p:cNvSpPr>
          <p:nvPr>
            <p:ph type="body" idx="1"/>
          </p:nvPr>
        </p:nvSpPr>
        <p:spPr/>
        <p:txBody>
          <a:bodyPr wrap="square"/>
          <a:lstStyle/>
          <a:p>
            <a:r>
              <a:t>Superdry supplies a 29-character title. The feed ships an 83-character one. Both numbers are in the same file, on the same products, this morning.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t>That makes the before and the after directly comparable — same products, same file, same moment, no sampling and no estimate.</a:t>
            </a:r>
          </a:p>
        </p:txBody>
      </p:sp>
      <p:sp>
        <p:nvSpPr>
          <p:cNvPr id="3" name="Text Placeholder 2"/>
          <p:cNvSpPr>
            <a:spLocks noGrp="1"/>
          </p:cNvSpPr>
          <p:nvPr>
            <p:ph type="body" idx="11"/>
          </p:nvPr>
        </p:nvSpPr>
        <p:spPr/>
        <p:txBody>
          <a:bodyPr wrap="square"/>
          <a:lstStyle/>
          <a:p>
            <a:r>
              <a:t>The transformation, measured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transformation, measured (cont.)</a:t>
            </a:r>
          </a:p>
        </p:txBody>
      </p:sp>
      <p:sp>
        <p:nvSpPr>
          <p:cNvPr id="4" name="Text Placeholder 3"/>
          <p:cNvSpPr>
            <a:spLocks noGrp="1"/>
          </p:cNvSpPr>
          <p:nvPr>
            <p:ph type="body" idx="1"/>
          </p:nvPr>
        </p:nvSpPr>
        <p:spPr/>
        <p:txBody>
          <a:bodyPr wrap="square"/>
          <a:lstStyle/>
          <a:p>
            <a:r>
              <a:t>What Superdry supplies</a:t>
            </a:r>
          </a:p>
        </p:txBody>
      </p:sp>
      <p:sp>
        <p:nvSpPr>
          <p:cNvPr id="5" name="Text Placeholder 4"/>
          <p:cNvSpPr>
            <a:spLocks noGrp="1"/>
          </p:cNvSpPr>
          <p:nvPr>
            <p:ph type="body" idx="2"/>
          </p:nvPr>
        </p:nvSpPr>
        <p:spPr/>
        <p:txBody>
          <a:bodyPr wrap="square"/>
          <a:lstStyle/>
          <a:p>
            <a:r>
              <a:t>A real UK product, read from today's feed</a:t>
            </a:r>
          </a:p>
          <a:p>
            <a:r>
              <a:t>"Knitted Rugby Henley Jumper"</a:t>
            </a:r>
          </a:p>
          <a:p>
            <a:r>
              <a:t>27 characters. No brand, no gender, no colour, no size, no fit. Across the UK catalogue the source title averages 29.1 characters and 54.3% of them are under thirty.</a:t>
            </a:r>
          </a:p>
        </p:txBody>
      </p:sp>
      <p:sp>
        <p:nvSpPr>
          <p:cNvPr id="6" name="Text Placeholder 5"/>
          <p:cNvSpPr>
            <a:spLocks noGrp="1"/>
          </p:cNvSpPr>
          <p:nvPr>
            <p:ph type="body" idx="3"/>
          </p:nvPr>
        </p:nvSpPr>
        <p:spPr/>
        <p:txBody>
          <a:bodyPr wrap="square"/>
          <a:lstStyle/>
          <a:p>
            <a:r>
              <a:t>What FeedSpark ships</a:t>
            </a:r>
          </a:p>
        </p:txBody>
      </p:sp>
      <p:sp>
        <p:nvSpPr>
          <p:cNvPr id="7" name="Text Placeholder 6"/>
          <p:cNvSpPr>
            <a:spLocks noGrp="1"/>
          </p:cNvSpPr>
          <p:nvPr>
            <p:ph type="body" idx="4"/>
          </p:nvPr>
        </p:nvSpPr>
        <p:spPr/>
        <p:txBody>
          <a:bodyPr wrap="square"/>
          <a:lstStyle/>
          <a:p>
            <a:r>
              <a:t>The same product, the same file, the same moment</a:t>
            </a:r>
          </a:p>
          <a:p>
            <a:r>
              <a:t>"Superdry &amp; Co Women's Knitted Rugby Henley Jumper Navy / Cable Navy - Size: 10"</a:t>
            </a:r>
          </a:p>
          <a:p>
            <a:r>
              <a:t>77 characters. Brand, sub-brand, gender, product, colour, colourway and size. The UK average is 83.1 characters — +54 characters per product, on all 25,699 of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Title length before and after, by market</a:t>
            </a:r>
          </a:p>
        </p:txBody>
      </p:sp>
      <p:graphicFrame>
        <p:nvGraphicFramePr>
          <p:cNvPr id="5" name="Chart 4"/>
          <p:cNvGraphicFramePr>
            <a:graphicFrameLocks noGrp="1"/>
          </p:cNvGraphicFramePr>
          <p:nvPr/>
        </p:nvGraphicFramePr>
        <p:xfrm>
          <a:off x="612648" y="1389888"/>
          <a:ext cx="10972800" cy="4251960"/>
        </p:xfrm>
        <a:graphic>
          <a:graphicData uri="http://schemas.openxmlformats.org/drawingml/2006/chart">
            <c:chart xmlns:c="http://schemas.openxmlformats.org/drawingml/2006/chart" r:id="rId2"/>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379"/>
              <a:t>Titles in the 80–120 character band Google rewards</a:t>
            </a:r>
          </a:p>
        </p:txBody>
      </p:sp>
      <p:graphicFrame>
        <p:nvGraphicFramePr>
          <p:cNvPr id="5" name="Chart 4"/>
          <p:cNvGraphicFramePr>
            <a:graphicFrameLocks noGrp="1"/>
          </p:cNvGraphicFramePr>
          <p:nvPr/>
        </p:nvGraphicFramePr>
        <p:xfrm>
          <a:off x="612648" y="1389888"/>
          <a:ext cx="10972800" cy="4251960"/>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Not one title Superdry supplies, in any market, reaches the band. Nearly two thirds of the English-market titles do. That gap is the service, stated as plainly as it can be stated: 100% of titles are rewritten in all six markets, and every rewritten title is longer than the one it replaced.</a:t>
            </a:r>
          </a:p>
        </p:txBody>
      </p:sp>
      <p:sp>
        <p:nvSpPr>
          <p:cNvPr id="3" name="Text Placeholder 2"/>
          <p:cNvSpPr>
            <a:spLocks noGrp="1"/>
          </p:cNvSpPr>
          <p:nvPr>
            <p:ph type="body" idx="11"/>
          </p:nvPr>
        </p:nvSpPr>
        <p:spPr/>
        <p:txBody>
          <a:bodyPr wrap="square"/>
          <a:lstStyle/>
          <a:p>
            <a:r>
              <a:t>The transformation, measured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The transformation, measured (cont.)</a:t>
            </a:r>
          </a:p>
        </p:txBody>
      </p:sp>
      <p:sp>
        <p:nvSpPr>
          <p:cNvPr id="4" name="Text Placeholder 3"/>
          <p:cNvSpPr>
            <a:spLocks noGrp="1"/>
          </p:cNvSpPr>
          <p:nvPr>
            <p:ph type="body" idx="1"/>
          </p:nvPr>
        </p:nvSpPr>
        <p:spPr/>
        <p:txBody>
          <a:bodyPr wrap="square"/>
          <a:lstStyle/>
          <a:p>
            <a:r>
              <a:t>And it is not only the title</a:t>
            </a:r>
          </a:p>
        </p:txBody>
      </p:sp>
      <p:sp>
        <p:nvSpPr>
          <p:cNvPr id="5" name="Text Placeholder 4"/>
          <p:cNvSpPr>
            <a:spLocks noGrp="1"/>
          </p:cNvSpPr>
          <p:nvPr>
            <p:ph type="body" idx="2"/>
          </p:nvPr>
        </p:nvSpPr>
        <p:spPr/>
        <p:txBody>
          <a:bodyPr wrap="square"/>
          <a:lstStyle/>
          <a:p>
            <a:r>
              <a:t>On the same UK feed, read this morning: the category tree is mapped on 100% of products and runs four levels deep on 93.1% of them, against 305 distinct paths. Google's own category is on 100%. Every product carries exactly two images. Sale and full-price labelling is on 100%, gender labelling on 100%, category labelling on 99.8%.</a:t>
            </a:r>
          </a:p>
          <a:p>
            <a:r>
              <a:t>Out-of-stock products never reach the feed at all — the availability rule removes them, which is why every live SKU reads in stock.</a:t>
            </a:r>
          </a:p>
        </p:txBody>
      </p:sp>
      <p:sp>
        <p:nvSpPr>
          <p:cNvPr id="6" name="Text Placeholder 5"/>
          <p:cNvSpPr>
            <a:spLocks noGrp="1"/>
          </p:cNvSpPr>
          <p:nvPr>
            <p:ph type="body" idx="3"/>
          </p:nvPr>
        </p:nvSpPr>
        <p:spPr/>
        <p:txBody>
          <a:bodyPr wrap="square"/>
          <a:lstStyle/>
          <a:p>
            <a:r>
              <a:rPr sz="1880"/>
              <a:t>What the same read shows is still open</a:t>
            </a:r>
          </a:p>
        </p:txBody>
      </p:sp>
      <p:sp>
        <p:nvSpPr>
          <p:cNvPr id="7" name="Text Placeholder 6"/>
          <p:cNvSpPr>
            <a:spLocks noGrp="1"/>
          </p:cNvSpPr>
          <p:nvPr>
            <p:ph type="body" idx="4"/>
          </p:nvPr>
        </p:nvSpPr>
        <p:spPr/>
        <p:txBody>
          <a:bodyPr wrap="square"/>
          <a:lstStyle/>
          <a:p>
            <a:r>
              <a:t>Product highlights reach 29.4% of UK products; 18,143 carry none. Keyword enrichment has reached 41.0%. Descriptions average 550 characters and have never been enriched — the flag reads D:N on every product in every market.</a:t>
            </a:r>
          </a:p>
          <a:p>
            <a:r>
              <a:t>These are not oversights. They are the parts of the build that were scoped and never funded, and they are what chapter 10 asks for.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lstStyle/>
          <a:p>
            <a:r>
              <a:t>Two years of delivery</a:t>
            </a:r>
          </a:p>
        </p:txBody>
      </p:sp>
      <p:sp>
        <p:nvSpPr>
          <p:cNvPr id="4" name="Text Placeholder 3"/>
          <p:cNvSpPr>
            <a:spLocks noGrp="1"/>
          </p:cNvSpPr>
          <p:nvPr>
            <p:ph type="body" idx="1"/>
          </p:nvPr>
        </p:nvSpPr>
        <p:spPr/>
        <p:txBody>
          <a:bodyPr wrap="square"/>
          <a:lstStyle/>
          <a:p>
            <a:r>
              <a:t>2,037 hours delivered across nineteen markets in twenty-four months, against forty-two hours a month contracted.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Two years of delivery</a:t>
            </a:r>
          </a:p>
        </p:txBody>
      </p:sp>
      <p:sp>
        <p:nvSpPr>
          <p:cNvPr id="4" name="Text Placeholder 3"/>
          <p:cNvSpPr>
            <a:spLocks noGrp="1"/>
          </p:cNvSpPr>
          <p:nvPr>
            <p:ph type="body" idx="1"/>
          </p:nvPr>
        </p:nvSpPr>
        <p:spPr/>
        <p:txBody>
          <a:bodyPr wrap="square"/>
          <a:lstStyle/>
          <a:p>
            <a:r>
              <a:t>2,037</a:t>
            </a:r>
          </a:p>
        </p:txBody>
      </p:sp>
      <p:sp>
        <p:nvSpPr>
          <p:cNvPr id="5" name="Text Placeholder 4"/>
          <p:cNvSpPr>
            <a:spLocks noGrp="1"/>
          </p:cNvSpPr>
          <p:nvPr>
            <p:ph type="body" idx="2"/>
          </p:nvPr>
        </p:nvSpPr>
        <p:spPr/>
        <p:txBody>
          <a:bodyPr wrap="square"/>
          <a:lstStyle/>
          <a:p>
            <a:r>
              <a:t>Hours delivered, Oct 2024 – Sep 2026</a:t>
            </a:r>
          </a:p>
        </p:txBody>
      </p:sp>
      <p:sp>
        <p:nvSpPr>
          <p:cNvPr id="6" name="Text Placeholder 5"/>
          <p:cNvSpPr>
            <a:spLocks noGrp="1"/>
          </p:cNvSpPr>
          <p:nvPr>
            <p:ph type="body" idx="3"/>
          </p:nvPr>
        </p:nvSpPr>
        <p:spPr/>
        <p:txBody>
          <a:bodyPr wrap="square"/>
          <a:lstStyle/>
          <a:p>
            <a:r>
              <a:t>1,561</a:t>
            </a:r>
          </a:p>
        </p:txBody>
      </p:sp>
      <p:sp>
        <p:nvSpPr>
          <p:cNvPr id="7" name="Text Placeholder 6"/>
          <p:cNvSpPr>
            <a:spLocks noGrp="1"/>
          </p:cNvSpPr>
          <p:nvPr>
            <p:ph type="body" idx="4"/>
          </p:nvPr>
        </p:nvSpPr>
        <p:spPr/>
        <p:txBody>
          <a:bodyPr wrap="square"/>
          <a:lstStyle/>
          <a:p>
            <a:r>
              <a:t>Tasks completed in the window</a:t>
            </a:r>
          </a:p>
        </p:txBody>
      </p:sp>
      <p:sp>
        <p:nvSpPr>
          <p:cNvPr id="8" name="Text Placeholder 7"/>
          <p:cNvSpPr>
            <a:spLocks noGrp="1"/>
          </p:cNvSpPr>
          <p:nvPr>
            <p:ph type="body" idx="5"/>
          </p:nvPr>
        </p:nvSpPr>
        <p:spPr/>
        <p:txBody>
          <a:bodyPr wrap="square"/>
          <a:lstStyle/>
          <a:p>
            <a:r>
              <a:t>1,389</a:t>
            </a:r>
          </a:p>
        </p:txBody>
      </p:sp>
      <p:sp>
        <p:nvSpPr>
          <p:cNvPr id="9" name="Text Placeholder 8"/>
          <p:cNvSpPr>
            <a:spLocks noGrp="1"/>
          </p:cNvSpPr>
          <p:nvPr>
            <p:ph type="body" idx="6"/>
          </p:nvPr>
        </p:nvSpPr>
        <p:spPr/>
        <p:txBody>
          <a:bodyPr wrap="square"/>
          <a:lstStyle/>
          <a:p>
            <a:r>
              <a:t>Hours charged</a:t>
            </a:r>
          </a:p>
        </p:txBody>
      </p:sp>
      <p:sp>
        <p:nvSpPr>
          <p:cNvPr id="10" name="Text Placeholder 9"/>
          <p:cNvSpPr>
            <a:spLocks noGrp="1"/>
          </p:cNvSpPr>
          <p:nvPr>
            <p:ph type="body" idx="7"/>
          </p:nvPr>
        </p:nvSpPr>
        <p:spPr/>
        <p:txBody>
          <a:bodyPr wrap="square"/>
          <a:lstStyle/>
          <a:p>
            <a:r>
              <a:t>648</a:t>
            </a:r>
          </a:p>
        </p:txBody>
      </p:sp>
      <p:sp>
        <p:nvSpPr>
          <p:cNvPr id="11" name="Text Placeholder 10"/>
          <p:cNvSpPr>
            <a:spLocks noGrp="1"/>
          </p:cNvSpPr>
          <p:nvPr>
            <p:ph type="body" idx="8"/>
          </p:nvPr>
        </p:nvSpPr>
        <p:spPr/>
        <p:txBody>
          <a:bodyPr wrap="square"/>
          <a:lstStyle/>
          <a:p>
            <a:r>
              <a:t>Hours absorbed, not charged</a:t>
            </a:r>
          </a:p>
        </p:txBody>
      </p:sp>
      <p:sp>
        <p:nvSpPr>
          <p:cNvPr id="12" name="Text Placeholder 11"/>
          <p:cNvSpPr>
            <a:spLocks noGrp="1"/>
          </p:cNvSpPr>
          <p:nvPr>
            <p:ph type="body" idx="9"/>
          </p:nvPr>
        </p:nvSpPr>
        <p:spPr/>
        <p:txBody>
          <a:bodyPr wrap="square"/>
          <a:lstStyle/>
          <a:p>
            <a:r>
              <a:t>3,793</a:t>
            </a:r>
          </a:p>
        </p:txBody>
      </p:sp>
      <p:sp>
        <p:nvSpPr>
          <p:cNvPr id="13" name="Text Placeholder 12"/>
          <p:cNvSpPr>
            <a:spLocks noGrp="1"/>
          </p:cNvSpPr>
          <p:nvPr>
            <p:ph type="body" idx="10"/>
          </p:nvPr>
        </p:nvSpPr>
        <p:spPr/>
        <p:txBody>
          <a:bodyPr wrap="square"/>
          <a:lstStyle/>
          <a:p>
            <a:r>
              <a:t>Hours since June 2022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Hours delivered per month, all markets</a:t>
            </a:r>
          </a:p>
        </p:txBody>
      </p:sp>
      <p:graphicFrame>
        <p:nvGraphicFramePr>
          <p:cNvPr id="5" name="Chart 4"/>
          <p:cNvGraphicFramePr>
            <a:graphicFrameLocks noGrp="1"/>
          </p:cNvGraphicFramePr>
          <p:nvPr/>
        </p:nvGraphicFramePr>
        <p:xfrm>
          <a:off x="612648" y="1389888"/>
          <a:ext cx="10972800" cy="4251960"/>
        </p:xfrm>
        <a:graphic>
          <a:graphicData uri="http://schemas.openxmlformats.org/drawingml/2006/chart">
            <c:chart xmlns:c="http://schemas.openxmlformats.org/drawingml/2006/chart" r:id="rId2"/>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620"/>
              <a:t>The contracted allowance is 42 hours a month. The average delivered was 84.9. Over twenty-four months that is 1,008 hours sold and 2,037 delivered. The busiest month, June 2025, ran to 153.5 hours — three and a half times the allowance — on the SFCC migration and the summer keyword programme.</a:t>
            </a:r>
          </a:p>
        </p:txBody>
      </p:sp>
      <p:sp>
        <p:nvSpPr>
          <p:cNvPr id="3" name="Text Placeholder 2"/>
          <p:cNvSpPr>
            <a:spLocks noGrp="1"/>
          </p:cNvSpPr>
          <p:nvPr>
            <p:ph type="body" idx="11"/>
          </p:nvPr>
        </p:nvSpPr>
        <p:spPr/>
        <p:txBody>
          <a:bodyPr wrap="square"/>
          <a:lstStyle/>
          <a:p>
            <a:r>
              <a:t>Two years of delivery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rPr sz="3379"/>
              <a:t>Where the hours went, whole account since 2022</a:t>
            </a:r>
          </a:p>
        </p:txBody>
      </p:sp>
      <p:graphicFrame>
        <p:nvGraphicFramePr>
          <p:cNvPr id="5" name="Table 4"/>
          <p:cNvGraphicFramePr>
            <a:graphicFrameLocks noGrp="1"/>
          </p:cNvGraphicFramePr>
          <p:nvPr/>
        </p:nvGraphicFramePr>
        <p:xfrm>
          <a:off x="612648" y="1389888"/>
          <a:ext cx="10972799" cy="4251958"/>
        </p:xfrm>
        <a:graphic>
          <a:graphicData uri="http://schemas.openxmlformats.org/drawingml/2006/table">
            <a:tbl>
              <a:tblPr firstRow="1" bandRow="1">
                <a:tableStyleId>{5C22544A-7EE6-4342-B048-85BDC9FD1C3A}</a:tableStyleId>
              </a:tblPr>
              <a:tblGrid>
                <a:gridCol w="3389635"/>
                <a:gridCol w="803893"/>
                <a:gridCol w="6779271"/>
              </a:tblGrid>
              <a:tr h="384048">
                <a:tc>
                  <a:txBody>
                    <a:bodyPr/>
                    <a:lstStyle/>
                    <a:p>
                      <a:r>
                        <a:rPr sz="1300" b="1">
                          <a:solidFill>
                            <a:srgbClr val="FFFFFF"/>
                          </a:solidFill>
                        </a:rPr>
                        <a:t>Work</a:t>
                      </a:r>
                    </a:p>
                  </a:txBody>
                  <a:tcPr/>
                </a:tc>
                <a:tc>
                  <a:txBody>
                    <a:bodyPr/>
                    <a:lstStyle/>
                    <a:p>
                      <a:r>
                        <a:rPr sz="1300" b="1">
                          <a:solidFill>
                            <a:srgbClr val="FFFFFF"/>
                          </a:solidFill>
                        </a:rPr>
                        <a:t>Hours</a:t>
                      </a:r>
                    </a:p>
                  </a:txBody>
                  <a:tcPr/>
                </a:tc>
                <a:tc>
                  <a:txBody>
                    <a:bodyPr/>
                    <a:lstStyle/>
                    <a:p>
                      <a:r>
                        <a:rPr sz="1300" b="1">
                          <a:solidFill>
                            <a:srgbClr val="FFFFFF"/>
                          </a:solidFill>
                        </a:rPr>
                        <a:t>What it is</a:t>
                      </a:r>
                    </a:p>
                  </a:txBody>
                  <a:tcPr/>
                </a:tc>
              </a:tr>
              <a:tr h="386791">
                <a:tc>
                  <a:txBody>
                    <a:bodyPr/>
                    <a:lstStyle/>
                    <a:p>
                      <a:r>
                        <a:rPr sz="1100"/>
                        <a:t>Keyword optimisation</a:t>
                      </a:r>
                    </a:p>
                  </a:txBody>
                  <a:tcPr/>
                </a:tc>
                <a:tc>
                  <a:txBody>
                    <a:bodyPr/>
                    <a:lstStyle/>
                    <a:p>
                      <a:r>
                        <a:rPr sz="1100"/>
                        <a:t>598.5</a:t>
                      </a:r>
                    </a:p>
                  </a:txBody>
                  <a:tcPr/>
                </a:tc>
                <a:tc>
                  <a:txBody>
                    <a:bodyPr/>
                    <a:lstStyle/>
                    <a:p>
                      <a:r>
                        <a:rPr sz="1100"/>
                        <a:t>The single largest lane, and the one with a measured result — chapter 06</a:t>
                      </a:r>
                    </a:p>
                  </a:txBody>
                  <a:tcPr/>
                </a:tc>
              </a:tr>
              <a:tr h="386791">
                <a:tc>
                  <a:txBody>
                    <a:bodyPr/>
                    <a:lstStyle/>
                    <a:p>
                      <a:r>
                        <a:rPr sz="1100"/>
                        <a:t>General account management</a:t>
                      </a:r>
                    </a:p>
                  </a:txBody>
                  <a:tcPr/>
                </a:tc>
                <a:tc>
                  <a:txBody>
                    <a:bodyPr/>
                    <a:lstStyle/>
                    <a:p>
                      <a:r>
                        <a:rPr sz="1100"/>
                        <a:t>443.0</a:t>
                      </a:r>
                    </a:p>
                  </a:txBody>
                  <a:tcPr/>
                </a:tc>
                <a:tc>
                  <a:txBody>
                    <a:bodyPr/>
                    <a:lstStyle/>
                    <a:p>
                      <a:r>
                        <a:rPr sz="1100"/>
                        <a:t>Calls, reporting, planning and the inbound queue across nineteen markets</a:t>
                      </a:r>
                    </a:p>
                  </a:txBody>
                  <a:tcPr/>
                </a:tc>
              </a:tr>
              <a:tr h="386791">
                <a:tc>
                  <a:txBody>
                    <a:bodyPr/>
                    <a:lstStyle/>
                    <a:p>
                      <a:r>
                        <a:rPr sz="1100"/>
                        <a:t>Data field update</a:t>
                      </a:r>
                    </a:p>
                  </a:txBody>
                  <a:tcPr/>
                </a:tc>
                <a:tc>
                  <a:txBody>
                    <a:bodyPr/>
                    <a:lstStyle/>
                    <a:p>
                      <a:r>
                        <a:rPr sz="1100"/>
                        <a:t>410.3</a:t>
                      </a:r>
                    </a:p>
                  </a:txBody>
                  <a:tcPr/>
                </a:tc>
                <a:tc>
                  <a:txBody>
                    <a:bodyPr/>
                    <a:lstStyle/>
                    <a:p>
                      <a:r>
                        <a:rPr sz="1100"/>
                        <a:t>The attribute layer — sizes, colours, materials, identifiers, availability</a:t>
                      </a:r>
                    </a:p>
                  </a:txBody>
                  <a:tcPr/>
                </a:tc>
              </a:tr>
              <a:tr h="386791">
                <a:tc>
                  <a:txBody>
                    <a:bodyPr/>
                    <a:lstStyle/>
                    <a:p>
                      <a:r>
                        <a:rPr sz="1100"/>
                        <a:t>Title optimisation</a:t>
                      </a:r>
                    </a:p>
                  </a:txBody>
                  <a:tcPr/>
                </a:tc>
                <a:tc>
                  <a:txBody>
                    <a:bodyPr/>
                    <a:lstStyle/>
                    <a:p>
                      <a:r>
                        <a:rPr sz="1100"/>
                        <a:t>259.5</a:t>
                      </a:r>
                    </a:p>
                  </a:txBody>
                  <a:tcPr/>
                </a:tc>
                <a:tc>
                  <a:txBody>
                    <a:bodyPr/>
                    <a:lstStyle/>
                    <a:p>
                      <a:r>
                        <a:rPr sz="1100"/>
                        <a:t>What chapter 03 measures: 29 characters in, 83 out</a:t>
                      </a:r>
                    </a:p>
                  </a:txBody>
                  <a:tcPr/>
                </a:tc>
              </a:tr>
              <a:tr h="386791">
                <a:tc>
                  <a:txBody>
                    <a:bodyPr/>
                    <a:lstStyle/>
                    <a:p>
                      <a:r>
                        <a:rPr sz="1100"/>
                        <a:t>Category mapping</a:t>
                      </a:r>
                    </a:p>
                  </a:txBody>
                  <a:tcPr/>
                </a:tc>
                <a:tc>
                  <a:txBody>
                    <a:bodyPr/>
                    <a:lstStyle/>
                    <a:p>
                      <a:r>
                        <a:rPr sz="1100"/>
                        <a:t>217.8</a:t>
                      </a:r>
                    </a:p>
                  </a:txBody>
                  <a:tcPr/>
                </a:tc>
                <a:tc>
                  <a:txBody>
                    <a:bodyPr/>
                    <a:lstStyle/>
                    <a:p>
                      <a:r>
                        <a:rPr sz="1100"/>
                        <a:t>The four-level tree on 93% of products, in nineteen languages</a:t>
                      </a:r>
                    </a:p>
                  </a:txBody>
                  <a:tcPr/>
                </a:tc>
              </a:tr>
              <a:tr h="386791">
                <a:tc>
                  <a:txBody>
                    <a:bodyPr/>
                    <a:lstStyle/>
                    <a:p>
                      <a:r>
                        <a:rPr sz="1100"/>
                        <a:t>Development work</a:t>
                      </a:r>
                    </a:p>
                  </a:txBody>
                  <a:tcPr/>
                </a:tc>
                <a:tc>
                  <a:txBody>
                    <a:bodyPr/>
                    <a:lstStyle/>
                    <a:p>
                      <a:r>
                        <a:rPr sz="1100"/>
                        <a:t>133.5</a:t>
                      </a:r>
                    </a:p>
                  </a:txBody>
                  <a:tcPr/>
                </a:tc>
                <a:tc>
                  <a:txBody>
                    <a:bodyPr/>
                    <a:lstStyle/>
                    <a:p>
                      <a:r>
                        <a:rPr sz="1100"/>
                        <a:t>Feed builds, migrations and the Wunderkind and Rakuten integrations</a:t>
                      </a:r>
                    </a:p>
                  </a:txBody>
                  <a:tcPr/>
                </a:tc>
              </a:tr>
              <a:tr h="386791">
                <a:tc>
                  <a:txBody>
                    <a:bodyPr/>
                    <a:lstStyle/>
                    <a:p>
                      <a:r>
                        <a:rPr sz="1100"/>
                        <a:t>Data field and title optimisation</a:t>
                      </a:r>
                    </a:p>
                  </a:txBody>
                  <a:tcPr/>
                </a:tc>
                <a:tc>
                  <a:txBody>
                    <a:bodyPr/>
                    <a:lstStyle/>
                    <a:p>
                      <a:r>
                        <a:rPr sz="1100"/>
                        <a:t>121.5</a:t>
                      </a:r>
                    </a:p>
                  </a:txBody>
                  <a:tcPr/>
                </a:tc>
                <a:tc>
                  <a:txBody>
                    <a:bodyPr/>
                    <a:lstStyle/>
                    <a:p>
                      <a:r>
                        <a:rPr sz="1100"/>
                        <a:t>Combined passes where both moved together</a:t>
                      </a:r>
                    </a:p>
                  </a:txBody>
                  <a:tcPr/>
                </a:tc>
              </a:tr>
              <a:tr h="386791">
                <a:tc>
                  <a:txBody>
                    <a:bodyPr/>
                    <a:lstStyle/>
                    <a:p>
                      <a:r>
                        <a:rPr sz="1100"/>
                        <a:t>Custom label update</a:t>
                      </a:r>
                    </a:p>
                  </a:txBody>
                  <a:tcPr/>
                </a:tc>
                <a:tc>
                  <a:txBody>
                    <a:bodyPr/>
                    <a:lstStyle/>
                    <a:p>
                      <a:r>
                        <a:rPr sz="1100"/>
                        <a:t>88.0</a:t>
                      </a:r>
                    </a:p>
                  </a:txBody>
                  <a:tcPr/>
                </a:tc>
                <a:tc>
                  <a:txBody>
                    <a:bodyPr/>
                    <a:lstStyle/>
                    <a:p>
                      <a:r>
                        <a:rPr sz="1100"/>
                        <a:t>The label architecture PPC bids and structures against</a:t>
                      </a:r>
                    </a:p>
                  </a:txBody>
                  <a:tcPr/>
                </a:tc>
              </a:tr>
              <a:tr h="386791">
                <a:tc>
                  <a:txBody>
                    <a:bodyPr/>
                    <a:lstStyle/>
                    <a:p>
                      <a:r>
                        <a:rPr sz="1100"/>
                        <a:t>Disapprovals</a:t>
                      </a:r>
                    </a:p>
                  </a:txBody>
                  <a:tcPr/>
                </a:tc>
                <a:tc>
                  <a:txBody>
                    <a:bodyPr/>
                    <a:lstStyle/>
                    <a:p>
                      <a:r>
                        <a:rPr sz="1100"/>
                        <a:t>74.8</a:t>
                      </a:r>
                    </a:p>
                  </a:txBody>
                  <a:tcPr/>
                </a:tc>
                <a:tc>
                  <a:txBody>
                    <a:bodyPr/>
                    <a:lstStyle/>
                    <a:p>
                      <a:r>
                        <a:rPr sz="1100"/>
                        <a:t>Keeping products approved. Never produces an uplift figure</a:t>
                      </a:r>
                    </a:p>
                  </a:txBody>
                  <a:tcPr/>
                </a:tc>
              </a:tr>
              <a:tr h="386791">
                <a:tc>
                  <a:txBody>
                    <a:bodyPr/>
                    <a:lstStyle/>
                    <a:p>
                      <a:r>
                        <a:rPr sz="1100"/>
                        <a:t>Optimisation as a share of everything</a:t>
                      </a:r>
                    </a:p>
                  </a:txBody>
                  <a:tcPr/>
                </a:tc>
                <a:tc>
                  <a:txBody>
                    <a:bodyPr/>
                    <a:lstStyle/>
                    <a:p>
                      <a:r>
                        <a:rPr sz="1100"/>
                        <a:t>54%</a:t>
                      </a:r>
                    </a:p>
                  </a:txBody>
                  <a:tcPr/>
                </a:tc>
                <a:tc>
                  <a:txBody>
                    <a:bodyPr/>
                    <a:lstStyle/>
                    <a:p>
                      <a:r>
                        <a:rPr sz="1100"/>
                        <a:t>2,056.75 of 3,793 hours, against 22% account management and 5% technical</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t>Market coverage</a:t>
            </a:r>
          </a:p>
        </p:txBody>
      </p:sp>
      <p:sp>
        <p:nvSpPr>
          <p:cNvPr id="4" name="Text Placeholder 3"/>
          <p:cNvSpPr>
            <a:spLocks noGrp="1"/>
          </p:cNvSpPr>
          <p:nvPr>
            <p:ph type="body" idx="1"/>
          </p:nvPr>
        </p:nvSpPr>
        <p:spPr/>
        <p:txBody>
          <a:bodyPr wrap="square"/>
          <a:lstStyle/>
          <a:p>
            <a:r>
              <a:t>The three English-language markets carry the full build. The three European-language markets carry the title rewrite and the category tree, and nothing beyond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Market coverage</a:t>
            </a:r>
          </a:p>
        </p:txBody>
      </p:sp>
      <p:sp>
        <p:nvSpPr>
          <p:cNvPr id="3" name="Text Placeholder 2"/>
          <p:cNvSpPr>
            <a:spLocks noGrp="1"/>
          </p:cNvSpPr>
          <p:nvPr>
            <p:ph type="body" idx="11"/>
          </p:nvPr>
        </p:nvSpPr>
        <p:spPr/>
        <p:txBody>
          <a:bodyPr wrap="square"/>
          <a:lstStyle/>
          <a:p>
            <a:r>
              <a:t>Read from each market's own live output feed this morning.</a:t>
            </a:r>
          </a:p>
        </p:txBody>
      </p:sp>
      <p:graphicFrame>
        <p:nvGraphicFramePr>
          <p:cNvPr id="5" name="Table 4"/>
          <p:cNvGraphicFramePr>
            <a:graphicFrameLocks noGrp="1"/>
          </p:cNvGraphicFramePr>
          <p:nvPr/>
        </p:nvGraphicFramePr>
        <p:xfrm>
          <a:off x="612648" y="1847088"/>
          <a:ext cx="10972797" cy="3794760"/>
        </p:xfrm>
        <a:graphic>
          <a:graphicData uri="http://schemas.openxmlformats.org/drawingml/2006/table">
            <a:tbl>
              <a:tblPr firstRow="1" bandRow="1">
                <a:tableStyleId>{5C22544A-7EE6-4342-B048-85BDC9FD1C3A}</a:tableStyleId>
              </a:tblPr>
              <a:tblGrid>
                <a:gridCol w="1501541"/>
                <a:gridCol w="1039528"/>
                <a:gridCol w="1848050"/>
                <a:gridCol w="1617044"/>
                <a:gridCol w="1732547"/>
                <a:gridCol w="1155031"/>
                <a:gridCol w="2079056"/>
              </a:tblGrid>
              <a:tr h="384048">
                <a:tc>
                  <a:txBody>
                    <a:bodyPr/>
                    <a:lstStyle/>
                    <a:p>
                      <a:r>
                        <a:rPr sz="1300" b="1">
                          <a:solidFill>
                            <a:srgbClr val="FFFFFF"/>
                          </a:solidFill>
                        </a:rPr>
                        <a:t>Market</a:t>
                      </a:r>
                    </a:p>
                  </a:txBody>
                  <a:tcPr/>
                </a:tc>
                <a:tc>
                  <a:txBody>
                    <a:bodyPr/>
                    <a:lstStyle/>
                    <a:p>
                      <a:r>
                        <a:rPr sz="1300" b="1">
                          <a:solidFill>
                            <a:srgbClr val="FFFFFF"/>
                          </a:solidFill>
                        </a:rPr>
                        <a:t>Live SKUs</a:t>
                      </a:r>
                    </a:p>
                  </a:txBody>
                  <a:tcPr/>
                </a:tc>
                <a:tc>
                  <a:txBody>
                    <a:bodyPr/>
                    <a:lstStyle/>
                    <a:p>
                      <a:r>
                        <a:rPr sz="1300" b="1">
                          <a:solidFill>
                            <a:srgbClr val="FFFFFF"/>
                          </a:solidFill>
                        </a:rPr>
                        <a:t>Titles rewritten</a:t>
                      </a:r>
                    </a:p>
                  </a:txBody>
                  <a:tcPr/>
                </a:tc>
                <a:tc>
                  <a:txBody>
                    <a:bodyPr/>
                    <a:lstStyle/>
                    <a:p>
                      <a:r>
                        <a:rPr sz="1300" b="1">
                          <a:solidFill>
                            <a:srgbClr val="FFFFFF"/>
                          </a:solidFill>
                        </a:rPr>
                        <a:t>In the AI band</a:t>
                      </a:r>
                    </a:p>
                  </a:txBody>
                  <a:tcPr/>
                </a:tc>
                <a:tc>
                  <a:txBody>
                    <a:bodyPr/>
                    <a:lstStyle/>
                    <a:p>
                      <a:r>
                        <a:rPr sz="1300" b="1">
                          <a:solidFill>
                            <a:srgbClr val="FFFFFF"/>
                          </a:solidFill>
                        </a:rPr>
                        <a:t>Category mapped</a:t>
                      </a:r>
                    </a:p>
                  </a:txBody>
                  <a:tcPr/>
                </a:tc>
                <a:tc>
                  <a:txBody>
                    <a:bodyPr/>
                    <a:lstStyle/>
                    <a:p>
                      <a:r>
                        <a:rPr sz="1300" b="1">
                          <a:solidFill>
                            <a:srgbClr val="FFFFFF"/>
                          </a:solidFill>
                        </a:rPr>
                        <a:t>Highlights</a:t>
                      </a:r>
                    </a:p>
                  </a:txBody>
                  <a:tcPr/>
                </a:tc>
                <a:tc>
                  <a:txBody>
                    <a:bodyPr/>
                    <a:lstStyle/>
                    <a:p>
                      <a:r>
                        <a:rPr sz="1300" b="1">
                          <a:solidFill>
                            <a:srgbClr val="FFFFFF"/>
                          </a:solidFill>
                        </a:rPr>
                        <a:t>Keyword enrichment</a:t>
                      </a:r>
                    </a:p>
                  </a:txBody>
                  <a:tcPr/>
                </a:tc>
              </a:tr>
              <a:tr h="568452">
                <a:tc>
                  <a:txBody>
                    <a:bodyPr/>
                    <a:lstStyle/>
                    <a:p>
                      <a:r>
                        <a:rPr sz="1100"/>
                        <a:t>UK</a:t>
                      </a:r>
                    </a:p>
                  </a:txBody>
                  <a:tcPr/>
                </a:tc>
                <a:tc>
                  <a:txBody>
                    <a:bodyPr/>
                    <a:lstStyle/>
                    <a:p>
                      <a:r>
                        <a:rPr sz="1100"/>
                        <a:t>25,699</a:t>
                      </a:r>
                    </a:p>
                  </a:txBody>
                  <a:tcPr/>
                </a:tc>
                <a:tc>
                  <a:txBody>
                    <a:bodyPr/>
                    <a:lstStyle/>
                    <a:p>
                      <a:r>
                        <a:rPr sz="1100"/>
                        <a:t>100%</a:t>
                      </a:r>
                    </a:p>
                  </a:txBody>
                  <a:tcPr/>
                </a:tc>
                <a:tc>
                  <a:txBody>
                    <a:bodyPr/>
                    <a:lstStyle/>
                    <a:p>
                      <a:r>
                        <a:rPr sz="1100"/>
                        <a:t>62.7%</a:t>
                      </a:r>
                    </a:p>
                  </a:txBody>
                  <a:tcPr/>
                </a:tc>
                <a:tc>
                  <a:txBody>
                    <a:bodyPr/>
                    <a:lstStyle/>
                    <a:p>
                      <a:r>
                        <a:rPr sz="1100"/>
                        <a:t>100%</a:t>
                      </a:r>
                    </a:p>
                  </a:txBody>
                  <a:tcPr/>
                </a:tc>
                <a:tc>
                  <a:txBody>
                    <a:bodyPr/>
                    <a:lstStyle/>
                    <a:p>
                      <a:r>
                        <a:rPr sz="1100"/>
                        <a:t>29.4%</a:t>
                      </a:r>
                    </a:p>
                  </a:txBody>
                  <a:tcPr/>
                </a:tc>
                <a:tc>
                  <a:txBody>
                    <a:bodyPr/>
                    <a:lstStyle/>
                    <a:p>
                      <a:r>
                        <a:rPr sz="1100"/>
                        <a:t>41.0%</a:t>
                      </a:r>
                    </a:p>
                  </a:txBody>
                  <a:tcPr/>
                </a:tc>
              </a:tr>
              <a:tr h="568452">
                <a:tc>
                  <a:txBody>
                    <a:bodyPr/>
                    <a:lstStyle/>
                    <a:p>
                      <a:r>
                        <a:rPr sz="1100"/>
                        <a:t>Ireland</a:t>
                      </a:r>
                    </a:p>
                  </a:txBody>
                  <a:tcPr/>
                </a:tc>
                <a:tc>
                  <a:txBody>
                    <a:bodyPr/>
                    <a:lstStyle/>
                    <a:p>
                      <a:r>
                        <a:rPr sz="1100"/>
                        <a:t>23,510</a:t>
                      </a:r>
                    </a:p>
                  </a:txBody>
                  <a:tcPr/>
                </a:tc>
                <a:tc>
                  <a:txBody>
                    <a:bodyPr/>
                    <a:lstStyle/>
                    <a:p>
                      <a:r>
                        <a:rPr sz="1100"/>
                        <a:t>100%</a:t>
                      </a:r>
                    </a:p>
                  </a:txBody>
                  <a:tcPr/>
                </a:tc>
                <a:tc>
                  <a:txBody>
                    <a:bodyPr/>
                    <a:lstStyle/>
                    <a:p>
                      <a:r>
                        <a:rPr sz="1100"/>
                        <a:t>63.0%</a:t>
                      </a:r>
                    </a:p>
                  </a:txBody>
                  <a:tcPr/>
                </a:tc>
                <a:tc>
                  <a:txBody>
                    <a:bodyPr/>
                    <a:lstStyle/>
                    <a:p>
                      <a:r>
                        <a:rPr sz="1100"/>
                        <a:t>100%</a:t>
                      </a:r>
                    </a:p>
                  </a:txBody>
                  <a:tcPr/>
                </a:tc>
                <a:tc>
                  <a:txBody>
                    <a:bodyPr/>
                    <a:lstStyle/>
                    <a:p>
                      <a:r>
                        <a:rPr sz="1100"/>
                        <a:t>29.5%</a:t>
                      </a:r>
                    </a:p>
                  </a:txBody>
                  <a:tcPr/>
                </a:tc>
                <a:tc>
                  <a:txBody>
                    <a:bodyPr/>
                    <a:lstStyle/>
                    <a:p>
                      <a:r>
                        <a:rPr sz="1100"/>
                        <a:t>41.2%</a:t>
                      </a:r>
                    </a:p>
                  </a:txBody>
                  <a:tcPr/>
                </a:tc>
              </a:tr>
              <a:tr h="568452">
                <a:tc>
                  <a:txBody>
                    <a:bodyPr/>
                    <a:lstStyle/>
                    <a:p>
                      <a:r>
                        <a:rPr sz="1100"/>
                        <a:t>United States</a:t>
                      </a:r>
                    </a:p>
                  </a:txBody>
                  <a:tcPr/>
                </a:tc>
                <a:tc>
                  <a:txBody>
                    <a:bodyPr/>
                    <a:lstStyle/>
                    <a:p>
                      <a:r>
                        <a:rPr sz="1100"/>
                        <a:t>14,647</a:t>
                      </a:r>
                    </a:p>
                  </a:txBody>
                  <a:tcPr/>
                </a:tc>
                <a:tc>
                  <a:txBody>
                    <a:bodyPr/>
                    <a:lstStyle/>
                    <a:p>
                      <a:r>
                        <a:rPr sz="1100"/>
                        <a:t>100%</a:t>
                      </a:r>
                    </a:p>
                  </a:txBody>
                  <a:tcPr/>
                </a:tc>
                <a:tc>
                  <a:txBody>
                    <a:bodyPr/>
                    <a:lstStyle/>
                    <a:p>
                      <a:r>
                        <a:rPr sz="1100"/>
                        <a:t>62.5%</a:t>
                      </a:r>
                    </a:p>
                  </a:txBody>
                  <a:tcPr/>
                </a:tc>
                <a:tc>
                  <a:txBody>
                    <a:bodyPr/>
                    <a:lstStyle/>
                    <a:p>
                      <a:r>
                        <a:rPr sz="1100"/>
                        <a:t>100%</a:t>
                      </a:r>
                    </a:p>
                  </a:txBody>
                  <a:tcPr/>
                </a:tc>
                <a:tc>
                  <a:txBody>
                    <a:bodyPr/>
                    <a:lstStyle/>
                    <a:p>
                      <a:r>
                        <a:rPr sz="1100"/>
                        <a:t>25.2%</a:t>
                      </a:r>
                    </a:p>
                  </a:txBody>
                  <a:tcPr/>
                </a:tc>
                <a:tc>
                  <a:txBody>
                    <a:bodyPr/>
                    <a:lstStyle/>
                    <a:p>
                      <a:r>
                        <a:rPr sz="1100"/>
                        <a:t>46.3%</a:t>
                      </a:r>
                    </a:p>
                  </a:txBody>
                  <a:tcPr/>
                </a:tc>
              </a:tr>
              <a:tr h="568452">
                <a:tc>
                  <a:txBody>
                    <a:bodyPr/>
                    <a:lstStyle/>
                    <a:p>
                      <a:r>
                        <a:rPr sz="1100"/>
                        <a:t>Germany</a:t>
                      </a:r>
                    </a:p>
                  </a:txBody>
                  <a:tcPr/>
                </a:tc>
                <a:tc>
                  <a:txBody>
                    <a:bodyPr/>
                    <a:lstStyle/>
                    <a:p>
                      <a:r>
                        <a:rPr sz="1100"/>
                        <a:t>25,818</a:t>
                      </a:r>
                    </a:p>
                  </a:txBody>
                  <a:tcPr/>
                </a:tc>
                <a:tc>
                  <a:txBody>
                    <a:bodyPr/>
                    <a:lstStyle/>
                    <a:p>
                      <a:r>
                        <a:rPr sz="1100"/>
                        <a:t>100%</a:t>
                      </a:r>
                    </a:p>
                  </a:txBody>
                  <a:tcPr/>
                </a:tc>
                <a:tc>
                  <a:txBody>
                    <a:bodyPr/>
                    <a:lstStyle/>
                    <a:p>
                      <a:r>
                        <a:rPr sz="1100"/>
                        <a:t>24.3%</a:t>
                      </a:r>
                    </a:p>
                  </a:txBody>
                  <a:tcPr/>
                </a:tc>
                <a:tc>
                  <a:txBody>
                    <a:bodyPr/>
                    <a:lstStyle/>
                    <a:p>
                      <a:r>
                        <a:rPr sz="1100"/>
                        <a:t>100%</a:t>
                      </a:r>
                    </a:p>
                  </a:txBody>
                  <a:tcPr/>
                </a:tc>
                <a:tc>
                  <a:txBody>
                    <a:bodyPr/>
                    <a:lstStyle/>
                    <a:p>
                      <a:r>
                        <a:rPr sz="1100"/>
                        <a:t>None</a:t>
                      </a:r>
                    </a:p>
                  </a:txBody>
                  <a:tcPr/>
                </a:tc>
                <a:tc>
                  <a:txBody>
                    <a:bodyPr/>
                    <a:lstStyle/>
                    <a:p>
                      <a:r>
                        <a:rPr sz="1100"/>
                        <a:t>None</a:t>
                      </a:r>
                    </a:p>
                  </a:txBody>
                  <a:tcPr/>
                </a:tc>
              </a:tr>
              <a:tr h="568452">
                <a:tc>
                  <a:txBody>
                    <a:bodyPr/>
                    <a:lstStyle/>
                    <a:p>
                      <a:r>
                        <a:rPr sz="1100"/>
                        <a:t>France</a:t>
                      </a:r>
                    </a:p>
                  </a:txBody>
                  <a:tcPr/>
                </a:tc>
                <a:tc>
                  <a:txBody>
                    <a:bodyPr/>
                    <a:lstStyle/>
                    <a:p>
                      <a:r>
                        <a:rPr sz="1100"/>
                        <a:t>25,762</a:t>
                      </a:r>
                    </a:p>
                  </a:txBody>
                  <a:tcPr/>
                </a:tc>
                <a:tc>
                  <a:txBody>
                    <a:bodyPr/>
                    <a:lstStyle/>
                    <a:p>
                      <a:r>
                        <a:rPr sz="1100"/>
                        <a:t>100%</a:t>
                      </a:r>
                    </a:p>
                  </a:txBody>
                  <a:tcPr/>
                </a:tc>
                <a:tc>
                  <a:txBody>
                    <a:bodyPr/>
                    <a:lstStyle/>
                    <a:p>
                      <a:r>
                        <a:rPr sz="1100"/>
                        <a:t>14.2%</a:t>
                      </a:r>
                    </a:p>
                  </a:txBody>
                  <a:tcPr/>
                </a:tc>
                <a:tc>
                  <a:txBody>
                    <a:bodyPr/>
                    <a:lstStyle/>
                    <a:p>
                      <a:r>
                        <a:rPr sz="1100"/>
                        <a:t>100%</a:t>
                      </a:r>
                    </a:p>
                  </a:txBody>
                  <a:tcPr/>
                </a:tc>
                <a:tc>
                  <a:txBody>
                    <a:bodyPr/>
                    <a:lstStyle/>
                    <a:p>
                      <a:r>
                        <a:rPr sz="1100"/>
                        <a:t>None</a:t>
                      </a:r>
                    </a:p>
                  </a:txBody>
                  <a:tcPr/>
                </a:tc>
                <a:tc>
                  <a:txBody>
                    <a:bodyPr/>
                    <a:lstStyle/>
                    <a:p>
                      <a:r>
                        <a:rPr sz="1100"/>
                        <a:t>None</a:t>
                      </a:r>
                    </a:p>
                  </a:txBody>
                  <a:tcPr/>
                </a:tc>
              </a:tr>
              <a:tr h="568452">
                <a:tc>
                  <a:txBody>
                    <a:bodyPr/>
                    <a:lstStyle/>
                    <a:p>
                      <a:r>
                        <a:rPr sz="1100"/>
                        <a:t>Netherlands</a:t>
                      </a:r>
                    </a:p>
                  </a:txBody>
                  <a:tcPr/>
                </a:tc>
                <a:tc>
                  <a:txBody>
                    <a:bodyPr/>
                    <a:lstStyle/>
                    <a:p>
                      <a:r>
                        <a:rPr sz="1100"/>
                        <a:t>24,360</a:t>
                      </a:r>
                    </a:p>
                  </a:txBody>
                  <a:tcPr/>
                </a:tc>
                <a:tc>
                  <a:txBody>
                    <a:bodyPr/>
                    <a:lstStyle/>
                    <a:p>
                      <a:r>
                        <a:rPr sz="1100"/>
                        <a:t>100%</a:t>
                      </a:r>
                    </a:p>
                  </a:txBody>
                  <a:tcPr/>
                </a:tc>
                <a:tc>
                  <a:txBody>
                    <a:bodyPr/>
                    <a:lstStyle/>
                    <a:p>
                      <a:r>
                        <a:rPr sz="1100"/>
                        <a:t>0.4%</a:t>
                      </a:r>
                    </a:p>
                  </a:txBody>
                  <a:tcPr/>
                </a:tc>
                <a:tc>
                  <a:txBody>
                    <a:bodyPr/>
                    <a:lstStyle/>
                    <a:p>
                      <a:r>
                        <a:rPr sz="1100"/>
                        <a:t>100%</a:t>
                      </a:r>
                    </a:p>
                  </a:txBody>
                  <a:tcPr/>
                </a:tc>
                <a:tc>
                  <a:txBody>
                    <a:bodyPr/>
                    <a:lstStyle/>
                    <a:p>
                      <a:r>
                        <a:rPr sz="1100"/>
                        <a:t>None</a:t>
                      </a:r>
                    </a:p>
                  </a:txBody>
                  <a:tcPr/>
                </a:tc>
                <a:tc>
                  <a:txBody>
                    <a:bodyPr/>
                    <a:lstStyle/>
                    <a:p>
                      <a:r>
                        <a:rPr sz="1100"/>
                        <a:t>None</a:t>
                      </a:r>
                    </a:p>
                  </a:txBody>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430"/>
              <a:t>The split is language, not effort. Germany, France and the Netherlands each get a rewritten title — 71.4, 68.4 and 51.4 characters against a supplied 35.8, 34.6 and 33.3 — but the enrichment that takes an English title from 29 to 83 characters has never been built in German, French or Dutch. Neither has the keyword layer, and neither have product highlights.</a:t>
            </a:r>
          </a:p>
        </p:txBody>
      </p:sp>
      <p:sp>
        <p:nvSpPr>
          <p:cNvPr id="3" name="Text Placeholder 2"/>
          <p:cNvSpPr>
            <a:spLocks noGrp="1"/>
          </p:cNvSpPr>
          <p:nvPr>
            <p:ph type="body" idx="11"/>
          </p:nvPr>
        </p:nvSpPr>
        <p:spPr/>
        <p:txBody>
          <a:bodyPr wrap="square"/>
          <a:lstStyle/>
          <a:p>
            <a:r>
              <a:t>Market coverage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Market coverage (cont.)</a:t>
            </a:r>
          </a:p>
        </p:txBody>
      </p:sp>
      <p:sp>
        <p:nvSpPr>
          <p:cNvPr id="4" name="Text Placeholder 3"/>
          <p:cNvSpPr>
            <a:spLocks noGrp="1"/>
          </p:cNvSpPr>
          <p:nvPr>
            <p:ph type="body" idx="1"/>
          </p:nvPr>
        </p:nvSpPr>
        <p:spPr/>
        <p:txBody>
          <a:bodyPr wrap="square"/>
          <a:lstStyle/>
          <a:p>
            <a:r>
              <a:t>Germany is the clearest case</a:t>
            </a:r>
          </a:p>
        </p:txBody>
      </p:sp>
      <p:sp>
        <p:nvSpPr>
          <p:cNvPr id="5" name="Text Placeholder 4"/>
          <p:cNvSpPr>
            <a:spLocks noGrp="1"/>
          </p:cNvSpPr>
          <p:nvPr>
            <p:ph type="body" idx="2"/>
          </p:nvPr>
        </p:nvSpPr>
        <p:spPr/>
        <p:txBody>
          <a:bodyPr wrap="square"/>
          <a:lstStyle/>
          <a:p>
            <a:r>
              <a:t>Germany returns the highest ROAS on the account — 1,042% over the last year on €694,149 of spend — from a feed with no product highlights and no keyword enrichment at all, on an eight-hour monthly retainer.</a:t>
            </a:r>
          </a:p>
          <a:p>
            <a:r>
              <a:t>It is the market where the same build that runs in the UK would have the most room to work, and the market with the least time allocated to do it.</a:t>
            </a:r>
          </a:p>
        </p:txBody>
      </p:sp>
      <p:sp>
        <p:nvSpPr>
          <p:cNvPr id="6" name="Text Placeholder 5"/>
          <p:cNvSpPr>
            <a:spLocks noGrp="1"/>
          </p:cNvSpPr>
          <p:nvPr>
            <p:ph type="body" idx="3"/>
          </p:nvPr>
        </p:nvSpPr>
        <p:spPr/>
        <p:txBody>
          <a:bodyPr wrap="square"/>
          <a:lstStyle/>
          <a:p>
            <a:r>
              <a:t>The twelve unfunded markets</a:t>
            </a:r>
          </a:p>
        </p:txBody>
      </p:sp>
      <p:sp>
        <p:nvSpPr>
          <p:cNvPr id="7" name="Text Placeholder 6"/>
          <p:cNvSpPr>
            <a:spLocks noGrp="1"/>
          </p:cNvSpPr>
          <p:nvPr>
            <p:ph type="body" idx="4"/>
          </p:nvPr>
        </p:nvSpPr>
        <p:spPr/>
        <p:txBody>
          <a:bodyPr wrap="square"/>
          <a:lstStyle/>
          <a:p>
            <a:r>
              <a:t>Belgium (×2), Canada (×2), Switzerland (×2), Denmark, Spain, Finland, Italy, Norway and Sweden all run live Google Shopping feeds with between 71 and 88 active rules each, and carry no retainer.</a:t>
            </a:r>
          </a:p>
          <a:p>
            <a:r>
              <a:t>They have taken 388 hours since 2022 — imports monitored, disapprovals cleared, rules maintained, migrations carried through. None of it has ever been billed.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six</a:t>
            </a:r>
          </a:p>
        </p:txBody>
      </p:sp>
      <p:sp>
        <p:nvSpPr>
          <p:cNvPr id="3" name="Title 2"/>
          <p:cNvSpPr>
            <a:spLocks noGrp="1"/>
          </p:cNvSpPr>
          <p:nvPr>
            <p:ph type="title"/>
          </p:nvPr>
        </p:nvSpPr>
        <p:spPr/>
        <p:txBody>
          <a:bodyPr wrap="square"/>
          <a:lstStyle/>
          <a:p>
            <a:r>
              <a:t>Results</a:t>
            </a:r>
          </a:p>
        </p:txBody>
      </p:sp>
      <p:sp>
        <p:nvSpPr>
          <p:cNvPr id="4" name="Text Placeholder 3"/>
          <p:cNvSpPr>
            <a:spLocks noGrp="1"/>
          </p:cNvSpPr>
          <p:nvPr>
            <p:ph type="body" idx="1"/>
          </p:nvPr>
        </p:nvSpPr>
        <p:spPr/>
        <p:txBody>
          <a:bodyPr wrap="square"/>
          <a:lstStyle/>
          <a:p>
            <a:r>
              <a:t>Forty tests in the archive since January 2025. Nine of the thirteen controlled tests won, and the three largest batches ever run all won clearly.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Results</a:t>
            </a:r>
          </a:p>
        </p:txBody>
      </p:sp>
      <p:sp>
        <p:nvSpPr>
          <p:cNvPr id="3" name="Text Placeholder 2"/>
          <p:cNvSpPr>
            <a:spLocks noGrp="1"/>
          </p:cNvSpPr>
          <p:nvPr>
            <p:ph type="body" idx="11"/>
          </p:nvPr>
        </p:nvSpPr>
        <p:spPr/>
        <p:txBody>
          <a:bodyPr wrap="square"/>
          <a:lstStyle/>
          <a:p>
            <a:r>
              <a:t>Impressions uplift per controlled A/B test · test group vs control</a:t>
            </a:r>
          </a:p>
        </p:txBody>
      </p:sp>
      <p:graphicFrame>
        <p:nvGraphicFramePr>
          <p:cNvPr id="5" name="Chart 4"/>
          <p:cNvGraphicFramePr>
            <a:graphicFrameLocks noGrp="1"/>
          </p:cNvGraphicFramePr>
          <p:nvPr/>
        </p:nvGraphicFramePr>
        <p:xfrm>
          <a:off x="612648" y="1847088"/>
          <a:ext cx="10972800" cy="3794760"/>
        </p:xfrm>
        <a:graphic>
          <a:graphicData uri="http://schemas.openxmlformats.org/drawingml/2006/chart">
            <c:chart xmlns:c="http://schemas.openxmlformats.org/drawingml/2006/chart" r:id="rId2"/>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Results (cont.)</a:t>
            </a:r>
          </a:p>
        </p:txBody>
      </p:sp>
      <p:graphicFrame>
        <p:nvGraphicFramePr>
          <p:cNvPr id="5" name="Table 4"/>
          <p:cNvGraphicFramePr>
            <a:graphicFrameLocks noGrp="1"/>
          </p:cNvGraphicFramePr>
          <p:nvPr/>
        </p:nvGraphicFramePr>
        <p:xfrm>
          <a:off x="612648" y="1389888"/>
          <a:ext cx="10972800" cy="4251958"/>
        </p:xfrm>
        <a:graphic>
          <a:graphicData uri="http://schemas.openxmlformats.org/drawingml/2006/table">
            <a:tbl>
              <a:tblPr firstRow="1" bandRow="1">
                <a:tableStyleId>{5C22544A-7EE6-4342-B048-85BDC9FD1C3A}</a:tableStyleId>
              </a:tblPr>
              <a:tblGrid>
                <a:gridCol w="6096000"/>
                <a:gridCol w="1219200"/>
                <a:gridCol w="2235200"/>
                <a:gridCol w="1422400"/>
              </a:tblGrid>
              <a:tr h="384048">
                <a:tc>
                  <a:txBody>
                    <a:bodyPr/>
                    <a:lstStyle/>
                    <a:p>
                      <a:r>
                        <a:rPr sz="1300" b="1">
                          <a:solidFill>
                            <a:srgbClr val="FFFFFF"/>
                          </a:solidFill>
                        </a:rPr>
                        <a:t>Test</a:t>
                      </a:r>
                    </a:p>
                  </a:txBody>
                  <a:tcPr/>
                </a:tc>
                <a:tc>
                  <a:txBody>
                    <a:bodyPr/>
                    <a:lstStyle/>
                    <a:p>
                      <a:r>
                        <a:rPr sz="1300" b="1">
                          <a:solidFill>
                            <a:srgbClr val="FFFFFF"/>
                          </a:solidFill>
                        </a:rPr>
                        <a:t>Batch</a:t>
                      </a:r>
                    </a:p>
                  </a:txBody>
                  <a:tcPr/>
                </a:tc>
                <a:tc>
                  <a:txBody>
                    <a:bodyPr/>
                    <a:lstStyle/>
                    <a:p>
                      <a:r>
                        <a:rPr sz="1300" b="1">
                          <a:solidFill>
                            <a:srgbClr val="FFFFFF"/>
                          </a:solidFill>
                        </a:rPr>
                        <a:t>Impressions</a:t>
                      </a:r>
                    </a:p>
                  </a:txBody>
                  <a:tcPr/>
                </a:tc>
                <a:tc>
                  <a:txBody>
                    <a:bodyPr/>
                    <a:lstStyle/>
                    <a:p>
                      <a:r>
                        <a:rPr sz="1300" b="1">
                          <a:solidFill>
                            <a:srgbClr val="FFFFFF"/>
                          </a:solidFill>
                        </a:rPr>
                        <a:t>Clicks</a:t>
                      </a:r>
                    </a:p>
                  </a:txBody>
                  <a:tcPr/>
                </a:tc>
              </a:tr>
              <a:tr h="386791">
                <a:tc>
                  <a:txBody>
                    <a:bodyPr/>
                    <a:lstStyle/>
                    <a:p>
                      <a:r>
                        <a:rPr sz="1100"/>
                        <a:t>Feb I — keyword optimisation</a:t>
                      </a:r>
                    </a:p>
                  </a:txBody>
                  <a:tcPr/>
                </a:tc>
                <a:tc>
                  <a:txBody>
                    <a:bodyPr/>
                    <a:lstStyle/>
                    <a:p>
                      <a:r>
                        <a:rPr sz="1100"/>
                        <a:t>500</a:t>
                      </a:r>
                    </a:p>
                  </a:txBody>
                  <a:tcPr/>
                </a:tc>
                <a:tc>
                  <a:txBody>
                    <a:bodyPr/>
                    <a:lstStyle/>
                    <a:p>
                      <a:r>
                        <a:rPr sz="1100"/>
                        <a:t>−14.11%</a:t>
                      </a:r>
                    </a:p>
                  </a:txBody>
                  <a:tcPr/>
                </a:tc>
                <a:tc>
                  <a:txBody>
                    <a:bodyPr/>
                    <a:lstStyle/>
                    <a:p>
                      <a:r>
                        <a:rPr sz="1100"/>
                        <a:t>−20.74%</a:t>
                      </a:r>
                    </a:p>
                  </a:txBody>
                  <a:tcPr/>
                </a:tc>
              </a:tr>
              <a:tr h="386791">
                <a:tc>
                  <a:txBody>
                    <a:bodyPr/>
                    <a:lstStyle/>
                    <a:p>
                      <a:r>
                        <a:rPr sz="1100"/>
                        <a:t>Mar I — keyword optimisation</a:t>
                      </a:r>
                    </a:p>
                  </a:txBody>
                  <a:tcPr/>
                </a:tc>
                <a:tc>
                  <a:txBody>
                    <a:bodyPr/>
                    <a:lstStyle/>
                    <a:p>
                      <a:r>
                        <a:rPr sz="1100"/>
                        <a:t>500</a:t>
                      </a:r>
                    </a:p>
                  </a:txBody>
                  <a:tcPr/>
                </a:tc>
                <a:tc>
                  <a:txBody>
                    <a:bodyPr/>
                    <a:lstStyle/>
                    <a:p>
                      <a:r>
                        <a:rPr sz="1100"/>
                        <a:t>+10.16%</a:t>
                      </a:r>
                    </a:p>
                  </a:txBody>
                  <a:tcPr/>
                </a:tc>
                <a:tc>
                  <a:txBody>
                    <a:bodyPr/>
                    <a:lstStyle/>
                    <a:p>
                      <a:r>
                        <a:rPr sz="1100"/>
                        <a:t>+13.76%</a:t>
                      </a:r>
                    </a:p>
                  </a:txBody>
                  <a:tcPr/>
                </a:tc>
              </a:tr>
              <a:tr h="386791">
                <a:tc>
                  <a:txBody>
                    <a:bodyPr/>
                    <a:lstStyle/>
                    <a:p>
                      <a:r>
                        <a:rPr sz="1100"/>
                        <a:t>May I — keyword optimisation</a:t>
                      </a:r>
                    </a:p>
                  </a:txBody>
                  <a:tcPr/>
                </a:tc>
                <a:tc>
                  <a:txBody>
                    <a:bodyPr/>
                    <a:lstStyle/>
                    <a:p>
                      <a:r>
                        <a:rPr sz="1100"/>
                        <a:t>500</a:t>
                      </a:r>
                    </a:p>
                  </a:txBody>
                  <a:tcPr/>
                </a:tc>
                <a:tc>
                  <a:txBody>
                    <a:bodyPr/>
                    <a:lstStyle/>
                    <a:p>
                      <a:r>
                        <a:rPr sz="1100"/>
                        <a:t>+9.42%</a:t>
                      </a:r>
                    </a:p>
                  </a:txBody>
                  <a:tcPr/>
                </a:tc>
                <a:tc>
                  <a:txBody>
                    <a:bodyPr/>
                    <a:lstStyle/>
                    <a:p>
                      <a:r>
                        <a:rPr sz="1100"/>
                        <a:t>+8.54%</a:t>
                      </a:r>
                    </a:p>
                  </a:txBody>
                  <a:tcPr/>
                </a:tc>
              </a:tr>
              <a:tr h="386791">
                <a:tc>
                  <a:txBody>
                    <a:bodyPr/>
                    <a:lstStyle/>
                    <a:p>
                      <a:r>
                        <a:rPr sz="1100"/>
                        <a:t>May II — keyword optimisation</a:t>
                      </a:r>
                    </a:p>
                  </a:txBody>
                  <a:tcPr/>
                </a:tc>
                <a:tc>
                  <a:txBody>
                    <a:bodyPr/>
                    <a:lstStyle/>
                    <a:p>
                      <a:r>
                        <a:rPr sz="1100"/>
                        <a:t>500</a:t>
                      </a:r>
                    </a:p>
                  </a:txBody>
                  <a:tcPr/>
                </a:tc>
                <a:tc>
                  <a:txBody>
                    <a:bodyPr/>
                    <a:lstStyle/>
                    <a:p>
                      <a:r>
                        <a:rPr sz="1100"/>
                        <a:t>−10.04%</a:t>
                      </a:r>
                    </a:p>
                  </a:txBody>
                  <a:tcPr/>
                </a:tc>
                <a:tc>
                  <a:txBody>
                    <a:bodyPr/>
                    <a:lstStyle/>
                    <a:p>
                      <a:r>
                        <a:rPr sz="1100"/>
                        <a:t>−18.90%</a:t>
                      </a:r>
                    </a:p>
                  </a:txBody>
                  <a:tcPr/>
                </a:tc>
              </a:tr>
              <a:tr h="386791">
                <a:tc>
                  <a:txBody>
                    <a:bodyPr/>
                    <a:lstStyle/>
                    <a:p>
                      <a:r>
                        <a:rPr sz="1100"/>
                        <a:t>Jun I — keyword optimisation</a:t>
                      </a:r>
                    </a:p>
                  </a:txBody>
                  <a:tcPr/>
                </a:tc>
                <a:tc>
                  <a:txBody>
                    <a:bodyPr/>
                    <a:lstStyle/>
                    <a:p>
                      <a:r>
                        <a:rPr sz="1100"/>
                        <a:t>500</a:t>
                      </a:r>
                    </a:p>
                  </a:txBody>
                  <a:tcPr/>
                </a:tc>
                <a:tc>
                  <a:txBody>
                    <a:bodyPr/>
                    <a:lstStyle/>
                    <a:p>
                      <a:r>
                        <a:rPr sz="1100"/>
                        <a:t>−11.99%</a:t>
                      </a:r>
                    </a:p>
                  </a:txBody>
                  <a:tcPr/>
                </a:tc>
                <a:tc>
                  <a:txBody>
                    <a:bodyPr/>
                    <a:lstStyle/>
                    <a:p>
                      <a:r>
                        <a:rPr sz="1100"/>
                        <a:t>−13.55%</a:t>
                      </a:r>
                    </a:p>
                  </a:txBody>
                  <a:tcPr/>
                </a:tc>
              </a:tr>
              <a:tr h="386791">
                <a:tc>
                  <a:txBody>
                    <a:bodyPr/>
                    <a:lstStyle/>
                    <a:p>
                      <a:r>
                        <a:rPr sz="1100"/>
                        <a:t>Jun II — keyword optimisation</a:t>
                      </a:r>
                    </a:p>
                  </a:txBody>
                  <a:tcPr/>
                </a:tc>
                <a:tc>
                  <a:txBody>
                    <a:bodyPr/>
                    <a:lstStyle/>
                    <a:p>
                      <a:r>
                        <a:rPr sz="1100"/>
                        <a:t>500</a:t>
                      </a:r>
                    </a:p>
                  </a:txBody>
                  <a:tcPr/>
                </a:tc>
                <a:tc>
                  <a:txBody>
                    <a:bodyPr/>
                    <a:lstStyle/>
                    <a:p>
                      <a:r>
                        <a:rPr sz="1100"/>
                        <a:t>+18.72%</a:t>
                      </a:r>
                    </a:p>
                  </a:txBody>
                  <a:tcPr/>
                </a:tc>
                <a:tc>
                  <a:txBody>
                    <a:bodyPr/>
                    <a:lstStyle/>
                    <a:p>
                      <a:r>
                        <a:rPr sz="1100"/>
                        <a:t>+20.06%</a:t>
                      </a:r>
                    </a:p>
                  </a:txBody>
                  <a:tcPr/>
                </a:tc>
              </a:tr>
              <a:tr h="386791">
                <a:tc>
                  <a:txBody>
                    <a:bodyPr/>
                    <a:lstStyle/>
                    <a:p>
                      <a:r>
                        <a:rPr sz="1100"/>
                        <a:t>July I — keyword optimisation</a:t>
                      </a:r>
                    </a:p>
                  </a:txBody>
                  <a:tcPr/>
                </a:tc>
                <a:tc>
                  <a:txBody>
                    <a:bodyPr/>
                    <a:lstStyle/>
                    <a:p>
                      <a:r>
                        <a:rPr sz="1100"/>
                        <a:t>500</a:t>
                      </a:r>
                    </a:p>
                  </a:txBody>
                  <a:tcPr/>
                </a:tc>
                <a:tc>
                  <a:txBody>
                    <a:bodyPr/>
                    <a:lstStyle/>
                    <a:p>
                      <a:r>
                        <a:rPr sz="1100"/>
                        <a:t>+15.61%</a:t>
                      </a:r>
                    </a:p>
                  </a:txBody>
                  <a:tcPr/>
                </a:tc>
                <a:tc>
                  <a:txBody>
                    <a:bodyPr/>
                    <a:lstStyle/>
                    <a:p>
                      <a:r>
                        <a:rPr sz="1100"/>
                        <a:t>+18.46%</a:t>
                      </a:r>
                    </a:p>
                  </a:txBody>
                  <a:tcPr/>
                </a:tc>
              </a:tr>
              <a:tr h="386791">
                <a:tc>
                  <a:txBody>
                    <a:bodyPr/>
                    <a:lstStyle/>
                    <a:p>
                      <a:r>
                        <a:rPr sz="1100"/>
                        <a:t>July II — keyword optimisation</a:t>
                      </a:r>
                    </a:p>
                  </a:txBody>
                  <a:tcPr/>
                </a:tc>
                <a:tc>
                  <a:txBody>
                    <a:bodyPr/>
                    <a:lstStyle/>
                    <a:p>
                      <a:r>
                        <a:rPr sz="1100"/>
                        <a:t>500</a:t>
                      </a:r>
                    </a:p>
                  </a:txBody>
                  <a:tcPr/>
                </a:tc>
                <a:tc>
                  <a:txBody>
                    <a:bodyPr/>
                    <a:lstStyle/>
                    <a:p>
                      <a:r>
                        <a:rPr sz="1100"/>
                        <a:t>+2.14%</a:t>
                      </a:r>
                    </a:p>
                  </a:txBody>
                  <a:tcPr/>
                </a:tc>
                <a:tc>
                  <a:txBody>
                    <a:bodyPr/>
                    <a:lstStyle/>
                    <a:p>
                      <a:r>
                        <a:rPr sz="1100"/>
                        <a:t>+11.83%</a:t>
                      </a:r>
                    </a:p>
                  </a:txBody>
                  <a:tcPr/>
                </a:tc>
              </a:tr>
              <a:tr h="386791">
                <a:tc>
                  <a:txBody>
                    <a:bodyPr/>
                    <a:lstStyle/>
                    <a:p>
                      <a:r>
                        <a:rPr sz="1100"/>
                        <a:t>Aug I — keyword optimisation</a:t>
                      </a:r>
                    </a:p>
                  </a:txBody>
                  <a:tcPr/>
                </a:tc>
                <a:tc>
                  <a:txBody>
                    <a:bodyPr/>
                    <a:lstStyle/>
                    <a:p>
                      <a:r>
                        <a:rPr sz="1100"/>
                        <a:t>500</a:t>
                      </a:r>
                    </a:p>
                  </a:txBody>
                  <a:tcPr/>
                </a:tc>
                <a:tc>
                  <a:txBody>
                    <a:bodyPr/>
                    <a:lstStyle/>
                    <a:p>
                      <a:r>
                        <a:rPr sz="1100"/>
                        <a:t>+12.07%</a:t>
                      </a:r>
                    </a:p>
                  </a:txBody>
                  <a:tcPr/>
                </a:tc>
                <a:tc>
                  <a:txBody>
                    <a:bodyPr/>
                    <a:lstStyle/>
                    <a:p>
                      <a:r>
                        <a:rPr sz="1100"/>
                        <a:t>+12.92%</a:t>
                      </a:r>
                    </a:p>
                  </a:txBody>
                  <a:tcPr/>
                </a:tc>
              </a:tr>
              <a:tr h="386791">
                <a:tc>
                  <a:txBody>
                    <a:bodyPr/>
                    <a:lstStyle/>
                    <a:p>
                      <a:r>
                        <a:rPr sz="1100"/>
                        <a:t>T-shirts — brand in title</a:t>
                      </a:r>
                    </a:p>
                  </a:txBody>
                  <a:tcPr/>
                </a:tc>
                <a:tc>
                  <a:txBody>
                    <a:bodyPr/>
                    <a:lstStyle/>
                    <a:p>
                      <a:r>
                        <a:rPr sz="1100"/>
                        <a:t>500</a:t>
                      </a:r>
                    </a:p>
                  </a:txBody>
                  <a:tcPr/>
                </a:tc>
                <a:tc>
                  <a:txBody>
                    <a:bodyPr/>
                    <a:lstStyle/>
                    <a:p>
                      <a:r>
                        <a:rPr sz="1100"/>
                        <a:t>+10.20%</a:t>
                      </a:r>
                    </a:p>
                  </a:txBody>
                  <a:tcPr/>
                </a:tc>
                <a:tc>
                  <a:txBody>
                    <a:bodyPr/>
                    <a:lstStyle/>
                    <a:p>
                      <a:r>
                        <a:rPr sz="1100"/>
                        <a:t>+27.82%</a:t>
                      </a:r>
                    </a:p>
                  </a:txBody>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Results (cont.)</a:t>
            </a:r>
          </a:p>
        </p:txBody>
      </p:sp>
      <p:graphicFrame>
        <p:nvGraphicFramePr>
          <p:cNvPr id="5" name="Table 4"/>
          <p:cNvGraphicFramePr>
            <a:graphicFrameLocks noGrp="1"/>
          </p:cNvGraphicFramePr>
          <p:nvPr/>
        </p:nvGraphicFramePr>
        <p:xfrm>
          <a:off x="612648" y="1389888"/>
          <a:ext cx="10972797" cy="2441448"/>
        </p:xfrm>
        <a:graphic>
          <a:graphicData uri="http://schemas.openxmlformats.org/drawingml/2006/table">
            <a:tbl>
              <a:tblPr firstRow="1" bandRow="1">
                <a:tableStyleId>{5C22544A-7EE6-4342-B048-85BDC9FD1C3A}</a:tableStyleId>
              </a:tblPr>
              <a:tblGrid>
                <a:gridCol w="6211018"/>
                <a:gridCol w="1242203"/>
                <a:gridCol w="2277373"/>
                <a:gridCol w="1242203"/>
              </a:tblGrid>
              <a:tr h="384048">
                <a:tc>
                  <a:txBody>
                    <a:bodyPr/>
                    <a:lstStyle/>
                    <a:p>
                      <a:r>
                        <a:rPr sz="1300" b="1">
                          <a:solidFill>
                            <a:srgbClr val="FFFFFF"/>
                          </a:solidFill>
                        </a:rPr>
                        <a:t>Test</a:t>
                      </a:r>
                    </a:p>
                  </a:txBody>
                  <a:tcPr/>
                </a:tc>
                <a:tc>
                  <a:txBody>
                    <a:bodyPr/>
                    <a:lstStyle/>
                    <a:p>
                      <a:r>
                        <a:rPr sz="1300" b="1">
                          <a:solidFill>
                            <a:srgbClr val="FFFFFF"/>
                          </a:solidFill>
                        </a:rPr>
                        <a:t>Batch</a:t>
                      </a:r>
                    </a:p>
                  </a:txBody>
                  <a:tcPr/>
                </a:tc>
                <a:tc>
                  <a:txBody>
                    <a:bodyPr/>
                    <a:lstStyle/>
                    <a:p>
                      <a:r>
                        <a:rPr sz="1300" b="1">
                          <a:solidFill>
                            <a:srgbClr val="FFFFFF"/>
                          </a:solidFill>
                        </a:rPr>
                        <a:t>Impressions</a:t>
                      </a:r>
                    </a:p>
                  </a:txBody>
                  <a:tcPr/>
                </a:tc>
                <a:tc>
                  <a:txBody>
                    <a:bodyPr/>
                    <a:lstStyle/>
                    <a:p>
                      <a:r>
                        <a:rPr sz="1300" b="1">
                          <a:solidFill>
                            <a:srgbClr val="FFFFFF"/>
                          </a:solidFill>
                        </a:rPr>
                        <a:t>Clicks</a:t>
                      </a:r>
                    </a:p>
                  </a:txBody>
                  <a:tcPr/>
                </a:tc>
              </a:tr>
              <a:tr h="685800">
                <a:tc>
                  <a:txBody>
                    <a:bodyPr/>
                    <a:lstStyle/>
                    <a:p>
                      <a:r>
                        <a:rPr sz="1100"/>
                        <a:t>Dresses — brand in title</a:t>
                      </a:r>
                    </a:p>
                  </a:txBody>
                  <a:tcPr/>
                </a:tc>
                <a:tc>
                  <a:txBody>
                    <a:bodyPr/>
                    <a:lstStyle/>
                    <a:p>
                      <a:r>
                        <a:rPr sz="1100"/>
                        <a:t>500</a:t>
                      </a:r>
                    </a:p>
                  </a:txBody>
                  <a:tcPr/>
                </a:tc>
                <a:tc>
                  <a:txBody>
                    <a:bodyPr/>
                    <a:lstStyle/>
                    <a:p>
                      <a:r>
                        <a:rPr sz="1100"/>
                        <a:t>−7.50%</a:t>
                      </a:r>
                    </a:p>
                  </a:txBody>
                  <a:tcPr/>
                </a:tc>
                <a:tc>
                  <a:txBody>
                    <a:bodyPr/>
                    <a:lstStyle/>
                    <a:p>
                      <a:r>
                        <a:rPr sz="1100"/>
                        <a:t>−8.02%</a:t>
                      </a:r>
                    </a:p>
                  </a:txBody>
                  <a:tcPr/>
                </a:tc>
              </a:tr>
              <a:tr h="685800">
                <a:tc>
                  <a:txBody>
                    <a:bodyPr/>
                    <a:lstStyle/>
                    <a:p>
                      <a:r>
                        <a:rPr sz="1100"/>
                        <a:t>Dresses — keyword optimisation</a:t>
                      </a:r>
                    </a:p>
                  </a:txBody>
                  <a:tcPr/>
                </a:tc>
                <a:tc>
                  <a:txBody>
                    <a:bodyPr/>
                    <a:lstStyle/>
                    <a:p>
                      <a:r>
                        <a:rPr sz="1100"/>
                        <a:t>—</a:t>
                      </a:r>
                    </a:p>
                  </a:txBody>
                  <a:tcPr/>
                </a:tc>
                <a:tc>
                  <a:txBody>
                    <a:bodyPr/>
                    <a:lstStyle/>
                    <a:p>
                      <a:r>
                        <a:rPr sz="1100"/>
                        <a:t>+41.82%</a:t>
                      </a:r>
                    </a:p>
                  </a:txBody>
                  <a:tcPr/>
                </a:tc>
                <a:tc>
                  <a:txBody>
                    <a:bodyPr/>
                    <a:lstStyle/>
                    <a:p>
                      <a:r>
                        <a:rPr sz="1100"/>
                        <a:t>+6.14%</a:t>
                      </a:r>
                    </a:p>
                  </a:txBody>
                  <a:tcPr/>
                </a:tc>
              </a:tr>
              <a:tr h="685800">
                <a:tc>
                  <a:txBody>
                    <a:bodyPr/>
                    <a:lstStyle/>
                    <a:p>
                      <a:r>
                        <a:rPr sz="1100"/>
                        <a:t>Brand inclusion — Aug 2026</a:t>
                      </a:r>
                    </a:p>
                  </a:txBody>
                  <a:tcPr/>
                </a:tc>
                <a:tc>
                  <a:txBody>
                    <a:bodyPr/>
                    <a:lstStyle/>
                    <a:p>
                      <a:r>
                        <a:rPr sz="1100"/>
                        <a:t>100</a:t>
                      </a:r>
                    </a:p>
                  </a:txBody>
                  <a:tcPr/>
                </a:tc>
                <a:tc>
                  <a:txBody>
                    <a:bodyPr/>
                    <a:lstStyle/>
                    <a:p>
                      <a:r>
                        <a:rPr sz="1100"/>
                        <a:t>+9.25%</a:t>
                      </a:r>
                    </a:p>
                  </a:txBody>
                  <a:tcPr/>
                </a:tc>
                <a:tc>
                  <a:txBody>
                    <a:bodyPr/>
                    <a:lstStyle/>
                    <a:p>
                      <a:r>
                        <a:rPr sz="1100"/>
                        <a:t>−4.87%</a:t>
                      </a:r>
                    </a:p>
                  </a:txBody>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Results (cont.)</a:t>
            </a:r>
          </a:p>
        </p:txBody>
      </p:sp>
      <p:sp>
        <p:nvSpPr>
          <p:cNvPr id="4" name="Text Placeholder 3"/>
          <p:cNvSpPr>
            <a:spLocks noGrp="1"/>
          </p:cNvSpPr>
          <p:nvPr>
            <p:ph type="body" idx="1"/>
          </p:nvPr>
        </p:nvSpPr>
        <p:spPr/>
        <p:txBody>
          <a:bodyPr wrap="square"/>
          <a:lstStyle/>
          <a:p>
            <a:r>
              <a:t>The number to plan against</a:t>
            </a:r>
          </a:p>
        </p:txBody>
      </p:sp>
      <p:sp>
        <p:nvSpPr>
          <p:cNvPr id="5" name="Text Placeholder 4"/>
          <p:cNvSpPr>
            <a:spLocks noGrp="1"/>
          </p:cNvSpPr>
          <p:nvPr>
            <p:ph type="body" idx="2"/>
          </p:nvPr>
        </p:nvSpPr>
        <p:spPr/>
        <p:txBody>
          <a:bodyPr wrap="square"/>
          <a:lstStyle/>
          <a:p>
            <a:r>
              <a:t>Nine of thirteen controlled tests won on impressions. The median is +9.42% impressions and +8.54% clicks — not the headline figures, the middle of the distribution.</a:t>
            </a:r>
          </a:p>
          <a:p>
            <a:r>
              <a:t>That is the return on a keyword pass over 500 products, repeated monthly. It is modest, it is real, and it is the only number in this deck with a control group behind it.</a:t>
            </a:r>
          </a:p>
        </p:txBody>
      </p:sp>
      <p:sp>
        <p:nvSpPr>
          <p:cNvPr id="6" name="Text Placeholder 5"/>
          <p:cNvSpPr>
            <a:spLocks noGrp="1"/>
          </p:cNvSpPr>
          <p:nvPr>
            <p:ph type="body" idx="3"/>
          </p:nvPr>
        </p:nvSpPr>
        <p:spPr/>
        <p:txBody>
          <a:bodyPr wrap="square"/>
          <a:lstStyle/>
          <a:p>
            <a:r>
              <a:t>At scale it is larger</a:t>
            </a:r>
          </a:p>
        </p:txBody>
      </p:sp>
      <p:sp>
        <p:nvSpPr>
          <p:cNvPr id="7" name="Text Placeholder 6"/>
          <p:cNvSpPr>
            <a:spLocks noGrp="1"/>
          </p:cNvSpPr>
          <p:nvPr>
            <p:ph type="body" idx="4"/>
          </p:nvPr>
        </p:nvSpPr>
        <p:spPr/>
        <p:txBody>
          <a:bodyPr wrap="square"/>
          <a:lstStyle/>
          <a:p>
            <a:r>
              <a:t>The three biggest batches ever run — Black Friday I and II at 10,000 products each and the Summer/Seasonal pass at 9,653 — returned +48.5%, +39.4% and +55.3% impressions.</a:t>
            </a:r>
          </a:p>
          <a:p>
            <a:r>
              <a:t>These are single-group reads with no control, so seasonality is inside them. But three batches of that size all moving the same way is not noise.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Results (cont.)</a:t>
            </a:r>
          </a:p>
        </p:txBody>
      </p:sp>
      <p:sp>
        <p:nvSpPr>
          <p:cNvPr id="4" name="Text Placeholder 3"/>
          <p:cNvSpPr>
            <a:spLocks noGrp="1"/>
          </p:cNvSpPr>
          <p:nvPr>
            <p:ph type="body" idx="1"/>
          </p:nvPr>
        </p:nvSpPr>
        <p:spPr/>
        <p:txBody>
          <a:bodyPr wrap="square"/>
          <a:lstStyle/>
          <a:p>
            <a:r>
              <a:t>Brand in the title depends on the category</a:t>
            </a:r>
          </a:p>
          <a:p>
            <a:r>
              <a:t>Run on the same day in January, the same test won on T-shirts (+10.2% impressions, +27.8% clicks) and lost on dresses (−7.5%, −8.0%).</a:t>
            </a:r>
          </a:p>
          <a:p>
            <a:r>
              <a:t>So it is not a rule, it is a setting per category — which is exactly the kind of finding a testing programme exists to produce, and it cannot be bought any other way.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Eight of the forty tests returned nothing at all. Five title-optimisation tests and three image-tagging tests each closed with "no performance data detected". The title work this deck opens with — the change from 29 characters to 83 — has therefore never been measured against a control. On the evidence of chapter 03 it is the largest single change made to this feed, and it is the one we cannot yet put a number on.</a:t>
            </a:r>
          </a:p>
        </p:txBody>
      </p:sp>
      <p:sp>
        <p:nvSpPr>
          <p:cNvPr id="3" name="Text Placeholder 2"/>
          <p:cNvSpPr>
            <a:spLocks noGrp="1"/>
          </p:cNvSpPr>
          <p:nvPr>
            <p:ph type="body" idx="11"/>
          </p:nvPr>
        </p:nvSpPr>
        <p:spPr/>
        <p:txBody>
          <a:bodyPr wrap="square"/>
          <a:lstStyle/>
          <a:p>
            <a:r>
              <a:t>Results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seven</a:t>
            </a:r>
          </a:p>
        </p:txBody>
      </p:sp>
      <p:sp>
        <p:nvSpPr>
          <p:cNvPr id="3" name="Title 2"/>
          <p:cNvSpPr>
            <a:spLocks noGrp="1"/>
          </p:cNvSpPr>
          <p:nvPr>
            <p:ph type="title"/>
          </p:nvPr>
        </p:nvSpPr>
        <p:spPr/>
        <p:txBody>
          <a:bodyPr wrap="square"/>
          <a:lstStyle/>
          <a:p>
            <a:r>
              <a:t>Feed optimisation score</a:t>
            </a:r>
          </a:p>
        </p:txBody>
      </p:sp>
      <p:sp>
        <p:nvSpPr>
          <p:cNvPr id="4" name="Text Placeholder 3"/>
          <p:cNvSpPr>
            <a:spLocks noGrp="1"/>
          </p:cNvSpPr>
          <p:nvPr>
            <p:ph type="body" idx="1"/>
          </p:nvPr>
        </p:nvSpPr>
        <p:spPr/>
        <p:txBody>
          <a:bodyPr wrap="square"/>
          <a:lstStyle/>
          <a:p>
            <a:r>
              <a:t>70 out of 100. The structural layer is close to finished; the content layer has barely started.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a:t>
            </a:r>
          </a:p>
        </p:txBody>
      </p:sp>
      <p:sp>
        <p:nvSpPr>
          <p:cNvPr id="3" name="Text Placeholder 2"/>
          <p:cNvSpPr>
            <a:spLocks noGrp="1"/>
          </p:cNvSpPr>
          <p:nvPr>
            <p:ph type="body" idx="13"/>
          </p:nvPr>
        </p:nvSpPr>
        <p:spPr/>
        <p:txBody>
          <a:bodyPr wrap="square"/>
          <a:lstStyle/>
          <a:p>
            <a:r>
              <a:rPr sz="1500"/>
              <a:t>Eleven workstreams, weighted by completion, with every percentage read from the live feed rather than from a closed task.</a:t>
            </a:r>
          </a:p>
        </p:txBody>
      </p:sp>
      <p:sp>
        <p:nvSpPr>
          <p:cNvPr id="4" name="Text Placeholder 3"/>
          <p:cNvSpPr>
            <a:spLocks noGrp="1"/>
          </p:cNvSpPr>
          <p:nvPr>
            <p:ph type="body" idx="1"/>
          </p:nvPr>
        </p:nvSpPr>
        <p:spPr/>
        <p:txBody>
          <a:bodyPr wrap="square"/>
          <a:lstStyle/>
          <a:p>
            <a:r>
              <a:t>100%  Titles rewritten</a:t>
            </a:r>
          </a:p>
        </p:txBody>
      </p:sp>
      <p:sp>
        <p:nvSpPr>
          <p:cNvPr id="5" name="Text Placeholder 4"/>
          <p:cNvSpPr>
            <a:spLocks noGrp="1"/>
          </p:cNvSpPr>
          <p:nvPr>
            <p:ph type="body" idx="2"/>
          </p:nvPr>
        </p:nvSpPr>
        <p:spPr/>
        <p:txBody>
          <a:bodyPr wrap="square"/>
          <a:lstStyle/>
          <a:p>
            <a:r>
              <a:t>Every product in all six audited markets carries a FeedSpark title, not the supplied one. 62.7% of UK titles land in the 80–120 band against 0% before.</a:t>
            </a:r>
          </a:p>
          <a:p>
            <a:r>
              <a:t>The strongest single result on the account</a:t>
            </a:r>
          </a:p>
        </p:txBody>
      </p:sp>
      <p:sp>
        <p:nvSpPr>
          <p:cNvPr id="6" name="Text Placeholder 5"/>
          <p:cNvSpPr>
            <a:spLocks noGrp="1"/>
          </p:cNvSpPr>
          <p:nvPr>
            <p:ph type="body" idx="3"/>
          </p:nvPr>
        </p:nvSpPr>
        <p:spPr/>
        <p:txBody>
          <a:bodyPr wrap="square"/>
          <a:lstStyle/>
          <a:p>
            <a:r>
              <a:rPr sz="1880"/>
              <a:t>100%  Category mapping</a:t>
            </a:r>
          </a:p>
        </p:txBody>
      </p:sp>
      <p:sp>
        <p:nvSpPr>
          <p:cNvPr id="7" name="Text Placeholder 6"/>
          <p:cNvSpPr>
            <a:spLocks noGrp="1"/>
          </p:cNvSpPr>
          <p:nvPr>
            <p:ph type="body" idx="4"/>
          </p:nvPr>
        </p:nvSpPr>
        <p:spPr/>
        <p:txBody>
          <a:bodyPr wrap="square"/>
          <a:lstStyle/>
          <a:p>
            <a:r>
              <a:t>Mapped on every product in every market, four levels deep on 93.1% of the UK catalogue, across 305 distinct paths.</a:t>
            </a:r>
          </a:p>
          <a:p>
            <a:r>
              <a:t>Deeper than most retailers of this size manage</a:t>
            </a:r>
          </a:p>
        </p:txBody>
      </p:sp>
      <p:sp>
        <p:nvSpPr>
          <p:cNvPr id="8" name="Text Placeholder 7"/>
          <p:cNvSpPr>
            <a:spLocks noGrp="1"/>
          </p:cNvSpPr>
          <p:nvPr>
            <p:ph type="body" idx="5"/>
          </p:nvPr>
        </p:nvSpPr>
        <p:spPr/>
        <p:txBody>
          <a:bodyPr wrap="square"/>
          <a:lstStyle/>
          <a:p>
            <a:r>
              <a:rPr sz="1880"/>
              <a:t>99.9%  Label architecture</a:t>
            </a:r>
          </a:p>
        </p:txBody>
      </p:sp>
      <p:sp>
        <p:nvSpPr>
          <p:cNvPr id="9" name="Text Placeholder 8"/>
          <p:cNvSpPr>
            <a:spLocks noGrp="1"/>
          </p:cNvSpPr>
          <p:nvPr>
            <p:ph type="body" idx="6"/>
          </p:nvPr>
        </p:nvSpPr>
        <p:spPr/>
        <p:txBody>
          <a:bodyPr wrap="square"/>
          <a:lstStyle/>
          <a:p>
            <a:r>
              <a:t>custom_label_0 (sale/full) 100%, custom_label_3 (gender) 100%, custom_label_2 (category) 99.8%. The gender label went live six days ago.</a:t>
            </a:r>
          </a:p>
          <a:p>
            <a:r>
              <a:t>This is what PMax bids and structures against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rPr sz="1639"/>
              <a:t>41.0%  Keyword enrichment</a:t>
            </a:r>
          </a:p>
        </p:txBody>
      </p:sp>
      <p:sp>
        <p:nvSpPr>
          <p:cNvPr id="5" name="Text Placeholder 4"/>
          <p:cNvSpPr>
            <a:spLocks noGrp="1"/>
          </p:cNvSpPr>
          <p:nvPr>
            <p:ph type="body" idx="2"/>
          </p:nvPr>
        </p:nvSpPr>
        <p:spPr/>
        <p:txBody>
          <a:bodyPr wrap="square"/>
          <a:lstStyle/>
          <a:p>
            <a:r>
              <a:t>10,543 of 25,699 UK products carry optimised keyword terms. Ireland 41.2%, the US 46.3%. Germany, France and the Netherlands: none.</a:t>
            </a:r>
          </a:p>
          <a:p>
            <a:r>
              <a:t>The lane with the only measured uplift, on two fifths of one market</a:t>
            </a:r>
          </a:p>
        </p:txBody>
      </p:sp>
      <p:sp>
        <p:nvSpPr>
          <p:cNvPr id="6" name="Text Placeholder 5"/>
          <p:cNvSpPr>
            <a:spLocks noGrp="1"/>
          </p:cNvSpPr>
          <p:nvPr>
            <p:ph type="body" idx="3"/>
          </p:nvPr>
        </p:nvSpPr>
        <p:spPr/>
        <p:txBody>
          <a:bodyPr wrap="square"/>
          <a:lstStyle/>
          <a:p>
            <a:r>
              <a:rPr sz="1880"/>
              <a:t>29.4%  Product highlights</a:t>
            </a:r>
          </a:p>
        </p:txBody>
      </p:sp>
      <p:sp>
        <p:nvSpPr>
          <p:cNvPr id="7" name="Text Placeholder 6"/>
          <p:cNvSpPr>
            <a:spLocks noGrp="1"/>
          </p:cNvSpPr>
          <p:nvPr>
            <p:ph type="body" idx="4"/>
          </p:nvPr>
        </p:nvSpPr>
        <p:spPr/>
        <p:txBody>
          <a:bodyPr wrap="square"/>
          <a:lstStyle/>
          <a:p>
            <a:r>
              <a:t>18,143 UK products carry none. Where they exist they are good — 1,855 products carry six. Outside the English markets there are none at all.</a:t>
            </a:r>
          </a:p>
          <a:p>
            <a:r>
              <a:t>Highlights are the sentences AI assistants quote back</a:t>
            </a:r>
          </a:p>
        </p:txBody>
      </p:sp>
      <p:sp>
        <p:nvSpPr>
          <p:cNvPr id="8" name="Text Placeholder 7"/>
          <p:cNvSpPr>
            <a:spLocks noGrp="1"/>
          </p:cNvSpPr>
          <p:nvPr>
            <p:ph type="body" idx="5"/>
          </p:nvPr>
        </p:nvSpPr>
        <p:spPr/>
        <p:txBody>
          <a:bodyPr wrap="square"/>
          <a:lstStyle/>
          <a:p>
            <a:r>
              <a:rPr sz="1760"/>
              <a:t>0%  Description enrichment</a:t>
            </a:r>
          </a:p>
        </p:txBody>
      </p:sp>
      <p:sp>
        <p:nvSpPr>
          <p:cNvPr id="9" name="Text Placeholder 8"/>
          <p:cNvSpPr>
            <a:spLocks noGrp="1"/>
          </p:cNvSpPr>
          <p:nvPr>
            <p:ph type="body" idx="6"/>
          </p:nvPr>
        </p:nvSpPr>
        <p:spPr/>
        <p:txBody>
          <a:bodyPr wrap="square"/>
          <a:lstStyle/>
          <a:p>
            <a:r>
              <a:t>Descriptions average 550 characters and are the retailer's own. The enrichment flag reads D:N on every product in every market — it has never run.</a:t>
            </a:r>
          </a:p>
          <a:p>
            <a:r>
              <a:t>Never scoped, never funded, never started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Feed optimisation score (cont.)</a:t>
            </a:r>
          </a:p>
        </p:txBody>
      </p:sp>
      <p:sp>
        <p:nvSpPr>
          <p:cNvPr id="4" name="Text Placeholder 3"/>
          <p:cNvSpPr>
            <a:spLocks noGrp="1"/>
          </p:cNvSpPr>
          <p:nvPr>
            <p:ph type="body" idx="1"/>
          </p:nvPr>
        </p:nvSpPr>
        <p:spPr/>
        <p:txBody>
          <a:bodyPr wrap="square"/>
          <a:lstStyle/>
          <a:p>
            <a:r>
              <a:t>Where the plan and the feed agree</a:t>
            </a:r>
          </a:p>
        </p:txBody>
      </p:sp>
      <p:sp>
        <p:nvSpPr>
          <p:cNvPr id="5" name="Text Placeholder 4"/>
          <p:cNvSpPr>
            <a:spLocks noGrp="1"/>
          </p:cNvSpPr>
          <p:nvPr>
            <p:ph type="body" idx="2"/>
          </p:nvPr>
        </p:nvSpPr>
        <p:spPr/>
        <p:txBody>
          <a:bodyPr wrap="square"/>
          <a:lstStyle/>
          <a:p>
            <a:r>
              <a:t>The project plan records 169 of 260 initiatives closed. The lanes it shows as nearly finished are the ones the live feed confirms: custom labels 16 of 18, keywords 20 of 29, imagery 20 of 30, channels 18 of 26.</a:t>
            </a:r>
          </a:p>
          <a:p>
            <a:r>
              <a:t>The lanes it shows as barely started are also confirmed: data fields 1 of 5, product type 1 of 3. Those two are the content layer, and they are where the score is lost.</a:t>
            </a:r>
          </a:p>
        </p:txBody>
      </p:sp>
      <p:sp>
        <p:nvSpPr>
          <p:cNvPr id="6" name="Text Placeholder 5"/>
          <p:cNvSpPr>
            <a:spLocks noGrp="1"/>
          </p:cNvSpPr>
          <p:nvPr>
            <p:ph type="body" idx="3"/>
          </p:nvPr>
        </p:nvSpPr>
        <p:spPr/>
        <p:txBody>
          <a:bodyPr wrap="square"/>
          <a:lstStyle/>
          <a:p>
            <a:r>
              <a:rPr sz="1880"/>
              <a:t>What the audit adds that the plan cannot</a:t>
            </a:r>
          </a:p>
        </p:txBody>
      </p:sp>
      <p:sp>
        <p:nvSpPr>
          <p:cNvPr id="7" name="Text Placeholder 6"/>
          <p:cNvSpPr>
            <a:spLocks noGrp="1"/>
          </p:cNvSpPr>
          <p:nvPr>
            <p:ph type="body" idx="4"/>
          </p:nvPr>
        </p:nvSpPr>
        <p:spPr/>
        <p:txBody>
          <a:bodyPr wrap="square"/>
          <a:lstStyle/>
          <a:p>
            <a:r>
              <a:t>FeedHero's own scan, refreshed yesterday, flags 19,791 UK products (34%) with three highlights or fewer, 21,647 (37%) with no pattern, and 12,007 (21%) whose size type is in the title but not in the size field.</a:t>
            </a:r>
          </a:p>
          <a:p>
            <a:r>
              <a:t>It also flags that no custom alerts are configured on this account. Nineteen markets and no monitoring rules — that is a gap on our side, and it is first on the roadmap.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What the search-term data says is missing. Of the top thousand terms Superdry ranks against, 578 (58%) do not appear in any product title and 313 (31%) return no match anywhere in the feed. "Jackets for men" draws 14,800 searches a month and misses every title. "Jacket in yellow" draws 8,100 and matches nothing in the catalogue at all. This is the measurable size of the keyword and title gap, in Superdry's own demand.</a:t>
            </a:r>
          </a:p>
        </p:txBody>
      </p:sp>
      <p:sp>
        <p:nvSpPr>
          <p:cNvPr id="3" name="Text Placeholder 2"/>
          <p:cNvSpPr>
            <a:spLocks noGrp="1"/>
          </p:cNvSpPr>
          <p:nvPr>
            <p:ph type="body" idx="11"/>
          </p:nvPr>
        </p:nvSpPr>
        <p:spPr/>
        <p:txBody>
          <a:bodyPr wrap="square"/>
          <a:lstStyle/>
          <a:p>
            <a:r>
              <a:t>Feed optimisation score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eight</a:t>
            </a:r>
          </a:p>
        </p:txBody>
      </p:sp>
      <p:sp>
        <p:nvSpPr>
          <p:cNvPr id="3" name="Title 2"/>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Google has added six attributes built for AI assistants. Superdry submits none of them, in any market.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a:t>
            </a:r>
          </a:p>
        </p:txBody>
      </p:sp>
      <p:sp>
        <p:nvSpPr>
          <p:cNvPr id="4" name="Text Placeholder 3"/>
          <p:cNvSpPr>
            <a:spLocks noGrp="1"/>
          </p:cNvSpPr>
          <p:nvPr>
            <p:ph type="body" idx="1"/>
          </p:nvPr>
        </p:nvSpPr>
        <p:spPr/>
        <p:txBody>
          <a:bodyPr wrap="square"/>
          <a:lstStyle/>
          <a:p>
            <a:r>
              <a:t>Legacy</a:t>
            </a:r>
          </a:p>
        </p:txBody>
      </p:sp>
      <p:sp>
        <p:nvSpPr>
          <p:cNvPr id="5" name="Text Placeholder 4"/>
          <p:cNvSpPr>
            <a:spLocks noGrp="1"/>
          </p:cNvSpPr>
          <p:nvPr>
            <p:ph type="body" idx="2"/>
          </p:nvPr>
        </p:nvSpPr>
        <p:spPr/>
        <p:txBody>
          <a:bodyPr wrap="square"/>
          <a:lstStyle/>
          <a:p>
            <a:r>
              <a:t>Where this started</a:t>
            </a:r>
          </a:p>
          <a:p>
            <a:r>
              <a:t>Supplied titles passed through</a:t>
            </a:r>
          </a:p>
          <a:p>
            <a:r>
              <a:t>29 characters, no attributes</a:t>
            </a:r>
          </a:p>
          <a:p>
            <a:r>
              <a:t>Invisible to AI surfaces</a:t>
            </a:r>
          </a:p>
        </p:txBody>
      </p:sp>
      <p:sp>
        <p:nvSpPr>
          <p:cNvPr id="6" name="Text Placeholder 5"/>
          <p:cNvSpPr>
            <a:spLocks noGrp="1"/>
          </p:cNvSpPr>
          <p:nvPr>
            <p:ph type="body" idx="3"/>
          </p:nvPr>
        </p:nvSpPr>
        <p:spPr/>
        <p:txBody>
          <a:bodyPr wrap="square"/>
          <a:lstStyle/>
          <a:p>
            <a:r>
              <a:t>Titles &amp; data fields</a:t>
            </a:r>
          </a:p>
        </p:txBody>
      </p:sp>
      <p:sp>
        <p:nvSpPr>
          <p:cNvPr id="7" name="Text Placeholder 6"/>
          <p:cNvSpPr>
            <a:spLocks noGrp="1"/>
          </p:cNvSpPr>
          <p:nvPr>
            <p:ph type="body" idx="4"/>
          </p:nvPr>
        </p:nvSpPr>
        <p:spPr/>
        <p:txBody>
          <a:bodyPr wrap="square"/>
          <a:lstStyle/>
          <a:p>
            <a:r>
              <a:t>The foundation, done</a:t>
            </a:r>
          </a:p>
          <a:p>
            <a:r>
              <a:t>Titles rewritten on 100%</a:t>
            </a:r>
          </a:p>
          <a:p>
            <a:r>
              <a:t>Category four levels deep on 93%</a:t>
            </a:r>
          </a:p>
          <a:p>
            <a:r>
              <a:t>Colour, size, gender, identifiers complete</a:t>
            </a:r>
          </a:p>
          <a:p>
            <a:r>
              <a:t>Two images on every product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 (cont.)</a:t>
            </a:r>
          </a:p>
        </p:txBody>
      </p:sp>
      <p:sp>
        <p:nvSpPr>
          <p:cNvPr id="4" name="Text Placeholder 3"/>
          <p:cNvSpPr>
            <a:spLocks noGrp="1"/>
          </p:cNvSpPr>
          <p:nvPr>
            <p:ph type="body" idx="1"/>
          </p:nvPr>
        </p:nvSpPr>
        <p:spPr/>
        <p:txBody>
          <a:bodyPr wrap="square"/>
          <a:lstStyle/>
          <a:p>
            <a:r>
              <a:t>Descriptions &amp; answers</a:t>
            </a:r>
          </a:p>
        </p:txBody>
      </p:sp>
      <p:sp>
        <p:nvSpPr>
          <p:cNvPr id="5" name="Text Placeholder 4"/>
          <p:cNvSpPr>
            <a:spLocks noGrp="1"/>
          </p:cNvSpPr>
          <p:nvPr>
            <p:ph type="body" idx="2"/>
          </p:nvPr>
        </p:nvSpPr>
        <p:spPr/>
        <p:txBody>
          <a:bodyPr wrap="square"/>
          <a:lstStyle/>
          <a:p>
            <a:r>
              <a:t>Not started</a:t>
            </a:r>
          </a:p>
          <a:p>
            <a:r>
              <a:t>Description enrichment: 0%</a:t>
            </a:r>
          </a:p>
          <a:p>
            <a:r>
              <a:t>Product highlights: 29% in English markets, 0% elsewhere</a:t>
            </a:r>
          </a:p>
          <a:p>
            <a:r>
              <a:t>None of the six conversational attributes</a:t>
            </a:r>
          </a:p>
          <a:p>
            <a:r>
              <a:t>5,725 variant families ready to carry them</a:t>
            </a:r>
          </a:p>
        </p:txBody>
      </p:sp>
      <p:sp>
        <p:nvSpPr>
          <p:cNvPr id="6" name="Text Placeholder 5"/>
          <p:cNvSpPr>
            <a:spLocks noGrp="1"/>
          </p:cNvSpPr>
          <p:nvPr>
            <p:ph type="body" idx="3"/>
          </p:nvPr>
        </p:nvSpPr>
        <p:spPr/>
        <p:txBody>
          <a:bodyPr wrap="square"/>
          <a:lstStyle/>
          <a:p>
            <a:r>
              <a:t>Image analysis</a:t>
            </a:r>
          </a:p>
        </p:txBody>
      </p:sp>
      <p:sp>
        <p:nvSpPr>
          <p:cNvPr id="7" name="Text Placeholder 6"/>
          <p:cNvSpPr>
            <a:spLocks noGrp="1"/>
          </p:cNvSpPr>
          <p:nvPr>
            <p:ph type="body" idx="4"/>
          </p:nvPr>
        </p:nvSpPr>
        <p:spPr/>
        <p:txBody>
          <a:bodyPr wrap="square"/>
          <a:lstStyle/>
          <a:p>
            <a:r>
              <a:t>The differentiator</a:t>
            </a:r>
          </a:p>
          <a:p>
            <a:r>
              <a:t>Vision models read product imagery</a:t>
            </a:r>
          </a:p>
          <a:p>
            <a:r>
              <a:t>Two images on every SKU already</a:t>
            </a:r>
          </a:p>
          <a:p>
            <a:r>
              <a:t>Image cycler tests already name a winning shot type per category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AI readiness (cont.)</a:t>
            </a:r>
          </a:p>
        </p:txBody>
      </p:sp>
      <p:sp>
        <p:nvSpPr>
          <p:cNvPr id="4" name="Text Placeholder 3"/>
          <p:cNvSpPr>
            <a:spLocks noGrp="1"/>
          </p:cNvSpPr>
          <p:nvPr>
            <p:ph type="body" idx="1"/>
          </p:nvPr>
        </p:nvSpPr>
        <p:spPr/>
        <p:txBody>
          <a:bodyPr wrap="square"/>
          <a:lstStyle/>
          <a:p>
            <a:r>
              <a:t>The foundation is genuinely done</a:t>
            </a:r>
          </a:p>
        </p:txBody>
      </p:sp>
      <p:sp>
        <p:nvSpPr>
          <p:cNvPr id="5" name="Text Placeholder 4"/>
          <p:cNvSpPr>
            <a:spLocks noGrp="1"/>
          </p:cNvSpPr>
          <p:nvPr>
            <p:ph type="body" idx="2"/>
          </p:nvPr>
        </p:nvSpPr>
        <p:spPr/>
        <p:txBody>
          <a:bodyPr wrap="square"/>
          <a:lstStyle/>
          <a:p>
            <a:r>
              <a:t>Tier 1 is not a claim, it is a measurement: 100% of titles rewritten, 100% category coverage at 3–4 levels, colour, size, gender, age group, GTIN, MPN and item group all complete, two images on 99.98% of products.</a:t>
            </a:r>
          </a:p>
          <a:p>
            <a:r>
              <a:t>Local Inventory Ads fields are already in the UK feed — pickup method and next-day SLA went live in April. The plumbing for the next tier is in place.</a:t>
            </a:r>
          </a:p>
        </p:txBody>
      </p:sp>
      <p:sp>
        <p:nvSpPr>
          <p:cNvPr id="6" name="Text Placeholder 5"/>
          <p:cNvSpPr>
            <a:spLocks noGrp="1"/>
          </p:cNvSpPr>
          <p:nvPr>
            <p:ph type="body" idx="3"/>
          </p:nvPr>
        </p:nvSpPr>
        <p:spPr/>
        <p:txBody>
          <a:bodyPr wrap="square"/>
          <a:lstStyle/>
          <a:p>
            <a:r>
              <a:t>And the ceiling is real</a:t>
            </a:r>
          </a:p>
        </p:txBody>
      </p:sp>
      <p:sp>
        <p:nvSpPr>
          <p:cNvPr id="7" name="Text Placeholder 6"/>
          <p:cNvSpPr>
            <a:spLocks noGrp="1"/>
          </p:cNvSpPr>
          <p:nvPr>
            <p:ph type="body" idx="4"/>
          </p:nvPr>
        </p:nvSpPr>
        <p:spPr/>
        <p:txBody>
          <a:bodyPr wrap="square"/>
          <a:lstStyle/>
          <a:p>
            <a:r>
              <a:t>question_and_answer, document_link, related_product, item_group_title, variant_option and popularity_rank are the only fields in Google's spec whose stated purpose is AI comprehension. Superdry carries zero of six, confirmed from the schema of every market's feed.</a:t>
            </a:r>
          </a:p>
          <a:p>
            <a:r>
              <a:t>Two of the six — item_group_title and variant_option — need no new content at all. They restructure the 5,725 variant families and the colour and size data already in the feed.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Why this matters for an outerwear retailer specifically. A shopper asking an assistant for "a warm waterproof parka under £150 that runs true to size" is asking about fill, rating, fit and cut. Superdry's descriptions contain those answers today — 550 characters of them per product. What is missing is the structure that lets an assistant quote them instead of guessing, and the 58% of demand terms that never reach a title.</a:t>
            </a:r>
          </a:p>
        </p:txBody>
      </p:sp>
      <p:sp>
        <p:nvSpPr>
          <p:cNvPr id="3" name="Text Placeholder 2"/>
          <p:cNvSpPr>
            <a:spLocks noGrp="1"/>
          </p:cNvSpPr>
          <p:nvPr>
            <p:ph type="body" idx="11"/>
          </p:nvPr>
        </p:nvSpPr>
        <p:spPr/>
        <p:txBody>
          <a:bodyPr wrap="square"/>
          <a:lstStyle/>
          <a:p>
            <a:r>
              <a:t>AI readiness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nine</a:t>
            </a:r>
          </a:p>
        </p:txBody>
      </p:sp>
      <p:sp>
        <p:nvSpPr>
          <p:cNvPr id="3" name="Title 2"/>
          <p:cNvSpPr>
            <a:spLocks noGrp="1"/>
          </p:cNvSpPr>
          <p:nvPr>
            <p:ph type="title"/>
          </p:nvPr>
        </p:nvSpPr>
        <p:spPr/>
        <p:txBody>
          <a:bodyPr wrap="square"/>
          <a:lstStyle/>
          <a:p>
            <a:r>
              <a:rPr sz="4220"/>
              <a:t>What it costs against what it returns</a:t>
            </a:r>
          </a:p>
        </p:txBody>
      </p:sp>
      <p:sp>
        <p:nvSpPr>
          <p:cNvPr id="4" name="Text Placeholder 3"/>
          <p:cNvSpPr>
            <a:spLocks noGrp="1"/>
          </p:cNvSpPr>
          <p:nvPr>
            <p:ph type="body" idx="1"/>
          </p:nvPr>
        </p:nvSpPr>
        <p:spPr/>
        <p:txBody>
          <a:bodyPr wrap="square"/>
          <a:lstStyle/>
          <a:p>
            <a:r>
              <a:t>Forty-two hours a month are contracted. Eighty-five were delivered. The feeds those hours maintain returned £16.2m in the UK alone.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it costs against what it returns</a:t>
            </a:r>
          </a:p>
        </p:txBody>
      </p:sp>
      <p:sp>
        <p:nvSpPr>
          <p:cNvPr id="4" name="Text Placeholder 3"/>
          <p:cNvSpPr>
            <a:spLocks noGrp="1"/>
          </p:cNvSpPr>
          <p:nvPr>
            <p:ph type="body" idx="1"/>
          </p:nvPr>
        </p:nvSpPr>
        <p:spPr/>
        <p:txBody>
          <a:bodyPr wrap="square"/>
          <a:lstStyle/>
          <a:p>
            <a:r>
              <a:t>42</a:t>
            </a:r>
          </a:p>
        </p:txBody>
      </p:sp>
      <p:sp>
        <p:nvSpPr>
          <p:cNvPr id="5" name="Text Placeholder 4"/>
          <p:cNvSpPr>
            <a:spLocks noGrp="1"/>
          </p:cNvSpPr>
          <p:nvPr>
            <p:ph type="body" idx="2"/>
          </p:nvPr>
        </p:nvSpPr>
        <p:spPr/>
        <p:txBody>
          <a:bodyPr wrap="square"/>
          <a:lstStyle/>
          <a:p>
            <a:r>
              <a:t>Hours a month contracted</a:t>
            </a:r>
          </a:p>
        </p:txBody>
      </p:sp>
      <p:sp>
        <p:nvSpPr>
          <p:cNvPr id="6" name="Text Placeholder 5"/>
          <p:cNvSpPr>
            <a:spLocks noGrp="1"/>
          </p:cNvSpPr>
          <p:nvPr>
            <p:ph type="body" idx="3"/>
          </p:nvPr>
        </p:nvSpPr>
        <p:spPr/>
        <p:txBody>
          <a:bodyPr wrap="square"/>
          <a:lstStyle/>
          <a:p>
            <a:r>
              <a:t>84.9</a:t>
            </a:r>
          </a:p>
        </p:txBody>
      </p:sp>
      <p:sp>
        <p:nvSpPr>
          <p:cNvPr id="7" name="Text Placeholder 6"/>
          <p:cNvSpPr>
            <a:spLocks noGrp="1"/>
          </p:cNvSpPr>
          <p:nvPr>
            <p:ph type="body" idx="4"/>
          </p:nvPr>
        </p:nvSpPr>
        <p:spPr/>
        <p:txBody>
          <a:bodyPr wrap="square"/>
          <a:lstStyle/>
          <a:p>
            <a:r>
              <a:t>Hours a month delivered, 24-month average</a:t>
            </a:r>
          </a:p>
        </p:txBody>
      </p:sp>
      <p:sp>
        <p:nvSpPr>
          <p:cNvPr id="8" name="Text Placeholder 7"/>
          <p:cNvSpPr>
            <a:spLocks noGrp="1"/>
          </p:cNvSpPr>
          <p:nvPr>
            <p:ph type="body" idx="5"/>
          </p:nvPr>
        </p:nvSpPr>
        <p:spPr/>
        <p:txBody>
          <a:bodyPr wrap="square"/>
          <a:lstStyle/>
          <a:p>
            <a:r>
              <a:t>648</a:t>
            </a:r>
          </a:p>
        </p:txBody>
      </p:sp>
      <p:sp>
        <p:nvSpPr>
          <p:cNvPr id="9" name="Text Placeholder 8"/>
          <p:cNvSpPr>
            <a:spLocks noGrp="1"/>
          </p:cNvSpPr>
          <p:nvPr>
            <p:ph type="body" idx="6"/>
          </p:nvPr>
        </p:nvSpPr>
        <p:spPr/>
        <p:txBody>
          <a:bodyPr wrap="square"/>
          <a:lstStyle/>
          <a:p>
            <a:r>
              <a:t>Hours absorbed in two years</a:t>
            </a:r>
          </a:p>
        </p:txBody>
      </p:sp>
      <p:sp>
        <p:nvSpPr>
          <p:cNvPr id="10" name="Text Placeholder 9"/>
          <p:cNvSpPr>
            <a:spLocks noGrp="1"/>
          </p:cNvSpPr>
          <p:nvPr>
            <p:ph type="body" idx="7"/>
          </p:nvPr>
        </p:nvSpPr>
        <p:spPr/>
        <p:txBody>
          <a:bodyPr wrap="square"/>
          <a:lstStyle/>
          <a:p>
            <a:r>
              <a:t>12</a:t>
            </a:r>
          </a:p>
        </p:txBody>
      </p:sp>
      <p:sp>
        <p:nvSpPr>
          <p:cNvPr id="11" name="Text Placeholder 10"/>
          <p:cNvSpPr>
            <a:spLocks noGrp="1"/>
          </p:cNvSpPr>
          <p:nvPr>
            <p:ph type="body" idx="8"/>
          </p:nvPr>
        </p:nvSpPr>
        <p:spPr/>
        <p:txBody>
          <a:bodyPr wrap="square"/>
          <a:lstStyle/>
          <a:p>
            <a:r>
              <a:t>Markets served with no retainer</a:t>
            </a:r>
          </a:p>
        </p:txBody>
      </p:sp>
      <p:sp>
        <p:nvSpPr>
          <p:cNvPr id="12" name="Text Placeholder 11"/>
          <p:cNvSpPr>
            <a:spLocks noGrp="1"/>
          </p:cNvSpPr>
          <p:nvPr>
            <p:ph type="body" idx="9"/>
          </p:nvPr>
        </p:nvSpPr>
        <p:spPr/>
        <p:txBody>
          <a:bodyPr wrap="square"/>
          <a:lstStyle/>
          <a:p>
            <a:r>
              <a:t>16</a:t>
            </a:r>
          </a:p>
        </p:txBody>
      </p:sp>
      <p:sp>
        <p:nvSpPr>
          <p:cNvPr id="13" name="Text Placeholder 12"/>
          <p:cNvSpPr>
            <a:spLocks noGrp="1"/>
          </p:cNvSpPr>
          <p:nvPr>
            <p:ph type="body" idx="10"/>
          </p:nvPr>
        </p:nvSpPr>
        <p:spPr/>
        <p:txBody>
          <a:bodyPr wrap="square"/>
          <a:lstStyle/>
          <a:p>
            <a:r>
              <a:t>Of 19 markets now in hours deficit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What it costs against what it returns (cont.)</a:t>
            </a:r>
          </a:p>
        </p:txBody>
      </p:sp>
      <p:sp>
        <p:nvSpPr>
          <p:cNvPr id="4" name="Text Placeholder 3"/>
          <p:cNvSpPr>
            <a:spLocks noGrp="1"/>
          </p:cNvSpPr>
          <p:nvPr>
            <p:ph type="body" idx="1"/>
          </p:nvPr>
        </p:nvSpPr>
        <p:spPr/>
        <p:txBody>
          <a:bodyPr wrap="square"/>
          <a:lstStyle/>
          <a:p>
            <a:r>
              <a:t>The proportion, stated plainly</a:t>
            </a:r>
          </a:p>
        </p:txBody>
      </p:sp>
      <p:sp>
        <p:nvSpPr>
          <p:cNvPr id="5" name="Text Placeholder 4"/>
          <p:cNvSpPr>
            <a:spLocks noGrp="1"/>
          </p:cNvSpPr>
          <p:nvPr>
            <p:ph type="body" idx="2"/>
          </p:nvPr>
        </p:nvSpPr>
        <p:spPr/>
        <p:txBody>
          <a:bodyPr wrap="square"/>
          <a:lstStyle/>
          <a:p>
            <a:r>
              <a:rPr sz="1410"/>
              <a:t>Over the last twelve months the UK feed served 591.6 million impressions and returned £16.18m on £1.68m of media. The UK retainer over the same period was 192 hours.</a:t>
            </a:r>
          </a:p>
          <a:p>
            <a:r>
              <a:rPr sz="1410"/>
              <a:t>Across all four reporting markets: 920.8 million impressions, 10.9 million clicks and 334,866 conversions — from 42 contracted hours a month across nineteen markets.</a:t>
            </a:r>
          </a:p>
          <a:p>
            <a:r>
              <a:rPr sz="1410"/>
              <a:t>Feed management is the least expensive line in a Shopping programme and the one every other line depends on. When a title is wrong, the bid does not matter.</a:t>
            </a:r>
          </a:p>
        </p:txBody>
      </p:sp>
      <p:sp>
        <p:nvSpPr>
          <p:cNvPr id="6" name="Text Placeholder 5"/>
          <p:cNvSpPr>
            <a:spLocks noGrp="1"/>
          </p:cNvSpPr>
          <p:nvPr>
            <p:ph type="body" idx="3"/>
          </p:nvPr>
        </p:nvSpPr>
        <p:spPr/>
        <p:txBody>
          <a:bodyPr wrap="square"/>
          <a:lstStyle/>
          <a:p>
            <a:r>
              <a:t>Where the account actually sits</a:t>
            </a:r>
          </a:p>
        </p:txBody>
      </p:sp>
      <p:sp>
        <p:nvSpPr>
          <p:cNvPr id="7" name="Text Placeholder 6"/>
          <p:cNvSpPr>
            <a:spLocks noGrp="1"/>
          </p:cNvSpPr>
          <p:nvPr>
            <p:ph type="body" idx="4"/>
          </p:nvPr>
        </p:nvSpPr>
        <p:spPr/>
        <p:txBody>
          <a:bodyPr wrap="square"/>
          <a:lstStyle/>
          <a:p>
            <a:r>
              <a:rPr sz="1410"/>
              <a:t>The UK carries a −97.75 hour balance: 45.25 hours used against a 16-hour block this cycle, on top of 68.5 carried forward. Sixteen of nineteen markets are in deficit.</a:t>
            </a:r>
          </a:p>
          <a:p>
            <a:r>
              <a:rPr sz="1410"/>
              <a:t>That has been a deliberate choice, taken to keep nineteen markets whole through an SFCC migration, a platform move and four peaks. It is not sustainable as a permanent arrangement and this review is the moment to say so.</a:t>
            </a:r>
          </a:p>
          <a:p>
            <a:r>
              <a:rPr sz="1410"/>
              <a:t>The honest position: the work delivered is roughly double the work contracted, and the parts that were never funded — descriptions, highlights outside English, the European keyword layer — are exactly the parts the next two years of search will reward.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What the unpaid markets have cost. Twelve markets with no retainer have taken 388 hours since 2022 — imports monitored, 1,000 rules maintained, disapprovals cleared, two migrations carried through. Whatever shape a renewal takes, those twelve either need an allowance or need to come off the service. Keeping them unfunded is the only part of this arrangement nobody has ever agreed to.</a:t>
            </a:r>
          </a:p>
        </p:txBody>
      </p:sp>
      <p:sp>
        <p:nvSpPr>
          <p:cNvPr id="3" name="Text Placeholder 2"/>
          <p:cNvSpPr>
            <a:spLocks noGrp="1"/>
          </p:cNvSpPr>
          <p:nvPr>
            <p:ph type="body" idx="11"/>
          </p:nvPr>
        </p:nvSpPr>
        <p:spPr/>
        <p:txBody>
          <a:bodyPr wrap="square"/>
          <a:lstStyle/>
          <a:p>
            <a:r>
              <a:t>What it costs against what it returns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ten</a:t>
            </a:r>
          </a:p>
        </p:txBody>
      </p:sp>
      <p:sp>
        <p:nvSpPr>
          <p:cNvPr id="3" name="Title 2"/>
          <p:cNvSpPr>
            <a:spLocks noGrp="1"/>
          </p:cNvSpPr>
          <p:nvPr>
            <p:ph type="title"/>
          </p:nvPr>
        </p:nvSpPr>
        <p:spPr/>
        <p:txBody>
          <a:bodyPr wrap="square"/>
          <a:lstStyle/>
          <a:p>
            <a:r>
              <a:t>Roadmap</a:t>
            </a:r>
          </a:p>
        </p:txBody>
      </p:sp>
      <p:sp>
        <p:nvSpPr>
          <p:cNvPr id="4" name="Text Placeholder 3"/>
          <p:cNvSpPr>
            <a:spLocks noGrp="1"/>
          </p:cNvSpPr>
          <p:nvPr>
            <p:ph type="body" idx="1"/>
          </p:nvPr>
        </p:nvSpPr>
        <p:spPr/>
        <p:txBody>
          <a:bodyPr wrap="square"/>
          <a:lstStyle/>
          <a:p>
            <a:r>
              <a:t>Six pieces of work. Two need nothing from Superdry, three need a decision, one needs data.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t>Protect what is running</a:t>
            </a:r>
          </a:p>
        </p:txBody>
      </p:sp>
      <p:sp>
        <p:nvSpPr>
          <p:cNvPr id="6" name="Text Placeholder 5"/>
          <p:cNvSpPr>
            <a:spLocks noGrp="1"/>
          </p:cNvSpPr>
          <p:nvPr>
            <p:ph type="body" idx="3"/>
          </p:nvPr>
        </p:nvSpPr>
        <p:spPr/>
        <p:txBody>
          <a:bodyPr wrap="square"/>
          <a:lstStyle/>
          <a:p>
            <a:r>
              <a:rPr sz="1140"/>
              <a:t>Oct 2026</a:t>
            </a:r>
          </a:p>
          <a:p>
            <a:r>
              <a:rPr sz="1140"/>
              <a:t>Custom alerts — nineteen markets, none configured</a:t>
            </a:r>
          </a:p>
          <a:p>
            <a:r>
              <a:rPr sz="1140"/>
              <a:t>Range-completion exclusion — open since spring</a:t>
            </a:r>
          </a:p>
          <a:p>
            <a:r>
              <a:rPr sz="1140"/>
              <a:t>Stock-unit exclusion under 5 units</a:t>
            </a:r>
          </a:p>
          <a:p>
            <a:r>
              <a:rPr sz="1140"/>
              <a:t>Peak keyword batch — the 10,000-product pass that returned +48%</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t>No architecture changes</a:t>
            </a:r>
          </a:p>
        </p:txBody>
      </p:sp>
      <p:sp>
        <p:nvSpPr>
          <p:cNvPr id="9" name="Text Placeholder 8"/>
          <p:cNvSpPr>
            <a:spLocks noGrp="1"/>
          </p:cNvSpPr>
          <p:nvPr>
            <p:ph type="body" idx="6"/>
          </p:nvPr>
        </p:nvSpPr>
        <p:spPr/>
        <p:txBody>
          <a:bodyPr wrap="square"/>
          <a:lstStyle/>
          <a:p>
            <a:r>
              <a:t>Nov – Dec 2026</a:t>
            </a:r>
          </a:p>
          <a:p>
            <a:r>
              <a:t>Black Friday batches repeated at scale</a:t>
            </a:r>
          </a:p>
          <a:p>
            <a:r>
              <a:t>Disapproval sweeps across 53 feeds</a:t>
            </a:r>
          </a:p>
          <a:p>
            <a:r>
              <a:t>Overlay and cycler on the winning shot types</a:t>
            </a:r>
          </a:p>
          <a:p>
            <a:r>
              <a:t>Nothing structural moves until January</a:t>
            </a:r>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t>Close the content layer</a:t>
            </a:r>
          </a:p>
        </p:txBody>
      </p:sp>
      <p:sp>
        <p:nvSpPr>
          <p:cNvPr id="12" name="Text Placeholder 11"/>
          <p:cNvSpPr>
            <a:spLocks noGrp="1"/>
          </p:cNvSpPr>
          <p:nvPr>
            <p:ph type="body" idx="9"/>
          </p:nvPr>
        </p:nvSpPr>
        <p:spPr/>
        <p:txBody>
          <a:bodyPr wrap="square"/>
          <a:lstStyle/>
          <a:p>
            <a:r>
              <a:rPr sz="1320"/>
              <a:t>Jan – Mar 2027</a:t>
            </a:r>
          </a:p>
          <a:p>
            <a:r>
              <a:rPr sz="1320"/>
              <a:t>Highlights to the 18,143 UK products with none</a:t>
            </a:r>
          </a:p>
          <a:p>
            <a:r>
              <a:rPr sz="1320"/>
              <a:t>German and French keyword layer</a:t>
            </a:r>
          </a:p>
          <a:p>
            <a:r>
              <a:rPr sz="1320"/>
              <a:t>Two conversational attributes — no new content needed</a:t>
            </a:r>
          </a:p>
          <a:p>
            <a:r>
              <a:rPr sz="1320"/>
              <a:t>Title test with a control, at last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(cont.)</a:t>
            </a:r>
          </a:p>
        </p:txBody>
      </p:sp>
      <p:graphicFrame>
        <p:nvGraphicFramePr>
          <p:cNvPr id="5" name="Table 4"/>
          <p:cNvGraphicFramePr>
            <a:graphicFrameLocks noGrp="1"/>
          </p:cNvGraphicFramePr>
          <p:nvPr/>
        </p:nvGraphicFramePr>
        <p:xfrm>
          <a:off x="612648" y="1389888"/>
          <a:ext cx="10972798" cy="4251960"/>
        </p:xfrm>
        <a:graphic>
          <a:graphicData uri="http://schemas.openxmlformats.org/drawingml/2006/table">
            <a:tbl>
              <a:tblPr firstRow="1" bandRow="1">
                <a:tableStyleId>{5C22544A-7EE6-4342-B048-85BDC9FD1C3A}</a:tableStyleId>
              </a:tblPr>
              <a:tblGrid>
                <a:gridCol w="767925"/>
                <a:gridCol w="2525621"/>
                <a:gridCol w="6143402"/>
                <a:gridCol w="767925"/>
                <a:gridCol w="767925"/>
              </a:tblGrid>
              <a:tr h="384048">
                <a:tc>
                  <a:txBody>
                    <a:bodyPr/>
                    <a:lstStyle/>
                    <a:p>
                      <a:r>
                        <a:rPr sz="1300" b="1">
                          <a:solidFill>
                            <a:srgbClr val="FFFFFF"/>
                          </a:solidFill>
                        </a:rPr>
                        <a:t>#</a:t>
                      </a:r>
                    </a:p>
                  </a:txBody>
                  <a:tcPr/>
                </a:tc>
                <a:tc>
                  <a:txBody>
                    <a:bodyPr/>
                    <a:lstStyle/>
                    <a:p>
                      <a:r>
                        <a:rPr sz="1300" b="1">
                          <a:solidFill>
                            <a:srgbClr val="FFFFFF"/>
                          </a:solidFill>
                        </a:rPr>
                        <a:t>Workstream</a:t>
                      </a:r>
                    </a:p>
                  </a:txBody>
                  <a:tcPr/>
                </a:tc>
                <a:tc>
                  <a:txBody>
                    <a:bodyPr/>
                    <a:lstStyle/>
                    <a:p>
                      <a:r>
                        <a:rPr sz="1300" b="1">
                          <a:solidFill>
                            <a:srgbClr val="FFFFFF"/>
                          </a:solidFill>
                        </a:rPr>
                        <a:t>What it needs</a:t>
                      </a:r>
                    </a:p>
                  </a:txBody>
                  <a:tcPr/>
                </a:tc>
                <a:tc>
                  <a:txBody>
                    <a:bodyPr/>
                    <a:lstStyle/>
                    <a:p>
                      <a:r>
                        <a:rPr sz="1300" b="1">
                          <a:solidFill>
                            <a:srgbClr val="FFFFFF"/>
                          </a:solidFill>
                        </a:rPr>
                        <a:t>Needs</a:t>
                      </a:r>
                    </a:p>
                  </a:txBody>
                  <a:tcPr/>
                </a:tc>
                <a:tc>
                  <a:txBody>
                    <a:bodyPr/>
                    <a:lstStyle/>
                    <a:p>
                      <a:r>
                        <a:rPr sz="1300" b="1">
                          <a:solidFill>
                            <a:srgbClr val="FFFFFF"/>
                          </a:solidFill>
                        </a:rPr>
                        <a:t>Priority</a:t>
                      </a:r>
                    </a:p>
                  </a:txBody>
                  <a:tcPr/>
                </a:tc>
              </a:tr>
              <a:tr h="483489">
                <a:tc>
                  <a:txBody>
                    <a:bodyPr/>
                    <a:lstStyle/>
                    <a:p>
                      <a:r>
                        <a:rPr sz="1100"/>
                        <a:t>W1</a:t>
                      </a:r>
                    </a:p>
                  </a:txBody>
                  <a:tcPr/>
                </a:tc>
                <a:tc>
                  <a:txBody>
                    <a:bodyPr/>
                    <a:lstStyle/>
                    <a:p>
                      <a:r>
                        <a:rPr sz="1100"/>
                        <a:t>Custom alerts across all markets</a:t>
                      </a:r>
                    </a:p>
                  </a:txBody>
                  <a:tcPr/>
                </a:tc>
                <a:tc>
                  <a:txBody>
                    <a:bodyPr/>
                    <a:lstStyle/>
                    <a:p>
                      <a:r>
                        <a:rPr sz="1100"/>
                        <a:t>Nothing external. Nineteen markets run with no monitoring rules configured — a drop in one market currently surfaces only when somebody looks</a:t>
                      </a:r>
                    </a:p>
                  </a:txBody>
                  <a:tcPr/>
                </a:tc>
                <a:tc>
                  <a:txBody>
                    <a:bodyPr/>
                    <a:lstStyle/>
                    <a:p>
                      <a:r>
                        <a:rPr sz="1100"/>
                        <a:t>FeedSpark</a:t>
                      </a:r>
                    </a:p>
                  </a:txBody>
                  <a:tcPr/>
                </a:tc>
                <a:tc>
                  <a:txBody>
                    <a:bodyPr/>
                    <a:lstStyle/>
                    <a:p>
                      <a:r>
                        <a:rPr sz="1100" b="1">
                          <a:solidFill>
                            <a:srgbClr val="2E7D32"/>
                          </a:solidFill>
                        </a:rPr>
                        <a:t>High</a:t>
                      </a:r>
                    </a:p>
                  </a:txBody>
                  <a:tcPr/>
                </a:tc>
              </a:tr>
              <a:tr h="483489">
                <a:tc>
                  <a:txBody>
                    <a:bodyPr/>
                    <a:lstStyle/>
                    <a:p>
                      <a:r>
                        <a:rPr sz="1100"/>
                        <a:t>W2</a:t>
                      </a:r>
                    </a:p>
                  </a:txBody>
                  <a:tcPr/>
                </a:tc>
                <a:tc>
                  <a:txBody>
                    <a:bodyPr/>
                    <a:lstStyle/>
                    <a:p>
                      <a:r>
                        <a:rPr sz="1100"/>
                        <a:t>Product highlights, English markets</a:t>
                      </a:r>
                    </a:p>
                  </a:txBody>
                  <a:tcPr/>
                </a:tc>
                <a:tc>
                  <a:txBody>
                    <a:bodyPr/>
                    <a:lstStyle/>
                    <a:p>
                      <a:r>
                        <a:rPr sz="1100"/>
                        <a:t>Nothing external. 18,143 UK products carry none; where highlights exist they already run to six per product</a:t>
                      </a:r>
                    </a:p>
                  </a:txBody>
                  <a:tcPr/>
                </a:tc>
                <a:tc>
                  <a:txBody>
                    <a:bodyPr/>
                    <a:lstStyle/>
                    <a:p>
                      <a:r>
                        <a:rPr sz="1100"/>
                        <a:t>FeedSpark</a:t>
                      </a:r>
                    </a:p>
                  </a:txBody>
                  <a:tcPr/>
                </a:tc>
                <a:tc>
                  <a:txBody>
                    <a:bodyPr/>
                    <a:lstStyle/>
                    <a:p>
                      <a:r>
                        <a:rPr sz="1100" b="1">
                          <a:solidFill>
                            <a:srgbClr val="2E7D32"/>
                          </a:solidFill>
                        </a:rPr>
                        <a:t>High</a:t>
                      </a:r>
                    </a:p>
                  </a:txBody>
                  <a:tcPr/>
                </a:tc>
              </a:tr>
              <a:tr h="483489">
                <a:tc>
                  <a:txBody>
                    <a:bodyPr/>
                    <a:lstStyle/>
                    <a:p>
                      <a:r>
                        <a:rPr sz="1100"/>
                        <a:t>W3</a:t>
                      </a:r>
                    </a:p>
                  </a:txBody>
                  <a:tcPr/>
                </a:tc>
                <a:tc>
                  <a:txBody>
                    <a:bodyPr/>
                    <a:lstStyle/>
                    <a:p>
                      <a:r>
                        <a:rPr sz="1100"/>
                        <a:t>Keyword layer for Germany and France</a:t>
                      </a:r>
                    </a:p>
                  </a:txBody>
                  <a:tcPr/>
                </a:tc>
                <a:tc>
                  <a:txBody>
                    <a:bodyPr/>
                    <a:lstStyle/>
                    <a:p>
                      <a:r>
                        <a:rPr sz="1100"/>
                        <a:t>Hours. Both markets have zero keyword coverage and Germany returns the highest ROAS on the account</a:t>
                      </a:r>
                    </a:p>
                  </a:txBody>
                  <a:tcPr/>
                </a:tc>
                <a:tc>
                  <a:txBody>
                    <a:bodyPr/>
                    <a:lstStyle/>
                    <a:p>
                      <a:r>
                        <a:rPr sz="1100"/>
                        <a:t>Decision</a:t>
                      </a:r>
                    </a:p>
                  </a:txBody>
                  <a:tcPr/>
                </a:tc>
                <a:tc>
                  <a:txBody>
                    <a:bodyPr/>
                    <a:lstStyle/>
                    <a:p>
                      <a:r>
                        <a:rPr sz="1100" b="1">
                          <a:solidFill>
                            <a:srgbClr val="2E7D32"/>
                          </a:solidFill>
                        </a:rPr>
                        <a:t>High</a:t>
                      </a:r>
                    </a:p>
                  </a:txBody>
                  <a:tcPr/>
                </a:tc>
              </a:tr>
              <a:tr h="483489">
                <a:tc>
                  <a:txBody>
                    <a:bodyPr/>
                    <a:lstStyle/>
                    <a:p>
                      <a:r>
                        <a:rPr sz="1100"/>
                        <a:t>W4</a:t>
                      </a:r>
                    </a:p>
                  </a:txBody>
                  <a:tcPr/>
                </a:tc>
                <a:tc>
                  <a:txBody>
                    <a:bodyPr/>
                    <a:lstStyle/>
                    <a:p>
                      <a:r>
                        <a:rPr sz="1100"/>
                        <a:t>Range-completion and stock exclusions</a:t>
                      </a:r>
                    </a:p>
                  </a:txBody>
                  <a:tcPr/>
                </a:tc>
                <a:tc>
                  <a:txBody>
                    <a:bodyPr/>
                    <a:lstStyle/>
                    <a:p>
                      <a:r>
                        <a:rPr sz="1100"/>
                        <a:t>Sign-off on the thresholds. Between 47% and 58% of each catalogue takes under 100 impressions a month</a:t>
                      </a:r>
                    </a:p>
                  </a:txBody>
                  <a:tcPr/>
                </a:tc>
                <a:tc>
                  <a:txBody>
                    <a:bodyPr/>
                    <a:lstStyle/>
                    <a:p>
                      <a:r>
                        <a:rPr sz="1100"/>
                        <a:t>Superdry</a:t>
                      </a:r>
                    </a:p>
                  </a:txBody>
                  <a:tcPr/>
                </a:tc>
                <a:tc>
                  <a:txBody>
                    <a:bodyPr/>
                    <a:lstStyle/>
                    <a:p>
                      <a:r>
                        <a:rPr sz="1100" b="1">
                          <a:solidFill>
                            <a:srgbClr val="2E7D32"/>
                          </a:solidFill>
                        </a:rPr>
                        <a:t>High</a:t>
                      </a:r>
                    </a:p>
                  </a:txBody>
                  <a:tcPr/>
                </a:tc>
              </a:tr>
              <a:tr h="483489">
                <a:tc>
                  <a:txBody>
                    <a:bodyPr/>
                    <a:lstStyle/>
                    <a:p>
                      <a:r>
                        <a:rPr sz="1100"/>
                        <a:t>W5</a:t>
                      </a:r>
                    </a:p>
                  </a:txBody>
                  <a:tcPr/>
                </a:tc>
                <a:tc>
                  <a:txBody>
                    <a:bodyPr/>
                    <a:lstStyle/>
                    <a:p>
                      <a:r>
                        <a:rPr sz="1100"/>
                        <a:t>A measured title test</a:t>
                      </a:r>
                    </a:p>
                  </a:txBody>
                  <a:tcPr/>
                </a:tc>
                <a:tc>
                  <a:txBody>
                    <a:bodyPr/>
                    <a:lstStyle/>
                    <a:p>
                      <a:r>
                        <a:rPr sz="1100"/>
                        <a:t>One batch and a control group. Five title tests have closed with no reading; the largest change ever made to this feed is still unquantified</a:t>
                      </a:r>
                    </a:p>
                  </a:txBody>
                  <a:tcPr/>
                </a:tc>
                <a:tc>
                  <a:txBody>
                    <a:bodyPr/>
                    <a:lstStyle/>
                    <a:p>
                      <a:r>
                        <a:rPr sz="1100"/>
                        <a:t>Decision</a:t>
                      </a:r>
                    </a:p>
                  </a:txBody>
                  <a:tcPr/>
                </a:tc>
                <a:tc>
                  <a:txBody>
                    <a:bodyPr/>
                    <a:lstStyle/>
                    <a:p>
                      <a:r>
                        <a:rPr sz="1100" b="1">
                          <a:solidFill>
                            <a:srgbClr val="ED6F0B"/>
                          </a:solidFill>
                        </a:rPr>
                        <a:t>Medium</a:t>
                      </a:r>
                    </a:p>
                  </a:txBody>
                  <a:tcPr/>
                </a:tc>
              </a:tr>
              <a:tr h="483489">
                <a:tc>
                  <a:txBody>
                    <a:bodyPr/>
                    <a:lstStyle/>
                    <a:p>
                      <a:r>
                        <a:rPr sz="1100"/>
                        <a:t>W6</a:t>
                      </a:r>
                    </a:p>
                  </a:txBody>
                  <a:tcPr/>
                </a:tc>
                <a:tc>
                  <a:txBody>
                    <a:bodyPr/>
                    <a:lstStyle/>
                    <a:p>
                      <a:r>
                        <a:rPr sz="1100"/>
                        <a:t>First two conversational attributes</a:t>
                      </a:r>
                    </a:p>
                  </a:txBody>
                  <a:tcPr/>
                </a:tc>
                <a:tc>
                  <a:txBody>
                    <a:bodyPr/>
                    <a:lstStyle/>
                    <a:p>
                      <a:r>
                        <a:rPr sz="1100"/>
                        <a:t>Configuration only — item_group_title and variant_option restructure data already in the feed across 5,725 variant families</a:t>
                      </a:r>
                    </a:p>
                  </a:txBody>
                  <a:tcPr/>
                </a:tc>
                <a:tc>
                  <a:txBody>
                    <a:bodyPr/>
                    <a:lstStyle/>
                    <a:p>
                      <a:r>
                        <a:rPr sz="1100"/>
                        <a:t>FeedSpark</a:t>
                      </a:r>
                    </a:p>
                  </a:txBody>
                  <a:tcPr/>
                </a:tc>
                <a:tc>
                  <a:txBody>
                    <a:bodyPr/>
                    <a:lstStyle/>
                    <a:p>
                      <a:r>
                        <a:rPr sz="1100" b="1">
                          <a:solidFill>
                            <a:srgbClr val="ED6F0B"/>
                          </a:solidFill>
                        </a:rPr>
                        <a:t>Medium</a:t>
                      </a:r>
                    </a:p>
                  </a:txBody>
                  <a:tcPr/>
                </a:tc>
              </a:tr>
              <a:tr h="483489">
                <a:tc>
                  <a:txBody>
                    <a:bodyPr/>
                    <a:lstStyle/>
                    <a:p>
                      <a:r>
                        <a:rPr sz="1100"/>
                        <a:t>W7</a:t>
                      </a:r>
                    </a:p>
                  </a:txBody>
                  <a:tcPr/>
                </a:tc>
                <a:tc>
                  <a:txBody>
                    <a:bodyPr/>
                    <a:lstStyle/>
                    <a:p>
                      <a:r>
                        <a:rPr sz="1100"/>
                        <a:t>The twelve unfunded markets</a:t>
                      </a:r>
                    </a:p>
                  </a:txBody>
                  <a:tcPr/>
                </a:tc>
                <a:tc>
                  <a:txBody>
                    <a:bodyPr/>
                    <a:lstStyle/>
                    <a:p>
                      <a:r>
                        <a:rPr sz="1100"/>
                        <a:t>A commercial decision: an allowance, or a reduced scope. 388 hours delivered against no retainer since 2022</a:t>
                      </a:r>
                    </a:p>
                  </a:txBody>
                  <a:tcPr/>
                </a:tc>
                <a:tc>
                  <a:txBody>
                    <a:bodyPr/>
                    <a:lstStyle/>
                    <a:p>
                      <a:r>
                        <a:rPr sz="1100"/>
                        <a:t>Superdry</a:t>
                      </a:r>
                    </a:p>
                  </a:txBody>
                  <a:tcPr/>
                </a:tc>
                <a:tc>
                  <a:txBody>
                    <a:bodyPr/>
                    <a:lstStyle/>
                    <a:p>
                      <a:r>
                        <a:rPr sz="1100" b="1">
                          <a:solidFill>
                            <a:srgbClr val="ED6F0B"/>
                          </a:solidFill>
                        </a:rPr>
                        <a:t>Medium</a:t>
                      </a:r>
                    </a:p>
                  </a:txBody>
                  <a:tcPr/>
                </a:tc>
              </a:tr>
              <a:tr h="483489">
                <a:tc>
                  <a:txBody>
                    <a:bodyPr/>
                    <a:lstStyle/>
                    <a:p>
                      <a:r>
                        <a:rPr sz="1100"/>
                        <a:t>W8</a:t>
                      </a:r>
                    </a:p>
                  </a:txBody>
                  <a:tcPr/>
                </a:tc>
                <a:tc>
                  <a:txBody>
                    <a:bodyPr/>
                    <a:lstStyle/>
                    <a:p>
                      <a:r>
                        <a:rPr sz="1100"/>
                        <a:t>Margin and return-rate data</a:t>
                      </a:r>
                    </a:p>
                  </a:txBody>
                  <a:tcPr/>
                </a:tc>
                <a:tc>
                  <a:txBody>
                    <a:bodyPr/>
                    <a:lstStyle/>
                    <a:p>
                      <a:r>
                        <a:rPr sz="1100"/>
                        <a:t>Superdry to supply both, plus Analytics access. Margin unlocks profit-weighted bidding; return rate unlocks exclusion of the lines that cost money to win</a:t>
                      </a:r>
                    </a:p>
                  </a:txBody>
                  <a:tcPr/>
                </a:tc>
                <a:tc>
                  <a:txBody>
                    <a:bodyPr/>
                    <a:lstStyle/>
                    <a:p>
                      <a:r>
                        <a:rPr sz="1100"/>
                        <a:t>Superdry</a:t>
                      </a:r>
                    </a:p>
                  </a:txBody>
                  <a:tcPr/>
                </a:tc>
                <a:tc>
                  <a:txBody>
                    <a:bodyPr/>
                    <a:lstStyle/>
                    <a:p>
                      <a:r>
                        <a:rPr sz="1100" b="1">
                          <a:solidFill>
                            <a:srgbClr val="767676"/>
                          </a:solidFill>
                        </a:rPr>
                        <a:t>Low</a:t>
                      </a:r>
                    </a:p>
                  </a:txBody>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Roadmap (cont.)</a:t>
            </a:r>
          </a:p>
        </p:txBody>
      </p:sp>
      <p:sp>
        <p:nvSpPr>
          <p:cNvPr id="4" name="Text Placeholder 3"/>
          <p:cNvSpPr>
            <a:spLocks noGrp="1"/>
          </p:cNvSpPr>
          <p:nvPr>
            <p:ph type="body" idx="1"/>
          </p:nvPr>
        </p:nvSpPr>
        <p:spPr/>
        <p:txBody>
          <a:bodyPr wrap="square"/>
          <a:lstStyle/>
          <a:p>
            <a:r>
              <a:t>Three things we need from Superdry</a:t>
            </a:r>
          </a:p>
        </p:txBody>
      </p:sp>
      <p:sp>
        <p:nvSpPr>
          <p:cNvPr id="5" name="Text Placeholder 4"/>
          <p:cNvSpPr>
            <a:spLocks noGrp="1"/>
          </p:cNvSpPr>
          <p:nvPr>
            <p:ph type="body" idx="2"/>
          </p:nvPr>
        </p:nvSpPr>
        <p:spPr/>
        <p:txBody>
          <a:bodyPr wrap="square"/>
          <a:lstStyle/>
          <a:p>
            <a:r>
              <a:rPr sz="1500"/>
              <a:t>1. Sign-off on the exclusion thresholds. Range completion and minimum stock units. Both have been scoped since spring and both address the half of the catalogue earning nothing.</a:t>
            </a:r>
          </a:p>
          <a:p>
            <a:r>
              <a:rPr sz="1500"/>
              <a:t>2. Margin and return-rate data, and Analytics access. Three asks that have sat open across several cycles. Each one turns a structural feed into a commercial one.</a:t>
            </a:r>
          </a:p>
          <a:p>
            <a:r>
              <a:rPr sz="1500"/>
              <a:t>3. A decision on the twelve unfunded markets. Either an allowance or a reduced scope — not a continuation of the current arrangement.</a:t>
            </a:r>
          </a:p>
        </p:txBody>
      </p:sp>
      <p:sp>
        <p:nvSpPr>
          <p:cNvPr id="6" name="Text Placeholder 5"/>
          <p:cNvSpPr>
            <a:spLocks noGrp="1"/>
          </p:cNvSpPr>
          <p:nvPr>
            <p:ph type="body" idx="3"/>
          </p:nvPr>
        </p:nvSpPr>
        <p:spPr/>
        <p:txBody>
          <a:bodyPr wrap="square"/>
          <a:lstStyle/>
          <a:p>
            <a:r>
              <a:t>Sequencing logic</a:t>
            </a:r>
          </a:p>
        </p:txBody>
      </p:sp>
      <p:sp>
        <p:nvSpPr>
          <p:cNvPr id="7" name="Text Placeholder 6"/>
          <p:cNvSpPr>
            <a:spLocks noGrp="1"/>
          </p:cNvSpPr>
          <p:nvPr>
            <p:ph type="body" idx="4"/>
          </p:nvPr>
        </p:nvSpPr>
        <p:spPr/>
        <p:txBody>
          <a:bodyPr wrap="square"/>
          <a:lstStyle/>
          <a:p>
            <a:r>
              <a:t>W1 and W2 come first because neither is blocked on anybody, and both protect Peak rather than change it. W4 needs one conversation. Everything structural lands before November.</a:t>
            </a:r>
          </a:p>
          <a:p>
            <a:r>
              <a:t>W3, W5 and W6 sit in January deliberately. The German and French keyword layer is the largest unexploited return on this account, and it should be built and measured in a quiet quarter, not in Peak.</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eleven</a:t>
            </a:r>
          </a:p>
        </p:txBody>
      </p:sp>
      <p:sp>
        <p:nvSpPr>
          <p:cNvPr id="3" name="Title 2"/>
          <p:cNvSpPr>
            <a:spLocks noGrp="1"/>
          </p:cNvSpPr>
          <p:nvPr>
            <p:ph type="title"/>
          </p:nvPr>
        </p:nvSpPr>
        <p:spPr/>
        <p:txBody>
          <a:bodyPr wrap="square"/>
          <a:lstStyle/>
          <a:p>
            <a:r>
              <a:t>Ways of working</a:t>
            </a:r>
          </a:p>
        </p:txBody>
      </p:sp>
      <p:sp>
        <p:nvSpPr>
          <p:cNvPr id="4" name="Text Placeholder 3"/>
          <p:cNvSpPr>
            <a:spLocks noGrp="1"/>
          </p:cNvSpPr>
          <p:nvPr>
            <p:ph type="body" idx="1"/>
          </p:nvPr>
        </p:nvSpPr>
        <p:spPr/>
        <p:txBody>
          <a:bodyPr wrap="square"/>
          <a:lstStyle/>
          <a:p>
            <a:r>
              <a:t>Forty-six people have worked on this account. Four carry it day to day.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Ways of working</a:t>
            </a:r>
          </a:p>
        </p:txBody>
      </p:sp>
      <p:sp>
        <p:nvSpPr>
          <p:cNvPr id="4" name="Text Placeholder 3"/>
          <p:cNvSpPr>
            <a:spLocks noGrp="1"/>
          </p:cNvSpPr>
          <p:nvPr>
            <p:ph type="body" idx="1"/>
          </p:nvPr>
        </p:nvSpPr>
        <p:spPr/>
        <p:txBody>
          <a:bodyPr wrap="square"/>
          <a:lstStyle/>
          <a:p>
            <a:r>
              <a:t>Brief</a:t>
            </a:r>
          </a:p>
        </p:txBody>
      </p:sp>
      <p:sp>
        <p:nvSpPr>
          <p:cNvPr id="5" name="Text Placeholder 4"/>
          <p:cNvSpPr>
            <a:spLocks noGrp="1"/>
          </p:cNvSpPr>
          <p:nvPr>
            <p:ph type="body" idx="2"/>
          </p:nvPr>
        </p:nvSpPr>
        <p:spPr/>
        <p:txBody>
          <a:bodyPr wrap="square"/>
          <a:lstStyle/>
          <a:p>
            <a:r>
              <a:t>Work is raised against a market and a category, with a scope, a due date and a definition of done.</a:t>
            </a:r>
          </a:p>
        </p:txBody>
      </p:sp>
      <p:sp>
        <p:nvSpPr>
          <p:cNvPr id="6" name="Text Placeholder 5"/>
          <p:cNvSpPr>
            <a:spLocks noGrp="1"/>
          </p:cNvSpPr>
          <p:nvPr>
            <p:ph type="body" idx="3"/>
          </p:nvPr>
        </p:nvSpPr>
        <p:spPr/>
        <p:txBody>
          <a:bodyPr wrap="square"/>
          <a:lstStyle/>
          <a:p>
            <a:r>
              <a:t>Build</a:t>
            </a:r>
          </a:p>
        </p:txBody>
      </p:sp>
      <p:sp>
        <p:nvSpPr>
          <p:cNvPr id="7" name="Text Placeholder 6"/>
          <p:cNvSpPr>
            <a:spLocks noGrp="1"/>
          </p:cNvSpPr>
          <p:nvPr>
            <p:ph type="body" idx="4"/>
          </p:nvPr>
        </p:nvSpPr>
        <p:spPr/>
        <p:txBody>
          <a:bodyPr wrap="square"/>
          <a:lstStyle/>
          <a:p>
            <a:r>
              <a:t>The optimisation team applies it as a rule, not an edit — so it keeps applying to every product that arrives after it.</a:t>
            </a:r>
          </a:p>
        </p:txBody>
      </p:sp>
      <p:sp>
        <p:nvSpPr>
          <p:cNvPr id="8" name="Text Placeholder 7"/>
          <p:cNvSpPr>
            <a:spLocks noGrp="1"/>
          </p:cNvSpPr>
          <p:nvPr>
            <p:ph type="body" idx="5"/>
          </p:nvPr>
        </p:nvSpPr>
        <p:spPr/>
        <p:txBody>
          <a:bodyPr wrap="square"/>
          <a:lstStyle/>
          <a:p>
            <a:r>
              <a:t>Measure</a:t>
            </a:r>
          </a:p>
        </p:txBody>
      </p:sp>
      <p:sp>
        <p:nvSpPr>
          <p:cNvPr id="9" name="Text Placeholder 8"/>
          <p:cNvSpPr>
            <a:spLocks noGrp="1"/>
          </p:cNvSpPr>
          <p:nvPr>
            <p:ph type="body" idx="6"/>
          </p:nvPr>
        </p:nvSpPr>
        <p:spPr/>
        <p:txBody>
          <a:bodyPr wrap="square"/>
          <a:lstStyle/>
          <a:p>
            <a:r>
              <a:t>Batches go live with a read-out date. Where a control group is possible, one is used.</a:t>
            </a:r>
          </a:p>
        </p:txBody>
      </p:sp>
      <p:sp>
        <p:nvSpPr>
          <p:cNvPr id="10" name="Text Placeholder 9"/>
          <p:cNvSpPr>
            <a:spLocks noGrp="1"/>
          </p:cNvSpPr>
          <p:nvPr>
            <p:ph type="body" idx="7"/>
          </p:nvPr>
        </p:nvSpPr>
        <p:spPr/>
        <p:txBody>
          <a:bodyPr wrap="square"/>
          <a:lstStyle/>
          <a:p>
            <a:r>
              <a:t>Report</a:t>
            </a:r>
          </a:p>
        </p:txBody>
      </p:sp>
      <p:sp>
        <p:nvSpPr>
          <p:cNvPr id="11" name="Text Placeholder 10"/>
          <p:cNvSpPr>
            <a:spLocks noGrp="1"/>
          </p:cNvSpPr>
          <p:nvPr>
            <p:ph type="body" idx="8"/>
          </p:nvPr>
        </p:nvSpPr>
        <p:spPr/>
        <p:txBody>
          <a:bodyPr wrap="square"/>
          <a:lstStyle/>
          <a:p>
            <a:r>
              <a:t>Results return to the archive this deck is built from — forty tests and counting.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Ways of working (cont.)</a:t>
            </a:r>
          </a:p>
        </p:txBody>
      </p:sp>
      <p:sp>
        <p:nvSpPr>
          <p:cNvPr id="4" name="Text Placeholder 3"/>
          <p:cNvSpPr>
            <a:spLocks noGrp="1"/>
          </p:cNvSpPr>
          <p:nvPr>
            <p:ph type="body" idx="1"/>
          </p:nvPr>
        </p:nvSpPr>
        <p:spPr/>
        <p:txBody>
          <a:bodyPr wrap="square"/>
          <a:lstStyle/>
          <a:p>
            <a:r>
              <a:t>The work that never appears as a win</a:t>
            </a:r>
          </a:p>
        </p:txBody>
      </p:sp>
      <p:sp>
        <p:nvSpPr>
          <p:cNvPr id="5" name="Text Placeholder 4"/>
          <p:cNvSpPr>
            <a:spLocks noGrp="1"/>
          </p:cNvSpPr>
          <p:nvPr>
            <p:ph type="body" idx="2"/>
          </p:nvPr>
        </p:nvSpPr>
        <p:spPr/>
        <p:txBody>
          <a:bodyPr wrap="square"/>
          <a:lstStyle/>
          <a:p>
            <a:r>
              <a:t>A large share of any feed retainer goes on keeping things from breaking, and none of it produces an uplift number:</a:t>
            </a:r>
          </a:p>
          <a:p>
            <a:r>
              <a:t>443 hours of account management and 75 hours of disapproval clearance since 2022 — the cost of nineteen markets not going down.</a:t>
            </a:r>
          </a:p>
          <a:p>
            <a:r>
              <a:t>53 feeds kept in sync</a:t>
            </a:r>
          </a:p>
          <a:p>
            <a:r>
              <a:t>1,774 rules maintained</a:t>
            </a:r>
          </a:p>
          <a:p>
            <a:r>
              <a:t>19 markets of disapprovals</a:t>
            </a:r>
          </a:p>
          <a:p>
            <a:r>
              <a:t>Two migrations carried through</a:t>
            </a:r>
          </a:p>
        </p:txBody>
      </p:sp>
      <p:sp>
        <p:nvSpPr>
          <p:cNvPr id="6" name="Text Placeholder 5"/>
          <p:cNvSpPr>
            <a:spLocks noGrp="1"/>
          </p:cNvSpPr>
          <p:nvPr>
            <p:ph type="body" idx="3"/>
          </p:nvPr>
        </p:nvSpPr>
        <p:spPr/>
        <p:txBody>
          <a:bodyPr wrap="square"/>
          <a:lstStyle/>
          <a:p>
            <a:r>
              <a:t>Who carries it</a:t>
            </a:r>
          </a:p>
        </p:txBody>
      </p:sp>
      <p:sp>
        <p:nvSpPr>
          <p:cNvPr id="7" name="Text Placeholder 6"/>
          <p:cNvSpPr>
            <a:spLocks noGrp="1"/>
          </p:cNvSpPr>
          <p:nvPr>
            <p:ph type="body" idx="4"/>
          </p:nvPr>
        </p:nvSpPr>
        <p:spPr/>
        <p:txBody>
          <a:bodyPr wrap="square"/>
          <a:lstStyle/>
          <a:p>
            <a:r>
              <a:t>Ray leads the account and has personally logged 469.5 hours on it. Steven Opuni is the executive AM. Day to day the optimisation work runs through a named team — Vitus, Gary, Lara, Febin, Matt and Murugan account for another 1,627 hours between them.</a:t>
            </a:r>
          </a:p>
          <a:p>
            <a:r>
              <a:t>Forty-six people have touched this account across four years. That continuity is why a rule written in June 2022 still runs correctly today.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wrap="square"/>
          <a:lstStyle/>
          <a:p>
            <a:r>
              <a:rPr sz="2240"/>
              <a:t>Everything in this deck is one pattern: a 29-character title became an 83-character one, and it stayed that way without anybody touching it again. Nineteen markets, 1,774 rules, 920.8 million impressions. The parts that are not finished are not failures of delivery — they are the parts that were never funded, and they are the ones the next two years of search will reward most.</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Also on the account</a:t>
            </a:r>
          </a:p>
        </p:txBody>
      </p:sp>
      <p:sp>
        <p:nvSpPr>
          <p:cNvPr id="7" name="Text Placeholder 6"/>
          <p:cNvSpPr>
            <a:spLocks noGrp="1"/>
          </p:cNvSpPr>
          <p:nvPr>
            <p:ph type="body" idx="4"/>
          </p:nvPr>
        </p:nvSpPr>
        <p:spPr/>
        <p:txBody>
          <a:bodyPr wrap="square"/>
          <a:lstStyle/>
          <a:p>
            <a:r>
              <a:t>Steven Opuni — steven@feedspark.com</a:t>
            </a:r>
          </a:p>
          <a:p>
            <a:r>
              <a:t>Superdry team — superdry@feedspark.com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4449</Words>
  <Application>Microsoft Office PowerPoint</Application>
  <PresentationFormat>Widescreen</PresentationFormat>
  <Paragraphs>523</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Inter</vt:lpstr>
      <vt:lpstr>Office Theme</vt:lpstr>
      <vt:lpstr>Superdry × FeedSpark</vt:lpstr>
      <vt:lpstr>PowerPoint Presentation</vt:lpstr>
      <vt:lpstr>What we’ll cover</vt:lpstr>
      <vt:lpstr>Service scope &amp; scale</vt:lpstr>
      <vt:lpstr>The programme in five numbers</vt:lpstr>
      <vt:lpstr>Channels and coverage</vt:lpstr>
      <vt:lpstr>Where the hours went — by market</vt:lpstr>
      <vt:lpstr>The delivery stack</vt:lpstr>
      <vt:lpstr>Four layers, live on the account today</vt:lpstr>
      <vt:lpstr>Review &amp; project recap</vt:lpstr>
      <vt:lpstr>Where the plan stands</vt:lpstr>
      <vt:lpstr>Action by action — what’s closed</vt:lpstr>
      <vt:lpstr>Action by action — open and parked</vt:lpstr>
      <vt:lpstr>The look-back period</vt:lpstr>
      <vt:lpstr>Sustained delivery, Jul 2024 → Jul 2026</vt:lpstr>
      <vt:lpstr>By activity type</vt:lpstr>
      <vt:lpstr>The task families behind the hours</vt:lpstr>
      <vt:lpstr>The value delivered</vt:lpstr>
      <vt:lpstr>Two years delivered, a third given</vt:lpstr>
      <vt:lpstr>The invested-hours story</vt:lpstr>
      <vt:lpstr>The protection work, quantified</vt:lpstr>
      <vt:lpstr>Automation &amp; readiness</vt:lpstr>
      <vt:lpstr>What runs on rules</vt:lpstr>
      <vt:lpstr>What still needs a hand</vt:lpstr>
      <vt:lpstr>The A/B test archive</vt:lpstr>
      <vt:lpstr>36 tests, read straight</vt:lpstr>
      <vt:lpstr>The archive by test type</vt:lpstr>
      <vt:lpstr>Reading the average straight</vt:lpstr>
      <vt:lpstr>Keyword tests — the results that moved</vt:lpstr>
      <vt:lpstr>Brand in the title — it depends</vt:lpstr>
      <vt:lpstr>External benchmark — retail feeds</vt:lpstr>
      <vt:lpstr>Four launches that woke dormant stock</vt:lpstr>
      <vt:lpstr>Team &amp; ways of working</vt:lpstr>
      <vt:lpstr>One manager, one pod, one cadence</vt:lpstr>
      <vt:lpstr>How work moves</vt:lpstr>
      <vt:lpstr>Feed optimisation score</vt:lpstr>
      <vt:lpstr>Superdry feed optimisation — 70 / 100</vt:lpstr>
      <vt:lpstr>The GB feed, scored — 22,527 SKUs</vt:lpstr>
      <vt:lpstr>Where plan and feed agree — and don’t</vt:lpstr>
      <vt:lpstr>A second internal signal worth flagging</vt:lpstr>
      <vt:lpstr>AI readiness</vt:lpstr>
      <vt:lpstr>Where Superdry sits on the climb</vt:lpstr>
      <vt:lpstr>AI-readiness audit — Superdry GB</vt:lpstr>
      <vt:lpstr>PowerPoint Presentation</vt:lpstr>
      <vt:lpstr>Roadmap — next quarter</vt:lpstr>
      <vt:lpstr>What comes next</vt:lpstr>
      <vt:lpstr>The tests queued for the coming quarter</vt:lpstr>
      <vt:lpstr>The testing queue — medium and low</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cp:revision>
  <dcterms:modified xsi:type="dcterms:W3CDTF">2026-08-04T13:18:53Z</dcterms:modified>
</cp:coreProperties>
</file>