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306" r:id="rId6"/>
    <p:sldId id="261" r:id="rId7"/>
    <p:sldId id="262" r:id="rId8"/>
    <p:sldId id="308" r:id="rId9"/>
    <p:sldId id="307" r:id="rId10"/>
    <p:sldId id="263" r:id="rId11"/>
    <p:sldId id="264" r:id="rId12"/>
    <p:sldId id="268" r:id="rId13"/>
    <p:sldId id="271" r:id="rId14"/>
    <p:sldId id="272" r:id="rId15"/>
    <p:sldId id="309" r:id="rId16"/>
    <p:sldId id="274" r:id="rId17"/>
    <p:sldId id="277" r:id="rId18"/>
    <p:sldId id="302" r:id="rId19"/>
    <p:sldId id="303" r:id="rId20"/>
    <p:sldId id="278" r:id="rId21"/>
    <p:sldId id="292" r:id="rId22"/>
    <p:sldId id="305" r:id="rId23"/>
    <p:sldId id="304" r:id="rId24"/>
    <p:sldId id="282" r:id="rId25"/>
    <p:sldId id="283" r:id="rId26"/>
    <p:sldId id="286" r:id="rId27"/>
    <p:sldId id="287" r:id="rId28"/>
    <p:sldId id="288" r:id="rId29"/>
    <p:sldId id="310" r:id="rId37"/>
    <p:sldId id="299" r:id="rId30"/>
    <p:sldId id="300" r:id="rId31"/>
    <p:sldId id="301" r:id="rId32"/>
  </p:sldIdLst>
  <p:sldSz cx="12192000" cy="6858000"/>
  <p:notesSz cx="6858000" cy="9144000"/>
  <p:defaultTextStyle>
    <a:defPPr>
      <a:defRPr lang="en-GB"/>
    </a:def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F0E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96" d="100"/>
          <a:sy n="96" d="100"/>
        </p:scale>
        <p:origin x="1032" y="53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30.xml"/><Relationship Id="rId31" Type="http://schemas.openxmlformats.org/officeDocument/2006/relationships/slide" Target="slides/slide31.xml"/><Relationship Id="rId32" Type="http://schemas.openxmlformats.org/officeDocument/2006/relationships/slide" Target="slides/slide32.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 Id="rId37"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rgbClr val="0F172A"/>
        </a:solidFill>
        <a:effectLst/>
      </p:bgPr>
    </p:bg>
    <p:spTree>
      <p:nvGrpSpPr>
        <p:cNvPr id="1" name=""/>
        <p:cNvGrpSpPr/>
        <p:nvPr/>
      </p:nvGrpSpPr>
      <p:grpSpPr>
        <a:xfrm>
          <a:off x="0" y="0"/>
          <a:ext cx="0" cy="0"/>
          <a:chOff x="0" y="0"/>
          <a:chExt cx="0" cy="0"/>
        </a:xfrm>
      </p:grpSpPr>
      <p:sp>
        <p:nvSpPr>
          <p:cNvPr id="11" name="TopLine"/>
          <p:cNvSpPr/>
          <p:nvPr/>
        </p:nvSpPr>
        <p:spPr>
          <a:xfrm>
            <a:off x="0" y="0"/>
            <a:ext cx="12192000" cy="34560"/>
          </a:xfrm>
          <a:prstGeom prst="rect">
            <a:avLst/>
          </a:prstGeom>
          <a:gradFill rotWithShape="0">
            <a:gsLst>
              <a:gs pos="0">
                <a:srgbClr val="F7941E"/>
              </a:gs>
              <a:gs pos="40000">
                <a:srgbClr val="3B82F6"/>
              </a:gs>
              <a:gs pos="70000">
                <a:srgbClr val="8B5CF6"/>
              </a:gs>
              <a:gs pos="100000">
                <a:srgbClr val="EC4899"/>
              </a:gs>
            </a:gsLst>
            <a:lin ang="0"/>
          </a:gradFill>
          <a:ln w="0">
            <a:noFill/>
          </a:ln>
        </p:spPr>
        <p:txBody>
          <a:bodyPr/>
          <a:lstStyle/>
          <a:p>
            <a:endParaRPr lang="en-GB"/>
          </a:p>
        </p:txBody>
      </p:sp>
      <p:sp>
        <p:nvSpPr>
          <p:cNvPr id="12" name="GlowCircle"/>
          <p:cNvSpPr/>
          <p:nvPr/>
        </p:nvSpPr>
        <p:spPr>
          <a:xfrm>
            <a:off x="8229600" y="-914400"/>
            <a:ext cx="4569840" cy="4569840"/>
          </a:xfrm>
          <a:prstGeom prst="ellipse">
            <a:avLst/>
          </a:prstGeom>
          <a:gradFill rotWithShape="0">
            <a:gsLst>
              <a:gs pos="0">
                <a:srgbClr val="F7941E">
                  <a:alpha val="15000"/>
                </a:srgbClr>
              </a:gs>
              <a:gs pos="100000">
                <a:srgbClr val="F7941E">
                  <a:alpha val="0"/>
                </a:srgbClr>
              </a:gs>
            </a:gsLst>
            <a:path path="circle">
              <a:fillToRect l="50000" t="50000" r="50000" b="50000"/>
            </a:path>
          </a:gradFill>
          <a:ln w="0">
            <a:noFill/>
          </a:ln>
        </p:spPr>
        <p:txBody>
          <a:bodyPr/>
          <a:lstStyle/>
          <a:p>
            <a:endParaRPr lang="en-GB"/>
          </a:p>
        </p:txBody>
      </p:sp>
      <p:sp>
        <p:nvSpPr>
          <p:cNvPr id="13" name="LeftAccent"/>
          <p:cNvSpPr/>
          <p:nvPr/>
        </p:nvSpPr>
        <p:spPr>
          <a:xfrm>
            <a:off x="731520" y="1828800"/>
            <a:ext cx="43560" cy="2741040"/>
          </a:xfrm>
          <a:prstGeom prst="rect">
            <a:avLst/>
          </a:prstGeom>
          <a:solidFill>
            <a:srgbClr val="F7941E"/>
          </a:solidFill>
          <a:ln w="0">
            <a:noFill/>
          </a:ln>
        </p:spPr>
        <p:txBody>
          <a:bodyPr/>
          <a:lstStyle/>
          <a:p>
            <a:endParaRPr lang="en-GB"/>
          </a:p>
        </p:txBody>
      </p:sp>
      <p:sp>
        <p:nvSpPr>
          <p:cNvPr id="14" name="Title"/>
          <p:cNvSpPr>
            <a:spLocks noGrp="1"/>
          </p:cNvSpPr>
          <p:nvPr>
            <p:ph type="ctrTitle"/>
          </p:nvPr>
        </p:nvSpPr>
        <p:spPr>
          <a:xfrm>
            <a:off x="914400" y="1828800"/>
            <a:ext cx="9599040" cy="1369440"/>
          </a:xfrm>
          <a:prstGeom prst="rect">
            <a:avLst/>
          </a:prstGeom>
        </p:spPr>
        <p:txBody>
          <a:bodyPr lIns="0" tIns="0" rIns="0" bIns="0" anchor="ctr">
            <a:normAutofit/>
          </a:bodyPr>
          <a:lstStyle>
            <a:lvl1pPr marL="0" indent="0" algn="l">
              <a:lnSpc>
                <a:spcPct val="104000"/>
              </a:lnSpc>
              <a:defRPr sz="5400" b="1" i="0">
                <a:solidFill>
                  <a:srgbClr val="FFFFFF"/>
                </a:solidFill>
                <a:latin typeface="+mj-lt"/>
              </a:defRPr>
            </a:lvl1pPr>
          </a:lstStyle>
          <a:p>
            <a:endParaRPr lang="en-GB"/>
          </a:p>
        </p:txBody>
      </p:sp>
      <p:sp>
        <p:nvSpPr>
          <p:cNvPr id="15" name="Subtitle"/>
          <p:cNvSpPr>
            <a:spLocks noGrp="1"/>
          </p:cNvSpPr>
          <p:nvPr>
            <p:ph type="subTitle" idx="1"/>
          </p:nvPr>
        </p:nvSpPr>
        <p:spPr>
          <a:xfrm>
            <a:off x="914400" y="3300000"/>
            <a:ext cx="9599040" cy="760000"/>
          </a:xfrm>
          <a:prstGeom prst="rect">
            <a:avLst/>
          </a:prstGeom>
        </p:spPr>
        <p:txBody>
          <a:bodyPr lIns="0" tIns="0" rIns="0" bIns="0" anchor="ctr">
            <a:normAutofit/>
          </a:bodyPr>
          <a:lstStyle>
            <a:lvl1pPr marL="0" indent="0" algn="l">
              <a:defRPr sz="2000" b="0" i="0">
                <a:solidFill>
                  <a:srgbClr val="94A3B8"/>
                </a:solidFill>
                <a:latin typeface="+mn-lt"/>
              </a:defRPr>
            </a:lvl1pPr>
          </a:lstStyle>
          <a:p>
            <a:endParaRPr lang="en-GB"/>
          </a:p>
        </p:txBody>
      </p:sp>
      <p:sp>
        <p:nvSpPr>
          <p:cNvPr id="16" name="Date / Prepared by"/>
          <p:cNvSpPr>
            <a:spLocks noGrp="1"/>
          </p:cNvSpPr>
          <p:nvPr>
            <p:ph type="body" idx="11"/>
          </p:nvPr>
        </p:nvSpPr>
        <p:spPr>
          <a:xfrm>
            <a:off x="914400" y="4150000"/>
            <a:ext cx="9599040" cy="380000"/>
          </a:xfrm>
          <a:prstGeom prst="rect">
            <a:avLst/>
          </a:prstGeom>
        </p:spPr>
        <p:txBody>
          <a:bodyPr lIns="0" tIns="0" rIns="0" bIns="0" anchor="ctr">
            <a:normAutofit/>
          </a:bodyPr>
          <a:lstStyle>
            <a:lvl1pPr marL="0" indent="0" algn="l">
              <a:defRPr sz="1400" b="1" i="0">
                <a:solidFill>
                  <a:srgbClr val="F7941E"/>
                </a:solidFill>
                <a:latin typeface="+mn-lt"/>
              </a:defRPr>
            </a:lvl1pPr>
          </a:lstStyle>
          <a:p>
            <a:endParaRPr lang="en-GB"/>
          </a:p>
        </p:txBody>
      </p:sp>
      <p:sp>
        <p:nvSpPr>
          <p:cNvPr id="17"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FFFFFF"/>
                </a:solidFill>
              </a:rPr>
              <a:t>Spark</a:t>
            </a:r>
          </a:p>
        </p:txBody>
      </p:sp>
      <p:sp>
        <p:nvSpPr>
          <p:cNvPr id="18"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Marker">
    <p:bg>
      <p:bgPr>
        <a:solidFill>
          <a:srgbClr val="F7941E"/>
        </a:solidFill>
        <a:effectLst/>
      </p:bgPr>
    </p:bg>
    <p:spTree>
      <p:nvGrpSpPr>
        <p:cNvPr id="1" name=""/>
        <p:cNvGrpSpPr/>
        <p:nvPr/>
      </p:nvGrpSpPr>
      <p:grpSpPr>
        <a:xfrm>
          <a:off x="0" y="0"/>
          <a:ext cx="0" cy="0"/>
          <a:chOff x="0" y="0"/>
          <a:chExt cx="0" cy="0"/>
        </a:xfrm>
      </p:grpSpPr>
      <p:sp>
        <p:nvSpPr>
          <p:cNvPr id="11" name="BigCircle"/>
          <p:cNvSpPr/>
          <p:nvPr/>
        </p:nvSpPr>
        <p:spPr>
          <a:xfrm>
            <a:off x="8686800" y="-1371600"/>
            <a:ext cx="5029200" cy="5029200"/>
          </a:xfrm>
          <a:prstGeom prst="ellipse">
            <a:avLst/>
          </a:prstGeom>
          <a:solidFill>
            <a:srgbClr val="FFFFFF">
              <a:alpha val="15000"/>
            </a:srgbClr>
          </a:solidFill>
          <a:ln w="12700">
            <a:solidFill>
              <a:srgbClr val="FFFFFF"/>
            </a:solidFill>
          </a:ln>
        </p:spPr>
        <p:txBody>
          <a:bodyPr/>
          <a:lstStyle/>
          <a:p>
            <a:endParaRPr lang="en-GB"/>
          </a:p>
        </p:txBody>
      </p:sp>
      <p:sp>
        <p:nvSpPr>
          <p:cNvPr id="12" name="SmallCircle"/>
          <p:cNvSpPr/>
          <p:nvPr/>
        </p:nvSpPr>
        <p:spPr>
          <a:xfrm>
            <a:off x="10058400" y="914400"/>
            <a:ext cx="3200400" cy="3200400"/>
          </a:xfrm>
          <a:prstGeom prst="ellipse">
            <a:avLst/>
          </a:prstGeom>
          <a:solidFill>
            <a:srgbClr val="FFFFFF">
              <a:alpha val="10000"/>
            </a:srgbClr>
          </a:solidFill>
          <a:ln w="12700">
            <a:solidFill>
              <a:srgbClr val="FFFFFF"/>
            </a:solidFill>
          </a:ln>
        </p:spPr>
        <p:txBody>
          <a:bodyPr/>
          <a:lstStyle/>
          <a:p>
            <a:endParaRPr lang="en-GB"/>
          </a:p>
        </p:txBody>
      </p:sp>
      <p:sp>
        <p:nvSpPr>
          <p:cNvPr id="13" name="LeftAccent"/>
          <p:cNvSpPr/>
          <p:nvPr/>
        </p:nvSpPr>
        <p:spPr>
          <a:xfrm>
            <a:off x="777240" y="1828800"/>
            <a:ext cx="45720" cy="2286000"/>
          </a:xfrm>
          <a:prstGeom prst="rect">
            <a:avLst/>
          </a:prstGeom>
          <a:solidFill>
            <a:srgbClr val="FFFFFF"/>
          </a:solidFill>
          <a:ln w="0">
            <a:noFill/>
          </a:ln>
        </p:spPr>
        <p:txBody>
          <a:bodyPr/>
          <a:lstStyle/>
          <a:p>
            <a:endParaRPr lang="en-GB"/>
          </a:p>
        </p:txBody>
      </p:sp>
      <p:sp>
        <p:nvSpPr>
          <p:cNvPr id="14" name="Section Label"/>
          <p:cNvSpPr>
            <a:spLocks noGrp="1"/>
          </p:cNvSpPr>
          <p:nvPr>
            <p:ph type="body" idx="11"/>
          </p:nvPr>
        </p:nvSpPr>
        <p:spPr>
          <a:xfrm>
            <a:off x="960120" y="1874520"/>
            <a:ext cx="5486400" cy="320040"/>
          </a:xfrm>
          <a:prstGeom prst="rect">
            <a:avLst/>
          </a:prstGeom>
        </p:spPr>
        <p:txBody>
          <a:bodyPr lIns="0" tIns="0" rIns="0" bIns="0" anchor="t">
            <a:normAutofit/>
          </a:bodyPr>
          <a:lstStyle>
            <a:lvl1pPr marL="0" indent="0" algn="l">
              <a:defRPr sz="1400" b="0" i="0" spc="400">
                <a:solidFill>
                  <a:srgbClr val="FFFFFF"/>
                </a:solidFill>
                <a:latin typeface="+mn-lt"/>
              </a:defRPr>
            </a:lvl1pPr>
          </a:lstStyle>
          <a:p>
            <a:endParaRPr lang="en-GB"/>
          </a:p>
        </p:txBody>
      </p:sp>
      <p:sp>
        <p:nvSpPr>
          <p:cNvPr id="15" name="Section Title"/>
          <p:cNvSpPr>
            <a:spLocks noGrp="1"/>
          </p:cNvSpPr>
          <p:nvPr>
            <p:ph type="title"/>
          </p:nvPr>
        </p:nvSpPr>
        <p:spPr>
          <a:xfrm>
            <a:off x="960120" y="2194560"/>
            <a:ext cx="10058400" cy="1371600"/>
          </a:xfrm>
          <a:prstGeom prst="rect">
            <a:avLst/>
          </a:prstGeom>
        </p:spPr>
        <p:txBody>
          <a:bodyPr lIns="0" tIns="0" rIns="0" bIns="0" anchor="t">
            <a:normAutofit/>
          </a:bodyPr>
          <a:lstStyle>
            <a:lvl1pPr marL="0" indent="0" algn="l">
              <a:lnSpc>
                <a:spcPct val="104000"/>
              </a:lnSpc>
              <a:defRPr sz="4800" b="1" i="0">
                <a:solidFill>
                  <a:srgbClr val="FFFFFF"/>
                </a:solidFill>
                <a:latin typeface="+mj-lt"/>
              </a:defRPr>
            </a:lvl1pPr>
          </a:lstStyle>
          <a:p>
            <a:endParaRPr lang="en-GB"/>
          </a:p>
        </p:txBody>
      </p:sp>
      <p:sp>
        <p:nvSpPr>
          <p:cNvPr id="16" name="Section Subtitle"/>
          <p:cNvSpPr>
            <a:spLocks noGrp="1"/>
          </p:cNvSpPr>
          <p:nvPr>
            <p:ph type="body" idx="1"/>
          </p:nvPr>
        </p:nvSpPr>
        <p:spPr>
          <a:xfrm>
            <a:off x="960120" y="3657600"/>
            <a:ext cx="9601200" cy="548640"/>
          </a:xfrm>
          <a:prstGeom prst="rect">
            <a:avLst/>
          </a:prstGeom>
        </p:spPr>
        <p:txBody>
          <a:bodyPr lIns="0" tIns="0" rIns="0" bIns="0" anchor="t">
            <a:normAutofit/>
          </a:bodyPr>
          <a:lstStyle>
            <a:lvl1pPr marL="0" indent="0" algn="l">
              <a:defRPr sz="1600" b="0" i="0">
                <a:solidFill>
                  <a:srgbClr val="FFE4C4"/>
                </a:solidFill>
                <a:latin typeface="+mn-lt"/>
              </a:defRPr>
            </a:lvl1pPr>
          </a:lstStyle>
          <a:p>
            <a:endParaRPr lang="en-GB"/>
          </a:p>
        </p:txBody>
      </p:sp>
      <p:sp>
        <p:nvSpPr>
          <p:cNvPr id="17"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FFFFF"/>
                </a:solidFill>
              </a:rPr>
              <a:t>FeedSpark</a:t>
            </a:r>
          </a:p>
        </p:txBody>
      </p:sp>
      <p:sp>
        <p:nvSpPr>
          <p:cNvPr id="18"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Subtitle"/>
          <p:cNvSpPr>
            <a:spLocks noGrp="1"/>
          </p:cNvSpPr>
          <p:nvPr>
            <p:ph type="body" idx="11"/>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3"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4" name="Content"/>
          <p:cNvSpPr>
            <a:spLocks noGrp="1"/>
          </p:cNvSpPr>
          <p:nvPr>
            <p:ph type="body" idx="1"/>
          </p:nvPr>
        </p:nvSpPr>
        <p:spPr>
          <a:xfrm>
            <a:off x="609480" y="1780000"/>
            <a:ext cx="10973040" cy="3880000"/>
          </a:xfrm>
          <a:prstGeom prst="rect">
            <a:avLst/>
          </a:prstGeom>
        </p:spPr>
        <p:txBody>
          <a:bodyPr lIns="0" tIns="0" rIns="0" bIns="0" anchor="t">
            <a:normAutofit/>
          </a:bodyPr>
          <a:lstStyle>
            <a:lvl1pPr marL="0" indent="0" algn="l">
              <a:lnSpc>
                <a:spcPct val="120000"/>
              </a:lnSpc>
              <a:defRPr sz="1700" b="0" i="0">
                <a:solidFill>
                  <a:srgbClr val="475569"/>
                </a:solidFill>
                <a:latin typeface="+mn-lt"/>
              </a:defRPr>
            </a:lvl1pPr>
          </a:lstStyle>
          <a:p>
            <a:endParaRPr lang="en-GB"/>
          </a:p>
        </p:txBody>
      </p:sp>
      <p:sp>
        <p:nvSpPr>
          <p:cNvPr id="15"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16"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17"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18"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19"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19}" type="slidenum">
              <a:rPr lang="en-GB" sz="1100">
                <a:solidFill>
                  <a:srgbClr val="64748B"/>
                </a:solidFill>
              </a:rPr>
              <a:t>‹#›</a:t>
            </a:fld>
            <a:endParaRPr lang="en-GB" sz="1100">
              <a:solidFill>
                <a:srgbClr val="64748B"/>
              </a:solidFill>
            </a:endParaRPr>
          </a:p>
        </p:txBody>
      </p:sp>
      <p:sp>
        <p:nvSpPr>
          <p:cNvPr id="20"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Subtitle"/>
          <p:cNvSpPr>
            <a:spLocks noGrp="1"/>
          </p:cNvSpPr>
          <p:nvPr>
            <p:ph type="body" idx="11"/>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3"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4" name="Left Content"/>
          <p:cNvSpPr>
            <a:spLocks noGrp="1"/>
          </p:cNvSpPr>
          <p:nvPr>
            <p:ph type="body" idx="1"/>
          </p:nvPr>
        </p:nvSpPr>
        <p:spPr>
          <a:xfrm>
            <a:off x="609480" y="1780000"/>
            <a:ext cx="5330520" cy="3880000"/>
          </a:xfrm>
          <a:prstGeom prst="rect">
            <a:avLst/>
          </a:prstGeom>
        </p:spPr>
        <p:txBody>
          <a:bodyPr lIns="0" tIns="0" rIns="0" bIns="0" anchor="t">
            <a:normAutofit/>
          </a:bodyPr>
          <a:lstStyle>
            <a:lvl1pPr marL="0" indent="0" algn="l">
              <a:lnSpc>
                <a:spcPct val="120000"/>
              </a:lnSpc>
              <a:defRPr sz="1600" b="0" i="0">
                <a:solidFill>
                  <a:srgbClr val="475569"/>
                </a:solidFill>
                <a:latin typeface="+mn-lt"/>
              </a:defRPr>
            </a:lvl1pPr>
          </a:lstStyle>
          <a:p>
            <a:endParaRPr lang="en-GB"/>
          </a:p>
        </p:txBody>
      </p:sp>
      <p:sp>
        <p:nvSpPr>
          <p:cNvPr id="15" name="Right Content"/>
          <p:cNvSpPr>
            <a:spLocks noGrp="1"/>
          </p:cNvSpPr>
          <p:nvPr>
            <p:ph type="body" idx="2"/>
          </p:nvPr>
        </p:nvSpPr>
        <p:spPr>
          <a:xfrm>
            <a:off x="6252000" y="1780000"/>
            <a:ext cx="5330520" cy="3880000"/>
          </a:xfrm>
          <a:prstGeom prst="rect">
            <a:avLst/>
          </a:prstGeom>
        </p:spPr>
        <p:txBody>
          <a:bodyPr lIns="0" tIns="0" rIns="0" bIns="0" anchor="t">
            <a:normAutofit/>
          </a:bodyPr>
          <a:lstStyle>
            <a:lvl1pPr marL="0" indent="0" algn="l">
              <a:lnSpc>
                <a:spcPct val="120000"/>
              </a:lnSpc>
              <a:defRPr sz="1600" b="0" i="0">
                <a:solidFill>
                  <a:srgbClr val="475569"/>
                </a:solidFill>
                <a:latin typeface="+mn-lt"/>
              </a:defRPr>
            </a:lvl1pPr>
          </a:lstStyle>
          <a:p>
            <a:endParaRPr lang="en-GB"/>
          </a:p>
        </p:txBody>
      </p:sp>
      <p:sp>
        <p:nvSpPr>
          <p:cNvPr id="16"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17"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18"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19"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20"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20}" type="slidenum">
              <a:rPr lang="en-GB" sz="1100">
                <a:solidFill>
                  <a:srgbClr val="64748B"/>
                </a:solidFill>
              </a:rPr>
              <a:t>‹#›</a:t>
            </a:fld>
            <a:endParaRPr lang="en-GB" sz="1100">
              <a:solidFill>
                <a:srgbClr val="64748B"/>
              </a:solidFill>
            </a:endParaRPr>
          </a:p>
        </p:txBody>
      </p:sp>
      <p:sp>
        <p:nvSpPr>
          <p:cNvPr id="21"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picTx" preserve="1">
  <p:cSld name="Image Left, Content Right">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Underline"/>
          <p:cNvSpPr/>
          <p:nvPr/>
        </p:nvSpPr>
        <p:spPr>
          <a:xfrm>
            <a:off x="609480" y="1190000"/>
            <a:ext cx="1691640" cy="36576"/>
          </a:xfrm>
          <a:prstGeom prst="rect">
            <a:avLst/>
          </a:prstGeom>
          <a:solidFill>
            <a:srgbClr val="F7941E"/>
          </a:solidFill>
          <a:ln w="0">
            <a:noFill/>
          </a:ln>
        </p:spPr>
        <p:txBody>
          <a:bodyPr/>
          <a:lstStyle/>
          <a:p>
            <a:endParaRPr lang="en-GB"/>
          </a:p>
        </p:txBody>
      </p:sp>
      <p:sp>
        <p:nvSpPr>
          <p:cNvPr id="13" name="Image"/>
          <p:cNvSpPr>
            <a:spLocks noGrp="1"/>
          </p:cNvSpPr>
          <p:nvPr>
            <p:ph type="pic" idx="1"/>
          </p:nvPr>
        </p:nvSpPr>
        <p:spPr>
          <a:xfrm>
            <a:off x="609480" y="1500000"/>
            <a:ext cx="5400000" cy="3960000"/>
          </a:xfrm>
          <a:prstGeom prst="roundRect">
            <a:avLst>
              <a:gd name="adj" fmla="val 4500"/>
            </a:avLst>
          </a:prstGeom>
          <a:solidFill>
            <a:srgbClr val="F8FAFC"/>
          </a:solidFill>
          <a:ln w="12700">
            <a:solidFill>
              <a:srgbClr val="E2E8F0"/>
            </a:solidFill>
          </a:ln>
        </p:spPr>
        <p:txBody>
          <a:bodyPr/>
          <a:lstStyle/>
          <a:p>
            <a:endParaRPr lang="en-GB"/>
          </a:p>
        </p:txBody>
      </p:sp>
      <p:sp>
        <p:nvSpPr>
          <p:cNvPr id="14" name="Content"/>
          <p:cNvSpPr>
            <a:spLocks noGrp="1"/>
          </p:cNvSpPr>
          <p:nvPr>
            <p:ph type="body" idx="1"/>
          </p:nvPr>
        </p:nvSpPr>
        <p:spPr>
          <a:xfrm>
            <a:off x="6429480" y="1500000"/>
            <a:ext cx="5153040" cy="3960000"/>
          </a:xfrm>
          <a:prstGeom prst="rect">
            <a:avLst/>
          </a:prstGeom>
        </p:spPr>
        <p:txBody>
          <a:bodyPr lIns="0" tIns="0" rIns="0" bIns="0" anchor="t">
            <a:normAutofit/>
          </a:bodyPr>
          <a:lstStyle>
            <a:lvl1pPr marL="0" indent="0" algn="l">
              <a:lnSpc>
                <a:spcPct val="122000"/>
              </a:lnSpc>
              <a:defRPr sz="1700" b="0" i="0">
                <a:solidFill>
                  <a:srgbClr val="475569"/>
                </a:solidFill>
                <a:latin typeface="+mn-lt"/>
              </a:defRPr>
            </a:lvl1pPr>
          </a:lstStyle>
          <a:p>
            <a:endParaRPr lang="en-GB"/>
          </a:p>
        </p:txBody>
      </p:sp>
      <p:sp>
        <p:nvSpPr>
          <p:cNvPr id="15"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16"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17"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18"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19"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19}" type="slidenum">
              <a:rPr lang="en-GB" sz="1100">
                <a:solidFill>
                  <a:srgbClr val="64748B"/>
                </a:solidFill>
              </a:rPr>
              <a:t>‹#›</a:t>
            </a:fld>
            <a:endParaRPr lang="en-GB" sz="1100">
              <a:solidFill>
                <a:srgbClr val="64748B"/>
              </a:solidFill>
            </a:endParaRPr>
          </a:p>
        </p:txBody>
      </p:sp>
      <p:sp>
        <p:nvSpPr>
          <p:cNvPr id="20"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xAndObj" preserve="1">
  <p:cSld name="Content Left, Image Right">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Underline"/>
          <p:cNvSpPr/>
          <p:nvPr/>
        </p:nvSpPr>
        <p:spPr>
          <a:xfrm>
            <a:off x="609480" y="1190000"/>
            <a:ext cx="1691640" cy="36576"/>
          </a:xfrm>
          <a:prstGeom prst="rect">
            <a:avLst/>
          </a:prstGeom>
          <a:solidFill>
            <a:srgbClr val="F7941E"/>
          </a:solidFill>
          <a:ln w="0">
            <a:noFill/>
          </a:ln>
        </p:spPr>
        <p:txBody>
          <a:bodyPr/>
          <a:lstStyle/>
          <a:p>
            <a:endParaRPr lang="en-GB"/>
          </a:p>
        </p:txBody>
      </p:sp>
      <p:sp>
        <p:nvSpPr>
          <p:cNvPr id="13" name="Content"/>
          <p:cNvSpPr>
            <a:spLocks noGrp="1"/>
          </p:cNvSpPr>
          <p:nvPr>
            <p:ph type="body" idx="1"/>
          </p:nvPr>
        </p:nvSpPr>
        <p:spPr>
          <a:xfrm>
            <a:off x="609480" y="1500000"/>
            <a:ext cx="5153040" cy="3960000"/>
          </a:xfrm>
          <a:prstGeom prst="rect">
            <a:avLst/>
          </a:prstGeom>
        </p:spPr>
        <p:txBody>
          <a:bodyPr lIns="0" tIns="0" rIns="0" bIns="0" anchor="t">
            <a:normAutofit/>
          </a:bodyPr>
          <a:lstStyle>
            <a:lvl1pPr marL="0" indent="0" algn="l">
              <a:lnSpc>
                <a:spcPct val="122000"/>
              </a:lnSpc>
              <a:defRPr sz="1700" b="0" i="0">
                <a:solidFill>
                  <a:srgbClr val="475569"/>
                </a:solidFill>
                <a:latin typeface="+mn-lt"/>
              </a:defRPr>
            </a:lvl1pPr>
          </a:lstStyle>
          <a:p>
            <a:endParaRPr lang="en-GB"/>
          </a:p>
        </p:txBody>
      </p:sp>
      <p:sp>
        <p:nvSpPr>
          <p:cNvPr id="14" name="Image"/>
          <p:cNvSpPr>
            <a:spLocks noGrp="1"/>
          </p:cNvSpPr>
          <p:nvPr>
            <p:ph type="pic" idx="1"/>
          </p:nvPr>
        </p:nvSpPr>
        <p:spPr>
          <a:xfrm>
            <a:off x="6182520" y="1500000"/>
            <a:ext cx="5400000" cy="3960000"/>
          </a:xfrm>
          <a:prstGeom prst="roundRect">
            <a:avLst>
              <a:gd name="adj" fmla="val 4500"/>
            </a:avLst>
          </a:prstGeom>
          <a:solidFill>
            <a:srgbClr val="F8FAFC"/>
          </a:solidFill>
          <a:ln w="12700">
            <a:solidFill>
              <a:srgbClr val="E2E8F0"/>
            </a:solidFill>
          </a:ln>
        </p:spPr>
        <p:txBody>
          <a:bodyPr/>
          <a:lstStyle/>
          <a:p>
            <a:endParaRPr lang="en-GB"/>
          </a:p>
        </p:txBody>
      </p:sp>
      <p:sp>
        <p:nvSpPr>
          <p:cNvPr id="15"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16"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17"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18"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19"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19}" type="slidenum">
              <a:rPr lang="en-GB" sz="1100">
                <a:solidFill>
                  <a:srgbClr val="64748B"/>
                </a:solidFill>
              </a:rPr>
              <a:t>‹#›</a:t>
            </a:fld>
            <a:endParaRPr lang="en-GB" sz="1100">
              <a:solidFill>
                <a:srgbClr val="64748B"/>
              </a:solidFill>
            </a:endParaRPr>
          </a:p>
        </p:txBody>
      </p:sp>
      <p:sp>
        <p:nvSpPr>
          <p:cNvPr id="20"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wo-Card Grid">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Subtitle"/>
          <p:cNvSpPr>
            <a:spLocks noGrp="1"/>
          </p:cNvSpPr>
          <p:nvPr>
            <p:ph type="body" idx="13"/>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3"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4" name="Card"/>
          <p:cNvSpPr/>
          <p:nvPr/>
        </p:nvSpPr>
        <p:spPr>
          <a:xfrm>
            <a:off x="609480" y="1760000"/>
            <a:ext cx="5330520" cy="3640000"/>
          </a:xfrm>
          <a:prstGeom prst="roundRect">
            <a:avLst>
              <a:gd name="adj" fmla="val 5500"/>
            </a:avLst>
          </a:prstGeom>
          <a:solidFill>
            <a:srgbClr val="FDEAD7"/>
          </a:solidFill>
          <a:ln w="0">
            <a:noFill/>
          </a:ln>
        </p:spPr>
        <p:txBody>
          <a:bodyPr/>
          <a:lstStyle/>
          <a:p>
            <a:endParaRPr lang="en-GB"/>
          </a:p>
        </p:txBody>
      </p:sp>
      <p:sp>
        <p:nvSpPr>
          <p:cNvPr id="15" name="CardAccent"/>
          <p:cNvSpPr/>
          <p:nvPr/>
        </p:nvSpPr>
        <p:spPr>
          <a:xfrm>
            <a:off x="609480" y="1760000"/>
            <a:ext cx="73152" cy="3640000"/>
          </a:xfrm>
          <a:prstGeom prst="rect">
            <a:avLst/>
          </a:prstGeom>
          <a:solidFill>
            <a:srgbClr val="F7941E"/>
          </a:solidFill>
          <a:ln w="0">
            <a:noFill/>
          </a:ln>
        </p:spPr>
        <p:txBody>
          <a:bodyPr/>
          <a:lstStyle/>
          <a:p>
            <a:endParaRPr lang="en-GB"/>
          </a:p>
        </p:txBody>
      </p:sp>
      <p:sp>
        <p:nvSpPr>
          <p:cNvPr id="16" name="Card 1 Heading"/>
          <p:cNvSpPr>
            <a:spLocks noGrp="1"/>
          </p:cNvSpPr>
          <p:nvPr>
            <p:ph type="body" idx="1"/>
          </p:nvPr>
        </p:nvSpPr>
        <p:spPr>
          <a:xfrm>
            <a:off x="859480" y="1910000"/>
            <a:ext cx="4880520" cy="460000"/>
          </a:xfrm>
          <a:prstGeom prst="rect">
            <a:avLst/>
          </a:prstGeom>
        </p:spPr>
        <p:txBody>
          <a:bodyPr lIns="0" tIns="0" rIns="0" bIns="0" anchor="t">
            <a:normAutofit/>
          </a:bodyPr>
          <a:lstStyle>
            <a:lvl1pPr marL="0" indent="0" algn="l">
              <a:defRPr sz="2000" b="1" i="0">
                <a:solidFill>
                  <a:srgbClr val="0F172A"/>
                </a:solidFill>
                <a:latin typeface="+mj-lt"/>
              </a:defRPr>
            </a:lvl1pPr>
          </a:lstStyle>
          <a:p>
            <a:endParaRPr lang="en-GB"/>
          </a:p>
        </p:txBody>
      </p:sp>
      <p:sp>
        <p:nvSpPr>
          <p:cNvPr id="17" name="Card 1 Body"/>
          <p:cNvSpPr>
            <a:spLocks noGrp="1"/>
          </p:cNvSpPr>
          <p:nvPr>
            <p:ph type="body" idx="2"/>
          </p:nvPr>
        </p:nvSpPr>
        <p:spPr>
          <a:xfrm>
            <a:off x="859480" y="2440000"/>
            <a:ext cx="4880520" cy="2800000"/>
          </a:xfrm>
          <a:prstGeom prst="rect">
            <a:avLst/>
          </a:prstGeom>
        </p:spPr>
        <p:txBody>
          <a:bodyPr lIns="0" tIns="0" rIns="0" bIns="0" anchor="t">
            <a:normAutofit/>
          </a:bodyPr>
          <a:lstStyle>
            <a:lvl1pPr marL="0" indent="0" algn="l">
              <a:lnSpc>
                <a:spcPct val="116000"/>
              </a:lnSpc>
              <a:defRPr sz="1600" b="0" i="0">
                <a:solidFill>
                  <a:srgbClr val="334155"/>
                </a:solidFill>
                <a:latin typeface="+mn-lt"/>
              </a:defRPr>
            </a:lvl1pPr>
          </a:lstStyle>
          <a:p>
            <a:endParaRPr lang="en-GB"/>
          </a:p>
        </p:txBody>
      </p:sp>
      <p:sp>
        <p:nvSpPr>
          <p:cNvPr id="18" name="Card"/>
          <p:cNvSpPr/>
          <p:nvPr/>
        </p:nvSpPr>
        <p:spPr>
          <a:xfrm>
            <a:off x="6252000" y="1760000"/>
            <a:ext cx="5330520" cy="3640000"/>
          </a:xfrm>
          <a:prstGeom prst="roundRect">
            <a:avLst>
              <a:gd name="adj" fmla="val 5500"/>
            </a:avLst>
          </a:prstGeom>
          <a:solidFill>
            <a:srgbClr val="DBEAFE"/>
          </a:solidFill>
          <a:ln w="0">
            <a:noFill/>
          </a:ln>
        </p:spPr>
        <p:txBody>
          <a:bodyPr/>
          <a:lstStyle/>
          <a:p>
            <a:endParaRPr lang="en-GB"/>
          </a:p>
        </p:txBody>
      </p:sp>
      <p:sp>
        <p:nvSpPr>
          <p:cNvPr id="19" name="CardAccent"/>
          <p:cNvSpPr/>
          <p:nvPr/>
        </p:nvSpPr>
        <p:spPr>
          <a:xfrm>
            <a:off x="6252000" y="1760000"/>
            <a:ext cx="73152" cy="3640000"/>
          </a:xfrm>
          <a:prstGeom prst="rect">
            <a:avLst/>
          </a:prstGeom>
          <a:solidFill>
            <a:srgbClr val="3B82F6"/>
          </a:solidFill>
          <a:ln w="0">
            <a:noFill/>
          </a:ln>
        </p:spPr>
        <p:txBody>
          <a:bodyPr/>
          <a:lstStyle/>
          <a:p>
            <a:endParaRPr lang="en-GB"/>
          </a:p>
        </p:txBody>
      </p:sp>
      <p:sp>
        <p:nvSpPr>
          <p:cNvPr id="20" name="Card 2 Heading"/>
          <p:cNvSpPr>
            <a:spLocks noGrp="1"/>
          </p:cNvSpPr>
          <p:nvPr>
            <p:ph type="body" idx="3"/>
          </p:nvPr>
        </p:nvSpPr>
        <p:spPr>
          <a:xfrm>
            <a:off x="6502000" y="1910000"/>
            <a:ext cx="4880520" cy="460000"/>
          </a:xfrm>
          <a:prstGeom prst="rect">
            <a:avLst/>
          </a:prstGeom>
        </p:spPr>
        <p:txBody>
          <a:bodyPr lIns="0" tIns="0" rIns="0" bIns="0" anchor="t">
            <a:normAutofit/>
          </a:bodyPr>
          <a:lstStyle>
            <a:lvl1pPr marL="0" indent="0" algn="l">
              <a:defRPr sz="2000" b="1" i="0">
                <a:solidFill>
                  <a:srgbClr val="0F172A"/>
                </a:solidFill>
                <a:latin typeface="+mj-lt"/>
              </a:defRPr>
            </a:lvl1pPr>
          </a:lstStyle>
          <a:p>
            <a:endParaRPr lang="en-GB"/>
          </a:p>
        </p:txBody>
      </p:sp>
      <p:sp>
        <p:nvSpPr>
          <p:cNvPr id="21" name="Card 2 Body"/>
          <p:cNvSpPr>
            <a:spLocks noGrp="1"/>
          </p:cNvSpPr>
          <p:nvPr>
            <p:ph type="body" idx="4"/>
          </p:nvPr>
        </p:nvSpPr>
        <p:spPr>
          <a:xfrm>
            <a:off x="6502000" y="2440000"/>
            <a:ext cx="4880520" cy="2800000"/>
          </a:xfrm>
          <a:prstGeom prst="rect">
            <a:avLst/>
          </a:prstGeom>
        </p:spPr>
        <p:txBody>
          <a:bodyPr lIns="0" tIns="0" rIns="0" bIns="0" anchor="t">
            <a:normAutofit/>
          </a:bodyPr>
          <a:lstStyle>
            <a:lvl1pPr marL="0" indent="0" algn="l">
              <a:lnSpc>
                <a:spcPct val="116000"/>
              </a:lnSpc>
              <a:defRPr sz="1600" b="0" i="0">
                <a:solidFill>
                  <a:srgbClr val="334155"/>
                </a:solidFill>
                <a:latin typeface="+mn-lt"/>
              </a:defRPr>
            </a:lvl1pPr>
          </a:lstStyle>
          <a:p>
            <a:endParaRPr lang="en-GB"/>
          </a:p>
        </p:txBody>
      </p:sp>
      <p:sp>
        <p:nvSpPr>
          <p:cNvPr id="22"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23"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24"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25"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26"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26}" type="slidenum">
              <a:rPr lang="en-GB" sz="1100">
                <a:solidFill>
                  <a:srgbClr val="64748B"/>
                </a:solidFill>
              </a:rPr>
              <a:t>‹#›</a:t>
            </a:fld>
            <a:endParaRPr lang="en-GB" sz="1100">
              <a:solidFill>
                <a:srgbClr val="64748B"/>
              </a:solidFill>
            </a:endParaRPr>
          </a:p>
        </p:txBody>
      </p:sp>
      <p:sp>
        <p:nvSpPr>
          <p:cNvPr id="27"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hree-Card Grid">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Subtitle"/>
          <p:cNvSpPr>
            <a:spLocks noGrp="1"/>
          </p:cNvSpPr>
          <p:nvPr>
            <p:ph type="body" idx="13"/>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3"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4" name="Card"/>
          <p:cNvSpPr/>
          <p:nvPr/>
        </p:nvSpPr>
        <p:spPr>
          <a:xfrm>
            <a:off x="609480" y="1760000"/>
            <a:ext cx="3449680" cy="3640000"/>
          </a:xfrm>
          <a:prstGeom prst="roundRect">
            <a:avLst>
              <a:gd name="adj" fmla="val 5500"/>
            </a:avLst>
          </a:prstGeom>
          <a:solidFill>
            <a:srgbClr val="FDEAD7"/>
          </a:solidFill>
          <a:ln w="0">
            <a:noFill/>
          </a:ln>
        </p:spPr>
        <p:txBody>
          <a:bodyPr/>
          <a:lstStyle/>
          <a:p>
            <a:endParaRPr lang="en-GB"/>
          </a:p>
        </p:txBody>
      </p:sp>
      <p:sp>
        <p:nvSpPr>
          <p:cNvPr id="15" name="CardAccent"/>
          <p:cNvSpPr/>
          <p:nvPr/>
        </p:nvSpPr>
        <p:spPr>
          <a:xfrm>
            <a:off x="609480" y="1760000"/>
            <a:ext cx="73152" cy="3640000"/>
          </a:xfrm>
          <a:prstGeom prst="rect">
            <a:avLst/>
          </a:prstGeom>
          <a:solidFill>
            <a:srgbClr val="F7941E"/>
          </a:solidFill>
          <a:ln w="0">
            <a:noFill/>
          </a:ln>
        </p:spPr>
        <p:txBody>
          <a:bodyPr/>
          <a:lstStyle/>
          <a:p>
            <a:endParaRPr lang="en-GB"/>
          </a:p>
        </p:txBody>
      </p:sp>
      <p:sp>
        <p:nvSpPr>
          <p:cNvPr id="16" name="Card 1 Heading"/>
          <p:cNvSpPr>
            <a:spLocks noGrp="1"/>
          </p:cNvSpPr>
          <p:nvPr>
            <p:ph type="body" idx="1"/>
          </p:nvPr>
        </p:nvSpPr>
        <p:spPr>
          <a:xfrm>
            <a:off x="859480" y="1910000"/>
            <a:ext cx="2999680" cy="460000"/>
          </a:xfrm>
          <a:prstGeom prst="rect">
            <a:avLst/>
          </a:prstGeom>
        </p:spPr>
        <p:txBody>
          <a:bodyPr lIns="0" tIns="0" rIns="0" bIns="0" anchor="t">
            <a:normAutofit/>
          </a:bodyPr>
          <a:lstStyle>
            <a:lvl1pPr marL="0" indent="0" algn="l">
              <a:defRPr sz="2000" b="1" i="0">
                <a:solidFill>
                  <a:srgbClr val="0F172A"/>
                </a:solidFill>
                <a:latin typeface="+mj-lt"/>
              </a:defRPr>
            </a:lvl1pPr>
          </a:lstStyle>
          <a:p>
            <a:endParaRPr lang="en-GB"/>
          </a:p>
        </p:txBody>
      </p:sp>
      <p:sp>
        <p:nvSpPr>
          <p:cNvPr id="17" name="Card 1 Body"/>
          <p:cNvSpPr>
            <a:spLocks noGrp="1"/>
          </p:cNvSpPr>
          <p:nvPr>
            <p:ph type="body" idx="2"/>
          </p:nvPr>
        </p:nvSpPr>
        <p:spPr>
          <a:xfrm>
            <a:off x="859480" y="2440000"/>
            <a:ext cx="2999680" cy="2800000"/>
          </a:xfrm>
          <a:prstGeom prst="rect">
            <a:avLst/>
          </a:prstGeom>
        </p:spPr>
        <p:txBody>
          <a:bodyPr lIns="0" tIns="0" rIns="0" bIns="0" anchor="t">
            <a:normAutofit/>
          </a:bodyPr>
          <a:lstStyle>
            <a:lvl1pPr marL="0" indent="0" algn="l">
              <a:lnSpc>
                <a:spcPct val="116000"/>
              </a:lnSpc>
              <a:defRPr sz="1600" b="0" i="0">
                <a:solidFill>
                  <a:srgbClr val="334155"/>
                </a:solidFill>
                <a:latin typeface="+mn-lt"/>
              </a:defRPr>
            </a:lvl1pPr>
          </a:lstStyle>
          <a:p>
            <a:endParaRPr lang="en-GB"/>
          </a:p>
        </p:txBody>
      </p:sp>
      <p:sp>
        <p:nvSpPr>
          <p:cNvPr id="18" name="Card"/>
          <p:cNvSpPr/>
          <p:nvPr/>
        </p:nvSpPr>
        <p:spPr>
          <a:xfrm>
            <a:off x="4371160" y="1760000"/>
            <a:ext cx="3449680" cy="3640000"/>
          </a:xfrm>
          <a:prstGeom prst="roundRect">
            <a:avLst>
              <a:gd name="adj" fmla="val 5500"/>
            </a:avLst>
          </a:prstGeom>
          <a:solidFill>
            <a:srgbClr val="DBEAFE"/>
          </a:solidFill>
          <a:ln w="0">
            <a:noFill/>
          </a:ln>
        </p:spPr>
        <p:txBody>
          <a:bodyPr/>
          <a:lstStyle/>
          <a:p>
            <a:endParaRPr lang="en-GB"/>
          </a:p>
        </p:txBody>
      </p:sp>
      <p:sp>
        <p:nvSpPr>
          <p:cNvPr id="19" name="CardAccent"/>
          <p:cNvSpPr/>
          <p:nvPr/>
        </p:nvSpPr>
        <p:spPr>
          <a:xfrm>
            <a:off x="4371160" y="1760000"/>
            <a:ext cx="73152" cy="3640000"/>
          </a:xfrm>
          <a:prstGeom prst="rect">
            <a:avLst/>
          </a:prstGeom>
          <a:solidFill>
            <a:srgbClr val="3B82F6"/>
          </a:solidFill>
          <a:ln w="0">
            <a:noFill/>
          </a:ln>
        </p:spPr>
        <p:txBody>
          <a:bodyPr/>
          <a:lstStyle/>
          <a:p>
            <a:endParaRPr lang="en-GB"/>
          </a:p>
        </p:txBody>
      </p:sp>
      <p:sp>
        <p:nvSpPr>
          <p:cNvPr id="20" name="Card 2 Heading"/>
          <p:cNvSpPr>
            <a:spLocks noGrp="1"/>
          </p:cNvSpPr>
          <p:nvPr>
            <p:ph type="body" idx="3"/>
          </p:nvPr>
        </p:nvSpPr>
        <p:spPr>
          <a:xfrm>
            <a:off x="4621160" y="1910000"/>
            <a:ext cx="2999680" cy="460000"/>
          </a:xfrm>
          <a:prstGeom prst="rect">
            <a:avLst/>
          </a:prstGeom>
        </p:spPr>
        <p:txBody>
          <a:bodyPr lIns="0" tIns="0" rIns="0" bIns="0" anchor="t">
            <a:normAutofit/>
          </a:bodyPr>
          <a:lstStyle>
            <a:lvl1pPr marL="0" indent="0" algn="l">
              <a:defRPr sz="2000" b="1" i="0">
                <a:solidFill>
                  <a:srgbClr val="0F172A"/>
                </a:solidFill>
                <a:latin typeface="+mj-lt"/>
              </a:defRPr>
            </a:lvl1pPr>
          </a:lstStyle>
          <a:p>
            <a:endParaRPr lang="en-GB"/>
          </a:p>
        </p:txBody>
      </p:sp>
      <p:sp>
        <p:nvSpPr>
          <p:cNvPr id="21" name="Card 2 Body"/>
          <p:cNvSpPr>
            <a:spLocks noGrp="1"/>
          </p:cNvSpPr>
          <p:nvPr>
            <p:ph type="body" idx="4"/>
          </p:nvPr>
        </p:nvSpPr>
        <p:spPr>
          <a:xfrm>
            <a:off x="4621160" y="2440000"/>
            <a:ext cx="2999680" cy="2800000"/>
          </a:xfrm>
          <a:prstGeom prst="rect">
            <a:avLst/>
          </a:prstGeom>
        </p:spPr>
        <p:txBody>
          <a:bodyPr lIns="0" tIns="0" rIns="0" bIns="0" anchor="t">
            <a:normAutofit/>
          </a:bodyPr>
          <a:lstStyle>
            <a:lvl1pPr marL="0" indent="0" algn="l">
              <a:lnSpc>
                <a:spcPct val="116000"/>
              </a:lnSpc>
              <a:defRPr sz="1600" b="0" i="0">
                <a:solidFill>
                  <a:srgbClr val="334155"/>
                </a:solidFill>
                <a:latin typeface="+mn-lt"/>
              </a:defRPr>
            </a:lvl1pPr>
          </a:lstStyle>
          <a:p>
            <a:endParaRPr lang="en-GB"/>
          </a:p>
        </p:txBody>
      </p:sp>
      <p:sp>
        <p:nvSpPr>
          <p:cNvPr id="22" name="Card"/>
          <p:cNvSpPr/>
          <p:nvPr/>
        </p:nvSpPr>
        <p:spPr>
          <a:xfrm>
            <a:off x="8132840" y="1760000"/>
            <a:ext cx="3449680" cy="3640000"/>
          </a:xfrm>
          <a:prstGeom prst="roundRect">
            <a:avLst>
              <a:gd name="adj" fmla="val 5500"/>
            </a:avLst>
          </a:prstGeom>
          <a:solidFill>
            <a:srgbClr val="D1FAE5"/>
          </a:solidFill>
          <a:ln w="0">
            <a:noFill/>
          </a:ln>
        </p:spPr>
        <p:txBody>
          <a:bodyPr/>
          <a:lstStyle/>
          <a:p>
            <a:endParaRPr lang="en-GB"/>
          </a:p>
        </p:txBody>
      </p:sp>
      <p:sp>
        <p:nvSpPr>
          <p:cNvPr id="23" name="CardAccent"/>
          <p:cNvSpPr/>
          <p:nvPr/>
        </p:nvSpPr>
        <p:spPr>
          <a:xfrm>
            <a:off x="8132840" y="1760000"/>
            <a:ext cx="73152" cy="3640000"/>
          </a:xfrm>
          <a:prstGeom prst="rect">
            <a:avLst/>
          </a:prstGeom>
          <a:solidFill>
            <a:srgbClr val="10B981"/>
          </a:solidFill>
          <a:ln w="0">
            <a:noFill/>
          </a:ln>
        </p:spPr>
        <p:txBody>
          <a:bodyPr/>
          <a:lstStyle/>
          <a:p>
            <a:endParaRPr lang="en-GB"/>
          </a:p>
        </p:txBody>
      </p:sp>
      <p:sp>
        <p:nvSpPr>
          <p:cNvPr id="24" name="Card 3 Heading"/>
          <p:cNvSpPr>
            <a:spLocks noGrp="1"/>
          </p:cNvSpPr>
          <p:nvPr>
            <p:ph type="body" idx="5"/>
          </p:nvPr>
        </p:nvSpPr>
        <p:spPr>
          <a:xfrm>
            <a:off x="8382840" y="1910000"/>
            <a:ext cx="2999680" cy="460000"/>
          </a:xfrm>
          <a:prstGeom prst="rect">
            <a:avLst/>
          </a:prstGeom>
        </p:spPr>
        <p:txBody>
          <a:bodyPr lIns="0" tIns="0" rIns="0" bIns="0" anchor="t">
            <a:normAutofit/>
          </a:bodyPr>
          <a:lstStyle>
            <a:lvl1pPr marL="0" indent="0" algn="l">
              <a:defRPr sz="2000" b="1" i="0">
                <a:solidFill>
                  <a:srgbClr val="0F172A"/>
                </a:solidFill>
                <a:latin typeface="+mj-lt"/>
              </a:defRPr>
            </a:lvl1pPr>
          </a:lstStyle>
          <a:p>
            <a:endParaRPr lang="en-GB"/>
          </a:p>
        </p:txBody>
      </p:sp>
      <p:sp>
        <p:nvSpPr>
          <p:cNvPr id="25" name="Card 3 Body"/>
          <p:cNvSpPr>
            <a:spLocks noGrp="1"/>
          </p:cNvSpPr>
          <p:nvPr>
            <p:ph type="body" idx="6"/>
          </p:nvPr>
        </p:nvSpPr>
        <p:spPr>
          <a:xfrm>
            <a:off x="8382840" y="2440000"/>
            <a:ext cx="2999680" cy="2800000"/>
          </a:xfrm>
          <a:prstGeom prst="rect">
            <a:avLst/>
          </a:prstGeom>
        </p:spPr>
        <p:txBody>
          <a:bodyPr lIns="0" tIns="0" rIns="0" bIns="0" anchor="t">
            <a:normAutofit/>
          </a:bodyPr>
          <a:lstStyle>
            <a:lvl1pPr marL="0" indent="0" algn="l">
              <a:lnSpc>
                <a:spcPct val="116000"/>
              </a:lnSpc>
              <a:defRPr sz="1600" b="0" i="0">
                <a:solidFill>
                  <a:srgbClr val="334155"/>
                </a:solidFill>
                <a:latin typeface="+mn-lt"/>
              </a:defRPr>
            </a:lvl1pPr>
          </a:lstStyle>
          <a:p>
            <a:endParaRPr lang="en-GB"/>
          </a:p>
        </p:txBody>
      </p:sp>
      <p:sp>
        <p:nvSpPr>
          <p:cNvPr id="26"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27"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28"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29"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30"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30}" type="slidenum">
              <a:rPr lang="en-GB" sz="1100">
                <a:solidFill>
                  <a:srgbClr val="64748B"/>
                </a:solidFill>
              </a:rPr>
              <a:t>‹#›</a:t>
            </a:fld>
            <a:endParaRPr lang="en-GB" sz="1100">
              <a:solidFill>
                <a:srgbClr val="64748B"/>
              </a:solidFill>
            </a:endParaRPr>
          </a:p>
        </p:txBody>
      </p:sp>
      <p:sp>
        <p:nvSpPr>
          <p:cNvPr id="31"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Four-Card Grid">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Subtitle"/>
          <p:cNvSpPr>
            <a:spLocks noGrp="1"/>
          </p:cNvSpPr>
          <p:nvPr>
            <p:ph type="body" idx="13"/>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3"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4" name="Card"/>
          <p:cNvSpPr/>
          <p:nvPr/>
        </p:nvSpPr>
        <p:spPr>
          <a:xfrm>
            <a:off x="609480" y="1760000"/>
            <a:ext cx="5330520" cy="1760000"/>
          </a:xfrm>
          <a:prstGeom prst="roundRect">
            <a:avLst>
              <a:gd name="adj" fmla="val 5500"/>
            </a:avLst>
          </a:prstGeom>
          <a:solidFill>
            <a:srgbClr val="FDEAD7"/>
          </a:solidFill>
          <a:ln w="0">
            <a:noFill/>
          </a:ln>
        </p:spPr>
        <p:txBody>
          <a:bodyPr/>
          <a:lstStyle/>
          <a:p>
            <a:endParaRPr lang="en-GB"/>
          </a:p>
        </p:txBody>
      </p:sp>
      <p:sp>
        <p:nvSpPr>
          <p:cNvPr id="15" name="CardAccent"/>
          <p:cNvSpPr/>
          <p:nvPr/>
        </p:nvSpPr>
        <p:spPr>
          <a:xfrm>
            <a:off x="609480" y="1760000"/>
            <a:ext cx="73152" cy="1760000"/>
          </a:xfrm>
          <a:prstGeom prst="rect">
            <a:avLst/>
          </a:prstGeom>
          <a:solidFill>
            <a:srgbClr val="F7941E"/>
          </a:solidFill>
          <a:ln w="0">
            <a:noFill/>
          </a:ln>
        </p:spPr>
        <p:txBody>
          <a:bodyPr/>
          <a:lstStyle/>
          <a:p>
            <a:endParaRPr lang="en-GB"/>
          </a:p>
        </p:txBody>
      </p:sp>
      <p:sp>
        <p:nvSpPr>
          <p:cNvPr id="16" name="Card 1 Heading"/>
          <p:cNvSpPr>
            <a:spLocks noGrp="1"/>
          </p:cNvSpPr>
          <p:nvPr>
            <p:ph type="body" idx="1"/>
          </p:nvPr>
        </p:nvSpPr>
        <p:spPr>
          <a:xfrm>
            <a:off x="859480" y="1910000"/>
            <a:ext cx="488052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17" name="Card 1 Body"/>
          <p:cNvSpPr>
            <a:spLocks noGrp="1"/>
          </p:cNvSpPr>
          <p:nvPr>
            <p:ph type="body" idx="2"/>
          </p:nvPr>
        </p:nvSpPr>
        <p:spPr>
          <a:xfrm>
            <a:off x="859480" y="2440000"/>
            <a:ext cx="4880520" cy="92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18" name="Card"/>
          <p:cNvSpPr/>
          <p:nvPr/>
        </p:nvSpPr>
        <p:spPr>
          <a:xfrm>
            <a:off x="6252000" y="1760000"/>
            <a:ext cx="5330520" cy="1760000"/>
          </a:xfrm>
          <a:prstGeom prst="roundRect">
            <a:avLst>
              <a:gd name="adj" fmla="val 5500"/>
            </a:avLst>
          </a:prstGeom>
          <a:solidFill>
            <a:srgbClr val="DBEAFE"/>
          </a:solidFill>
          <a:ln w="0">
            <a:noFill/>
          </a:ln>
        </p:spPr>
        <p:txBody>
          <a:bodyPr/>
          <a:lstStyle/>
          <a:p>
            <a:endParaRPr lang="en-GB"/>
          </a:p>
        </p:txBody>
      </p:sp>
      <p:sp>
        <p:nvSpPr>
          <p:cNvPr id="19" name="CardAccent"/>
          <p:cNvSpPr/>
          <p:nvPr/>
        </p:nvSpPr>
        <p:spPr>
          <a:xfrm>
            <a:off x="6252000" y="1760000"/>
            <a:ext cx="73152" cy="1760000"/>
          </a:xfrm>
          <a:prstGeom prst="rect">
            <a:avLst/>
          </a:prstGeom>
          <a:solidFill>
            <a:srgbClr val="3B82F6"/>
          </a:solidFill>
          <a:ln w="0">
            <a:noFill/>
          </a:ln>
        </p:spPr>
        <p:txBody>
          <a:bodyPr/>
          <a:lstStyle/>
          <a:p>
            <a:endParaRPr lang="en-GB"/>
          </a:p>
        </p:txBody>
      </p:sp>
      <p:sp>
        <p:nvSpPr>
          <p:cNvPr id="20" name="Card 2 Heading"/>
          <p:cNvSpPr>
            <a:spLocks noGrp="1"/>
          </p:cNvSpPr>
          <p:nvPr>
            <p:ph type="body" idx="3"/>
          </p:nvPr>
        </p:nvSpPr>
        <p:spPr>
          <a:xfrm>
            <a:off x="6502000" y="1910000"/>
            <a:ext cx="488052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1" name="Card 2 Body"/>
          <p:cNvSpPr>
            <a:spLocks noGrp="1"/>
          </p:cNvSpPr>
          <p:nvPr>
            <p:ph type="body" idx="4"/>
          </p:nvPr>
        </p:nvSpPr>
        <p:spPr>
          <a:xfrm>
            <a:off x="6502000" y="2440000"/>
            <a:ext cx="4880520" cy="92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22" name="Card"/>
          <p:cNvSpPr/>
          <p:nvPr/>
        </p:nvSpPr>
        <p:spPr>
          <a:xfrm>
            <a:off x="609480" y="3750000"/>
            <a:ext cx="5330520" cy="1760000"/>
          </a:xfrm>
          <a:prstGeom prst="roundRect">
            <a:avLst>
              <a:gd name="adj" fmla="val 5500"/>
            </a:avLst>
          </a:prstGeom>
          <a:solidFill>
            <a:srgbClr val="D1FAE5"/>
          </a:solidFill>
          <a:ln w="0">
            <a:noFill/>
          </a:ln>
        </p:spPr>
        <p:txBody>
          <a:bodyPr/>
          <a:lstStyle/>
          <a:p>
            <a:endParaRPr lang="en-GB"/>
          </a:p>
        </p:txBody>
      </p:sp>
      <p:sp>
        <p:nvSpPr>
          <p:cNvPr id="23" name="CardAccent"/>
          <p:cNvSpPr/>
          <p:nvPr/>
        </p:nvSpPr>
        <p:spPr>
          <a:xfrm>
            <a:off x="609480" y="3750000"/>
            <a:ext cx="73152" cy="1760000"/>
          </a:xfrm>
          <a:prstGeom prst="rect">
            <a:avLst/>
          </a:prstGeom>
          <a:solidFill>
            <a:srgbClr val="10B981"/>
          </a:solidFill>
          <a:ln w="0">
            <a:noFill/>
          </a:ln>
        </p:spPr>
        <p:txBody>
          <a:bodyPr/>
          <a:lstStyle/>
          <a:p>
            <a:endParaRPr lang="en-GB"/>
          </a:p>
        </p:txBody>
      </p:sp>
      <p:sp>
        <p:nvSpPr>
          <p:cNvPr id="24" name="Card 3 Heading"/>
          <p:cNvSpPr>
            <a:spLocks noGrp="1"/>
          </p:cNvSpPr>
          <p:nvPr>
            <p:ph type="body" idx="5"/>
          </p:nvPr>
        </p:nvSpPr>
        <p:spPr>
          <a:xfrm>
            <a:off x="859480" y="3900000"/>
            <a:ext cx="488052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5" name="Card 3 Body"/>
          <p:cNvSpPr>
            <a:spLocks noGrp="1"/>
          </p:cNvSpPr>
          <p:nvPr>
            <p:ph type="body" idx="6"/>
          </p:nvPr>
        </p:nvSpPr>
        <p:spPr>
          <a:xfrm>
            <a:off x="859480" y="4430000"/>
            <a:ext cx="4880520" cy="92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26" name="Card"/>
          <p:cNvSpPr/>
          <p:nvPr/>
        </p:nvSpPr>
        <p:spPr>
          <a:xfrm>
            <a:off x="6252000" y="3750000"/>
            <a:ext cx="5330520" cy="1760000"/>
          </a:xfrm>
          <a:prstGeom prst="roundRect">
            <a:avLst>
              <a:gd name="adj" fmla="val 5500"/>
            </a:avLst>
          </a:prstGeom>
          <a:solidFill>
            <a:srgbClr val="EDE9FE"/>
          </a:solidFill>
          <a:ln w="0">
            <a:noFill/>
          </a:ln>
        </p:spPr>
        <p:txBody>
          <a:bodyPr/>
          <a:lstStyle/>
          <a:p>
            <a:endParaRPr lang="en-GB"/>
          </a:p>
        </p:txBody>
      </p:sp>
      <p:sp>
        <p:nvSpPr>
          <p:cNvPr id="27" name="CardAccent"/>
          <p:cNvSpPr/>
          <p:nvPr/>
        </p:nvSpPr>
        <p:spPr>
          <a:xfrm>
            <a:off x="6252000" y="3750000"/>
            <a:ext cx="73152" cy="1760000"/>
          </a:xfrm>
          <a:prstGeom prst="rect">
            <a:avLst/>
          </a:prstGeom>
          <a:solidFill>
            <a:srgbClr val="8B5CF6"/>
          </a:solidFill>
          <a:ln w="0">
            <a:noFill/>
          </a:ln>
        </p:spPr>
        <p:txBody>
          <a:bodyPr/>
          <a:lstStyle/>
          <a:p>
            <a:endParaRPr lang="en-GB"/>
          </a:p>
        </p:txBody>
      </p:sp>
      <p:sp>
        <p:nvSpPr>
          <p:cNvPr id="28" name="Card 4 Heading"/>
          <p:cNvSpPr>
            <a:spLocks noGrp="1"/>
          </p:cNvSpPr>
          <p:nvPr>
            <p:ph type="body" idx="7"/>
          </p:nvPr>
        </p:nvSpPr>
        <p:spPr>
          <a:xfrm>
            <a:off x="6502000" y="3900000"/>
            <a:ext cx="488052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9" name="Card 4 Body"/>
          <p:cNvSpPr>
            <a:spLocks noGrp="1"/>
          </p:cNvSpPr>
          <p:nvPr>
            <p:ph type="body" idx="8"/>
          </p:nvPr>
        </p:nvSpPr>
        <p:spPr>
          <a:xfrm>
            <a:off x="6502000" y="4430000"/>
            <a:ext cx="4880520" cy="92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30"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31"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32"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33"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34"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34}" type="slidenum">
              <a:rPr lang="en-GB" sz="1100">
                <a:solidFill>
                  <a:srgbClr val="64748B"/>
                </a:solidFill>
              </a:rPr>
              <a:t>‹#›</a:t>
            </a:fld>
            <a:endParaRPr lang="en-GB" sz="1100">
              <a:solidFill>
                <a:srgbClr val="64748B"/>
              </a:solidFill>
            </a:endParaRPr>
          </a:p>
        </p:txBody>
      </p:sp>
      <p:sp>
        <p:nvSpPr>
          <p:cNvPr id="35"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Five-Card Grid">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Subtitle"/>
          <p:cNvSpPr>
            <a:spLocks noGrp="1"/>
          </p:cNvSpPr>
          <p:nvPr>
            <p:ph type="body" idx="13"/>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3"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4" name="Card"/>
          <p:cNvSpPr/>
          <p:nvPr/>
        </p:nvSpPr>
        <p:spPr>
          <a:xfrm>
            <a:off x="609480" y="1760000"/>
            <a:ext cx="3449680" cy="1790000"/>
          </a:xfrm>
          <a:prstGeom prst="roundRect">
            <a:avLst>
              <a:gd name="adj" fmla="val 5500"/>
            </a:avLst>
          </a:prstGeom>
          <a:solidFill>
            <a:srgbClr val="FDEAD7"/>
          </a:solidFill>
          <a:ln w="0">
            <a:noFill/>
          </a:ln>
        </p:spPr>
        <p:txBody>
          <a:bodyPr/>
          <a:lstStyle/>
          <a:p>
            <a:endParaRPr lang="en-GB"/>
          </a:p>
        </p:txBody>
      </p:sp>
      <p:sp>
        <p:nvSpPr>
          <p:cNvPr id="15" name="CardAccent"/>
          <p:cNvSpPr/>
          <p:nvPr/>
        </p:nvSpPr>
        <p:spPr>
          <a:xfrm>
            <a:off x="609480" y="1760000"/>
            <a:ext cx="73152" cy="1790000"/>
          </a:xfrm>
          <a:prstGeom prst="rect">
            <a:avLst/>
          </a:prstGeom>
          <a:solidFill>
            <a:srgbClr val="F7941E"/>
          </a:solidFill>
          <a:ln w="0">
            <a:noFill/>
          </a:ln>
        </p:spPr>
        <p:txBody>
          <a:bodyPr/>
          <a:lstStyle/>
          <a:p>
            <a:endParaRPr lang="en-GB"/>
          </a:p>
        </p:txBody>
      </p:sp>
      <p:sp>
        <p:nvSpPr>
          <p:cNvPr id="16" name="Card 1 Heading"/>
          <p:cNvSpPr>
            <a:spLocks noGrp="1"/>
          </p:cNvSpPr>
          <p:nvPr>
            <p:ph type="body" idx="1"/>
          </p:nvPr>
        </p:nvSpPr>
        <p:spPr>
          <a:xfrm>
            <a:off x="859480" y="191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17" name="Card 1 Body"/>
          <p:cNvSpPr>
            <a:spLocks noGrp="1"/>
          </p:cNvSpPr>
          <p:nvPr>
            <p:ph type="body" idx="2"/>
          </p:nvPr>
        </p:nvSpPr>
        <p:spPr>
          <a:xfrm>
            <a:off x="859480" y="244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18" name="Card"/>
          <p:cNvSpPr/>
          <p:nvPr/>
        </p:nvSpPr>
        <p:spPr>
          <a:xfrm>
            <a:off x="4371160" y="1760000"/>
            <a:ext cx="3449680" cy="1790000"/>
          </a:xfrm>
          <a:prstGeom prst="roundRect">
            <a:avLst>
              <a:gd name="adj" fmla="val 5500"/>
            </a:avLst>
          </a:prstGeom>
          <a:solidFill>
            <a:srgbClr val="DBEAFE"/>
          </a:solidFill>
          <a:ln w="0">
            <a:noFill/>
          </a:ln>
        </p:spPr>
        <p:txBody>
          <a:bodyPr/>
          <a:lstStyle/>
          <a:p>
            <a:endParaRPr lang="en-GB"/>
          </a:p>
        </p:txBody>
      </p:sp>
      <p:sp>
        <p:nvSpPr>
          <p:cNvPr id="19" name="CardAccent"/>
          <p:cNvSpPr/>
          <p:nvPr/>
        </p:nvSpPr>
        <p:spPr>
          <a:xfrm>
            <a:off x="4371160" y="1760000"/>
            <a:ext cx="73152" cy="1790000"/>
          </a:xfrm>
          <a:prstGeom prst="rect">
            <a:avLst/>
          </a:prstGeom>
          <a:solidFill>
            <a:srgbClr val="3B82F6"/>
          </a:solidFill>
          <a:ln w="0">
            <a:noFill/>
          </a:ln>
        </p:spPr>
        <p:txBody>
          <a:bodyPr/>
          <a:lstStyle/>
          <a:p>
            <a:endParaRPr lang="en-GB"/>
          </a:p>
        </p:txBody>
      </p:sp>
      <p:sp>
        <p:nvSpPr>
          <p:cNvPr id="20" name="Card 2 Heading"/>
          <p:cNvSpPr>
            <a:spLocks noGrp="1"/>
          </p:cNvSpPr>
          <p:nvPr>
            <p:ph type="body" idx="3"/>
          </p:nvPr>
        </p:nvSpPr>
        <p:spPr>
          <a:xfrm>
            <a:off x="4621160" y="191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1" name="Card 2 Body"/>
          <p:cNvSpPr>
            <a:spLocks noGrp="1"/>
          </p:cNvSpPr>
          <p:nvPr>
            <p:ph type="body" idx="4"/>
          </p:nvPr>
        </p:nvSpPr>
        <p:spPr>
          <a:xfrm>
            <a:off x="4621160" y="244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22" name="Card"/>
          <p:cNvSpPr/>
          <p:nvPr/>
        </p:nvSpPr>
        <p:spPr>
          <a:xfrm>
            <a:off x="8132840" y="1760000"/>
            <a:ext cx="3449680" cy="1790000"/>
          </a:xfrm>
          <a:prstGeom prst="roundRect">
            <a:avLst>
              <a:gd name="adj" fmla="val 5500"/>
            </a:avLst>
          </a:prstGeom>
          <a:solidFill>
            <a:srgbClr val="D1FAE5"/>
          </a:solidFill>
          <a:ln w="0">
            <a:noFill/>
          </a:ln>
        </p:spPr>
        <p:txBody>
          <a:bodyPr/>
          <a:lstStyle/>
          <a:p>
            <a:endParaRPr lang="en-GB"/>
          </a:p>
        </p:txBody>
      </p:sp>
      <p:sp>
        <p:nvSpPr>
          <p:cNvPr id="23" name="CardAccent"/>
          <p:cNvSpPr/>
          <p:nvPr/>
        </p:nvSpPr>
        <p:spPr>
          <a:xfrm>
            <a:off x="8132840" y="1760000"/>
            <a:ext cx="73152" cy="1790000"/>
          </a:xfrm>
          <a:prstGeom prst="rect">
            <a:avLst/>
          </a:prstGeom>
          <a:solidFill>
            <a:srgbClr val="10B981"/>
          </a:solidFill>
          <a:ln w="0">
            <a:noFill/>
          </a:ln>
        </p:spPr>
        <p:txBody>
          <a:bodyPr/>
          <a:lstStyle/>
          <a:p>
            <a:endParaRPr lang="en-GB"/>
          </a:p>
        </p:txBody>
      </p:sp>
      <p:sp>
        <p:nvSpPr>
          <p:cNvPr id="24" name="Card 3 Heading"/>
          <p:cNvSpPr>
            <a:spLocks noGrp="1"/>
          </p:cNvSpPr>
          <p:nvPr>
            <p:ph type="body" idx="5"/>
          </p:nvPr>
        </p:nvSpPr>
        <p:spPr>
          <a:xfrm>
            <a:off x="8382840" y="191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5" name="Card 3 Body"/>
          <p:cNvSpPr>
            <a:spLocks noGrp="1"/>
          </p:cNvSpPr>
          <p:nvPr>
            <p:ph type="body" idx="6"/>
          </p:nvPr>
        </p:nvSpPr>
        <p:spPr>
          <a:xfrm>
            <a:off x="8382840" y="244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26" name="Card"/>
          <p:cNvSpPr/>
          <p:nvPr/>
        </p:nvSpPr>
        <p:spPr>
          <a:xfrm>
            <a:off x="2490320" y="3780000"/>
            <a:ext cx="3449680" cy="1790000"/>
          </a:xfrm>
          <a:prstGeom prst="roundRect">
            <a:avLst>
              <a:gd name="adj" fmla="val 5500"/>
            </a:avLst>
          </a:prstGeom>
          <a:solidFill>
            <a:srgbClr val="EDE9FE"/>
          </a:solidFill>
          <a:ln w="0">
            <a:noFill/>
          </a:ln>
        </p:spPr>
        <p:txBody>
          <a:bodyPr/>
          <a:lstStyle/>
          <a:p>
            <a:endParaRPr lang="en-GB"/>
          </a:p>
        </p:txBody>
      </p:sp>
      <p:sp>
        <p:nvSpPr>
          <p:cNvPr id="27" name="CardAccent"/>
          <p:cNvSpPr/>
          <p:nvPr/>
        </p:nvSpPr>
        <p:spPr>
          <a:xfrm>
            <a:off x="2490320" y="3780000"/>
            <a:ext cx="73152" cy="1790000"/>
          </a:xfrm>
          <a:prstGeom prst="rect">
            <a:avLst/>
          </a:prstGeom>
          <a:solidFill>
            <a:srgbClr val="8B5CF6"/>
          </a:solidFill>
          <a:ln w="0">
            <a:noFill/>
          </a:ln>
        </p:spPr>
        <p:txBody>
          <a:bodyPr/>
          <a:lstStyle/>
          <a:p>
            <a:endParaRPr lang="en-GB"/>
          </a:p>
        </p:txBody>
      </p:sp>
      <p:sp>
        <p:nvSpPr>
          <p:cNvPr id="28" name="Card 4 Heading"/>
          <p:cNvSpPr>
            <a:spLocks noGrp="1"/>
          </p:cNvSpPr>
          <p:nvPr>
            <p:ph type="body" idx="7"/>
          </p:nvPr>
        </p:nvSpPr>
        <p:spPr>
          <a:xfrm>
            <a:off x="2740320" y="393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9" name="Card 4 Body"/>
          <p:cNvSpPr>
            <a:spLocks noGrp="1"/>
          </p:cNvSpPr>
          <p:nvPr>
            <p:ph type="body" idx="8"/>
          </p:nvPr>
        </p:nvSpPr>
        <p:spPr>
          <a:xfrm>
            <a:off x="2740320" y="446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30" name="Card"/>
          <p:cNvSpPr/>
          <p:nvPr/>
        </p:nvSpPr>
        <p:spPr>
          <a:xfrm>
            <a:off x="6252000" y="3780000"/>
            <a:ext cx="3449680" cy="1790000"/>
          </a:xfrm>
          <a:prstGeom prst="roundRect">
            <a:avLst>
              <a:gd name="adj" fmla="val 5500"/>
            </a:avLst>
          </a:prstGeom>
          <a:solidFill>
            <a:srgbClr val="FCE7F3"/>
          </a:solidFill>
          <a:ln w="0">
            <a:noFill/>
          </a:ln>
        </p:spPr>
        <p:txBody>
          <a:bodyPr/>
          <a:lstStyle/>
          <a:p>
            <a:endParaRPr lang="en-GB"/>
          </a:p>
        </p:txBody>
      </p:sp>
      <p:sp>
        <p:nvSpPr>
          <p:cNvPr id="31" name="CardAccent"/>
          <p:cNvSpPr/>
          <p:nvPr/>
        </p:nvSpPr>
        <p:spPr>
          <a:xfrm>
            <a:off x="6252000" y="3780000"/>
            <a:ext cx="73152" cy="1790000"/>
          </a:xfrm>
          <a:prstGeom prst="rect">
            <a:avLst/>
          </a:prstGeom>
          <a:solidFill>
            <a:srgbClr val="EC4899"/>
          </a:solidFill>
          <a:ln w="0">
            <a:noFill/>
          </a:ln>
        </p:spPr>
        <p:txBody>
          <a:bodyPr/>
          <a:lstStyle/>
          <a:p>
            <a:endParaRPr lang="en-GB"/>
          </a:p>
        </p:txBody>
      </p:sp>
      <p:sp>
        <p:nvSpPr>
          <p:cNvPr id="32" name="Card 5 Heading"/>
          <p:cNvSpPr>
            <a:spLocks noGrp="1"/>
          </p:cNvSpPr>
          <p:nvPr>
            <p:ph type="body" idx="9"/>
          </p:nvPr>
        </p:nvSpPr>
        <p:spPr>
          <a:xfrm>
            <a:off x="6502000" y="393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33" name="Card 5 Body"/>
          <p:cNvSpPr>
            <a:spLocks noGrp="1"/>
          </p:cNvSpPr>
          <p:nvPr>
            <p:ph type="body" idx="10"/>
          </p:nvPr>
        </p:nvSpPr>
        <p:spPr>
          <a:xfrm>
            <a:off x="6502000" y="446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34"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35"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36"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37"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38"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38}" type="slidenum">
              <a:rPr lang="en-GB" sz="1100">
                <a:solidFill>
                  <a:srgbClr val="64748B"/>
                </a:solidFill>
              </a:rPr>
              <a:t>‹#›</a:t>
            </a:fld>
            <a:endParaRPr lang="en-GB" sz="1100">
              <a:solidFill>
                <a:srgbClr val="64748B"/>
              </a:solidFill>
            </a:endParaRPr>
          </a:p>
        </p:txBody>
      </p:sp>
      <p:sp>
        <p:nvSpPr>
          <p:cNvPr id="39"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Six-Card Grid">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Subtitle"/>
          <p:cNvSpPr>
            <a:spLocks noGrp="1"/>
          </p:cNvSpPr>
          <p:nvPr>
            <p:ph type="body" idx="13"/>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3"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4" name="Card"/>
          <p:cNvSpPr/>
          <p:nvPr/>
        </p:nvSpPr>
        <p:spPr>
          <a:xfrm>
            <a:off x="609480" y="1760000"/>
            <a:ext cx="3449680" cy="1790000"/>
          </a:xfrm>
          <a:prstGeom prst="roundRect">
            <a:avLst>
              <a:gd name="adj" fmla="val 5500"/>
            </a:avLst>
          </a:prstGeom>
          <a:solidFill>
            <a:srgbClr val="FDEAD7"/>
          </a:solidFill>
          <a:ln w="0">
            <a:noFill/>
          </a:ln>
        </p:spPr>
        <p:txBody>
          <a:bodyPr/>
          <a:lstStyle/>
          <a:p>
            <a:endParaRPr lang="en-GB"/>
          </a:p>
        </p:txBody>
      </p:sp>
      <p:sp>
        <p:nvSpPr>
          <p:cNvPr id="15" name="CardAccent"/>
          <p:cNvSpPr/>
          <p:nvPr/>
        </p:nvSpPr>
        <p:spPr>
          <a:xfrm>
            <a:off x="609480" y="1760000"/>
            <a:ext cx="73152" cy="1790000"/>
          </a:xfrm>
          <a:prstGeom prst="rect">
            <a:avLst/>
          </a:prstGeom>
          <a:solidFill>
            <a:srgbClr val="F7941E"/>
          </a:solidFill>
          <a:ln w="0">
            <a:noFill/>
          </a:ln>
        </p:spPr>
        <p:txBody>
          <a:bodyPr/>
          <a:lstStyle/>
          <a:p>
            <a:endParaRPr lang="en-GB"/>
          </a:p>
        </p:txBody>
      </p:sp>
      <p:sp>
        <p:nvSpPr>
          <p:cNvPr id="16" name="Card 1 Heading"/>
          <p:cNvSpPr>
            <a:spLocks noGrp="1"/>
          </p:cNvSpPr>
          <p:nvPr>
            <p:ph type="body" idx="1"/>
          </p:nvPr>
        </p:nvSpPr>
        <p:spPr>
          <a:xfrm>
            <a:off x="859480" y="191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17" name="Card 1 Body"/>
          <p:cNvSpPr>
            <a:spLocks noGrp="1"/>
          </p:cNvSpPr>
          <p:nvPr>
            <p:ph type="body" idx="2"/>
          </p:nvPr>
        </p:nvSpPr>
        <p:spPr>
          <a:xfrm>
            <a:off x="859480" y="244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18" name="Card"/>
          <p:cNvSpPr/>
          <p:nvPr/>
        </p:nvSpPr>
        <p:spPr>
          <a:xfrm>
            <a:off x="4371160" y="1760000"/>
            <a:ext cx="3449680" cy="1790000"/>
          </a:xfrm>
          <a:prstGeom prst="roundRect">
            <a:avLst>
              <a:gd name="adj" fmla="val 5500"/>
            </a:avLst>
          </a:prstGeom>
          <a:solidFill>
            <a:srgbClr val="DBEAFE"/>
          </a:solidFill>
          <a:ln w="0">
            <a:noFill/>
          </a:ln>
        </p:spPr>
        <p:txBody>
          <a:bodyPr/>
          <a:lstStyle/>
          <a:p>
            <a:endParaRPr lang="en-GB"/>
          </a:p>
        </p:txBody>
      </p:sp>
      <p:sp>
        <p:nvSpPr>
          <p:cNvPr id="19" name="CardAccent"/>
          <p:cNvSpPr/>
          <p:nvPr/>
        </p:nvSpPr>
        <p:spPr>
          <a:xfrm>
            <a:off x="4371160" y="1760000"/>
            <a:ext cx="73152" cy="1790000"/>
          </a:xfrm>
          <a:prstGeom prst="rect">
            <a:avLst/>
          </a:prstGeom>
          <a:solidFill>
            <a:srgbClr val="3B82F6"/>
          </a:solidFill>
          <a:ln w="0">
            <a:noFill/>
          </a:ln>
        </p:spPr>
        <p:txBody>
          <a:bodyPr/>
          <a:lstStyle/>
          <a:p>
            <a:endParaRPr lang="en-GB"/>
          </a:p>
        </p:txBody>
      </p:sp>
      <p:sp>
        <p:nvSpPr>
          <p:cNvPr id="20" name="Card 2 Heading"/>
          <p:cNvSpPr>
            <a:spLocks noGrp="1"/>
          </p:cNvSpPr>
          <p:nvPr>
            <p:ph type="body" idx="3"/>
          </p:nvPr>
        </p:nvSpPr>
        <p:spPr>
          <a:xfrm>
            <a:off x="4621160" y="191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1" name="Card 2 Body"/>
          <p:cNvSpPr>
            <a:spLocks noGrp="1"/>
          </p:cNvSpPr>
          <p:nvPr>
            <p:ph type="body" idx="4"/>
          </p:nvPr>
        </p:nvSpPr>
        <p:spPr>
          <a:xfrm>
            <a:off x="4621160" y="244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22" name="Card"/>
          <p:cNvSpPr/>
          <p:nvPr/>
        </p:nvSpPr>
        <p:spPr>
          <a:xfrm>
            <a:off x="8132840" y="1760000"/>
            <a:ext cx="3449680" cy="1790000"/>
          </a:xfrm>
          <a:prstGeom prst="roundRect">
            <a:avLst>
              <a:gd name="adj" fmla="val 5500"/>
            </a:avLst>
          </a:prstGeom>
          <a:solidFill>
            <a:srgbClr val="D1FAE5"/>
          </a:solidFill>
          <a:ln w="0">
            <a:noFill/>
          </a:ln>
        </p:spPr>
        <p:txBody>
          <a:bodyPr/>
          <a:lstStyle/>
          <a:p>
            <a:endParaRPr lang="en-GB"/>
          </a:p>
        </p:txBody>
      </p:sp>
      <p:sp>
        <p:nvSpPr>
          <p:cNvPr id="23" name="CardAccent"/>
          <p:cNvSpPr/>
          <p:nvPr/>
        </p:nvSpPr>
        <p:spPr>
          <a:xfrm>
            <a:off x="8132840" y="1760000"/>
            <a:ext cx="73152" cy="1790000"/>
          </a:xfrm>
          <a:prstGeom prst="rect">
            <a:avLst/>
          </a:prstGeom>
          <a:solidFill>
            <a:srgbClr val="10B981"/>
          </a:solidFill>
          <a:ln w="0">
            <a:noFill/>
          </a:ln>
        </p:spPr>
        <p:txBody>
          <a:bodyPr/>
          <a:lstStyle/>
          <a:p>
            <a:endParaRPr lang="en-GB"/>
          </a:p>
        </p:txBody>
      </p:sp>
      <p:sp>
        <p:nvSpPr>
          <p:cNvPr id="24" name="Card 3 Heading"/>
          <p:cNvSpPr>
            <a:spLocks noGrp="1"/>
          </p:cNvSpPr>
          <p:nvPr>
            <p:ph type="body" idx="5"/>
          </p:nvPr>
        </p:nvSpPr>
        <p:spPr>
          <a:xfrm>
            <a:off x="8382840" y="191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5" name="Card 3 Body"/>
          <p:cNvSpPr>
            <a:spLocks noGrp="1"/>
          </p:cNvSpPr>
          <p:nvPr>
            <p:ph type="body" idx="6"/>
          </p:nvPr>
        </p:nvSpPr>
        <p:spPr>
          <a:xfrm>
            <a:off x="8382840" y="244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26" name="Card"/>
          <p:cNvSpPr/>
          <p:nvPr/>
        </p:nvSpPr>
        <p:spPr>
          <a:xfrm>
            <a:off x="609480" y="3780000"/>
            <a:ext cx="3449680" cy="1790000"/>
          </a:xfrm>
          <a:prstGeom prst="roundRect">
            <a:avLst>
              <a:gd name="adj" fmla="val 5500"/>
            </a:avLst>
          </a:prstGeom>
          <a:solidFill>
            <a:srgbClr val="EDE9FE"/>
          </a:solidFill>
          <a:ln w="0">
            <a:noFill/>
          </a:ln>
        </p:spPr>
        <p:txBody>
          <a:bodyPr/>
          <a:lstStyle/>
          <a:p>
            <a:endParaRPr lang="en-GB"/>
          </a:p>
        </p:txBody>
      </p:sp>
      <p:sp>
        <p:nvSpPr>
          <p:cNvPr id="27" name="CardAccent"/>
          <p:cNvSpPr/>
          <p:nvPr/>
        </p:nvSpPr>
        <p:spPr>
          <a:xfrm>
            <a:off x="609480" y="3780000"/>
            <a:ext cx="73152" cy="1790000"/>
          </a:xfrm>
          <a:prstGeom prst="rect">
            <a:avLst/>
          </a:prstGeom>
          <a:solidFill>
            <a:srgbClr val="8B5CF6"/>
          </a:solidFill>
          <a:ln w="0">
            <a:noFill/>
          </a:ln>
        </p:spPr>
        <p:txBody>
          <a:bodyPr/>
          <a:lstStyle/>
          <a:p>
            <a:endParaRPr lang="en-GB"/>
          </a:p>
        </p:txBody>
      </p:sp>
      <p:sp>
        <p:nvSpPr>
          <p:cNvPr id="28" name="Card 4 Heading"/>
          <p:cNvSpPr>
            <a:spLocks noGrp="1"/>
          </p:cNvSpPr>
          <p:nvPr>
            <p:ph type="body" idx="7"/>
          </p:nvPr>
        </p:nvSpPr>
        <p:spPr>
          <a:xfrm>
            <a:off x="859480" y="393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29" name="Card 4 Body"/>
          <p:cNvSpPr>
            <a:spLocks noGrp="1"/>
          </p:cNvSpPr>
          <p:nvPr>
            <p:ph type="body" idx="8"/>
          </p:nvPr>
        </p:nvSpPr>
        <p:spPr>
          <a:xfrm>
            <a:off x="859480" y="446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30" name="Card"/>
          <p:cNvSpPr/>
          <p:nvPr/>
        </p:nvSpPr>
        <p:spPr>
          <a:xfrm>
            <a:off x="4371160" y="3780000"/>
            <a:ext cx="3449680" cy="1790000"/>
          </a:xfrm>
          <a:prstGeom prst="roundRect">
            <a:avLst>
              <a:gd name="adj" fmla="val 5500"/>
            </a:avLst>
          </a:prstGeom>
          <a:solidFill>
            <a:srgbClr val="FCE7F3"/>
          </a:solidFill>
          <a:ln w="0">
            <a:noFill/>
          </a:ln>
        </p:spPr>
        <p:txBody>
          <a:bodyPr/>
          <a:lstStyle/>
          <a:p>
            <a:endParaRPr lang="en-GB"/>
          </a:p>
        </p:txBody>
      </p:sp>
      <p:sp>
        <p:nvSpPr>
          <p:cNvPr id="31" name="CardAccent"/>
          <p:cNvSpPr/>
          <p:nvPr/>
        </p:nvSpPr>
        <p:spPr>
          <a:xfrm>
            <a:off x="4371160" y="3780000"/>
            <a:ext cx="73152" cy="1790000"/>
          </a:xfrm>
          <a:prstGeom prst="rect">
            <a:avLst/>
          </a:prstGeom>
          <a:solidFill>
            <a:srgbClr val="EC4899"/>
          </a:solidFill>
          <a:ln w="0">
            <a:noFill/>
          </a:ln>
        </p:spPr>
        <p:txBody>
          <a:bodyPr/>
          <a:lstStyle/>
          <a:p>
            <a:endParaRPr lang="en-GB"/>
          </a:p>
        </p:txBody>
      </p:sp>
      <p:sp>
        <p:nvSpPr>
          <p:cNvPr id="32" name="Card 5 Heading"/>
          <p:cNvSpPr>
            <a:spLocks noGrp="1"/>
          </p:cNvSpPr>
          <p:nvPr>
            <p:ph type="body" idx="9"/>
          </p:nvPr>
        </p:nvSpPr>
        <p:spPr>
          <a:xfrm>
            <a:off x="4621160" y="393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33" name="Card 5 Body"/>
          <p:cNvSpPr>
            <a:spLocks noGrp="1"/>
          </p:cNvSpPr>
          <p:nvPr>
            <p:ph type="body" idx="10"/>
          </p:nvPr>
        </p:nvSpPr>
        <p:spPr>
          <a:xfrm>
            <a:off x="4621160" y="446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34" name="Card"/>
          <p:cNvSpPr/>
          <p:nvPr/>
        </p:nvSpPr>
        <p:spPr>
          <a:xfrm>
            <a:off x="8132840" y="3780000"/>
            <a:ext cx="3449680" cy="1790000"/>
          </a:xfrm>
          <a:prstGeom prst="roundRect">
            <a:avLst>
              <a:gd name="adj" fmla="val 5500"/>
            </a:avLst>
          </a:prstGeom>
          <a:solidFill>
            <a:srgbClr val="FDEAD7"/>
          </a:solidFill>
          <a:ln w="0">
            <a:noFill/>
          </a:ln>
        </p:spPr>
        <p:txBody>
          <a:bodyPr/>
          <a:lstStyle/>
          <a:p>
            <a:endParaRPr lang="en-GB"/>
          </a:p>
        </p:txBody>
      </p:sp>
      <p:sp>
        <p:nvSpPr>
          <p:cNvPr id="35" name="CardAccent"/>
          <p:cNvSpPr/>
          <p:nvPr/>
        </p:nvSpPr>
        <p:spPr>
          <a:xfrm>
            <a:off x="8132840" y="3780000"/>
            <a:ext cx="73152" cy="1790000"/>
          </a:xfrm>
          <a:prstGeom prst="rect">
            <a:avLst/>
          </a:prstGeom>
          <a:solidFill>
            <a:srgbClr val="F7941E"/>
          </a:solidFill>
          <a:ln w="0">
            <a:noFill/>
          </a:ln>
        </p:spPr>
        <p:txBody>
          <a:bodyPr/>
          <a:lstStyle/>
          <a:p>
            <a:endParaRPr lang="en-GB"/>
          </a:p>
        </p:txBody>
      </p:sp>
      <p:sp>
        <p:nvSpPr>
          <p:cNvPr id="36" name="Card 6 Heading"/>
          <p:cNvSpPr>
            <a:spLocks noGrp="1"/>
          </p:cNvSpPr>
          <p:nvPr>
            <p:ph type="body" idx="11"/>
          </p:nvPr>
        </p:nvSpPr>
        <p:spPr>
          <a:xfrm>
            <a:off x="8382840" y="3930000"/>
            <a:ext cx="2999680" cy="460000"/>
          </a:xfrm>
          <a:prstGeom prst="rect">
            <a:avLst/>
          </a:prstGeom>
        </p:spPr>
        <p:txBody>
          <a:bodyPr lIns="0" tIns="0" rIns="0" bIns="0" anchor="t">
            <a:normAutofit/>
          </a:bodyPr>
          <a:lstStyle>
            <a:lvl1pPr marL="0" indent="0" algn="l">
              <a:defRPr sz="1700" b="1" i="0">
                <a:solidFill>
                  <a:srgbClr val="0F172A"/>
                </a:solidFill>
                <a:latin typeface="+mj-lt"/>
              </a:defRPr>
            </a:lvl1pPr>
          </a:lstStyle>
          <a:p>
            <a:endParaRPr lang="en-GB"/>
          </a:p>
        </p:txBody>
      </p:sp>
      <p:sp>
        <p:nvSpPr>
          <p:cNvPr id="37" name="Card 6 Body"/>
          <p:cNvSpPr>
            <a:spLocks noGrp="1"/>
          </p:cNvSpPr>
          <p:nvPr>
            <p:ph type="body" idx="12"/>
          </p:nvPr>
        </p:nvSpPr>
        <p:spPr>
          <a:xfrm>
            <a:off x="8382840" y="4460000"/>
            <a:ext cx="2999680" cy="950000"/>
          </a:xfrm>
          <a:prstGeom prst="rect">
            <a:avLst/>
          </a:prstGeom>
        </p:spPr>
        <p:txBody>
          <a:bodyPr lIns="0" tIns="0" rIns="0" bIns="0" anchor="t">
            <a:normAutofit/>
          </a:bodyPr>
          <a:lstStyle>
            <a:lvl1pPr marL="0" indent="0" algn="l">
              <a:lnSpc>
                <a:spcPct val="116000"/>
              </a:lnSpc>
              <a:defRPr sz="1400" b="0" i="0">
                <a:solidFill>
                  <a:srgbClr val="334155"/>
                </a:solidFill>
                <a:latin typeface="+mn-lt"/>
              </a:defRPr>
            </a:lvl1pPr>
          </a:lstStyle>
          <a:p>
            <a:endParaRPr lang="en-GB"/>
          </a:p>
        </p:txBody>
      </p:sp>
      <p:sp>
        <p:nvSpPr>
          <p:cNvPr id="38"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39"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40"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41"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42"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42}" type="slidenum">
              <a:rPr lang="en-GB" sz="1100">
                <a:solidFill>
                  <a:srgbClr val="64748B"/>
                </a:solidFill>
              </a:rPr>
              <a:t>‹#›</a:t>
            </a:fld>
            <a:endParaRPr lang="en-GB" sz="1100">
              <a:solidFill>
                <a:srgbClr val="64748B"/>
              </a:solidFill>
            </a:endParaRPr>
          </a:p>
        </p:txBody>
      </p:sp>
      <p:sp>
        <p:nvSpPr>
          <p:cNvPr id="43"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Big Stats">
    <p:bg>
      <p:bgPr>
        <a:solidFill>
          <a:srgbClr val="FFFFFF"/>
        </a:solidFill>
        <a:effectLst/>
      </p:bgPr>
    </p:bg>
    <p:spTree>
      <p:nvGrpSpPr>
        <p:cNvPr id="1" name=""/>
        <p:cNvGrpSpPr/>
        <p:nvPr/>
      </p:nvGrpSpPr>
      <p:grpSpPr>
        <a:xfrm>
          <a:off x="0" y="0"/>
          <a:ext cx="0" cy="0"/>
          <a:chOff x="0" y="0"/>
          <a:chExt cx="0" cy="0"/>
        </a:xfrm>
      </p:grpSpPr>
      <p:sp>
        <p:nvSpPr>
          <p:cNvPr id="17"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8" name="Subtitle"/>
          <p:cNvSpPr>
            <a:spLocks noGrp="1"/>
          </p:cNvSpPr>
          <p:nvPr>
            <p:ph type="body" idx="11"/>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9"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1" name="Stat 1 Number"/>
          <p:cNvSpPr>
            <a:spLocks noGrp="1"/>
          </p:cNvSpPr>
          <p:nvPr>
            <p:ph type="body" idx="1"/>
          </p:nvPr>
        </p:nvSpPr>
        <p:spPr>
          <a:xfrm>
            <a:off x="609480" y="2150000"/>
            <a:ext cx="3454400" cy="1200000"/>
          </a:xfrm>
          <a:prstGeom prst="rect">
            <a:avLst/>
          </a:prstGeom>
        </p:spPr>
        <p:txBody>
          <a:bodyPr lIns="0" tIns="0" rIns="0" bIns="0" anchor="ctr">
            <a:normAutofit/>
          </a:bodyPr>
          <a:lstStyle>
            <a:lvl1pPr marL="0" indent="0" algn="ctr">
              <a:defRPr sz="6000" b="1" i="0">
                <a:solidFill>
                  <a:srgbClr val="F7941E"/>
                </a:solidFill>
                <a:latin typeface="+mj-lt"/>
              </a:defRPr>
            </a:lvl1pPr>
          </a:lstStyle>
          <a:p>
            <a:endParaRPr lang="en-GB"/>
          </a:p>
        </p:txBody>
      </p:sp>
      <p:sp>
        <p:nvSpPr>
          <p:cNvPr id="12" name="Stat 1 Label"/>
          <p:cNvSpPr>
            <a:spLocks noGrp="1"/>
          </p:cNvSpPr>
          <p:nvPr>
            <p:ph type="body" idx="2"/>
          </p:nvPr>
        </p:nvSpPr>
        <p:spPr>
          <a:xfrm>
            <a:off x="609480" y="3500000"/>
            <a:ext cx="3454400" cy="1500000"/>
          </a:xfrm>
          <a:prstGeom prst="rect">
            <a:avLst/>
          </a:prstGeom>
        </p:spPr>
        <p:txBody>
          <a:bodyPr lIns="0" tIns="0" rIns="0" bIns="0" anchor="t">
            <a:normAutofit/>
          </a:bodyPr>
          <a:lstStyle>
            <a:lvl1pPr marL="0" indent="0" algn="ctr">
              <a:lnSpc>
                <a:spcPct val="116000"/>
              </a:lnSpc>
              <a:defRPr sz="1500" b="0" i="0">
                <a:solidFill>
                  <a:srgbClr val="475569"/>
                </a:solidFill>
                <a:latin typeface="+mn-lt"/>
              </a:defRPr>
            </a:lvl1pPr>
          </a:lstStyle>
          <a:p>
            <a:endParaRPr lang="en-GB"/>
          </a:p>
        </p:txBody>
      </p:sp>
      <p:sp>
        <p:nvSpPr>
          <p:cNvPr id="13" name="Stat 2 Number"/>
          <p:cNvSpPr>
            <a:spLocks noGrp="1"/>
          </p:cNvSpPr>
          <p:nvPr>
            <p:ph type="body" idx="3"/>
          </p:nvPr>
        </p:nvSpPr>
        <p:spPr>
          <a:xfrm>
            <a:off x="4390880" y="2150000"/>
            <a:ext cx="3454400" cy="1200000"/>
          </a:xfrm>
          <a:prstGeom prst="rect">
            <a:avLst/>
          </a:prstGeom>
        </p:spPr>
        <p:txBody>
          <a:bodyPr lIns="0" tIns="0" rIns="0" bIns="0" anchor="ctr">
            <a:normAutofit/>
          </a:bodyPr>
          <a:lstStyle>
            <a:lvl1pPr marL="0" indent="0" algn="ctr">
              <a:defRPr sz="6000" b="1" i="0">
                <a:solidFill>
                  <a:srgbClr val="3B82F6"/>
                </a:solidFill>
                <a:latin typeface="+mj-lt"/>
              </a:defRPr>
            </a:lvl1pPr>
          </a:lstStyle>
          <a:p>
            <a:endParaRPr lang="en-GB"/>
          </a:p>
        </p:txBody>
      </p:sp>
      <p:sp>
        <p:nvSpPr>
          <p:cNvPr id="14" name="Stat 2 Label"/>
          <p:cNvSpPr>
            <a:spLocks noGrp="1"/>
          </p:cNvSpPr>
          <p:nvPr>
            <p:ph type="body" idx="4"/>
          </p:nvPr>
        </p:nvSpPr>
        <p:spPr>
          <a:xfrm>
            <a:off x="4390880" y="3500000"/>
            <a:ext cx="3454400" cy="1500000"/>
          </a:xfrm>
          <a:prstGeom prst="rect">
            <a:avLst/>
          </a:prstGeom>
        </p:spPr>
        <p:txBody>
          <a:bodyPr lIns="0" tIns="0" rIns="0" bIns="0" anchor="t">
            <a:normAutofit/>
          </a:bodyPr>
          <a:lstStyle>
            <a:lvl1pPr marL="0" indent="0" algn="ctr">
              <a:lnSpc>
                <a:spcPct val="116000"/>
              </a:lnSpc>
              <a:defRPr sz="1500" b="0" i="0">
                <a:solidFill>
                  <a:srgbClr val="475569"/>
                </a:solidFill>
                <a:latin typeface="+mn-lt"/>
              </a:defRPr>
            </a:lvl1pPr>
          </a:lstStyle>
          <a:p>
            <a:endParaRPr lang="en-GB"/>
          </a:p>
        </p:txBody>
      </p:sp>
      <p:sp>
        <p:nvSpPr>
          <p:cNvPr id="15" name="Stat 3 Number"/>
          <p:cNvSpPr>
            <a:spLocks noGrp="1"/>
          </p:cNvSpPr>
          <p:nvPr>
            <p:ph type="body" idx="5"/>
          </p:nvPr>
        </p:nvSpPr>
        <p:spPr>
          <a:xfrm>
            <a:off x="8172280" y="2150000"/>
            <a:ext cx="3454400" cy="1200000"/>
          </a:xfrm>
          <a:prstGeom prst="rect">
            <a:avLst/>
          </a:prstGeom>
        </p:spPr>
        <p:txBody>
          <a:bodyPr lIns="0" tIns="0" rIns="0" bIns="0" anchor="ctr">
            <a:normAutofit/>
          </a:bodyPr>
          <a:lstStyle>
            <a:lvl1pPr marL="0" indent="0" algn="ctr">
              <a:defRPr sz="6000" b="1" i="0">
                <a:solidFill>
                  <a:srgbClr val="8B5CF6"/>
                </a:solidFill>
                <a:latin typeface="+mj-lt"/>
              </a:defRPr>
            </a:lvl1pPr>
          </a:lstStyle>
          <a:p>
            <a:endParaRPr lang="en-GB"/>
          </a:p>
        </p:txBody>
      </p:sp>
      <p:sp>
        <p:nvSpPr>
          <p:cNvPr id="16" name="Stat 3 Label"/>
          <p:cNvSpPr>
            <a:spLocks noGrp="1"/>
          </p:cNvSpPr>
          <p:nvPr>
            <p:ph type="body" idx="6"/>
          </p:nvPr>
        </p:nvSpPr>
        <p:spPr>
          <a:xfrm>
            <a:off x="8172280" y="3500000"/>
            <a:ext cx="3454400" cy="1500000"/>
          </a:xfrm>
          <a:prstGeom prst="rect">
            <a:avLst/>
          </a:prstGeom>
        </p:spPr>
        <p:txBody>
          <a:bodyPr lIns="0" tIns="0" rIns="0" bIns="0" anchor="t">
            <a:normAutofit/>
          </a:bodyPr>
          <a:lstStyle>
            <a:lvl1pPr marL="0" indent="0" algn="ctr">
              <a:lnSpc>
                <a:spcPct val="116000"/>
              </a:lnSpc>
              <a:defRPr sz="1500" b="0" i="0">
                <a:solidFill>
                  <a:srgbClr val="475569"/>
                </a:solidFill>
                <a:latin typeface="+mn-lt"/>
              </a:defRPr>
            </a:lvl1pPr>
          </a:lstStyle>
          <a:p>
            <a:endParaRPr lang="en-GB"/>
          </a:p>
        </p:txBody>
      </p:sp>
      <p:sp>
        <p:nvSpPr>
          <p:cNvPr id="20"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21"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22"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23"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24"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24}" type="slidenum">
              <a:rPr lang="en-GB" sz="1100">
                <a:solidFill>
                  <a:srgbClr val="64748B"/>
                </a:solidFill>
              </a:rPr>
              <a:t>‹#›</a:t>
            </a:fld>
            <a:endParaRPr lang="en-GB" sz="1100">
              <a:solidFill>
                <a:srgbClr val="64748B"/>
              </a:solidFill>
            </a:endParaRPr>
          </a:p>
        </p:txBody>
      </p:sp>
      <p:sp>
        <p:nvSpPr>
          <p:cNvPr id="25"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Numbered Steps">
    <p:bg>
      <p:bgPr>
        <a:solidFill>
          <a:srgbClr val="FFFFFF"/>
        </a:solidFill>
        <a:effectLst/>
      </p:bgPr>
    </p:bg>
    <p:spTree>
      <p:nvGrpSpPr>
        <p:cNvPr id="1" name=""/>
        <p:cNvGrpSpPr/>
        <p:nvPr/>
      </p:nvGrpSpPr>
      <p:grpSpPr>
        <a:xfrm>
          <a:off x="0" y="0"/>
          <a:ext cx="0" cy="0"/>
          <a:chOff x="0" y="0"/>
          <a:chExt cx="0" cy="0"/>
        </a:xfrm>
      </p:grpSpPr>
      <p:sp>
        <p:nvSpPr>
          <p:cNvPr id="23"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24" name="Subtitle"/>
          <p:cNvSpPr>
            <a:spLocks noGrp="1"/>
          </p:cNvSpPr>
          <p:nvPr>
            <p:ph type="body" idx="11"/>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25"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1" name="Step 1 Circle"/>
          <p:cNvSpPr/>
          <p:nvPr/>
        </p:nvSpPr>
        <p:spPr>
          <a:xfrm>
            <a:off x="1956680" y="1840000"/>
            <a:ext cx="760000" cy="760000"/>
          </a:xfrm>
          <a:prstGeom prst="ellipse">
            <a:avLst/>
          </a:prstGeom>
          <a:solidFill>
            <a:srgbClr val="F7941E"/>
          </a:solidFill>
          <a:ln w="0">
            <a:noFill/>
          </a:ln>
        </p:spPr>
        <p:txBody>
          <a:bodyPr/>
          <a:lstStyle/>
          <a:p>
            <a:endParaRPr lang="en-GB"/>
          </a:p>
        </p:txBody>
      </p:sp>
      <p:sp>
        <p:nvSpPr>
          <p:cNvPr id="12" name="Step 1 Number"/>
          <p:cNvSpPr>
            <a:spLocks noGrp="1"/>
          </p:cNvSpPr>
          <p:nvPr>
            <p:ph type="body" idx="1"/>
          </p:nvPr>
        </p:nvSpPr>
        <p:spPr>
          <a:xfrm>
            <a:off x="1956680" y="1840000"/>
            <a:ext cx="760000" cy="760000"/>
          </a:xfrm>
          <a:prstGeom prst="rect">
            <a:avLst/>
          </a:prstGeom>
        </p:spPr>
        <p:txBody>
          <a:bodyPr lIns="0" tIns="0" rIns="0" bIns="0" anchor="ctr">
            <a:normAutofit/>
          </a:bodyPr>
          <a:lstStyle>
            <a:lvl1pPr marL="0" indent="0" algn="ctr">
              <a:defRPr sz="3200" b="1" i="0">
                <a:solidFill>
                  <a:srgbClr val="FFFFFF"/>
                </a:solidFill>
                <a:latin typeface="+mj-lt"/>
              </a:defRPr>
            </a:lvl1pPr>
          </a:lstStyle>
          <a:p>
            <a:endParaRPr lang="en-GB"/>
          </a:p>
        </p:txBody>
      </p:sp>
      <p:sp>
        <p:nvSpPr>
          <p:cNvPr id="13" name="Step 1 Heading"/>
          <p:cNvSpPr>
            <a:spLocks noGrp="1"/>
          </p:cNvSpPr>
          <p:nvPr>
            <p:ph type="body" idx="2"/>
          </p:nvPr>
        </p:nvSpPr>
        <p:spPr>
          <a:xfrm>
            <a:off x="609480" y="2720000"/>
            <a:ext cx="3454400" cy="520000"/>
          </a:xfrm>
          <a:prstGeom prst="rect">
            <a:avLst/>
          </a:prstGeom>
        </p:spPr>
        <p:txBody>
          <a:bodyPr lIns="0" tIns="0" rIns="0" bIns="0" anchor="t">
            <a:normAutofit/>
          </a:bodyPr>
          <a:lstStyle>
            <a:lvl1pPr marL="0" indent="0" algn="ctr">
              <a:defRPr sz="1800" b="1" i="0">
                <a:solidFill>
                  <a:srgbClr val="0F172A"/>
                </a:solidFill>
                <a:latin typeface="+mj-lt"/>
              </a:defRPr>
            </a:lvl1pPr>
          </a:lstStyle>
          <a:p>
            <a:endParaRPr lang="en-GB"/>
          </a:p>
        </p:txBody>
      </p:sp>
      <p:sp>
        <p:nvSpPr>
          <p:cNvPr id="14" name="Step 1 Detail"/>
          <p:cNvSpPr>
            <a:spLocks noGrp="1"/>
          </p:cNvSpPr>
          <p:nvPr>
            <p:ph type="body" idx="3"/>
          </p:nvPr>
        </p:nvSpPr>
        <p:spPr>
          <a:xfrm>
            <a:off x="609480" y="3260000"/>
            <a:ext cx="3454400" cy="1560000"/>
          </a:xfrm>
          <a:prstGeom prst="rect">
            <a:avLst/>
          </a:prstGeom>
        </p:spPr>
        <p:txBody>
          <a:bodyPr lIns="0" tIns="0" rIns="0" bIns="0" anchor="t">
            <a:normAutofit/>
          </a:bodyPr>
          <a:lstStyle>
            <a:lvl1pPr marL="0" indent="0" algn="ctr">
              <a:lnSpc>
                <a:spcPct val="122000"/>
              </a:lnSpc>
              <a:defRPr sz="1500" b="0" i="0">
                <a:solidFill>
                  <a:srgbClr val="475569"/>
                </a:solidFill>
                <a:latin typeface="+mn-lt"/>
              </a:defRPr>
            </a:lvl1pPr>
          </a:lstStyle>
          <a:p>
            <a:endParaRPr lang="en-GB"/>
          </a:p>
        </p:txBody>
      </p:sp>
      <p:sp>
        <p:nvSpPr>
          <p:cNvPr id="15" name="Step 2 Circle"/>
          <p:cNvSpPr/>
          <p:nvPr/>
        </p:nvSpPr>
        <p:spPr>
          <a:xfrm>
            <a:off x="5738080" y="1840000"/>
            <a:ext cx="760000" cy="760000"/>
          </a:xfrm>
          <a:prstGeom prst="ellipse">
            <a:avLst/>
          </a:prstGeom>
          <a:solidFill>
            <a:srgbClr val="3B82F6"/>
          </a:solidFill>
          <a:ln w="0">
            <a:noFill/>
          </a:ln>
        </p:spPr>
        <p:txBody>
          <a:bodyPr/>
          <a:lstStyle/>
          <a:p>
            <a:endParaRPr lang="en-GB"/>
          </a:p>
        </p:txBody>
      </p:sp>
      <p:sp>
        <p:nvSpPr>
          <p:cNvPr id="16" name="Step 2 Number"/>
          <p:cNvSpPr>
            <a:spLocks noGrp="1"/>
          </p:cNvSpPr>
          <p:nvPr>
            <p:ph type="body" idx="4"/>
          </p:nvPr>
        </p:nvSpPr>
        <p:spPr>
          <a:xfrm>
            <a:off x="5738080" y="1840000"/>
            <a:ext cx="760000" cy="760000"/>
          </a:xfrm>
          <a:prstGeom prst="rect">
            <a:avLst/>
          </a:prstGeom>
        </p:spPr>
        <p:txBody>
          <a:bodyPr lIns="0" tIns="0" rIns="0" bIns="0" anchor="ctr">
            <a:normAutofit/>
          </a:bodyPr>
          <a:lstStyle>
            <a:lvl1pPr marL="0" indent="0" algn="ctr">
              <a:defRPr sz="3200" b="1" i="0">
                <a:solidFill>
                  <a:srgbClr val="FFFFFF"/>
                </a:solidFill>
                <a:latin typeface="+mj-lt"/>
              </a:defRPr>
            </a:lvl1pPr>
          </a:lstStyle>
          <a:p>
            <a:endParaRPr lang="en-GB"/>
          </a:p>
        </p:txBody>
      </p:sp>
      <p:sp>
        <p:nvSpPr>
          <p:cNvPr id="17" name="Step 2 Heading"/>
          <p:cNvSpPr>
            <a:spLocks noGrp="1"/>
          </p:cNvSpPr>
          <p:nvPr>
            <p:ph type="body" idx="5"/>
          </p:nvPr>
        </p:nvSpPr>
        <p:spPr>
          <a:xfrm>
            <a:off x="4390880" y="2720000"/>
            <a:ext cx="3454400" cy="520000"/>
          </a:xfrm>
          <a:prstGeom prst="rect">
            <a:avLst/>
          </a:prstGeom>
        </p:spPr>
        <p:txBody>
          <a:bodyPr lIns="0" tIns="0" rIns="0" bIns="0" anchor="t">
            <a:normAutofit/>
          </a:bodyPr>
          <a:lstStyle>
            <a:lvl1pPr marL="0" indent="0" algn="ctr">
              <a:defRPr sz="1800" b="1" i="0">
                <a:solidFill>
                  <a:srgbClr val="0F172A"/>
                </a:solidFill>
                <a:latin typeface="+mj-lt"/>
              </a:defRPr>
            </a:lvl1pPr>
          </a:lstStyle>
          <a:p>
            <a:endParaRPr lang="en-GB"/>
          </a:p>
        </p:txBody>
      </p:sp>
      <p:sp>
        <p:nvSpPr>
          <p:cNvPr id="18" name="Step 2 Detail"/>
          <p:cNvSpPr>
            <a:spLocks noGrp="1"/>
          </p:cNvSpPr>
          <p:nvPr>
            <p:ph type="body" idx="6"/>
          </p:nvPr>
        </p:nvSpPr>
        <p:spPr>
          <a:xfrm>
            <a:off x="4390880" y="3260000"/>
            <a:ext cx="3454400" cy="1560000"/>
          </a:xfrm>
          <a:prstGeom prst="rect">
            <a:avLst/>
          </a:prstGeom>
        </p:spPr>
        <p:txBody>
          <a:bodyPr lIns="0" tIns="0" rIns="0" bIns="0" anchor="t">
            <a:normAutofit/>
          </a:bodyPr>
          <a:lstStyle>
            <a:lvl1pPr marL="0" indent="0" algn="ctr">
              <a:lnSpc>
                <a:spcPct val="122000"/>
              </a:lnSpc>
              <a:defRPr sz="1500" b="0" i="0">
                <a:solidFill>
                  <a:srgbClr val="475569"/>
                </a:solidFill>
                <a:latin typeface="+mn-lt"/>
              </a:defRPr>
            </a:lvl1pPr>
          </a:lstStyle>
          <a:p>
            <a:endParaRPr lang="en-GB"/>
          </a:p>
        </p:txBody>
      </p:sp>
      <p:sp>
        <p:nvSpPr>
          <p:cNvPr id="19" name="Step 3 Circle"/>
          <p:cNvSpPr/>
          <p:nvPr/>
        </p:nvSpPr>
        <p:spPr>
          <a:xfrm>
            <a:off x="9519480" y="1840000"/>
            <a:ext cx="760000" cy="760000"/>
          </a:xfrm>
          <a:prstGeom prst="ellipse">
            <a:avLst/>
          </a:prstGeom>
          <a:solidFill>
            <a:srgbClr val="8B5CF6"/>
          </a:solidFill>
          <a:ln w="0">
            <a:noFill/>
          </a:ln>
        </p:spPr>
        <p:txBody>
          <a:bodyPr/>
          <a:lstStyle/>
          <a:p>
            <a:endParaRPr lang="en-GB"/>
          </a:p>
        </p:txBody>
      </p:sp>
      <p:sp>
        <p:nvSpPr>
          <p:cNvPr id="20" name="Step 3 Number"/>
          <p:cNvSpPr>
            <a:spLocks noGrp="1"/>
          </p:cNvSpPr>
          <p:nvPr>
            <p:ph type="body" idx="7"/>
          </p:nvPr>
        </p:nvSpPr>
        <p:spPr>
          <a:xfrm>
            <a:off x="9519480" y="1840000"/>
            <a:ext cx="760000" cy="760000"/>
          </a:xfrm>
          <a:prstGeom prst="rect">
            <a:avLst/>
          </a:prstGeom>
        </p:spPr>
        <p:txBody>
          <a:bodyPr lIns="0" tIns="0" rIns="0" bIns="0" anchor="ctr">
            <a:normAutofit/>
          </a:bodyPr>
          <a:lstStyle>
            <a:lvl1pPr marL="0" indent="0" algn="ctr">
              <a:defRPr sz="3200" b="1" i="0">
                <a:solidFill>
                  <a:srgbClr val="FFFFFF"/>
                </a:solidFill>
                <a:latin typeface="+mj-lt"/>
              </a:defRPr>
            </a:lvl1pPr>
          </a:lstStyle>
          <a:p>
            <a:endParaRPr lang="en-GB"/>
          </a:p>
        </p:txBody>
      </p:sp>
      <p:sp>
        <p:nvSpPr>
          <p:cNvPr id="21" name="Step 3 Heading"/>
          <p:cNvSpPr>
            <a:spLocks noGrp="1"/>
          </p:cNvSpPr>
          <p:nvPr>
            <p:ph type="body" idx="8"/>
          </p:nvPr>
        </p:nvSpPr>
        <p:spPr>
          <a:xfrm>
            <a:off x="8172280" y="2720000"/>
            <a:ext cx="3454400" cy="520000"/>
          </a:xfrm>
          <a:prstGeom prst="rect">
            <a:avLst/>
          </a:prstGeom>
        </p:spPr>
        <p:txBody>
          <a:bodyPr lIns="0" tIns="0" rIns="0" bIns="0" anchor="t">
            <a:normAutofit/>
          </a:bodyPr>
          <a:lstStyle>
            <a:lvl1pPr marL="0" indent="0" algn="ctr">
              <a:defRPr sz="1800" b="1" i="0">
                <a:solidFill>
                  <a:srgbClr val="0F172A"/>
                </a:solidFill>
                <a:latin typeface="+mj-lt"/>
              </a:defRPr>
            </a:lvl1pPr>
          </a:lstStyle>
          <a:p>
            <a:endParaRPr lang="en-GB"/>
          </a:p>
        </p:txBody>
      </p:sp>
      <p:sp>
        <p:nvSpPr>
          <p:cNvPr id="22" name="Step 3 Detail"/>
          <p:cNvSpPr>
            <a:spLocks noGrp="1"/>
          </p:cNvSpPr>
          <p:nvPr>
            <p:ph type="body" idx="9"/>
          </p:nvPr>
        </p:nvSpPr>
        <p:spPr>
          <a:xfrm>
            <a:off x="8172280" y="3260000"/>
            <a:ext cx="3454400" cy="1560000"/>
          </a:xfrm>
          <a:prstGeom prst="rect">
            <a:avLst/>
          </a:prstGeom>
        </p:spPr>
        <p:txBody>
          <a:bodyPr lIns="0" tIns="0" rIns="0" bIns="0" anchor="t">
            <a:normAutofit/>
          </a:bodyPr>
          <a:lstStyle>
            <a:lvl1pPr marL="0" indent="0" algn="ctr">
              <a:lnSpc>
                <a:spcPct val="122000"/>
              </a:lnSpc>
              <a:defRPr sz="1500" b="0" i="0">
                <a:solidFill>
                  <a:srgbClr val="475569"/>
                </a:solidFill>
                <a:latin typeface="+mn-lt"/>
              </a:defRPr>
            </a:lvl1pPr>
          </a:lstStyle>
          <a:p>
            <a:endParaRPr lang="en-GB"/>
          </a:p>
        </p:txBody>
      </p:sp>
      <p:sp>
        <p:nvSpPr>
          <p:cNvPr id="26"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27"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28"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29"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30"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30}" type="slidenum">
              <a:rPr lang="en-GB" sz="1100">
                <a:solidFill>
                  <a:srgbClr val="64748B"/>
                </a:solidFill>
              </a:rPr>
              <a:t>‹#›</a:t>
            </a:fld>
            <a:endParaRPr lang="en-GB" sz="1100">
              <a:solidFill>
                <a:srgbClr val="64748B"/>
              </a:solidFill>
            </a:endParaRPr>
          </a:p>
        </p:txBody>
      </p:sp>
      <p:sp>
        <p:nvSpPr>
          <p:cNvPr id="31"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Pricing / Tiers">
    <p:bg>
      <p:bgPr>
        <a:solidFill>
          <a:srgbClr val="FFFFFF"/>
        </a:solidFill>
        <a:effectLst/>
      </p:bgPr>
    </p:bg>
    <p:spTree>
      <p:nvGrpSpPr>
        <p:cNvPr id="1" name=""/>
        <p:cNvGrpSpPr/>
        <p:nvPr/>
      </p:nvGrpSpPr>
      <p:grpSpPr>
        <a:xfrm>
          <a:off x="0" y="0"/>
          <a:ext cx="0" cy="0"/>
          <a:chOff x="0" y="0"/>
          <a:chExt cx="0" cy="0"/>
        </a:xfrm>
      </p:grpSpPr>
      <p:sp>
        <p:nvSpPr>
          <p:cNvPr id="26"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27" name="Subtitle"/>
          <p:cNvSpPr>
            <a:spLocks noGrp="1"/>
          </p:cNvSpPr>
          <p:nvPr>
            <p:ph type="body" idx="11"/>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28"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1" name="Tier 1 Card"/>
          <p:cNvSpPr/>
          <p:nvPr/>
        </p:nvSpPr>
        <p:spPr>
          <a:xfrm>
            <a:off x="609480" y="1700000"/>
            <a:ext cx="3454400" cy="3900000"/>
          </a:xfrm>
          <a:prstGeom prst="roundRect">
            <a:avLst>
              <a:gd name="adj" fmla="val 4000"/>
            </a:avLst>
          </a:prstGeom>
          <a:solidFill>
            <a:srgbClr val="FFFFFF"/>
          </a:solidFill>
          <a:ln w="19050">
            <a:solidFill>
              <a:srgbClr val="64748B"/>
            </a:solidFill>
          </a:ln>
        </p:spPr>
        <p:txBody>
          <a:bodyPr/>
          <a:lstStyle/>
          <a:p>
            <a:endParaRPr lang="en-GB"/>
          </a:p>
        </p:txBody>
      </p:sp>
      <p:sp>
        <p:nvSpPr>
          <p:cNvPr id="12" name="Tier 1 Band"/>
          <p:cNvSpPr/>
          <p:nvPr/>
        </p:nvSpPr>
        <p:spPr>
          <a:xfrm>
            <a:off x="609480" y="1700000"/>
            <a:ext cx="3454400" cy="680000"/>
          </a:xfrm>
          <a:prstGeom prst="roundRect">
            <a:avLst>
              <a:gd name="adj" fmla="val 4000"/>
            </a:avLst>
          </a:prstGeom>
          <a:solidFill>
            <a:srgbClr val="64748B"/>
          </a:solidFill>
          <a:ln w="0">
            <a:noFill/>
          </a:ln>
        </p:spPr>
        <p:txBody>
          <a:bodyPr/>
          <a:lstStyle/>
          <a:p>
            <a:endParaRPr lang="en-GB"/>
          </a:p>
        </p:txBody>
      </p:sp>
      <p:sp>
        <p:nvSpPr>
          <p:cNvPr id="13" name="Tier 1 Name"/>
          <p:cNvSpPr>
            <a:spLocks noGrp="1"/>
          </p:cNvSpPr>
          <p:nvPr>
            <p:ph type="body" idx="1"/>
          </p:nvPr>
        </p:nvSpPr>
        <p:spPr>
          <a:xfrm>
            <a:off x="609480" y="1750000"/>
            <a:ext cx="3454400" cy="560000"/>
          </a:xfrm>
          <a:prstGeom prst="rect">
            <a:avLst/>
          </a:prstGeom>
        </p:spPr>
        <p:txBody>
          <a:bodyPr lIns="0" tIns="0" rIns="0" bIns="0" anchor="ctr">
            <a:normAutofit/>
          </a:bodyPr>
          <a:lstStyle>
            <a:lvl1pPr marL="0" indent="0" algn="ctr">
              <a:defRPr sz="1900" b="1" i="0">
                <a:solidFill>
                  <a:srgbClr val="FFFFFF"/>
                </a:solidFill>
                <a:latin typeface="+mj-lt"/>
              </a:defRPr>
            </a:lvl1pPr>
          </a:lstStyle>
          <a:p>
            <a:endParaRPr lang="en-GB"/>
          </a:p>
        </p:txBody>
      </p:sp>
      <p:sp>
        <p:nvSpPr>
          <p:cNvPr id="14" name="Tier 1 Price"/>
          <p:cNvSpPr>
            <a:spLocks noGrp="1"/>
          </p:cNvSpPr>
          <p:nvPr>
            <p:ph type="body" idx="2"/>
          </p:nvPr>
        </p:nvSpPr>
        <p:spPr>
          <a:xfrm>
            <a:off x="759480" y="2500000"/>
            <a:ext cx="3154400" cy="760000"/>
          </a:xfrm>
          <a:prstGeom prst="rect">
            <a:avLst/>
          </a:prstGeom>
        </p:spPr>
        <p:txBody>
          <a:bodyPr lIns="0" tIns="0" rIns="0" bIns="0" anchor="ctr">
            <a:normAutofit/>
          </a:bodyPr>
          <a:lstStyle>
            <a:lvl1pPr marL="0" indent="0" algn="ctr">
              <a:defRPr sz="3600" b="1" i="0">
                <a:solidFill>
                  <a:srgbClr val="0F172A"/>
                </a:solidFill>
                <a:latin typeface="+mj-lt"/>
              </a:defRPr>
            </a:lvl1pPr>
          </a:lstStyle>
          <a:p>
            <a:endParaRPr lang="en-GB"/>
          </a:p>
        </p:txBody>
      </p:sp>
      <p:sp>
        <p:nvSpPr>
          <p:cNvPr id="15" name="Tier 1 Features"/>
          <p:cNvSpPr>
            <a:spLocks noGrp="1"/>
          </p:cNvSpPr>
          <p:nvPr>
            <p:ph type="body" idx="3"/>
          </p:nvPr>
        </p:nvSpPr>
        <p:spPr>
          <a:xfrm>
            <a:off x="869480" y="3380000"/>
            <a:ext cx="2934400" cy="2100000"/>
          </a:xfrm>
          <a:prstGeom prst="rect">
            <a:avLst/>
          </a:prstGeom>
        </p:spPr>
        <p:txBody>
          <a:bodyPr lIns="0" tIns="0" rIns="0" bIns="0" anchor="t">
            <a:normAutofit/>
          </a:bodyPr>
          <a:lstStyle>
            <a:lvl1pPr marL="0" indent="0" algn="l">
              <a:lnSpc>
                <a:spcPct val="126000"/>
              </a:lnSpc>
              <a:defRPr sz="1400" b="0" i="0">
                <a:solidFill>
                  <a:srgbClr val="475569"/>
                </a:solidFill>
                <a:latin typeface="+mn-lt"/>
              </a:defRPr>
            </a:lvl1pPr>
          </a:lstStyle>
          <a:p>
            <a:endParaRPr lang="en-GB"/>
          </a:p>
        </p:txBody>
      </p:sp>
      <p:sp>
        <p:nvSpPr>
          <p:cNvPr id="16" name="Tier 2 Card"/>
          <p:cNvSpPr/>
          <p:nvPr/>
        </p:nvSpPr>
        <p:spPr>
          <a:xfrm>
            <a:off x="4390880" y="1700000"/>
            <a:ext cx="3454400" cy="3900000"/>
          </a:xfrm>
          <a:prstGeom prst="roundRect">
            <a:avLst>
              <a:gd name="adj" fmla="val 4000"/>
            </a:avLst>
          </a:prstGeom>
          <a:solidFill>
            <a:srgbClr val="FFFFFF"/>
          </a:solidFill>
          <a:ln w="19050">
            <a:solidFill>
              <a:srgbClr val="F7941E"/>
            </a:solidFill>
          </a:ln>
        </p:spPr>
        <p:txBody>
          <a:bodyPr/>
          <a:lstStyle/>
          <a:p>
            <a:endParaRPr lang="en-GB"/>
          </a:p>
        </p:txBody>
      </p:sp>
      <p:sp>
        <p:nvSpPr>
          <p:cNvPr id="17" name="Tier 2 Band"/>
          <p:cNvSpPr/>
          <p:nvPr/>
        </p:nvSpPr>
        <p:spPr>
          <a:xfrm>
            <a:off x="4390880" y="1700000"/>
            <a:ext cx="3454400" cy="680000"/>
          </a:xfrm>
          <a:prstGeom prst="roundRect">
            <a:avLst>
              <a:gd name="adj" fmla="val 4000"/>
            </a:avLst>
          </a:prstGeom>
          <a:solidFill>
            <a:srgbClr val="F7941E"/>
          </a:solidFill>
          <a:ln w="0">
            <a:noFill/>
          </a:ln>
        </p:spPr>
        <p:txBody>
          <a:bodyPr/>
          <a:lstStyle/>
          <a:p>
            <a:endParaRPr lang="en-GB"/>
          </a:p>
        </p:txBody>
      </p:sp>
      <p:sp>
        <p:nvSpPr>
          <p:cNvPr id="18" name="Tier 2 Name"/>
          <p:cNvSpPr>
            <a:spLocks noGrp="1"/>
          </p:cNvSpPr>
          <p:nvPr>
            <p:ph type="body" idx="4"/>
          </p:nvPr>
        </p:nvSpPr>
        <p:spPr>
          <a:xfrm>
            <a:off x="4390880" y="1750000"/>
            <a:ext cx="3454400" cy="560000"/>
          </a:xfrm>
          <a:prstGeom prst="rect">
            <a:avLst/>
          </a:prstGeom>
        </p:spPr>
        <p:txBody>
          <a:bodyPr lIns="0" tIns="0" rIns="0" bIns="0" anchor="ctr">
            <a:normAutofit/>
          </a:bodyPr>
          <a:lstStyle>
            <a:lvl1pPr marL="0" indent="0" algn="ctr">
              <a:defRPr sz="1900" b="1" i="0">
                <a:solidFill>
                  <a:srgbClr val="FFFFFF"/>
                </a:solidFill>
                <a:latin typeface="+mj-lt"/>
              </a:defRPr>
            </a:lvl1pPr>
          </a:lstStyle>
          <a:p>
            <a:endParaRPr lang="en-GB"/>
          </a:p>
        </p:txBody>
      </p:sp>
      <p:sp>
        <p:nvSpPr>
          <p:cNvPr id="19" name="Tier 2 Price"/>
          <p:cNvSpPr>
            <a:spLocks noGrp="1"/>
          </p:cNvSpPr>
          <p:nvPr>
            <p:ph type="body" idx="5"/>
          </p:nvPr>
        </p:nvSpPr>
        <p:spPr>
          <a:xfrm>
            <a:off x="4540880" y="2500000"/>
            <a:ext cx="3154400" cy="760000"/>
          </a:xfrm>
          <a:prstGeom prst="rect">
            <a:avLst/>
          </a:prstGeom>
        </p:spPr>
        <p:txBody>
          <a:bodyPr lIns="0" tIns="0" rIns="0" bIns="0" anchor="ctr">
            <a:normAutofit/>
          </a:bodyPr>
          <a:lstStyle>
            <a:lvl1pPr marL="0" indent="0" algn="ctr">
              <a:defRPr sz="3600" b="1" i="0">
                <a:solidFill>
                  <a:srgbClr val="0F172A"/>
                </a:solidFill>
                <a:latin typeface="+mj-lt"/>
              </a:defRPr>
            </a:lvl1pPr>
          </a:lstStyle>
          <a:p>
            <a:endParaRPr lang="en-GB"/>
          </a:p>
        </p:txBody>
      </p:sp>
      <p:sp>
        <p:nvSpPr>
          <p:cNvPr id="20" name="Tier 2 Features"/>
          <p:cNvSpPr>
            <a:spLocks noGrp="1"/>
          </p:cNvSpPr>
          <p:nvPr>
            <p:ph type="body" idx="6"/>
          </p:nvPr>
        </p:nvSpPr>
        <p:spPr>
          <a:xfrm>
            <a:off x="4650880" y="3380000"/>
            <a:ext cx="2934400" cy="2100000"/>
          </a:xfrm>
          <a:prstGeom prst="rect">
            <a:avLst/>
          </a:prstGeom>
        </p:spPr>
        <p:txBody>
          <a:bodyPr lIns="0" tIns="0" rIns="0" bIns="0" anchor="t">
            <a:normAutofit/>
          </a:bodyPr>
          <a:lstStyle>
            <a:lvl1pPr marL="0" indent="0" algn="l">
              <a:lnSpc>
                <a:spcPct val="126000"/>
              </a:lnSpc>
              <a:defRPr sz="1400" b="0" i="0">
                <a:solidFill>
                  <a:srgbClr val="475569"/>
                </a:solidFill>
                <a:latin typeface="+mn-lt"/>
              </a:defRPr>
            </a:lvl1pPr>
          </a:lstStyle>
          <a:p>
            <a:endParaRPr lang="en-GB"/>
          </a:p>
        </p:txBody>
      </p:sp>
      <p:sp>
        <p:nvSpPr>
          <p:cNvPr id="21" name="Tier 3 Card"/>
          <p:cNvSpPr/>
          <p:nvPr/>
        </p:nvSpPr>
        <p:spPr>
          <a:xfrm>
            <a:off x="8172280" y="1700000"/>
            <a:ext cx="3454400" cy="3900000"/>
          </a:xfrm>
          <a:prstGeom prst="roundRect">
            <a:avLst>
              <a:gd name="adj" fmla="val 4000"/>
            </a:avLst>
          </a:prstGeom>
          <a:solidFill>
            <a:srgbClr val="FFFFFF"/>
          </a:solidFill>
          <a:ln w="19050">
            <a:solidFill>
              <a:srgbClr val="3B82F6"/>
            </a:solidFill>
          </a:ln>
        </p:spPr>
        <p:txBody>
          <a:bodyPr/>
          <a:lstStyle/>
          <a:p>
            <a:endParaRPr lang="en-GB"/>
          </a:p>
        </p:txBody>
      </p:sp>
      <p:sp>
        <p:nvSpPr>
          <p:cNvPr id="22" name="Tier 3 Band"/>
          <p:cNvSpPr/>
          <p:nvPr/>
        </p:nvSpPr>
        <p:spPr>
          <a:xfrm>
            <a:off x="8172280" y="1700000"/>
            <a:ext cx="3454400" cy="680000"/>
          </a:xfrm>
          <a:prstGeom prst="roundRect">
            <a:avLst>
              <a:gd name="adj" fmla="val 4000"/>
            </a:avLst>
          </a:prstGeom>
          <a:solidFill>
            <a:srgbClr val="3B82F6"/>
          </a:solidFill>
          <a:ln w="0">
            <a:noFill/>
          </a:ln>
        </p:spPr>
        <p:txBody>
          <a:bodyPr/>
          <a:lstStyle/>
          <a:p>
            <a:endParaRPr lang="en-GB"/>
          </a:p>
        </p:txBody>
      </p:sp>
      <p:sp>
        <p:nvSpPr>
          <p:cNvPr id="23" name="Tier 3 Name"/>
          <p:cNvSpPr>
            <a:spLocks noGrp="1"/>
          </p:cNvSpPr>
          <p:nvPr>
            <p:ph type="body" idx="7"/>
          </p:nvPr>
        </p:nvSpPr>
        <p:spPr>
          <a:xfrm>
            <a:off x="8172280" y="1750000"/>
            <a:ext cx="3454400" cy="560000"/>
          </a:xfrm>
          <a:prstGeom prst="rect">
            <a:avLst/>
          </a:prstGeom>
        </p:spPr>
        <p:txBody>
          <a:bodyPr lIns="0" tIns="0" rIns="0" bIns="0" anchor="ctr">
            <a:normAutofit/>
          </a:bodyPr>
          <a:lstStyle>
            <a:lvl1pPr marL="0" indent="0" algn="ctr">
              <a:defRPr sz="1900" b="1" i="0">
                <a:solidFill>
                  <a:srgbClr val="FFFFFF"/>
                </a:solidFill>
                <a:latin typeface="+mj-lt"/>
              </a:defRPr>
            </a:lvl1pPr>
          </a:lstStyle>
          <a:p>
            <a:endParaRPr lang="en-GB"/>
          </a:p>
        </p:txBody>
      </p:sp>
      <p:sp>
        <p:nvSpPr>
          <p:cNvPr id="24" name="Tier 3 Price"/>
          <p:cNvSpPr>
            <a:spLocks noGrp="1"/>
          </p:cNvSpPr>
          <p:nvPr>
            <p:ph type="body" idx="8"/>
          </p:nvPr>
        </p:nvSpPr>
        <p:spPr>
          <a:xfrm>
            <a:off x="8322280" y="2500000"/>
            <a:ext cx="3154400" cy="760000"/>
          </a:xfrm>
          <a:prstGeom prst="rect">
            <a:avLst/>
          </a:prstGeom>
        </p:spPr>
        <p:txBody>
          <a:bodyPr lIns="0" tIns="0" rIns="0" bIns="0" anchor="ctr">
            <a:normAutofit/>
          </a:bodyPr>
          <a:lstStyle>
            <a:lvl1pPr marL="0" indent="0" algn="ctr">
              <a:defRPr sz="3600" b="1" i="0">
                <a:solidFill>
                  <a:srgbClr val="0F172A"/>
                </a:solidFill>
                <a:latin typeface="+mj-lt"/>
              </a:defRPr>
            </a:lvl1pPr>
          </a:lstStyle>
          <a:p>
            <a:endParaRPr lang="en-GB"/>
          </a:p>
        </p:txBody>
      </p:sp>
      <p:sp>
        <p:nvSpPr>
          <p:cNvPr id="25" name="Tier 3 Features"/>
          <p:cNvSpPr>
            <a:spLocks noGrp="1"/>
          </p:cNvSpPr>
          <p:nvPr>
            <p:ph type="body" idx="9"/>
          </p:nvPr>
        </p:nvSpPr>
        <p:spPr>
          <a:xfrm>
            <a:off x="8432280" y="3380000"/>
            <a:ext cx="2934400" cy="2100000"/>
          </a:xfrm>
          <a:prstGeom prst="rect">
            <a:avLst/>
          </a:prstGeom>
        </p:spPr>
        <p:txBody>
          <a:bodyPr lIns="0" tIns="0" rIns="0" bIns="0" anchor="t">
            <a:normAutofit/>
          </a:bodyPr>
          <a:lstStyle>
            <a:lvl1pPr marL="0" indent="0" algn="l">
              <a:lnSpc>
                <a:spcPct val="126000"/>
              </a:lnSpc>
              <a:defRPr sz="1400" b="0" i="0">
                <a:solidFill>
                  <a:srgbClr val="475569"/>
                </a:solidFill>
                <a:latin typeface="+mn-lt"/>
              </a:defRPr>
            </a:lvl1pPr>
          </a:lstStyle>
          <a:p>
            <a:endParaRPr lang="en-GB"/>
          </a:p>
        </p:txBody>
      </p:sp>
      <p:sp>
        <p:nvSpPr>
          <p:cNvPr id="29"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30"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31"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32"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33"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33}" type="slidenum">
              <a:rPr lang="en-GB" sz="1100">
                <a:solidFill>
                  <a:srgbClr val="64748B"/>
                </a:solidFill>
              </a:rPr>
              <a:t>‹#›</a:t>
            </a:fld>
            <a:endParaRPr lang="en-GB" sz="1100">
              <a:solidFill>
                <a:srgbClr val="64748B"/>
              </a:solidFill>
            </a:endParaRPr>
          </a:p>
        </p:txBody>
      </p:sp>
      <p:sp>
        <p:nvSpPr>
          <p:cNvPr id="34"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bl" preserve="1">
  <p:cSld name="Table">
    <p:bg>
      <p:bgPr>
        <a:solidFill>
          <a:srgbClr val="FFFFFF"/>
        </a:solidFill>
        <a:effectLst/>
      </p:bgPr>
    </p:bg>
    <p:spTree>
      <p:nvGrpSpPr>
        <p:cNvPr id="1" name=""/>
        <p:cNvGrpSpPr/>
        <p:nvPr/>
      </p:nvGrpSpPr>
      <p:grpSpPr>
        <a:xfrm>
          <a:off x="0" y="0"/>
          <a:ext cx="0" cy="0"/>
          <a:chOff x="0" y="0"/>
          <a:chExt cx="0" cy="0"/>
        </a:xfrm>
      </p:grpSpPr>
      <p:sp>
        <p:nvSpPr>
          <p:cNvPr id="11" name="Title"/>
          <p:cNvSpPr>
            <a:spLocks noGrp="1"/>
          </p:cNvSpPr>
          <p:nvPr>
            <p:ph type="title"/>
          </p:nvPr>
        </p:nvSpPr>
        <p:spPr>
          <a:xfrm>
            <a:off x="609480" y="350000"/>
            <a:ext cx="10973040" cy="760000"/>
          </a:xfrm>
          <a:prstGeom prst="rect">
            <a:avLst/>
          </a:prstGeom>
        </p:spPr>
        <p:txBody>
          <a:bodyPr lIns="0" tIns="0" rIns="0" bIns="0" anchor="t">
            <a:normAutofit/>
          </a:bodyPr>
          <a:lstStyle>
            <a:lvl1pPr marL="0" indent="0" algn="l">
              <a:defRPr sz="3600" b="1" i="0">
                <a:solidFill>
                  <a:srgbClr val="0F172A"/>
                </a:solidFill>
                <a:latin typeface="+mj-lt"/>
              </a:defRPr>
            </a:lvl1pPr>
          </a:lstStyle>
          <a:p>
            <a:endParaRPr lang="en-GB"/>
          </a:p>
        </p:txBody>
      </p:sp>
      <p:sp>
        <p:nvSpPr>
          <p:cNvPr id="12" name="Subtitle"/>
          <p:cNvSpPr>
            <a:spLocks noGrp="1"/>
          </p:cNvSpPr>
          <p:nvPr>
            <p:ph type="body" idx="11"/>
          </p:nvPr>
        </p:nvSpPr>
        <p:spPr>
          <a:xfrm>
            <a:off x="609480" y="1130000"/>
            <a:ext cx="10973040" cy="430000"/>
          </a:xfrm>
          <a:prstGeom prst="rect">
            <a:avLst/>
          </a:prstGeom>
        </p:spPr>
        <p:txBody>
          <a:bodyPr lIns="0" tIns="0" rIns="0" bIns="0" anchor="t">
            <a:normAutofit/>
          </a:bodyPr>
          <a:lstStyle>
            <a:lvl1pPr marL="0" indent="0" algn="l">
              <a:defRPr sz="1700" b="0" i="0">
                <a:solidFill>
                  <a:srgbClr val="64748B"/>
                </a:solidFill>
                <a:latin typeface="+mn-lt"/>
              </a:defRPr>
            </a:lvl1pPr>
          </a:lstStyle>
          <a:p>
            <a:endParaRPr lang="en-GB"/>
          </a:p>
        </p:txBody>
      </p:sp>
      <p:sp>
        <p:nvSpPr>
          <p:cNvPr id="13" name="Underline"/>
          <p:cNvSpPr/>
          <p:nvPr/>
        </p:nvSpPr>
        <p:spPr>
          <a:xfrm>
            <a:off x="609480" y="1610000"/>
            <a:ext cx="1691640" cy="36576"/>
          </a:xfrm>
          <a:prstGeom prst="rect">
            <a:avLst/>
          </a:prstGeom>
          <a:solidFill>
            <a:srgbClr val="F7941E"/>
          </a:solidFill>
          <a:ln w="0">
            <a:noFill/>
          </a:ln>
        </p:spPr>
        <p:txBody>
          <a:bodyPr/>
          <a:lstStyle/>
          <a:p>
            <a:endParaRPr lang="en-GB"/>
          </a:p>
        </p:txBody>
      </p:sp>
      <p:sp>
        <p:nvSpPr>
          <p:cNvPr id="14" name="Card"/>
          <p:cNvSpPr/>
          <p:nvPr/>
        </p:nvSpPr>
        <p:spPr>
          <a:xfrm>
            <a:off x="609480" y="5800000"/>
            <a:ext cx="10973040" cy="380000"/>
          </a:xfrm>
          <a:prstGeom prst="roundRect">
            <a:avLst>
              <a:gd name="adj" fmla="val 5500"/>
            </a:avLst>
          </a:prstGeom>
          <a:solidFill>
            <a:srgbClr val="FDEAD7"/>
          </a:solidFill>
          <a:ln w="0">
            <a:noFill/>
          </a:ln>
        </p:spPr>
        <p:txBody>
          <a:bodyPr/>
          <a:lstStyle/>
          <a:p>
            <a:endParaRPr lang="en-GB"/>
          </a:p>
        </p:txBody>
      </p:sp>
      <p:sp>
        <p:nvSpPr>
          <p:cNvPr id="15" name="CardAccent"/>
          <p:cNvSpPr/>
          <p:nvPr/>
        </p:nvSpPr>
        <p:spPr>
          <a:xfrm>
            <a:off x="609480" y="5800000"/>
            <a:ext cx="73152" cy="380000"/>
          </a:xfrm>
          <a:prstGeom prst="rect">
            <a:avLst/>
          </a:prstGeom>
          <a:solidFill>
            <a:srgbClr val="F7941E"/>
          </a:solidFill>
          <a:ln w="0">
            <a:noFill/>
          </a:ln>
        </p:spPr>
        <p:txBody>
          <a:bodyPr/>
          <a:lstStyle/>
          <a:p>
            <a:endParaRPr lang="en-GB"/>
          </a:p>
        </p:txBody>
      </p:sp>
      <p:sp>
        <p:nvSpPr>
          <p:cNvPr id="16" name="Key Message"/>
          <p:cNvSpPr>
            <a:spLocks noGrp="1"/>
          </p:cNvSpPr>
          <p:nvPr>
            <p:ph type="body" idx="14"/>
          </p:nvPr>
        </p:nvSpPr>
        <p:spPr>
          <a:xfrm>
            <a:off x="909480" y="5828000"/>
            <a:ext cx="10413040" cy="324000"/>
          </a:xfrm>
          <a:prstGeom prst="rect">
            <a:avLst/>
          </a:prstGeom>
        </p:spPr>
        <p:txBody>
          <a:bodyPr lIns="0" tIns="0" rIns="0" bIns="0" anchor="ctr">
            <a:normAutofit/>
          </a:bodyPr>
          <a:lstStyle>
            <a:lvl1pPr marL="0" indent="0" algn="l">
              <a:lnSpc>
                <a:spcPct val="108000"/>
              </a:lnSpc>
              <a:defRPr sz="1300" b="0" i="0">
                <a:solidFill>
                  <a:srgbClr val="0F172A"/>
                </a:solidFill>
                <a:latin typeface="+mn-lt"/>
              </a:defRPr>
            </a:lvl1pPr>
          </a:lstStyle>
          <a:p>
            <a:endParaRPr lang="en-GB"/>
          </a:p>
        </p:txBody>
      </p:sp>
      <p:sp>
        <p:nvSpPr>
          <p:cNvPr id="17"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18"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18}" type="slidenum">
              <a:rPr lang="en-GB" sz="1100">
                <a:solidFill>
                  <a:srgbClr val="64748B"/>
                </a:solidFill>
              </a:rPr>
              <a:t>‹#›</a:t>
            </a:fld>
            <a:endParaRPr lang="en-GB" sz="1100">
              <a:solidFill>
                <a:srgbClr val="64748B"/>
              </a:solidFill>
            </a:endParaRPr>
          </a:p>
        </p:txBody>
      </p:sp>
      <p:sp>
        <p:nvSpPr>
          <p:cNvPr id="19"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Quote / Statement">
    <p:bg>
      <p:bgPr>
        <a:solidFill>
          <a:srgbClr val="0F172A"/>
        </a:solidFill>
        <a:effectLst/>
      </p:bgPr>
    </p:bg>
    <p:spTree>
      <p:nvGrpSpPr>
        <p:cNvPr id="1" name=""/>
        <p:cNvGrpSpPr/>
        <p:nvPr/>
      </p:nvGrpSpPr>
      <p:grpSpPr>
        <a:xfrm>
          <a:off x="0" y="0"/>
          <a:ext cx="0" cy="0"/>
          <a:chOff x="0" y="0"/>
          <a:chExt cx="0" cy="0"/>
        </a:xfrm>
      </p:grpSpPr>
      <p:sp>
        <p:nvSpPr>
          <p:cNvPr id="11" name="TopLine"/>
          <p:cNvSpPr/>
          <p:nvPr/>
        </p:nvSpPr>
        <p:spPr>
          <a:xfrm>
            <a:off x="0" y="0"/>
            <a:ext cx="12192000" cy="34560"/>
          </a:xfrm>
          <a:prstGeom prst="rect">
            <a:avLst/>
          </a:prstGeom>
          <a:gradFill rotWithShape="0">
            <a:gsLst>
              <a:gs pos="0">
                <a:srgbClr val="F7941E"/>
              </a:gs>
              <a:gs pos="40000">
                <a:srgbClr val="3B82F6"/>
              </a:gs>
              <a:gs pos="70000">
                <a:srgbClr val="8B5CF6"/>
              </a:gs>
              <a:gs pos="100000">
                <a:srgbClr val="EC4899"/>
              </a:gs>
            </a:gsLst>
            <a:lin ang="0"/>
          </a:gradFill>
          <a:ln w="0">
            <a:noFill/>
          </a:ln>
        </p:spPr>
        <p:txBody>
          <a:bodyPr/>
          <a:lstStyle/>
          <a:p>
            <a:endParaRPr lang="en-GB"/>
          </a:p>
        </p:txBody>
      </p:sp>
      <p:sp>
        <p:nvSpPr>
          <p:cNvPr id="12" name="GlowCircle"/>
          <p:cNvSpPr/>
          <p:nvPr/>
        </p:nvSpPr>
        <p:spPr>
          <a:xfrm>
            <a:off x="8229600" y="-914400"/>
            <a:ext cx="4569840" cy="4569840"/>
          </a:xfrm>
          <a:prstGeom prst="ellipse">
            <a:avLst/>
          </a:prstGeom>
          <a:gradFill rotWithShape="0">
            <a:gsLst>
              <a:gs pos="0">
                <a:srgbClr val="F7941E">
                  <a:alpha val="15000"/>
                </a:srgbClr>
              </a:gs>
              <a:gs pos="100000">
                <a:srgbClr val="F7941E">
                  <a:alpha val="0"/>
                </a:srgbClr>
              </a:gs>
            </a:gsLst>
            <a:path path="circle">
              <a:fillToRect l="50000" t="50000" r="50000" b="50000"/>
            </a:path>
          </a:gradFill>
          <a:ln w="0">
            <a:noFill/>
          </a:ln>
        </p:spPr>
        <p:txBody>
          <a:bodyPr/>
          <a:lstStyle/>
          <a:p>
            <a:endParaRPr lang="en-GB"/>
          </a:p>
        </p:txBody>
      </p:sp>
      <p:sp>
        <p:nvSpPr>
          <p:cNvPr id="13" name="QuoteMark"/>
          <p:cNvSpPr/>
          <p:nvPr/>
        </p:nvSpPr>
        <p:spPr>
          <a:xfrm>
            <a:off x="609480" y="1120000"/>
            <a:ext cx="1900000" cy="1400000"/>
          </a:xfrm>
          <a:prstGeom prst="rect">
            <a:avLst/>
          </a:prstGeom>
          <a:noFill/>
        </p:spPr>
        <p:txBody>
          <a:bodyPr lIns="0" tIns="0" rIns="0" bIns="0">
            <a:noAutofit/>
          </a:bodyPr>
          <a:lstStyle/>
          <a:p>
            <a:r>
              <a:rPr lang="en-GB" sz="9600" b="1">
                <a:solidFill>
                  <a:srgbClr val="F7941E"/>
                </a:solidFill>
                <a:latin typeface="+mj-lt"/>
              </a:rPr>
              <a:t>“</a:t>
            </a:r>
          </a:p>
        </p:txBody>
      </p:sp>
      <p:sp>
        <p:nvSpPr>
          <p:cNvPr id="14" name="Quote"/>
          <p:cNvSpPr>
            <a:spLocks noGrp="1"/>
          </p:cNvSpPr>
          <p:nvPr>
            <p:ph type="body" idx="1"/>
          </p:nvPr>
        </p:nvSpPr>
        <p:spPr>
          <a:xfrm>
            <a:off x="609480" y="2520000"/>
            <a:ext cx="10973040" cy="2200000"/>
          </a:xfrm>
          <a:prstGeom prst="rect">
            <a:avLst/>
          </a:prstGeom>
        </p:spPr>
        <p:txBody>
          <a:bodyPr lIns="0" tIns="0" rIns="0" bIns="0" anchor="t">
            <a:normAutofit/>
          </a:bodyPr>
          <a:lstStyle>
            <a:lvl1pPr marL="0" indent="0" algn="l">
              <a:lnSpc>
                <a:spcPct val="116000"/>
              </a:lnSpc>
              <a:defRPr sz="3200" b="0" i="0">
                <a:solidFill>
                  <a:srgbClr val="FFFFFF"/>
                </a:solidFill>
                <a:latin typeface="+mj-lt"/>
              </a:defRPr>
            </a:lvl1pPr>
          </a:lstStyle>
          <a:p>
            <a:endParaRPr lang="en-GB"/>
          </a:p>
        </p:txBody>
      </p:sp>
      <p:sp>
        <p:nvSpPr>
          <p:cNvPr id="15" name="Attribution"/>
          <p:cNvSpPr>
            <a:spLocks noGrp="1"/>
          </p:cNvSpPr>
          <p:nvPr>
            <p:ph type="body" idx="11"/>
          </p:nvPr>
        </p:nvSpPr>
        <p:spPr>
          <a:xfrm>
            <a:off x="609480" y="4900000"/>
            <a:ext cx="10973040" cy="460000"/>
          </a:xfrm>
          <a:prstGeom prst="rect">
            <a:avLst/>
          </a:prstGeom>
        </p:spPr>
        <p:txBody>
          <a:bodyPr lIns="0" tIns="0" rIns="0" bIns="0" anchor="t">
            <a:normAutofit/>
          </a:bodyPr>
          <a:lstStyle>
            <a:lvl1pPr marL="0" indent="0" algn="l">
              <a:defRPr sz="1600" b="0" i="0">
                <a:solidFill>
                  <a:srgbClr val="94A3B8"/>
                </a:solidFill>
                <a:latin typeface="+mn-lt"/>
              </a:defRPr>
            </a:lvl1pPr>
          </a:lstStyle>
          <a:p>
            <a:endParaRPr lang="en-GB"/>
          </a:p>
        </p:txBody>
      </p:sp>
      <p:sp>
        <p:nvSpPr>
          <p:cNvPr id="16"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FFFFFF"/>
                </a:solidFill>
              </a:rPr>
              <a:t>Spark</a:t>
            </a:r>
          </a:p>
        </p:txBody>
      </p:sp>
      <p:sp>
        <p:nvSpPr>
          <p:cNvPr id="17"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17}" type="slidenum">
              <a:rPr lang="en-GB" sz="1100">
                <a:solidFill>
                  <a:srgbClr val="94A3B8"/>
                </a:solidFill>
              </a:rPr>
              <a:t>‹#›</a:t>
            </a:fld>
            <a:endParaRPr lang="en-GB" sz="1100">
              <a:solidFill>
                <a:srgbClr val="94A3B8"/>
              </a:solidFill>
            </a:endParaRPr>
          </a:p>
        </p:txBody>
      </p:sp>
      <p:sp>
        <p:nvSpPr>
          <p:cNvPr id="18"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Closing">
    <p:bg>
      <p:bgPr>
        <a:solidFill>
          <a:srgbClr val="0F172A"/>
        </a:solidFill>
        <a:effectLst/>
      </p:bgPr>
    </p:bg>
    <p:spTree>
      <p:nvGrpSpPr>
        <p:cNvPr id="1" name=""/>
        <p:cNvGrpSpPr/>
        <p:nvPr/>
      </p:nvGrpSpPr>
      <p:grpSpPr>
        <a:xfrm>
          <a:off x="0" y="0"/>
          <a:ext cx="0" cy="0"/>
          <a:chOff x="0" y="0"/>
          <a:chExt cx="0" cy="0"/>
        </a:xfrm>
      </p:grpSpPr>
      <p:sp>
        <p:nvSpPr>
          <p:cNvPr id="11" name="TopLine"/>
          <p:cNvSpPr/>
          <p:nvPr/>
        </p:nvSpPr>
        <p:spPr>
          <a:xfrm>
            <a:off x="0" y="0"/>
            <a:ext cx="12192000" cy="34560"/>
          </a:xfrm>
          <a:prstGeom prst="rect">
            <a:avLst/>
          </a:prstGeom>
          <a:gradFill rotWithShape="0">
            <a:gsLst>
              <a:gs pos="0">
                <a:srgbClr val="F7941E"/>
              </a:gs>
              <a:gs pos="40000">
                <a:srgbClr val="3B82F6"/>
              </a:gs>
              <a:gs pos="70000">
                <a:srgbClr val="8B5CF6"/>
              </a:gs>
              <a:gs pos="100000">
                <a:srgbClr val="EC4899"/>
              </a:gs>
            </a:gsLst>
            <a:lin ang="0"/>
          </a:gradFill>
          <a:ln w="0">
            <a:noFill/>
          </a:ln>
        </p:spPr>
        <p:txBody>
          <a:bodyPr/>
          <a:lstStyle/>
          <a:p>
            <a:endParaRPr lang="en-GB"/>
          </a:p>
        </p:txBody>
      </p:sp>
      <p:sp>
        <p:nvSpPr>
          <p:cNvPr id="12" name="GlowCircle"/>
          <p:cNvSpPr/>
          <p:nvPr/>
        </p:nvSpPr>
        <p:spPr>
          <a:xfrm>
            <a:off x="8229600" y="-914400"/>
            <a:ext cx="4569840" cy="4569840"/>
          </a:xfrm>
          <a:prstGeom prst="ellipse">
            <a:avLst/>
          </a:prstGeom>
          <a:gradFill rotWithShape="0">
            <a:gsLst>
              <a:gs pos="0">
                <a:srgbClr val="F7941E">
                  <a:alpha val="15000"/>
                </a:srgbClr>
              </a:gs>
              <a:gs pos="100000">
                <a:srgbClr val="F7941E">
                  <a:alpha val="0"/>
                </a:srgbClr>
              </a:gs>
            </a:gsLst>
            <a:path path="circle">
              <a:fillToRect l="50000" t="50000" r="50000" b="50000"/>
            </a:path>
          </a:gradFill>
          <a:ln w="0">
            <a:noFill/>
          </a:ln>
        </p:spPr>
        <p:txBody>
          <a:bodyPr/>
          <a:lstStyle/>
          <a:p>
            <a:endParaRPr lang="en-GB"/>
          </a:p>
        </p:txBody>
      </p:sp>
      <p:sp>
        <p:nvSpPr>
          <p:cNvPr id="13" name="LeftAccent"/>
          <p:cNvSpPr/>
          <p:nvPr/>
        </p:nvSpPr>
        <p:spPr>
          <a:xfrm>
            <a:off x="731520" y="1371600"/>
            <a:ext cx="45720" cy="3108960"/>
          </a:xfrm>
          <a:prstGeom prst="rect">
            <a:avLst/>
          </a:prstGeom>
          <a:solidFill>
            <a:srgbClr val="F7941E"/>
          </a:solidFill>
          <a:ln w="0">
            <a:noFill/>
          </a:ln>
        </p:spPr>
        <p:txBody>
          <a:bodyPr/>
          <a:lstStyle/>
          <a:p>
            <a:endParaRPr lang="en-GB"/>
          </a:p>
        </p:txBody>
      </p:sp>
      <p:sp>
        <p:nvSpPr>
          <p:cNvPr id="14" name="Title"/>
          <p:cNvSpPr>
            <a:spLocks noGrp="1"/>
          </p:cNvSpPr>
          <p:nvPr>
            <p:ph type="title"/>
          </p:nvPr>
        </p:nvSpPr>
        <p:spPr>
          <a:xfrm>
            <a:off x="914400" y="1371600"/>
            <a:ext cx="9599040" cy="1097280"/>
          </a:xfrm>
          <a:prstGeom prst="rect">
            <a:avLst/>
          </a:prstGeom>
        </p:spPr>
        <p:txBody>
          <a:bodyPr lIns="0" tIns="0" rIns="0" bIns="0" anchor="t">
            <a:normAutofit/>
          </a:bodyPr>
          <a:lstStyle>
            <a:lvl1pPr marL="0" indent="0" algn="l">
              <a:defRPr sz="5400" b="1" i="0">
                <a:solidFill>
                  <a:srgbClr val="FFFFFF"/>
                </a:solidFill>
                <a:latin typeface="+mj-lt"/>
              </a:defRPr>
            </a:lvl1pPr>
          </a:lstStyle>
          <a:p>
            <a:endParaRPr lang="en-GB"/>
          </a:p>
        </p:txBody>
      </p:sp>
      <p:sp>
        <p:nvSpPr>
          <p:cNvPr id="15" name="Divider"/>
          <p:cNvSpPr/>
          <p:nvPr/>
        </p:nvSpPr>
        <p:spPr>
          <a:xfrm>
            <a:off x="914400" y="2480000"/>
            <a:ext cx="3200400" cy="22860"/>
          </a:xfrm>
          <a:prstGeom prst="rect">
            <a:avLst/>
          </a:prstGeom>
          <a:solidFill>
            <a:srgbClr val="F7941E"/>
          </a:solidFill>
          <a:ln w="0">
            <a:noFill/>
          </a:ln>
        </p:spPr>
        <p:txBody>
          <a:bodyPr/>
          <a:lstStyle/>
          <a:p>
            <a:endParaRPr lang="en-GB"/>
          </a:p>
        </p:txBody>
      </p:sp>
      <p:sp>
        <p:nvSpPr>
          <p:cNvPr id="16" name="Name"/>
          <p:cNvSpPr>
            <a:spLocks noGrp="1"/>
          </p:cNvSpPr>
          <p:nvPr>
            <p:ph type="body" idx="1"/>
          </p:nvPr>
        </p:nvSpPr>
        <p:spPr>
          <a:xfrm>
            <a:off x="914400" y="2620000"/>
            <a:ext cx="5400000" cy="460000"/>
          </a:xfrm>
          <a:prstGeom prst="rect">
            <a:avLst/>
          </a:prstGeom>
        </p:spPr>
        <p:txBody>
          <a:bodyPr lIns="0" tIns="0" rIns="0" bIns="0" anchor="t">
            <a:normAutofit/>
          </a:bodyPr>
          <a:lstStyle>
            <a:lvl1pPr marL="0" indent="0" algn="l">
              <a:defRPr sz="2000" b="1" i="0">
                <a:solidFill>
                  <a:srgbClr val="FFFFFF"/>
                </a:solidFill>
                <a:latin typeface="+mj-lt"/>
              </a:defRPr>
            </a:lvl1pPr>
          </a:lstStyle>
          <a:p>
            <a:endParaRPr lang="en-GB"/>
          </a:p>
        </p:txBody>
      </p:sp>
      <p:sp>
        <p:nvSpPr>
          <p:cNvPr id="17" name="Role / Title"/>
          <p:cNvSpPr>
            <a:spLocks noGrp="1"/>
          </p:cNvSpPr>
          <p:nvPr>
            <p:ph type="body" idx="11"/>
          </p:nvPr>
        </p:nvSpPr>
        <p:spPr>
          <a:xfrm>
            <a:off x="914400" y="3090000"/>
            <a:ext cx="5400000" cy="380000"/>
          </a:xfrm>
          <a:prstGeom prst="rect">
            <a:avLst/>
          </a:prstGeom>
        </p:spPr>
        <p:txBody>
          <a:bodyPr lIns="0" tIns="0" rIns="0" bIns="0" anchor="t">
            <a:normAutofit/>
          </a:bodyPr>
          <a:lstStyle>
            <a:lvl1pPr marL="0" indent="0" algn="l">
              <a:defRPr sz="1600" b="1" i="0">
                <a:solidFill>
                  <a:srgbClr val="F7941E"/>
                </a:solidFill>
                <a:latin typeface="+mn-lt"/>
              </a:defRPr>
            </a:lvl1pPr>
          </a:lstStyle>
          <a:p>
            <a:endParaRPr lang="en-GB"/>
          </a:p>
        </p:txBody>
      </p:sp>
      <p:sp>
        <p:nvSpPr>
          <p:cNvPr id="18" name="Contact details"/>
          <p:cNvSpPr>
            <a:spLocks noGrp="1"/>
          </p:cNvSpPr>
          <p:nvPr>
            <p:ph type="body" idx="2"/>
          </p:nvPr>
        </p:nvSpPr>
        <p:spPr>
          <a:xfrm>
            <a:off x="914400" y="3620000"/>
            <a:ext cx="5400000" cy="1500000"/>
          </a:xfrm>
          <a:prstGeom prst="rect">
            <a:avLst/>
          </a:prstGeom>
        </p:spPr>
        <p:txBody>
          <a:bodyPr lIns="0" tIns="0" rIns="0" bIns="0" anchor="t">
            <a:normAutofit/>
          </a:bodyPr>
          <a:lstStyle>
            <a:lvl1pPr marL="0" indent="0" algn="l">
              <a:lnSpc>
                <a:spcPct val="132000"/>
              </a:lnSpc>
              <a:defRPr sz="1500" b="0" i="0">
                <a:solidFill>
                  <a:srgbClr val="E2E8F0"/>
                </a:solidFill>
                <a:latin typeface="+mn-lt"/>
              </a:defRPr>
            </a:lvl1pPr>
          </a:lstStyle>
          <a:p>
            <a:endParaRPr lang="en-GB"/>
          </a:p>
        </p:txBody>
      </p:sp>
      <p:sp>
        <p:nvSpPr>
          <p:cNvPr id="19" name="Second-Column Heading"/>
          <p:cNvSpPr>
            <a:spLocks noGrp="1"/>
          </p:cNvSpPr>
          <p:nvPr>
            <p:ph type="body" idx="3"/>
          </p:nvPr>
        </p:nvSpPr>
        <p:spPr>
          <a:xfrm>
            <a:off x="6858000" y="3090000"/>
            <a:ext cx="4700000" cy="380000"/>
          </a:xfrm>
          <a:prstGeom prst="rect">
            <a:avLst/>
          </a:prstGeom>
        </p:spPr>
        <p:txBody>
          <a:bodyPr lIns="0" tIns="0" rIns="0" bIns="0" anchor="t">
            <a:normAutofit/>
          </a:bodyPr>
          <a:lstStyle>
            <a:lvl1pPr marL="0" indent="0" algn="l">
              <a:defRPr sz="1400" b="1" i="0" spc="200">
                <a:solidFill>
                  <a:srgbClr val="F7941E"/>
                </a:solidFill>
                <a:latin typeface="+mn-lt"/>
              </a:defRPr>
            </a:lvl1pPr>
          </a:lstStyle>
          <a:p>
            <a:endParaRPr lang="en-GB"/>
          </a:p>
        </p:txBody>
      </p:sp>
      <p:sp>
        <p:nvSpPr>
          <p:cNvPr id="20" name="Second-Column Content"/>
          <p:cNvSpPr>
            <a:spLocks noGrp="1"/>
          </p:cNvSpPr>
          <p:nvPr>
            <p:ph type="body" idx="4"/>
          </p:nvPr>
        </p:nvSpPr>
        <p:spPr>
          <a:xfrm>
            <a:off x="6858000" y="3560000"/>
            <a:ext cx="4700000" cy="1560000"/>
          </a:xfrm>
          <a:prstGeom prst="rect">
            <a:avLst/>
          </a:prstGeom>
        </p:spPr>
        <p:txBody>
          <a:bodyPr lIns="0" tIns="0" rIns="0" bIns="0" anchor="t">
            <a:normAutofit/>
          </a:bodyPr>
          <a:lstStyle>
            <a:lvl1pPr marL="0" indent="0" algn="l">
              <a:lnSpc>
                <a:spcPct val="130000"/>
              </a:lnSpc>
              <a:defRPr sz="1400" b="0" i="0">
                <a:solidFill>
                  <a:srgbClr val="E2E8F0"/>
                </a:solidFill>
                <a:latin typeface="+mn-lt"/>
              </a:defRPr>
            </a:lvl1pPr>
          </a:lstStyle>
          <a:p>
            <a:endParaRPr lang="en-GB"/>
          </a:p>
        </p:txBody>
      </p:sp>
      <p:sp>
        <p:nvSpPr>
          <p:cNvPr id="21"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FFFFFF"/>
                </a:solidFill>
              </a:rPr>
              <a:t>Spark</a:t>
            </a:r>
          </a:p>
        </p:txBody>
      </p:sp>
      <p:sp>
        <p:nvSpPr>
          <p:cNvPr id="22"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bg>
      <p:bgPr>
        <a:solidFill>
          <a:srgbClr val="FFFFFF"/>
        </a:solidFill>
        <a:effectLst/>
      </p:bgPr>
    </p:bg>
    <p:spTree>
      <p:nvGrpSpPr>
        <p:cNvPr id="1" name=""/>
        <p:cNvGrpSpPr/>
        <p:nvPr/>
      </p:nvGrpSpPr>
      <p:grpSpPr>
        <a:xfrm>
          <a:off x="0" y="0"/>
          <a:ext cx="0" cy="0"/>
          <a:chOff x="0" y="0"/>
          <a:chExt cx="0" cy="0"/>
        </a:xfrm>
      </p:grpSpPr>
      <p:sp>
        <p:nvSpPr>
          <p:cNvPr id="11"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12"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012}" type="slidenum">
              <a:rPr lang="en-GB" sz="1100">
                <a:solidFill>
                  <a:srgbClr val="64748B"/>
                </a:solidFill>
              </a:rPr>
              <a:t>‹#›</a:t>
            </a:fld>
            <a:endParaRPr lang="en-GB" sz="1100">
              <a:solidFill>
                <a:srgbClr val="64748B"/>
              </a:solidFill>
            </a:endParaRPr>
          </a:p>
        </p:txBody>
      </p:sp>
      <p:sp>
        <p:nvSpPr>
          <p:cNvPr id="13"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p:cNvSpPr>
            <a:spLocks noGrp="1"/>
          </p:cNvSpPr>
          <p:nvPr>
            <p:ph type="title"/>
          </p:nvPr>
        </p:nvSpPr>
        <p:spPr>
          <a:xfrm>
            <a:off x="609480" y="350000"/>
            <a:ext cx="10973040" cy="820000"/>
          </a:xfrm>
          <a:prstGeom prst="rect">
            <a:avLst/>
          </a:prstGeom>
        </p:spPr>
        <p:txBody>
          <a:bodyPr lIns="0" tIns="0" rIns="0" bIns="0" anchor="ctr">
            <a:noAutofit/>
          </a:bodyPr>
          <a:lstStyle/>
          <a:p>
            <a:r>
              <a:rPr lang="en-GB"/>
              <a:t>Click to edit Master title</a:t>
            </a:r>
          </a:p>
        </p:txBody>
      </p:sp>
      <p:sp>
        <p:nvSpPr>
          <p:cNvPr id="3" name="Body Placeholder"/>
          <p:cNvSpPr>
            <a:spLocks noGrp="1"/>
          </p:cNvSpPr>
          <p:nvPr>
            <p:ph type="body" idx="1"/>
          </p:nvPr>
        </p:nvSpPr>
        <p:spPr>
          <a:xfrm>
            <a:off x="609480" y="1500000"/>
            <a:ext cx="10973040" cy="4700000"/>
          </a:xfrm>
          <a:prstGeom prst="rect">
            <a:avLst/>
          </a:prstGeom>
        </p:spPr>
        <p:txBody>
          <a:bodyPr lIns="0" tIns="0" rIns="0" bIns="0">
            <a:normAutofit/>
          </a:bodyPr>
          <a:lstStyle/>
          <a:p>
            <a:pPr lvl="0"/>
            <a:r>
              <a:rPr lang="en-GB"/>
              <a:t>Master text styles</a:t>
            </a:r>
          </a:p>
        </p:txBody>
      </p:sp>
      <p:sp>
        <p:nvSpPr>
          <p:cNvPr id="904" name="FooterWordmark"/>
          <p:cNvSpPr/>
          <p:nvPr/>
        </p:nvSpPr>
        <p:spPr>
          <a:xfrm>
            <a:off x="609480" y="6350000"/>
            <a:ext cx="2600000" cy="330000"/>
          </a:xfrm>
          <a:prstGeom prst="rect">
            <a:avLst/>
          </a:prstGeom>
          <a:noFill/>
        </p:spPr>
        <p:txBody>
          <a:bodyPr lIns="0" tIns="0" rIns="0" bIns="0" anchor="ctr">
            <a:noAutofit/>
          </a:bodyPr>
          <a:lstStyle/>
          <a:p>
            <a:pPr algn="l"/>
            <a:r>
              <a:rPr lang="en-GB" sz="1200" b="1">
                <a:solidFill>
                  <a:srgbClr val="F7941E"/>
                </a:solidFill>
              </a:rPr>
              <a:t>Feed</a:t>
            </a:r>
            <a:r>
              <a:rPr lang="en-GB" sz="1200" b="1">
                <a:solidFill>
                  <a:srgbClr val="0F172A"/>
                </a:solidFill>
              </a:rPr>
              <a:t>Spark</a:t>
            </a:r>
          </a:p>
        </p:txBody>
      </p:sp>
      <p:sp>
        <p:nvSpPr>
          <p:cNvPr id="905" name="SlideNumber"/>
          <p:cNvSpPr>
            <a:spLocks noGrp="1"/>
          </p:cNvSpPr>
          <p:nvPr>
            <p:ph type="sldNum" sz="quarter" idx="20"/>
          </p:nvPr>
        </p:nvSpPr>
        <p:spPr>
          <a:xfrm>
            <a:off x="11100000" y="6350000"/>
            <a:ext cx="680000" cy="330000"/>
          </a:xfrm>
          <a:prstGeom prst="rect">
            <a:avLst/>
          </a:prstGeom>
        </p:spPr>
        <p:txBody>
          <a:bodyPr lIns="0" tIns="0" rIns="0" bIns="0" anchor="ctr"/>
          <a:lstStyle/>
          <a:p>
            <a:pPr algn="r"/>
            <a:fld id="{B7C0E5A0-0001-4F2A-9C00-000000000905}" type="slidenum">
              <a:rPr lang="en-GB" sz="1100">
                <a:solidFill>
                  <a:srgbClr val="64748B"/>
                </a:solidFill>
              </a:rPr>
              <a:t>‹#›</a:t>
            </a:fld>
            <a:endParaRPr lang="en-GB" sz="1100">
              <a:solidFill>
                <a:srgbClr val="64748B"/>
              </a:solidFill>
            </a:endParaRPr>
          </a:p>
        </p:txBody>
      </p:sp>
      <p:sp>
        <p:nvSpPr>
          <p:cNvPr id="901" name="GradientBar"/>
          <p:cNvSpPr/>
          <p:nvPr/>
        </p:nvSpPr>
        <p:spPr>
          <a:xfrm>
            <a:off x="0" y="6705600"/>
            <a:ext cx="12192000" cy="152400"/>
          </a:xfrm>
          <a:prstGeom prst="rect">
            <a:avLst/>
          </a:prstGeom>
          <a:gradFill rotWithShape="0">
            <a:gsLst>
              <a:gs pos="0">
                <a:srgbClr val="F7941E"/>
              </a:gs>
              <a:gs pos="28000">
                <a:srgbClr val="3B82F6"/>
              </a:gs>
              <a:gs pos="55000">
                <a:srgbClr val="3B82F6"/>
              </a:gs>
              <a:gs pos="78000">
                <a:srgbClr val="8B5CF6"/>
              </a:gs>
              <a:gs pos="100000">
                <a:srgbClr val="EC4899"/>
              </a:gs>
            </a:gsLst>
            <a:lin ang="0"/>
          </a:gradFill>
          <a:ln w="0">
            <a:noFill/>
          </a:ln>
        </p:spPr>
        <p:txBody>
          <a:bodyPr/>
          <a:lstStyle/>
          <a:p>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Lst>
  <p:txStyles>
    <p:titleStyle>
      <a:lvl1pPr algn="l">
        <a:lnSpc>
          <a:spcPct val="100000"/>
        </a:lnSpc>
        <a:defRPr sz="3600" b="1">
          <a:solidFill>
            <a:srgbClr val="0F172A"/>
          </a:solidFill>
          <a:latin typeface="+mj-lt"/>
        </a:defRPr>
      </a:lvl1pPr>
    </p:titleStyle>
    <p:bodyStyle>
      <a:lvl1pPr marL="0" indent="0">
        <a:lnSpc>
          <a:spcPct val="118000"/>
        </a:lnSpc>
        <a:spcBef>
          <a:spcPts val="600"/>
        </a:spcBef>
        <a:buNone/>
        <a:defRPr sz="1600">
          <a:solidFill>
            <a:srgbClr val="475569"/>
          </a:solidFill>
          <a:latin typeface="+mn-lt"/>
        </a:defRPr>
      </a:lvl1pPr>
      <a:lvl2pPr marL="274320" indent="-274320">
        <a:lnSpc>
          <a:spcPct val="118000"/>
        </a:lnSpc>
        <a:spcBef>
          <a:spcPts val="500"/>
        </a:spcBef>
        <a:buClr>
          <a:srgbClr val="F7941E"/>
        </a:buClr>
        <a:buFont typeface="Arial"/>
        <a:buChar char="•"/>
        <a:defRPr sz="1500">
          <a:solidFill>
            <a:srgbClr val="475569"/>
          </a:solidFill>
          <a:latin typeface="+mn-lt"/>
        </a:defRPr>
      </a:lvl2pPr>
      <a:lvl3pPr marL="548640" indent="-274320">
        <a:spcBef>
          <a:spcPts val="300"/>
        </a:spcBef>
        <a:buClr>
          <a:srgbClr val="94A3B8"/>
        </a:buClr>
        <a:buFont typeface="Arial"/>
        <a:buChar char="–"/>
        <a:defRPr sz="1400">
          <a:solidFill>
            <a:srgbClr val="475569"/>
          </a:solidFill>
        </a:defRPr>
      </a:lvl3pPr>
    </p:bodyStyle>
    <p:otherStyle>
      <a:defPPr>
        <a:defRPr lang="en-GB"/>
      </a:def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2.png"/><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image" Target="../media/image4.png"/><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7.png"/><Relationship Id="rId3"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4.png"/><Relationship Id="rId3"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hyperlink" Target="https://feedspark.ray-vtt.workers.dev/kwcal?client=Schuh"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wrap="square"/>
          <a:lstStyle/>
          <a:p>
            <a:r>
              <a:t>Schuh</a:t>
            </a:r>
          </a:p>
        </p:txBody>
      </p:sp>
      <p:sp>
        <p:nvSpPr>
          <p:cNvPr id="3" name="Subtitle 2"/>
          <p:cNvSpPr>
            <a:spLocks noGrp="1"/>
          </p:cNvSpPr>
          <p:nvPr>
            <p:ph type="subTitle" idx="1"/>
          </p:nvPr>
        </p:nvSpPr>
        <p:spPr/>
        <p:txBody>
          <a:bodyPr wrap="square"/>
          <a:lstStyle/>
          <a:p>
            <a:r>
              <a:t>Strategy Review · September 2026</a:t>
            </a:r>
          </a:p>
        </p:txBody>
      </p:sp>
      <p:sp>
        <p:nvSpPr>
          <p:cNvPr id="4" name="Text Placeholder 3"/>
          <p:cNvSpPr>
            <a:spLocks noGrp="1"/>
          </p:cNvSpPr>
          <p:nvPr>
            <p:ph type="body" idx="11"/>
          </p:nvPr>
        </p:nvSpPr>
        <p:spPr/>
        <p:txBody>
          <a:bodyPr wrap="square"/>
          <a:lstStyle/>
          <a:p>
            <a:r>
              <a:t>Markets UK · Ireland · Germany  ·  Catalogue 42,221 live SKUs · 6 feeds  ·  Cycle Look-back: Apr – Sep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wrap="square"/>
          <a:lstStyle/>
          <a:p>
            <a:r>
              <a:rPr sz="2430"/>
              <a:t>"The feed becomes transaction infrastructure - In agentic commerce, a feed error can affect not only visibility but also the agent's recommendation, cart logic, displayed total, legal notice and ability to complete checkout. Accuracy, identifiers and policy data become commercial controls"</a:t>
            </a:r>
          </a:p>
          <a:p>
            <a:r>
              <a:rPr sz="2430"/>
              <a:t>Google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What we'll cover</a:t>
            </a:r>
          </a:p>
        </p:txBody>
      </p:sp>
      <p:sp>
        <p:nvSpPr>
          <p:cNvPr id="3" name="Text Placeholder 2"/>
          <p:cNvSpPr>
            <a:spLocks noGrp="1"/>
          </p:cNvSpPr>
          <p:nvPr>
            <p:ph type="body" idx="11"/>
          </p:nvPr>
        </p:nvSpPr>
        <p:spPr/>
        <p:txBody>
          <a:bodyPr wrap="square"/>
          <a:lstStyle/>
          <a:p>
            <a:r>
              <a:t>Eight chapters, two sources: the project plan, and a live read of all three Google feeds this morning.</a:t>
            </a:r>
          </a:p>
        </p:txBody>
      </p:sp>
      <p:sp>
        <p:nvSpPr>
          <p:cNvPr id="4" name="Text Placeholder 3"/>
          <p:cNvSpPr>
            <a:spLocks noGrp="1"/>
          </p:cNvSpPr>
          <p:nvPr>
            <p:ph type="body" idx="1"/>
          </p:nvPr>
        </p:nvSpPr>
        <p:spPr/>
        <p:txBody>
          <a:bodyPr wrap="square"/>
          <a:lstStyle/>
          <a:p>
            <a:pPr>
              <a:spcBef>
                <a:spcPts val="0"/>
              </a:spcBef>
              <a:spcAft>
                <a:spcPts val="0"/>
              </a:spcAft>
            </a:pPr>
            <a:r>
              <a:rPr sz="1350" b="1">
                <a:solidFill>
                  <a:schemeClr val="accent1"/>
                </a:solidFill>
              </a:rPr>
              <a:t>01  </a:t>
            </a:r>
            <a:r>
              <a:rPr sz="1350" b="1"/>
              <a:t>Review &amp; project recap</a:t>
            </a:r>
          </a:p>
          <a:p>
            <a:pPr marL="283464" indent="0">
              <a:spcBef>
                <a:spcPts val="200"/>
              </a:spcBef>
              <a:spcAft>
                <a:spcPts val="0"/>
              </a:spcAft>
            </a:pPr>
            <a:r>
              <a:rPr sz="1050">
                <a:solidFill>
                  <a:srgbClr val="767676"/>
                </a:solidFill>
              </a:rPr>
              <a:t>61 of 96 initiatives closed · scheduled work, and where the hours went</a:t>
            </a:r>
          </a:p>
          <a:p>
            <a:pPr>
              <a:spcBef>
                <a:spcPts val="1100"/>
              </a:spcBef>
              <a:spcAft>
                <a:spcPts val="0"/>
              </a:spcAft>
            </a:pPr>
            <a:r>
              <a:rPr sz="1350" b="1">
                <a:solidFill>
                  <a:schemeClr val="accent1"/>
                </a:solidFill>
              </a:rPr>
              <a:t>02  </a:t>
            </a:r>
            <a:r>
              <a:rPr sz="1350" b="1"/>
              <a:t>Channel coverage</a:t>
            </a:r>
          </a:p>
          <a:p>
            <a:pPr marL="283464" indent="0">
              <a:spcBef>
                <a:spcPts val="200"/>
              </a:spcBef>
              <a:spcAft>
                <a:spcPts val="0"/>
              </a:spcAft>
            </a:pPr>
            <a:r>
              <a:rPr sz="1050">
                <a:solidFill>
                  <a:srgbClr val="767676"/>
                </a:solidFill>
              </a:rPr>
              <a:t>Six feeds across three markets · new-product volume</a:t>
            </a:r>
          </a:p>
          <a:p>
            <a:pPr>
              <a:spcBef>
                <a:spcPts val="1100"/>
              </a:spcBef>
              <a:spcAft>
                <a:spcPts val="0"/>
              </a:spcAft>
            </a:pPr>
            <a:r>
              <a:rPr sz="1350" b="1">
                <a:solidFill>
                  <a:schemeClr val="accent1"/>
                </a:solidFill>
              </a:rPr>
              <a:t>03  </a:t>
            </a:r>
            <a:r>
              <a:rPr sz="1350" b="1"/>
              <a:t>Number of wins / results</a:t>
            </a:r>
          </a:p>
          <a:p>
            <a:pPr marL="283464" indent="0">
              <a:spcBef>
                <a:spcPts val="200"/>
              </a:spcBef>
              <a:spcAft>
                <a:spcPts val="0"/>
              </a:spcAft>
            </a:pPr>
            <a:r>
              <a:rPr sz="1050">
                <a:solidFill>
                  <a:srgbClr val="767676"/>
                </a:solidFill>
              </a:rPr>
              <a:t>The A/B archive — keyword optimisation wins, the title tests did not</a:t>
            </a:r>
          </a:p>
          <a:p>
            <a:pPr>
              <a:spcBef>
                <a:spcPts val="1100"/>
              </a:spcBef>
              <a:spcAft>
                <a:spcPts val="0"/>
              </a:spcAft>
            </a:pPr>
            <a:r>
              <a:rPr sz="1350" b="1">
                <a:solidFill>
                  <a:schemeClr val="accent1"/>
                </a:solidFill>
              </a:rPr>
              <a:t>04  </a:t>
            </a:r>
            <a:r>
              <a:rPr sz="1350" b="1"/>
              <a:t>Feed optimisation score</a:t>
            </a:r>
          </a:p>
          <a:p>
            <a:pPr marL="283464" indent="0">
              <a:spcBef>
                <a:spcPts val="200"/>
              </a:spcBef>
              <a:spcAft>
                <a:spcPts val="0"/>
              </a:spcAft>
            </a:pPr>
            <a:r>
              <a:rPr sz="1050">
                <a:solidFill>
                  <a:srgbClr val="767676"/>
                </a:solidFill>
              </a:rPr>
              <a:t>74/100, dissected live — required, recommended, content quality</a:t>
            </a:r>
          </a:p>
        </p:txBody>
      </p:sp>
      <p:sp>
        <p:nvSpPr>
          <p:cNvPr id="5" name="Text Placeholder 4"/>
          <p:cNvSpPr>
            <a:spLocks noGrp="1"/>
          </p:cNvSpPr>
          <p:nvPr>
            <p:ph type="body" idx="2"/>
          </p:nvPr>
        </p:nvSpPr>
        <p:spPr/>
        <p:txBody>
          <a:bodyPr wrap="square"/>
          <a:lstStyle/>
          <a:p>
            <a:pPr>
              <a:spcBef>
                <a:spcPts val="0"/>
              </a:spcBef>
              <a:spcAft>
                <a:spcPts val="0"/>
              </a:spcAft>
            </a:pPr>
            <a:r>
              <a:rPr sz="1350" b="1">
                <a:solidFill>
                  <a:schemeClr val="accent1"/>
                </a:solidFill>
              </a:rPr>
              <a:t>05  </a:t>
            </a:r>
            <a:r>
              <a:rPr sz="1350" b="1"/>
              <a:t>AI readiness</a:t>
            </a:r>
          </a:p>
          <a:p>
            <a:pPr marL="283464" indent="0">
              <a:spcBef>
                <a:spcPts val="200"/>
              </a:spcBef>
              <a:spcAft>
                <a:spcPts val="0"/>
              </a:spcAft>
            </a:pPr>
            <a:r>
              <a:rPr sz="1050">
                <a:solidFill>
                  <a:srgbClr val="767676"/>
                </a:solidFill>
              </a:rPr>
              <a:t>Tier 2 in the UK — the conversational six, and the Golden Score</a:t>
            </a:r>
          </a:p>
          <a:p>
            <a:pPr>
              <a:spcBef>
                <a:spcPts val="1100"/>
              </a:spcBef>
              <a:spcAft>
                <a:spcPts val="0"/>
              </a:spcAft>
            </a:pPr>
            <a:r>
              <a:rPr sz="1350" b="1">
                <a:solidFill>
                  <a:schemeClr val="accent1"/>
                </a:solidFill>
              </a:rPr>
              <a:t>06  </a:t>
            </a:r>
            <a:r>
              <a:rPr sz="1350" b="1"/>
              <a:t>Case studies / test wins</a:t>
            </a:r>
          </a:p>
          <a:p>
            <a:pPr marL="283464" indent="0">
              <a:spcBef>
                <a:spcPts val="200"/>
              </a:spcBef>
              <a:spcAft>
                <a:spcPts val="0"/>
              </a:spcAft>
            </a:pPr>
            <a:r>
              <a:rPr sz="1050">
                <a:solidFill>
                  <a:srgbClr val="767676"/>
                </a:solidFill>
              </a:rPr>
              <a:t>What the same levers returned on comparable FeedSpark accounts</a:t>
            </a:r>
          </a:p>
          <a:p>
            <a:pPr>
              <a:spcBef>
                <a:spcPts val="1100"/>
              </a:spcBef>
              <a:spcAft>
                <a:spcPts val="0"/>
              </a:spcAft>
            </a:pPr>
            <a:r>
              <a:rPr sz="1350" b="1">
                <a:solidFill>
                  <a:schemeClr val="accent1"/>
                </a:solidFill>
              </a:rPr>
              <a:t>07  </a:t>
            </a:r>
            <a:r>
              <a:rPr sz="1350" b="1"/>
              <a:t>Roadmap / next quarter</a:t>
            </a:r>
          </a:p>
          <a:p>
            <a:pPr marL="283464" indent="0">
              <a:spcBef>
                <a:spcPts val="200"/>
              </a:spcBef>
              <a:spcAft>
                <a:spcPts val="0"/>
              </a:spcAft>
            </a:pPr>
            <a:r>
              <a:rPr sz="1050">
                <a:solidFill>
                  <a:srgbClr val="767676"/>
                </a:solidFill>
              </a:rPr>
              <a:t>The open work and the unblocks, sequenced into Peak</a:t>
            </a:r>
          </a:p>
          <a:p>
            <a:pPr>
              <a:spcBef>
                <a:spcPts val="1100"/>
              </a:spcBef>
              <a:spcAft>
                <a:spcPts val="0"/>
              </a:spcAft>
            </a:pPr>
            <a:r>
              <a:rPr sz="1350" b="1">
                <a:solidFill>
                  <a:schemeClr val="accent1"/>
                </a:solidFill>
              </a:rPr>
              <a:t>08  </a:t>
            </a:r>
            <a:r>
              <a:rPr sz="1350" b="1"/>
              <a:t>Spark AI engine (Tachyon)</a:t>
            </a:r>
          </a:p>
          <a:p>
            <a:pPr marL="283464" indent="0">
              <a:spcBef>
                <a:spcPts val="200"/>
              </a:spcBef>
              <a:spcAft>
                <a:spcPts val="0"/>
              </a:spcAft>
            </a:pPr>
            <a:r>
              <a:rPr sz="1050">
                <a:solidFill>
                  <a:srgbClr val="767676"/>
                </a:solidFill>
              </a:rPr>
              <a:t>Intent generation and visual attribute harvest for footwear</a:t>
            </a:r>
          </a:p>
        </p:txBody>
      </p:sp>
      <p:sp>
        <p:nvSpPr>
          <p:cNvPr id="6" name="Text Placeholder 5"/>
          <p:cNvSpPr>
            <a:spLocks noGrp="1"/>
          </p:cNvSpPr>
          <p:nvPr>
            <p:ph type="body" idx="14"/>
          </p:nvPr>
        </p:nvSpPr>
        <p:spPr/>
        <p:txBody>
          <a:bodyPr wrap="square"/>
          <a:lstStyle/>
          <a:p>
            <a:r>
              <a:t>Where the plan and the feed disagree, the feed wins — every chapter shows both numbers rather than the friendlier one.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1"/>
          </p:nvPr>
        </p:nvSpPr>
        <p:spPr/>
        <p:txBody>
          <a:bodyPr wrap="square"/>
          <a:lstStyle/>
          <a:p>
            <a:r>
              <a:t>Chapter one</a:t>
            </a:r>
          </a:p>
        </p:txBody>
      </p:sp>
      <p:sp>
        <p:nvSpPr>
          <p:cNvPr id="3" name="Title 2"/>
          <p:cNvSpPr>
            <a:spLocks noGrp="1"/>
          </p:cNvSpPr>
          <p:nvPr>
            <p:ph type="title"/>
          </p:nvPr>
        </p:nvSpPr>
        <p:spPr/>
        <p:txBody>
          <a:bodyPr wrap="square"/>
          <a:lstStyle/>
          <a:p>
            <a:r>
              <a:t>Review &amp; project recap</a:t>
            </a:r>
          </a:p>
        </p:txBody>
      </p:sp>
      <p:sp>
        <p:nvSpPr>
          <p:cNvPr id="4" name="Text Placeholder 3"/>
          <p:cNvSpPr>
            <a:spLocks noGrp="1"/>
          </p:cNvSpPr>
          <p:nvPr>
            <p:ph type="body" idx="1"/>
          </p:nvPr>
        </p:nvSpPr>
        <p:spPr/>
        <p:txBody>
          <a:bodyPr wrap="square">
            <a:normAutofit lnSpcReduction="10000"/>
          </a:bodyPr>
          <a:lstStyle/>
          <a:p>
            <a:r>
              <a:t>61 of 96 tracked initiatives closed, 13 of them in the last six months — and the margin architecture is now live on every UK SKU.</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60887-351A-C7CF-18F3-8D775E073C21}"/>
              </a:ext>
            </a:extLst>
          </p:cNvPr>
          <p:cNvSpPr>
            <a:spLocks noGrp="1"/>
          </p:cNvSpPr>
          <p:nvPr>
            <p:ph type="title"/>
          </p:nvPr>
        </p:nvSpPr>
        <p:spPr/>
        <p:txBody>
          <a:bodyPr/>
          <a:lstStyle/>
          <a:p>
            <a:r>
              <a:rPr lang="en-GB" dirty="0"/>
              <a:t>Scheduled Works</a:t>
            </a:r>
          </a:p>
        </p:txBody>
      </p:sp>
      <p:sp>
        <p:nvSpPr>
          <p:cNvPr id="4" name="Text Placeholder 3">
            <a:extLst>
              <a:ext uri="{FF2B5EF4-FFF2-40B4-BE49-F238E27FC236}">
                <a16:creationId xmlns:a16="http://schemas.microsoft.com/office/drawing/2014/main" id="{8EE1FBD4-A9AD-E33F-BEC6-C620C42A0DEA}"/>
              </a:ext>
            </a:extLst>
          </p:cNvPr>
          <p:cNvSpPr>
            <a:spLocks noGrp="1"/>
          </p:cNvSpPr>
          <p:nvPr>
            <p:ph type="body" idx="1"/>
          </p:nvPr>
        </p:nvSpPr>
        <p:spPr/>
        <p:txBody>
          <a:bodyPr/>
          <a:lstStyle/>
          <a:p>
            <a:r>
              <a:rPr lang="en-GB" dirty="0"/>
              <a:t>7 out of 9 paused.</a:t>
            </a:r>
          </a:p>
        </p:txBody>
      </p:sp>
      <p:sp>
        <p:nvSpPr>
          <p:cNvPr id="5" name="Text Placeholder 4">
            <a:extLst>
              <a:ext uri="{FF2B5EF4-FFF2-40B4-BE49-F238E27FC236}">
                <a16:creationId xmlns:a16="http://schemas.microsoft.com/office/drawing/2014/main" id="{F9FF7BAD-A183-A873-EA9A-B91CB812BF35}"/>
              </a:ext>
            </a:extLst>
          </p:cNvPr>
          <p:cNvSpPr>
            <a:spLocks noGrp="1"/>
          </p:cNvSpPr>
          <p:nvPr>
            <p:ph type="body" idx="2"/>
          </p:nvPr>
        </p:nvSpPr>
        <p:spPr/>
        <p:txBody>
          <a:bodyPr/>
          <a:lstStyle/>
          <a:p>
            <a:r>
              <a:rPr lang="en-GB" dirty="0"/>
              <a:t>Titles &amp; Keywords are frequent work.</a:t>
            </a:r>
          </a:p>
          <a:p>
            <a:r>
              <a:rPr lang="en-GB" dirty="0"/>
              <a:t>A pause means either there are no new products yet, or the retainer has gone negative and the work was halted.</a:t>
            </a:r>
          </a:p>
        </p:txBody>
      </p:sp>
      <p:sp>
        <p:nvSpPr>
          <p:cNvPr id="6" name="Text Placeholder 5">
            <a:extLst>
              <a:ext uri="{FF2B5EF4-FFF2-40B4-BE49-F238E27FC236}">
                <a16:creationId xmlns:a16="http://schemas.microsoft.com/office/drawing/2014/main" id="{16D8A467-23D2-8BCF-874B-E7F8277C5DEE}"/>
              </a:ext>
            </a:extLst>
          </p:cNvPr>
          <p:cNvSpPr>
            <a:spLocks noGrp="1"/>
          </p:cNvSpPr>
          <p:nvPr>
            <p:ph type="body" idx="3"/>
          </p:nvPr>
        </p:nvSpPr>
        <p:spPr/>
        <p:txBody>
          <a:bodyPr/>
          <a:lstStyle/>
          <a:p>
            <a:endParaRPr lang="en-GB"/>
          </a:p>
        </p:txBody>
      </p:sp>
      <p:sp>
        <p:nvSpPr>
          <p:cNvPr id="7" name="Text Placeholder 6">
            <a:extLst>
              <a:ext uri="{FF2B5EF4-FFF2-40B4-BE49-F238E27FC236}">
                <a16:creationId xmlns:a16="http://schemas.microsoft.com/office/drawing/2014/main" id="{68342012-2C75-24C4-0E7C-1EAF1861AD91}"/>
              </a:ext>
            </a:extLst>
          </p:cNvPr>
          <p:cNvSpPr>
            <a:spLocks noGrp="1"/>
          </p:cNvSpPr>
          <p:nvPr>
            <p:ph type="body" idx="4"/>
          </p:nvPr>
        </p:nvSpPr>
        <p:spPr/>
        <p:txBody>
          <a:bodyPr/>
          <a:lstStyle/>
          <a:p>
            <a:endParaRPr lang="en-GB"/>
          </a:p>
        </p:txBody>
      </p:sp>
      <p:sp>
        <p:nvSpPr>
          <p:cNvPr id="8" name="Text Placeholder 7">
            <a:extLst>
              <a:ext uri="{FF2B5EF4-FFF2-40B4-BE49-F238E27FC236}">
                <a16:creationId xmlns:a16="http://schemas.microsoft.com/office/drawing/2014/main" id="{188BBDBE-0817-89D0-B5FB-F20D0CF1D7FC}"/>
              </a:ext>
            </a:extLst>
          </p:cNvPr>
          <p:cNvSpPr>
            <a:spLocks noGrp="1"/>
          </p:cNvSpPr>
          <p:nvPr>
            <p:ph type="body" idx="14"/>
          </p:nvPr>
        </p:nvSpPr>
        <p:spPr/>
        <p:txBody>
          <a:bodyPr>
            <a:noAutofit/>
          </a:bodyPr>
          <a:lstStyle/>
          <a:p>
            <a:r>
              <a:rPr lang="en-GB" dirty="0"/>
              <a:t>Product Type is efficiently run by rules and only needed to review once every 6 months!</a:t>
            </a:r>
          </a:p>
        </p:txBody>
      </p:sp>
      <p:pic>
        <p:nvPicPr>
          <p:cNvPr id="14" name="Picture 13">
            <a:extLst>
              <a:ext uri="{FF2B5EF4-FFF2-40B4-BE49-F238E27FC236}">
                <a16:creationId xmlns:a16="http://schemas.microsoft.com/office/drawing/2014/main" id="{6E2A774B-C416-3DEA-D956-7828FE192FD1}"/>
              </a:ext>
            </a:extLst>
          </p:cNvPr>
          <p:cNvPicPr>
            <a:picLocks noChangeAspect="1"/>
          </p:cNvPicPr>
          <p:nvPr/>
        </p:nvPicPr>
        <p:blipFill>
          <a:blip r:embed="rId2"/>
          <a:stretch>
            <a:fillRect/>
          </a:stretch>
        </p:blipFill>
        <p:spPr>
          <a:xfrm>
            <a:off x="5884308" y="1490381"/>
            <a:ext cx="6115904" cy="4029637"/>
          </a:xfrm>
          <a:prstGeom prst="rect">
            <a:avLst/>
          </a:prstGeom>
        </p:spPr>
      </p:pic>
    </p:spTree>
    <p:extLst>
      <p:ext uri="{BB962C8B-B14F-4D97-AF65-F5344CB8AC3E}">
        <p14:creationId xmlns:p14="http://schemas.microsoft.com/office/powerpoint/2010/main" val="36978306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Review &amp; project recap (cont.)</a:t>
            </a:r>
          </a:p>
        </p:txBody>
      </p:sp>
      <p:sp>
        <p:nvSpPr>
          <p:cNvPr id="4" name="Text Placeholder 3"/>
          <p:cNvSpPr>
            <a:spLocks noGrp="1"/>
          </p:cNvSpPr>
          <p:nvPr>
            <p:ph type="body" idx="14"/>
          </p:nvPr>
        </p:nvSpPr>
        <p:spPr/>
        <p:txBody>
          <a:bodyPr wrap="square"/>
          <a:lstStyle/>
          <a:p>
            <a:r>
              <a:t>Where the margin work actually landed. The plan records four separate margin initiatives closing across April and May.</a:t>
            </a:r>
          </a:p>
        </p:txBody>
      </p:sp>
      <p:graphicFrame>
        <p:nvGraphicFramePr>
          <p:cNvPr id="5" name="Table 4"/>
          <p:cNvGraphicFramePr>
            <a:graphicFrameLocks noGrp="1"/>
          </p:cNvGraphicFramePr>
          <p:nvPr/>
        </p:nvGraphicFramePr>
        <p:xfrm>
          <a:off x="612648" y="1847088"/>
          <a:ext cx="10972799" cy="3794760"/>
        </p:xfrm>
        <a:graphic>
          <a:graphicData uri="http://schemas.openxmlformats.org/drawingml/2006/table">
            <a:tbl>
              <a:tblPr firstRow="1" bandRow="1">
                <a:tableStyleId>{5C22544A-7EE6-4342-B048-85BDC9FD1C3A}</a:tableStyleId>
              </a:tblPr>
              <a:tblGrid>
                <a:gridCol w="4608417">
                  <a:extLst>
                    <a:ext uri="{9D8B030D-6E8A-4147-A177-3AD203B41FA5}">
                      <a16:colId xmlns:a16="http://schemas.microsoft.com/office/drawing/2014/main" val="20000"/>
                    </a:ext>
                  </a:extLst>
                </a:gridCol>
                <a:gridCol w="798527">
                  <a:extLst>
                    <a:ext uri="{9D8B030D-6E8A-4147-A177-3AD203B41FA5}">
                      <a16:colId xmlns:a16="http://schemas.microsoft.com/office/drawing/2014/main" val="20001"/>
                    </a:ext>
                  </a:extLst>
                </a:gridCol>
                <a:gridCol w="798527">
                  <a:extLst>
                    <a:ext uri="{9D8B030D-6E8A-4147-A177-3AD203B41FA5}">
                      <a16:colId xmlns:a16="http://schemas.microsoft.com/office/drawing/2014/main" val="20002"/>
                    </a:ext>
                  </a:extLst>
                </a:gridCol>
                <a:gridCol w="4767328">
                  <a:extLst>
                    <a:ext uri="{9D8B030D-6E8A-4147-A177-3AD203B41FA5}">
                      <a16:colId xmlns:a16="http://schemas.microsoft.com/office/drawing/2014/main" val="20003"/>
                    </a:ext>
                  </a:extLst>
                </a:gridCol>
              </a:tblGrid>
              <a:tr h="384048">
                <a:tc>
                  <a:txBody>
                    <a:bodyPr/>
                    <a:lstStyle/>
                    <a:p>
                      <a:r>
                        <a:rPr sz="1300" b="1">
                          <a:solidFill>
                            <a:srgbClr val="FFFFFF"/>
                          </a:solidFill>
                        </a:rPr>
                        <a:t>Action</a:t>
                      </a:r>
                    </a:p>
                  </a:txBody>
                  <a:tcPr/>
                </a:tc>
                <a:tc>
                  <a:txBody>
                    <a:bodyPr/>
                    <a:lstStyle/>
                    <a:p>
                      <a:r>
                        <a:rPr sz="1300" b="1">
                          <a:solidFill>
                            <a:srgbClr val="FFFFFF"/>
                          </a:solidFill>
                        </a:rPr>
                        <a:t>Owner</a:t>
                      </a:r>
                    </a:p>
                  </a:txBody>
                  <a:tcPr/>
                </a:tc>
                <a:tc>
                  <a:txBody>
                    <a:bodyPr/>
                    <a:lstStyle/>
                    <a:p>
                      <a:r>
                        <a:rPr sz="1300" b="1">
                          <a:solidFill>
                            <a:srgbClr val="FFFFFF"/>
                          </a:solidFill>
                        </a:rPr>
                        <a:t>Status</a:t>
                      </a:r>
                    </a:p>
                  </a:txBody>
                  <a:tcPr/>
                </a:tc>
                <a:tc>
                  <a:txBody>
                    <a:bodyPr/>
                    <a:lstStyle/>
                    <a:p>
                      <a:r>
                        <a:rPr sz="1300" b="1">
                          <a:solidFill>
                            <a:srgbClr val="FFFFFF"/>
                          </a:solidFill>
                        </a:rPr>
                        <a:t>Outcome</a:t>
                      </a:r>
                    </a:p>
                  </a:txBody>
                  <a:tcPr/>
                </a:tc>
                <a:extLst>
                  <a:ext uri="{0D108BD9-81ED-4DB2-BD59-A6C34878D82A}">
                    <a16:rowId xmlns:a16="http://schemas.microsoft.com/office/drawing/2014/main" val="10000"/>
                  </a:ext>
                </a:extLst>
              </a:tr>
              <a:tr h="426339">
                <a:tc>
                  <a:txBody>
                    <a:bodyPr/>
                    <a:lstStyle/>
                    <a:p>
                      <a:r>
                        <a:rPr sz="1100"/>
                        <a:t>Pound Margin — review negative margin</a:t>
                      </a:r>
                    </a:p>
                  </a:txBody>
                  <a:tcPr/>
                </a:tc>
                <a:tc>
                  <a:txBody>
                    <a:bodyPr/>
                    <a:lstStyle/>
                    <a:p>
                      <a:r>
                        <a:rPr sz="1100"/>
                        <a:t>Ray</a:t>
                      </a:r>
                    </a:p>
                  </a:txBody>
                  <a:tcPr/>
                </a:tc>
                <a:tc>
                  <a:txBody>
                    <a:bodyPr/>
                    <a:lstStyle/>
                    <a:p>
                      <a:r>
                        <a:rPr sz="1100" b="1">
                          <a:solidFill>
                            <a:srgbClr val="2E7D32"/>
                          </a:solidFill>
                        </a:rPr>
                        <a:t>Done</a:t>
                      </a:r>
                    </a:p>
                  </a:txBody>
                  <a:tcPr/>
                </a:tc>
                <a:tc>
                  <a:txBody>
                    <a:bodyPr/>
                    <a:lstStyle/>
                    <a:p>
                      <a:r>
                        <a:rPr sz="1100"/>
                        <a:t>Margin banding now on 100% of UK SKUs across CL0 and CL1</a:t>
                      </a:r>
                    </a:p>
                  </a:txBody>
                  <a:tcPr/>
                </a:tc>
                <a:extLst>
                  <a:ext uri="{0D108BD9-81ED-4DB2-BD59-A6C34878D82A}">
                    <a16:rowId xmlns:a16="http://schemas.microsoft.com/office/drawing/2014/main" val="10001"/>
                  </a:ext>
                </a:extLst>
              </a:tr>
              <a:tr h="426339">
                <a:tc>
                  <a:txBody>
                    <a:bodyPr/>
                    <a:lstStyle/>
                    <a:p>
                      <a:r>
                        <a:rPr sz="1100"/>
                        <a:t>Remove blanket exclusion — exclude below £0 margin instead</a:t>
                      </a:r>
                    </a:p>
                  </a:txBody>
                  <a:tcPr/>
                </a:tc>
                <a:tc>
                  <a:txBody>
                    <a:bodyPr/>
                    <a:lstStyle/>
                    <a:p>
                      <a:r>
                        <a:rPr sz="1100"/>
                        <a:t>Ray</a:t>
                      </a:r>
                    </a:p>
                  </a:txBody>
                  <a:tcPr/>
                </a:tc>
                <a:tc>
                  <a:txBody>
                    <a:bodyPr/>
                    <a:lstStyle/>
                    <a:p>
                      <a:r>
                        <a:rPr sz="1100" b="1">
                          <a:solidFill>
                            <a:srgbClr val="2E7D32"/>
                          </a:solidFill>
                        </a:rPr>
                        <a:t>Done</a:t>
                      </a:r>
                    </a:p>
                  </a:txBody>
                  <a:tcPr/>
                </a:tc>
                <a:tc>
                  <a:txBody>
                    <a:bodyPr/>
                    <a:lstStyle/>
                    <a:p>
                      <a:r>
                        <a:rPr sz="1100"/>
                        <a:t>Loss-making lines excluded on margin, not on a flat rule</a:t>
                      </a:r>
                    </a:p>
                  </a:txBody>
                  <a:tcPr/>
                </a:tc>
                <a:extLst>
                  <a:ext uri="{0D108BD9-81ED-4DB2-BD59-A6C34878D82A}">
                    <a16:rowId xmlns:a16="http://schemas.microsoft.com/office/drawing/2014/main" val="10002"/>
                  </a:ext>
                </a:extLst>
              </a:tr>
              <a:tr h="426339">
                <a:tc>
                  <a:txBody>
                    <a:bodyPr/>
                    <a:lstStyle/>
                    <a:p>
                      <a:r>
                        <a:rPr sz="1100"/>
                        <a:t>Keyword optimisation — Trainers (MSS)</a:t>
                      </a:r>
                    </a:p>
                  </a:txBody>
                  <a:tcPr/>
                </a:tc>
                <a:tc>
                  <a:txBody>
                    <a:bodyPr/>
                    <a:lstStyle/>
                    <a:p>
                      <a:r>
                        <a:rPr sz="1100"/>
                        <a:t>Will / Isa</a:t>
                      </a:r>
                    </a:p>
                  </a:txBody>
                  <a:tcPr/>
                </a:tc>
                <a:tc>
                  <a:txBody>
                    <a:bodyPr/>
                    <a:lstStyle/>
                    <a:p>
                      <a:r>
                        <a:rPr sz="1100" b="1">
                          <a:solidFill>
                            <a:srgbClr val="2E7D32"/>
                          </a:solidFill>
                        </a:rPr>
                        <a:t>Done</a:t>
                      </a:r>
                    </a:p>
                  </a:txBody>
                  <a:tcPr/>
                </a:tc>
                <a:tc>
                  <a:txBody>
                    <a:bodyPr/>
                    <a:lstStyle/>
                    <a:p>
                      <a:r>
                        <a:rPr sz="1100"/>
                        <a:t>Live on 28.5% of the UK catalogue today</a:t>
                      </a:r>
                    </a:p>
                  </a:txBody>
                  <a:tcPr/>
                </a:tc>
                <a:extLst>
                  <a:ext uri="{0D108BD9-81ED-4DB2-BD59-A6C34878D82A}">
                    <a16:rowId xmlns:a16="http://schemas.microsoft.com/office/drawing/2014/main" val="10003"/>
                  </a:ext>
                </a:extLst>
              </a:tr>
              <a:tr h="426339">
                <a:tc>
                  <a:txBody>
                    <a:bodyPr/>
                    <a:lstStyle/>
                    <a:p>
                      <a:r>
                        <a:rPr sz="1100"/>
                        <a:t>EOSS — sale keywords</a:t>
                      </a:r>
                    </a:p>
                  </a:txBody>
                  <a:tcPr/>
                </a:tc>
                <a:tc>
                  <a:txBody>
                    <a:bodyPr/>
                    <a:lstStyle/>
                    <a:p>
                      <a:r>
                        <a:rPr sz="1100"/>
                        <a:t>Isa</a:t>
                      </a:r>
                    </a:p>
                  </a:txBody>
                  <a:tcPr/>
                </a:tc>
                <a:tc>
                  <a:txBody>
                    <a:bodyPr/>
                    <a:lstStyle/>
                    <a:p>
                      <a:r>
                        <a:rPr sz="1100" b="1">
                          <a:solidFill>
                            <a:srgbClr val="2E7D32"/>
                          </a:solidFill>
                        </a:rPr>
                        <a:t>Done</a:t>
                      </a:r>
                    </a:p>
                  </a:txBody>
                  <a:tcPr/>
                </a:tc>
                <a:tc>
                  <a:txBody>
                    <a:bodyPr/>
                    <a:lstStyle/>
                    <a:p>
                      <a:r>
                        <a:rPr sz="1100"/>
                        <a:t>Sale flag now carried in CL3 on 30.1% of UK SKUs</a:t>
                      </a:r>
                    </a:p>
                  </a:txBody>
                  <a:tcPr/>
                </a:tc>
                <a:extLst>
                  <a:ext uri="{0D108BD9-81ED-4DB2-BD59-A6C34878D82A}">
                    <a16:rowId xmlns:a16="http://schemas.microsoft.com/office/drawing/2014/main" val="10004"/>
                  </a:ext>
                </a:extLst>
              </a:tr>
              <a:tr h="426339">
                <a:tc>
                  <a:txBody>
                    <a:bodyPr/>
                    <a:lstStyle/>
                    <a:p>
                      <a:r>
                        <a:rPr sz="1100"/>
                        <a:t>AI Score Card review — UK &amp; IE, with recommendations</a:t>
                      </a:r>
                    </a:p>
                  </a:txBody>
                  <a:tcPr/>
                </a:tc>
                <a:tc>
                  <a:txBody>
                    <a:bodyPr/>
                    <a:lstStyle/>
                    <a:p>
                      <a:r>
                        <a:rPr sz="1100"/>
                        <a:t>Ray</a:t>
                      </a:r>
                    </a:p>
                  </a:txBody>
                  <a:tcPr/>
                </a:tc>
                <a:tc>
                  <a:txBody>
                    <a:bodyPr/>
                    <a:lstStyle/>
                    <a:p>
                      <a:r>
                        <a:rPr sz="1100" b="1">
                          <a:solidFill>
                            <a:srgbClr val="2E7D32"/>
                          </a:solidFill>
                        </a:rPr>
                        <a:t>Done</a:t>
                      </a:r>
                    </a:p>
                  </a:txBody>
                  <a:tcPr/>
                </a:tc>
                <a:tc>
                  <a:txBody>
                    <a:bodyPr/>
                    <a:lstStyle/>
                    <a:p>
                      <a:r>
                        <a:rPr sz="1100"/>
                        <a:t>The baseline this review measures against — chapter 05</a:t>
                      </a:r>
                    </a:p>
                  </a:txBody>
                  <a:tcPr/>
                </a:tc>
                <a:extLst>
                  <a:ext uri="{0D108BD9-81ED-4DB2-BD59-A6C34878D82A}">
                    <a16:rowId xmlns:a16="http://schemas.microsoft.com/office/drawing/2014/main" val="10005"/>
                  </a:ext>
                </a:extLst>
              </a:tr>
              <a:tr h="426339">
                <a:tc>
                  <a:txBody>
                    <a:bodyPr/>
                    <a:lstStyle/>
                    <a:p>
                      <a:r>
                        <a:rPr sz="1100"/>
                        <a:t>CSS vs. CSS Google — retest split test</a:t>
                      </a:r>
                    </a:p>
                  </a:txBody>
                  <a:tcPr/>
                </a:tc>
                <a:tc>
                  <a:txBody>
                    <a:bodyPr/>
                    <a:lstStyle/>
                    <a:p>
                      <a:r>
                        <a:rPr sz="1100"/>
                        <a:t>Ray / Will</a:t>
                      </a:r>
                    </a:p>
                  </a:txBody>
                  <a:tcPr/>
                </a:tc>
                <a:tc>
                  <a:txBody>
                    <a:bodyPr/>
                    <a:lstStyle/>
                    <a:p>
                      <a:r>
                        <a:rPr sz="1100" b="1">
                          <a:solidFill>
                            <a:srgbClr val="2E7D32"/>
                          </a:solidFill>
                        </a:rPr>
                        <a:t>Done</a:t>
                      </a:r>
                    </a:p>
                  </a:txBody>
                  <a:tcPr/>
                </a:tc>
                <a:tc>
                  <a:txBody>
                    <a:bodyPr/>
                    <a:lstStyle/>
                    <a:p>
                      <a:r>
                        <a:rPr sz="1100"/>
                        <a:t>No CPC benefit in the UK market — read in full in chapter 03</a:t>
                      </a:r>
                    </a:p>
                  </a:txBody>
                  <a:tcPr/>
                </a:tc>
                <a:extLst>
                  <a:ext uri="{0D108BD9-81ED-4DB2-BD59-A6C34878D82A}">
                    <a16:rowId xmlns:a16="http://schemas.microsoft.com/office/drawing/2014/main" val="10006"/>
                  </a:ext>
                </a:extLst>
              </a:tr>
              <a:tr h="426339">
                <a:tc>
                  <a:txBody>
                    <a:bodyPr/>
                    <a:lstStyle/>
                    <a:p>
                      <a:r>
                        <a:rPr sz="1100"/>
                        <a:t>A/B title test — [Search Intent], Fashion category</a:t>
                      </a:r>
                    </a:p>
                  </a:txBody>
                  <a:tcPr/>
                </a:tc>
                <a:tc>
                  <a:txBody>
                    <a:bodyPr/>
                    <a:lstStyle/>
                    <a:p>
                      <a:r>
                        <a:rPr sz="1100"/>
                        <a:t>Steven</a:t>
                      </a:r>
                    </a:p>
                  </a:txBody>
                  <a:tcPr/>
                </a:tc>
                <a:tc>
                  <a:txBody>
                    <a:bodyPr/>
                    <a:lstStyle/>
                    <a:p>
                      <a:r>
                        <a:rPr sz="1100" b="1">
                          <a:solidFill>
                            <a:srgbClr val="2E7D32"/>
                          </a:solidFill>
                        </a:rPr>
                        <a:t>Done</a:t>
                      </a:r>
                    </a:p>
                  </a:txBody>
                  <a:tcPr/>
                </a:tc>
                <a:tc>
                  <a:txBody>
                    <a:bodyPr/>
                    <a:lstStyle/>
                    <a:p>
                      <a:r>
                        <a:rPr sz="1100"/>
                        <a:t>Completed; no quantified read recorded against it</a:t>
                      </a:r>
                    </a:p>
                  </a:txBody>
                  <a:tcPr/>
                </a:tc>
                <a:extLst>
                  <a:ext uri="{0D108BD9-81ED-4DB2-BD59-A6C34878D82A}">
                    <a16:rowId xmlns:a16="http://schemas.microsoft.com/office/drawing/2014/main" val="10007"/>
                  </a:ext>
                </a:extLst>
              </a:tr>
              <a:tr h="426339">
                <a:tc>
                  <a:txBody>
                    <a:bodyPr/>
                    <a:lstStyle/>
                    <a:p>
                      <a:r>
                        <a:rPr sz="1100"/>
                        <a:t>Custom Label overview shared</a:t>
                      </a:r>
                    </a:p>
                  </a:txBody>
                  <a:tcPr/>
                </a:tc>
                <a:tc>
                  <a:txBody>
                    <a:bodyPr/>
                    <a:lstStyle/>
                    <a:p>
                      <a:r>
                        <a:rPr sz="1100"/>
                        <a:t>Ray</a:t>
                      </a:r>
                    </a:p>
                  </a:txBody>
                  <a:tcPr/>
                </a:tc>
                <a:tc>
                  <a:txBody>
                    <a:bodyPr/>
                    <a:lstStyle/>
                    <a:p>
                      <a:r>
                        <a:rPr sz="1100" b="1">
                          <a:solidFill>
                            <a:srgbClr val="2E7D32"/>
                          </a:solidFill>
                        </a:rPr>
                        <a:t>Done</a:t>
                      </a:r>
                    </a:p>
                  </a:txBody>
                  <a:tcPr/>
                </a:tc>
                <a:tc>
                  <a:txBody>
                    <a:bodyPr/>
                    <a:lstStyle/>
                    <a:p>
                      <a:r>
                        <a:rPr sz="1100"/>
                        <a:t>Five-slot architecture agreed — margin, stock, sale, range</a:t>
                      </a:r>
                    </a:p>
                  </a:txBody>
                  <a:tcPr/>
                </a:tc>
                <a:extLst>
                  <a:ext uri="{0D108BD9-81ED-4DB2-BD59-A6C34878D82A}">
                    <a16:rowId xmlns:a16="http://schemas.microsoft.com/office/drawing/2014/main" val="10008"/>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Review &amp; project recap (cont.)</a:t>
            </a:r>
          </a:p>
        </p:txBody>
      </p:sp>
      <p:sp>
        <p:nvSpPr>
          <p:cNvPr id="4" name="Text Placeholder 3"/>
          <p:cNvSpPr>
            <a:spLocks noGrp="1"/>
          </p:cNvSpPr>
          <p:nvPr>
            <p:ph type="body" idx="14"/>
          </p:nvPr>
        </p:nvSpPr>
        <p:spPr/>
        <p:txBody>
          <a:bodyPr wrap="square"/>
          <a:lstStyle/>
          <a:p>
            <a:r>
              <a:t>Where the margin work actually landed. The plan records four separate margin initiatives closing across April and May.</a:t>
            </a:r>
          </a:p>
        </p:txBody>
      </p:sp>
      <p:graphicFrame>
        <p:nvGraphicFramePr>
          <p:cNvPr id="5" name="Table 4"/>
          <p:cNvGraphicFramePr>
            <a:graphicFrameLocks noGrp="1"/>
          </p:cNvGraphicFramePr>
          <p:nvPr>
            <p:extLst>
              <p:ext uri="{D42A27DB-BD31-4B8C-83A1-F6EECF244321}">
                <p14:modId xmlns:p14="http://schemas.microsoft.com/office/powerpoint/2010/main" val="3767142474"/>
              </p:ext>
            </p:extLst>
          </p:nvPr>
        </p:nvGraphicFramePr>
        <p:xfrm>
          <a:off x="612648" y="1847088"/>
          <a:ext cx="10972799" cy="3794756"/>
        </p:xfrm>
        <a:graphic>
          <a:graphicData uri="http://schemas.openxmlformats.org/drawingml/2006/table">
            <a:tbl>
              <a:tblPr firstRow="1" bandRow="1">
                <a:tableStyleId>{5C22544A-7EE6-4342-B048-85BDC9FD1C3A}</a:tableStyleId>
              </a:tblPr>
              <a:tblGrid>
                <a:gridCol w="3862627">
                  <a:extLst>
                    <a:ext uri="{9D8B030D-6E8A-4147-A177-3AD203B41FA5}">
                      <a16:colId xmlns:a16="http://schemas.microsoft.com/office/drawing/2014/main" val="20000"/>
                    </a:ext>
                  </a:extLst>
                </a:gridCol>
                <a:gridCol w="812411">
                  <a:extLst>
                    <a:ext uri="{9D8B030D-6E8A-4147-A177-3AD203B41FA5}">
                      <a16:colId xmlns:a16="http://schemas.microsoft.com/office/drawing/2014/main" val="20001"/>
                    </a:ext>
                  </a:extLst>
                </a:gridCol>
                <a:gridCol w="1175582">
                  <a:extLst>
                    <a:ext uri="{9D8B030D-6E8A-4147-A177-3AD203B41FA5}">
                      <a16:colId xmlns:a16="http://schemas.microsoft.com/office/drawing/2014/main" val="20002"/>
                    </a:ext>
                  </a:extLst>
                </a:gridCol>
                <a:gridCol w="5122179">
                  <a:extLst>
                    <a:ext uri="{9D8B030D-6E8A-4147-A177-3AD203B41FA5}">
                      <a16:colId xmlns:a16="http://schemas.microsoft.com/office/drawing/2014/main" val="20003"/>
                    </a:ext>
                  </a:extLst>
                </a:gridCol>
              </a:tblGrid>
              <a:tr h="384048">
                <a:tc>
                  <a:txBody>
                    <a:bodyPr/>
                    <a:lstStyle/>
                    <a:p>
                      <a:r>
                        <a:rPr sz="1300" b="1">
                          <a:solidFill>
                            <a:srgbClr val="FFFFFF"/>
                          </a:solidFill>
                        </a:rPr>
                        <a:t>Action</a:t>
                      </a:r>
                    </a:p>
                  </a:txBody>
                  <a:tcPr/>
                </a:tc>
                <a:tc>
                  <a:txBody>
                    <a:bodyPr/>
                    <a:lstStyle/>
                    <a:p>
                      <a:r>
                        <a:rPr sz="1300" b="1">
                          <a:solidFill>
                            <a:srgbClr val="FFFFFF"/>
                          </a:solidFill>
                        </a:rPr>
                        <a:t>Owner</a:t>
                      </a:r>
                    </a:p>
                  </a:txBody>
                  <a:tcPr/>
                </a:tc>
                <a:tc>
                  <a:txBody>
                    <a:bodyPr/>
                    <a:lstStyle/>
                    <a:p>
                      <a:r>
                        <a:rPr sz="1300" b="1">
                          <a:solidFill>
                            <a:srgbClr val="FFFFFF"/>
                          </a:solidFill>
                        </a:rPr>
                        <a:t>Status</a:t>
                      </a:r>
                    </a:p>
                  </a:txBody>
                  <a:tcPr/>
                </a:tc>
                <a:tc>
                  <a:txBody>
                    <a:bodyPr/>
                    <a:lstStyle/>
                    <a:p>
                      <a:r>
                        <a:rPr sz="1300" b="1">
                          <a:solidFill>
                            <a:srgbClr val="FFFFFF"/>
                          </a:solidFill>
                        </a:rPr>
                        <a:t>Outcome</a:t>
                      </a:r>
                    </a:p>
                  </a:txBody>
                  <a:tcPr/>
                </a:tc>
                <a:extLst>
                  <a:ext uri="{0D108BD9-81ED-4DB2-BD59-A6C34878D82A}">
                    <a16:rowId xmlns:a16="http://schemas.microsoft.com/office/drawing/2014/main" val="10000"/>
                  </a:ext>
                </a:extLst>
              </a:tr>
              <a:tr h="487244">
                <a:tc>
                  <a:txBody>
                    <a:bodyPr/>
                    <a:lstStyle/>
                    <a:p>
                      <a:r>
                        <a:rPr sz="1100"/>
                        <a:t>Campaign-structure recommendation shared</a:t>
                      </a:r>
                    </a:p>
                  </a:txBody>
                  <a:tcPr/>
                </a:tc>
                <a:tc>
                  <a:txBody>
                    <a:bodyPr/>
                    <a:lstStyle/>
                    <a:p>
                      <a:r>
                        <a:rPr sz="1100"/>
                        <a:t>Ray</a:t>
                      </a:r>
                    </a:p>
                  </a:txBody>
                  <a:tcPr/>
                </a:tc>
                <a:tc>
                  <a:txBody>
                    <a:bodyPr/>
                    <a:lstStyle/>
                    <a:p>
                      <a:r>
                        <a:rPr sz="1100" b="1">
                          <a:solidFill>
                            <a:srgbClr val="2E7D32"/>
                          </a:solidFill>
                        </a:rPr>
                        <a:t>Done</a:t>
                      </a:r>
                    </a:p>
                  </a:txBody>
                  <a:tcPr/>
                </a:tc>
                <a:tc>
                  <a:txBody>
                    <a:bodyPr/>
                    <a:lstStyle/>
                    <a:p>
                      <a:r>
                        <a:rPr sz="1100"/>
                        <a:t>Feeds the PMax and CSS restructure now open</a:t>
                      </a:r>
                    </a:p>
                  </a:txBody>
                  <a:tcPr/>
                </a:tc>
                <a:extLst>
                  <a:ext uri="{0D108BD9-81ED-4DB2-BD59-A6C34878D82A}">
                    <a16:rowId xmlns:a16="http://schemas.microsoft.com/office/drawing/2014/main" val="10001"/>
                  </a:ext>
                </a:extLst>
              </a:tr>
              <a:tr h="487244">
                <a:tc>
                  <a:txBody>
                    <a:bodyPr/>
                    <a:lstStyle/>
                    <a:p>
                      <a:r>
                        <a:rPr sz="1100"/>
                        <a:t>Image_tag structural work</a:t>
                      </a:r>
                    </a:p>
                  </a:txBody>
                  <a:tcPr/>
                </a:tc>
                <a:tc>
                  <a:txBody>
                    <a:bodyPr/>
                    <a:lstStyle/>
                    <a:p>
                      <a:r>
                        <a:rPr lang="en-GB" sz="1100" dirty="0"/>
                        <a:t>Steven</a:t>
                      </a:r>
                      <a:endParaRPr sz="1100" dirty="0"/>
                    </a:p>
                  </a:txBody>
                  <a:tcPr/>
                </a:tc>
                <a:tc>
                  <a:txBody>
                    <a:bodyPr/>
                    <a:lstStyle/>
                    <a:p>
                      <a:r>
                        <a:rPr sz="1100" b="1" dirty="0">
                          <a:solidFill>
                            <a:srgbClr val="2E7D32"/>
                          </a:solidFill>
                        </a:rPr>
                        <a:t>Done</a:t>
                      </a:r>
                    </a:p>
                  </a:txBody>
                  <a:tcPr/>
                </a:tc>
                <a:tc>
                  <a:txBody>
                    <a:bodyPr/>
                    <a:lstStyle/>
                    <a:p>
                      <a:r>
                        <a:rPr sz="1100"/>
                        <a:t>Imagery now uniform at exactly 4 images per SKU, all markets</a:t>
                      </a:r>
                    </a:p>
                  </a:txBody>
                  <a:tcPr/>
                </a:tc>
                <a:extLst>
                  <a:ext uri="{0D108BD9-81ED-4DB2-BD59-A6C34878D82A}">
                    <a16:rowId xmlns:a16="http://schemas.microsoft.com/office/drawing/2014/main" val="10002"/>
                  </a:ext>
                </a:extLst>
              </a:tr>
              <a:tr h="487244">
                <a:tc>
                  <a:txBody>
                    <a:bodyPr/>
                    <a:lstStyle/>
                    <a:p>
                      <a:r>
                        <a:rPr sz="1100"/>
                        <a:t>Hero Sizes mapping — Mens / Womens / Childrens</a:t>
                      </a:r>
                    </a:p>
                  </a:txBody>
                  <a:tcPr/>
                </a:tc>
                <a:tc>
                  <a:txBody>
                    <a:bodyPr/>
                    <a:lstStyle/>
                    <a:p>
                      <a:r>
                        <a:rPr sz="1100" dirty="0"/>
                        <a:t>Ray</a:t>
                      </a:r>
                    </a:p>
                  </a:txBody>
                  <a:tcPr/>
                </a:tc>
                <a:tc>
                  <a:txBody>
                    <a:bodyPr/>
                    <a:lstStyle/>
                    <a:p>
                      <a:r>
                        <a:rPr sz="1100" b="1">
                          <a:solidFill>
                            <a:srgbClr val="ED6F0B"/>
                          </a:solidFill>
                        </a:rPr>
                        <a:t>In progress</a:t>
                      </a:r>
                    </a:p>
                  </a:txBody>
                  <a:tcPr/>
                </a:tc>
                <a:tc>
                  <a:txBody>
                    <a:bodyPr/>
                    <a:lstStyle/>
                    <a:p>
                      <a:r>
                        <a:rPr sz="1100"/>
                        <a:t>Paired with the stock-quantity threshold review</a:t>
                      </a:r>
                    </a:p>
                  </a:txBody>
                  <a:tcPr/>
                </a:tc>
                <a:extLst>
                  <a:ext uri="{0D108BD9-81ED-4DB2-BD59-A6C34878D82A}">
                    <a16:rowId xmlns:a16="http://schemas.microsoft.com/office/drawing/2014/main" val="10003"/>
                  </a:ext>
                </a:extLst>
              </a:tr>
              <a:tr h="487244">
                <a:tc>
                  <a:txBody>
                    <a:bodyPr/>
                    <a:lstStyle/>
                    <a:p>
                      <a:r>
                        <a:rPr sz="1100"/>
                        <a:t>Stock quantity threshold — from &lt;5 to &lt;2</a:t>
                      </a:r>
                    </a:p>
                  </a:txBody>
                  <a:tcPr/>
                </a:tc>
                <a:tc>
                  <a:txBody>
                    <a:bodyPr/>
                    <a:lstStyle/>
                    <a:p>
                      <a:r>
                        <a:rPr sz="1100" dirty="0"/>
                        <a:t>Ray</a:t>
                      </a:r>
                    </a:p>
                  </a:txBody>
                  <a:tcPr/>
                </a:tc>
                <a:tc>
                  <a:txBody>
                    <a:bodyPr/>
                    <a:lstStyle/>
                    <a:p>
                      <a:r>
                        <a:rPr sz="1100" b="1" dirty="0">
                          <a:solidFill>
                            <a:srgbClr val="ED6F0B"/>
                          </a:solidFill>
                        </a:rPr>
                        <a:t>In progress</a:t>
                      </a:r>
                    </a:p>
                  </a:txBody>
                  <a:tcPr/>
                </a:tc>
                <a:tc>
                  <a:txBody>
                    <a:bodyPr/>
                    <a:lstStyle/>
                    <a:p>
                      <a:r>
                        <a:rPr sz="1100"/>
                        <a:t>Would move stock banding in CL4, live on 100% of UK SKUs</a:t>
                      </a:r>
                    </a:p>
                  </a:txBody>
                  <a:tcPr/>
                </a:tc>
                <a:extLst>
                  <a:ext uri="{0D108BD9-81ED-4DB2-BD59-A6C34878D82A}">
                    <a16:rowId xmlns:a16="http://schemas.microsoft.com/office/drawing/2014/main" val="10004"/>
                  </a:ext>
                </a:extLst>
              </a:tr>
              <a:tr h="487244">
                <a:tc>
                  <a:txBody>
                    <a:bodyPr/>
                    <a:lstStyle/>
                    <a:p>
                      <a:r>
                        <a:rPr sz="1100" dirty="0"/>
                        <a:t>s360 PDP description prompt</a:t>
                      </a:r>
                    </a:p>
                  </a:txBody>
                  <a:tcPr/>
                </a:tc>
                <a:tc>
                  <a:txBody>
                    <a:bodyPr/>
                    <a:lstStyle/>
                    <a:p>
                      <a:r>
                        <a:rPr sz="1100" dirty="0"/>
                        <a:t>Will</a:t>
                      </a:r>
                    </a:p>
                  </a:txBody>
                  <a:tcPr/>
                </a:tc>
                <a:tc>
                  <a:txBody>
                    <a:bodyPr/>
                    <a:lstStyle/>
                    <a:p>
                      <a:r>
                        <a:rPr sz="1100" b="1">
                          <a:solidFill>
                            <a:srgbClr val="ED6F0B"/>
                          </a:solidFill>
                        </a:rPr>
                        <a:t>Awaiting Schuh</a:t>
                      </a:r>
                    </a:p>
                  </a:txBody>
                  <a:tcPr/>
                </a:tc>
                <a:tc>
                  <a:txBody>
                    <a:bodyPr/>
                    <a:lstStyle/>
                    <a:p>
                      <a:r>
                        <a:rPr sz="1100"/>
                        <a:t>Blocks description enrichment reaching DE and IE — chapter 04</a:t>
                      </a:r>
                    </a:p>
                  </a:txBody>
                  <a:tcPr/>
                </a:tc>
                <a:extLst>
                  <a:ext uri="{0D108BD9-81ED-4DB2-BD59-A6C34878D82A}">
                    <a16:rowId xmlns:a16="http://schemas.microsoft.com/office/drawing/2014/main" val="10005"/>
                  </a:ext>
                </a:extLst>
              </a:tr>
              <a:tr h="487244">
                <a:tc>
                  <a:txBody>
                    <a:bodyPr/>
                    <a:lstStyle/>
                    <a:p>
                      <a:r>
                        <a:rPr sz="1100"/>
                        <a:t>Margin and pound margin through CN in Meta</a:t>
                      </a:r>
                    </a:p>
                  </a:txBody>
                  <a:tcPr/>
                </a:tc>
                <a:tc>
                  <a:txBody>
                    <a:bodyPr/>
                    <a:lstStyle/>
                    <a:p>
                      <a:r>
                        <a:rPr sz="1100"/>
                        <a:t>Ray</a:t>
                      </a:r>
                    </a:p>
                  </a:txBody>
                  <a:tcPr/>
                </a:tc>
                <a:tc>
                  <a:txBody>
                    <a:bodyPr/>
                    <a:lstStyle/>
                    <a:p>
                      <a:r>
                        <a:rPr sz="1100" b="1">
                          <a:solidFill>
                            <a:srgbClr val="767676"/>
                          </a:solidFill>
                        </a:rPr>
                        <a:t>Open</a:t>
                      </a:r>
                    </a:p>
                  </a:txBody>
                  <a:tcPr/>
                </a:tc>
                <a:tc>
                  <a:txBody>
                    <a:bodyPr/>
                    <a:lstStyle/>
                    <a:p>
                      <a:r>
                        <a:rPr sz="1100"/>
                        <a:t>Carries the UK margin architecture into the social feeds</a:t>
                      </a:r>
                    </a:p>
                  </a:txBody>
                  <a:tcPr/>
                </a:tc>
                <a:extLst>
                  <a:ext uri="{0D108BD9-81ED-4DB2-BD59-A6C34878D82A}">
                    <a16:rowId xmlns:a16="http://schemas.microsoft.com/office/drawing/2014/main" val="10006"/>
                  </a:ext>
                </a:extLst>
              </a:tr>
              <a:tr h="487244">
                <a:tc>
                  <a:txBody>
                    <a:bodyPr/>
                    <a:lstStyle/>
                    <a:p>
                      <a:r>
                        <a:rPr sz="1100"/>
                        <a:t>Product Rating — manual retailer submission</a:t>
                      </a:r>
                    </a:p>
                  </a:txBody>
                  <a:tcPr/>
                </a:tc>
                <a:tc>
                  <a:txBody>
                    <a:bodyPr/>
                    <a:lstStyle/>
                    <a:p>
                      <a:r>
                        <a:rPr sz="1100"/>
                        <a:t>Ray</a:t>
                      </a:r>
                    </a:p>
                  </a:txBody>
                  <a:tcPr/>
                </a:tc>
                <a:tc>
                  <a:txBody>
                    <a:bodyPr/>
                    <a:lstStyle/>
                    <a:p>
                      <a:r>
                        <a:rPr sz="1100" b="1">
                          <a:solidFill>
                            <a:srgbClr val="ED6F0B"/>
                          </a:solidFill>
                        </a:rPr>
                        <a:t>On hold</a:t>
                      </a:r>
                    </a:p>
                  </a:txBody>
                  <a:tcPr/>
                </a:tc>
                <a:tc>
                  <a:txBody>
                    <a:bodyPr/>
                    <a:lstStyle/>
                    <a:p>
                      <a:r>
                        <a:rPr sz="1100" dirty="0"/>
                        <a:t>Waiting on ratings fields from Schuh's dev team</a:t>
                      </a:r>
                    </a:p>
                  </a:txBody>
                  <a:tcPr/>
                </a:tc>
                <a:extLst>
                  <a:ext uri="{0D108BD9-81ED-4DB2-BD59-A6C34878D82A}">
                    <a16:rowId xmlns:a16="http://schemas.microsoft.com/office/drawing/2014/main" val="10007"/>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96CA7D-7434-D239-6379-7ECB828AB5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8801C6-F1ED-BBCF-5948-F18496EAEFAA}"/>
              </a:ext>
            </a:extLst>
          </p:cNvPr>
          <p:cNvSpPr>
            <a:spLocks noGrp="1"/>
          </p:cNvSpPr>
          <p:nvPr>
            <p:ph type="title"/>
          </p:nvPr>
        </p:nvSpPr>
        <p:spPr/>
        <p:txBody>
          <a:bodyPr/>
          <a:lstStyle/>
          <a:p>
            <a:r>
              <a:rPr lang="en-GB" dirty="0"/>
              <a:t>Hours Allocation</a:t>
            </a:r>
          </a:p>
        </p:txBody>
      </p:sp>
      <p:sp>
        <p:nvSpPr>
          <p:cNvPr id="3" name="Text Placeholder 2">
            <a:extLst>
              <a:ext uri="{FF2B5EF4-FFF2-40B4-BE49-F238E27FC236}">
                <a16:creationId xmlns:a16="http://schemas.microsoft.com/office/drawing/2014/main" id="{25DDA4F9-4209-6143-396C-C709E70ECD8B}"/>
              </a:ext>
            </a:extLst>
          </p:cNvPr>
          <p:cNvSpPr>
            <a:spLocks noGrp="1"/>
          </p:cNvSpPr>
          <p:nvPr>
            <p:ph type="body" idx="11"/>
          </p:nvPr>
        </p:nvSpPr>
        <p:spPr/>
        <p:txBody>
          <a:bodyPr/>
          <a:lstStyle/>
          <a:p>
            <a:r>
              <a:rPr lang="en-GB" dirty="0"/>
              <a:t>From 2026-Jan – Tasks Types</a:t>
            </a:r>
          </a:p>
        </p:txBody>
      </p:sp>
      <p:sp>
        <p:nvSpPr>
          <p:cNvPr id="6" name="Text Placeholder 5">
            <a:extLst>
              <a:ext uri="{FF2B5EF4-FFF2-40B4-BE49-F238E27FC236}">
                <a16:creationId xmlns:a16="http://schemas.microsoft.com/office/drawing/2014/main" id="{FAA24480-4C56-3EB8-808F-3271050C93F0}"/>
              </a:ext>
            </a:extLst>
          </p:cNvPr>
          <p:cNvSpPr>
            <a:spLocks noGrp="1"/>
          </p:cNvSpPr>
          <p:nvPr>
            <p:ph type="body" idx="14"/>
          </p:nvPr>
        </p:nvSpPr>
        <p:spPr/>
        <p:txBody>
          <a:bodyPr/>
          <a:lstStyle/>
          <a:p>
            <a:r>
              <a:rPr lang="en-GB" dirty="0"/>
              <a:t>Majority of hours (healthy benchmark – 74.6%) are going through to </a:t>
            </a:r>
            <a:r>
              <a:rPr lang="en-GB" dirty="0" err="1"/>
              <a:t>optimisation</a:t>
            </a:r>
            <a:endParaRPr lang="en-GB" dirty="0"/>
          </a:p>
        </p:txBody>
      </p:sp>
      <p:pic>
        <p:nvPicPr>
          <p:cNvPr id="11" name="Picture 10">
            <a:extLst>
              <a:ext uri="{FF2B5EF4-FFF2-40B4-BE49-F238E27FC236}">
                <a16:creationId xmlns:a16="http://schemas.microsoft.com/office/drawing/2014/main" id="{BB3E2EFF-8483-0BC6-5B82-45AD4451EA93}"/>
              </a:ext>
            </a:extLst>
          </p:cNvPr>
          <p:cNvPicPr>
            <a:picLocks noChangeAspect="1"/>
          </p:cNvPicPr>
          <p:nvPr/>
        </p:nvPicPr>
        <p:blipFill>
          <a:blip r:embed="rId2"/>
          <a:stretch>
            <a:fillRect/>
          </a:stretch>
        </p:blipFill>
        <p:spPr>
          <a:xfrm>
            <a:off x="688502" y="1997180"/>
            <a:ext cx="7394784" cy="3393640"/>
          </a:xfrm>
          <a:prstGeom prst="rect">
            <a:avLst/>
          </a:prstGeom>
        </p:spPr>
      </p:pic>
      <p:pic>
        <p:nvPicPr>
          <p:cNvPr id="19" name="Picture 18">
            <a:extLst>
              <a:ext uri="{FF2B5EF4-FFF2-40B4-BE49-F238E27FC236}">
                <a16:creationId xmlns:a16="http://schemas.microsoft.com/office/drawing/2014/main" id="{FF4BCBF3-CFD5-91BF-10FD-30AC6ED5D973}"/>
              </a:ext>
            </a:extLst>
          </p:cNvPr>
          <p:cNvPicPr>
            <a:picLocks noChangeAspect="1"/>
          </p:cNvPicPr>
          <p:nvPr/>
        </p:nvPicPr>
        <p:blipFill>
          <a:blip r:embed="rId3"/>
          <a:stretch>
            <a:fillRect/>
          </a:stretch>
        </p:blipFill>
        <p:spPr>
          <a:xfrm>
            <a:off x="8110008" y="1985043"/>
            <a:ext cx="3472512" cy="2887913"/>
          </a:xfrm>
          <a:prstGeom prst="rect">
            <a:avLst/>
          </a:prstGeom>
        </p:spPr>
      </p:pic>
    </p:spTree>
    <p:extLst>
      <p:ext uri="{BB962C8B-B14F-4D97-AF65-F5344CB8AC3E}">
        <p14:creationId xmlns:p14="http://schemas.microsoft.com/office/powerpoint/2010/main" val="40304683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0ED22-7037-252B-1A1E-4C291339200E}"/>
              </a:ext>
            </a:extLst>
          </p:cNvPr>
          <p:cNvSpPr>
            <a:spLocks noGrp="1"/>
          </p:cNvSpPr>
          <p:nvPr>
            <p:ph type="title"/>
          </p:nvPr>
        </p:nvSpPr>
        <p:spPr/>
        <p:txBody>
          <a:bodyPr/>
          <a:lstStyle/>
          <a:p>
            <a:r>
              <a:rPr lang="en-GB" dirty="0"/>
              <a:t>Hours Allocation</a:t>
            </a:r>
          </a:p>
        </p:txBody>
      </p:sp>
      <p:sp>
        <p:nvSpPr>
          <p:cNvPr id="3" name="Text Placeholder 2">
            <a:extLst>
              <a:ext uri="{FF2B5EF4-FFF2-40B4-BE49-F238E27FC236}">
                <a16:creationId xmlns:a16="http://schemas.microsoft.com/office/drawing/2014/main" id="{5F919AAF-84B5-8431-344A-892AEB821FB7}"/>
              </a:ext>
            </a:extLst>
          </p:cNvPr>
          <p:cNvSpPr>
            <a:spLocks noGrp="1"/>
          </p:cNvSpPr>
          <p:nvPr>
            <p:ph type="body" idx="11"/>
          </p:nvPr>
        </p:nvSpPr>
        <p:spPr/>
        <p:txBody>
          <a:bodyPr/>
          <a:lstStyle/>
          <a:p>
            <a:r>
              <a:rPr lang="en-GB" dirty="0"/>
              <a:t>From 2026-Jan – Urgent/ Technical or Non-optimisation works</a:t>
            </a:r>
          </a:p>
        </p:txBody>
      </p:sp>
      <p:sp>
        <p:nvSpPr>
          <p:cNvPr id="6" name="Text Placeholder 5">
            <a:extLst>
              <a:ext uri="{FF2B5EF4-FFF2-40B4-BE49-F238E27FC236}">
                <a16:creationId xmlns:a16="http://schemas.microsoft.com/office/drawing/2014/main" id="{5195A3D2-825F-01BB-AF96-C9E7CD184D68}"/>
              </a:ext>
            </a:extLst>
          </p:cNvPr>
          <p:cNvSpPr>
            <a:spLocks noGrp="1"/>
          </p:cNvSpPr>
          <p:nvPr>
            <p:ph type="body" idx="14"/>
          </p:nvPr>
        </p:nvSpPr>
        <p:spPr/>
        <p:txBody>
          <a:bodyPr/>
          <a:lstStyle/>
          <a:p>
            <a:r>
              <a:rPr lang="en-GB" dirty="0"/>
              <a:t>There’s still </a:t>
            </a:r>
            <a:r>
              <a:rPr lang="en-GB" dirty="0" err="1"/>
              <a:t>roughly</a:t>
            </a:r>
            <a:r>
              <a:rPr lang="en-GB" dirty="0"/>
              <a:t> 89.5 hours (~20% of hours are going into Technical work) – there’s an opportunity for automation here</a:t>
            </a:r>
          </a:p>
        </p:txBody>
      </p:sp>
      <p:pic>
        <p:nvPicPr>
          <p:cNvPr id="10" name="Picture 9">
            <a:extLst>
              <a:ext uri="{FF2B5EF4-FFF2-40B4-BE49-F238E27FC236}">
                <a16:creationId xmlns:a16="http://schemas.microsoft.com/office/drawing/2014/main" id="{1EDD7B43-06F5-3129-02CC-A55215573DBA}"/>
              </a:ext>
            </a:extLst>
          </p:cNvPr>
          <p:cNvPicPr>
            <a:picLocks noChangeAspect="1"/>
          </p:cNvPicPr>
          <p:nvPr/>
        </p:nvPicPr>
        <p:blipFill>
          <a:blip r:embed="rId2"/>
          <a:srcRect l="72829"/>
          <a:stretch>
            <a:fillRect/>
          </a:stretch>
        </p:blipFill>
        <p:spPr>
          <a:xfrm>
            <a:off x="5176802" y="2498833"/>
            <a:ext cx="2314019" cy="2210108"/>
          </a:xfrm>
          <a:prstGeom prst="rect">
            <a:avLst/>
          </a:prstGeom>
        </p:spPr>
      </p:pic>
      <p:pic>
        <p:nvPicPr>
          <p:cNvPr id="18" name="Picture 17">
            <a:extLst>
              <a:ext uri="{FF2B5EF4-FFF2-40B4-BE49-F238E27FC236}">
                <a16:creationId xmlns:a16="http://schemas.microsoft.com/office/drawing/2014/main" id="{7CB8DDB4-4231-019C-2619-203DBE32F285}"/>
              </a:ext>
            </a:extLst>
          </p:cNvPr>
          <p:cNvPicPr>
            <a:picLocks noChangeAspect="1"/>
          </p:cNvPicPr>
          <p:nvPr/>
        </p:nvPicPr>
        <p:blipFill>
          <a:blip r:embed="rId3"/>
          <a:stretch>
            <a:fillRect/>
          </a:stretch>
        </p:blipFill>
        <p:spPr>
          <a:xfrm>
            <a:off x="2980266" y="2072751"/>
            <a:ext cx="6656088" cy="3305249"/>
          </a:xfrm>
          <a:prstGeom prst="rect">
            <a:avLst/>
          </a:prstGeom>
        </p:spPr>
      </p:pic>
    </p:spTree>
    <p:extLst>
      <p:ext uri="{BB962C8B-B14F-4D97-AF65-F5344CB8AC3E}">
        <p14:creationId xmlns:p14="http://schemas.microsoft.com/office/powerpoint/2010/main" val="35495053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1"/>
          </p:nvPr>
        </p:nvSpPr>
        <p:spPr/>
        <p:txBody>
          <a:bodyPr wrap="square"/>
          <a:lstStyle/>
          <a:p>
            <a:r>
              <a:t>Chapter two</a:t>
            </a:r>
          </a:p>
        </p:txBody>
      </p:sp>
      <p:sp>
        <p:nvSpPr>
          <p:cNvPr id="3" name="Title 2"/>
          <p:cNvSpPr>
            <a:spLocks noGrp="1"/>
          </p:cNvSpPr>
          <p:nvPr>
            <p:ph type="title"/>
          </p:nvPr>
        </p:nvSpPr>
        <p:spPr/>
        <p:txBody>
          <a:bodyPr wrap="square"/>
          <a:lstStyle/>
          <a:p>
            <a:r>
              <a:t>Channel coverage</a:t>
            </a:r>
          </a:p>
        </p:txBody>
      </p:sp>
      <p:sp>
        <p:nvSpPr>
          <p:cNvPr id="4" name="Text Placeholder 3"/>
          <p:cNvSpPr>
            <a:spLocks noGrp="1"/>
          </p:cNvSpPr>
          <p:nvPr>
            <p:ph type="body" idx="1"/>
          </p:nvPr>
        </p:nvSpPr>
        <p:spPr/>
        <p:txBody>
          <a:bodyPr wrap="square"/>
          <a:lstStyle/>
          <a:p>
            <a:r>
              <a:t>Six feeds live across three markets, two channels part-built, and five never switched 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lang="en-GB" dirty="0"/>
              <a:t>Service</a:t>
            </a:r>
            <a:r>
              <a:rPr dirty="0"/>
              <a:t> coverage</a:t>
            </a:r>
          </a:p>
        </p:txBody>
      </p:sp>
      <p:sp>
        <p:nvSpPr>
          <p:cNvPr id="3" name="Text Placeholder 2"/>
          <p:cNvSpPr>
            <a:spLocks noGrp="1"/>
          </p:cNvSpPr>
          <p:nvPr>
            <p:ph type="body" idx="11"/>
          </p:nvPr>
        </p:nvSpPr>
        <p:spPr/>
        <p:txBody>
          <a:bodyPr wrap="square"/>
          <a:lstStyle/>
          <a:p>
            <a:r>
              <a:rPr sz="1500"/>
              <a:t>Every state below is read from the channel's own feed where one exists, and from the project plan where it does not.</a:t>
            </a:r>
          </a:p>
        </p:txBody>
      </p:sp>
      <p:graphicFrame>
        <p:nvGraphicFramePr>
          <p:cNvPr id="5" name="Table 4"/>
          <p:cNvGraphicFramePr>
            <a:graphicFrameLocks noGrp="1"/>
          </p:cNvGraphicFramePr>
          <p:nvPr>
            <p:extLst>
              <p:ext uri="{D42A27DB-BD31-4B8C-83A1-F6EECF244321}">
                <p14:modId xmlns:p14="http://schemas.microsoft.com/office/powerpoint/2010/main" val="4060336090"/>
              </p:ext>
            </p:extLst>
          </p:nvPr>
        </p:nvGraphicFramePr>
        <p:xfrm>
          <a:off x="612648" y="1847088"/>
          <a:ext cx="10972799" cy="2943225"/>
        </p:xfrm>
        <a:graphic>
          <a:graphicData uri="http://schemas.openxmlformats.org/drawingml/2006/table">
            <a:tbl>
              <a:tblPr firstRow="1" bandRow="1">
                <a:tableStyleId>{5C22544A-7EE6-4342-B048-85BDC9FD1C3A}</a:tableStyleId>
              </a:tblPr>
              <a:tblGrid>
                <a:gridCol w="1693333">
                  <a:extLst>
                    <a:ext uri="{9D8B030D-6E8A-4147-A177-3AD203B41FA5}">
                      <a16:colId xmlns:a16="http://schemas.microsoft.com/office/drawing/2014/main" val="20000"/>
                    </a:ext>
                  </a:extLst>
                </a:gridCol>
                <a:gridCol w="1625600">
                  <a:extLst>
                    <a:ext uri="{9D8B030D-6E8A-4147-A177-3AD203B41FA5}">
                      <a16:colId xmlns:a16="http://schemas.microsoft.com/office/drawing/2014/main" val="20001"/>
                    </a:ext>
                  </a:extLst>
                </a:gridCol>
                <a:gridCol w="1557866">
                  <a:extLst>
                    <a:ext uri="{9D8B030D-6E8A-4147-A177-3AD203B41FA5}">
                      <a16:colId xmlns:a16="http://schemas.microsoft.com/office/drawing/2014/main" val="20002"/>
                    </a:ext>
                  </a:extLst>
                </a:gridCol>
                <a:gridCol w="6096000">
                  <a:extLst>
                    <a:ext uri="{9D8B030D-6E8A-4147-A177-3AD203B41FA5}">
                      <a16:colId xmlns:a16="http://schemas.microsoft.com/office/drawing/2014/main" val="20003"/>
                    </a:ext>
                  </a:extLst>
                </a:gridCol>
              </a:tblGrid>
              <a:tr h="384048">
                <a:tc>
                  <a:txBody>
                    <a:bodyPr/>
                    <a:lstStyle/>
                    <a:p>
                      <a:r>
                        <a:rPr sz="1300" b="1">
                          <a:solidFill>
                            <a:srgbClr val="FFFFFF"/>
                          </a:solidFill>
                        </a:rPr>
                        <a:t>Channel</a:t>
                      </a:r>
                    </a:p>
                  </a:txBody>
                  <a:tcPr/>
                </a:tc>
                <a:tc>
                  <a:txBody>
                    <a:bodyPr/>
                    <a:lstStyle/>
                    <a:p>
                      <a:r>
                        <a:rPr sz="1300" b="1">
                          <a:solidFill>
                            <a:srgbClr val="FFFFFF"/>
                          </a:solidFill>
                        </a:rPr>
                        <a:t>State</a:t>
                      </a:r>
                    </a:p>
                  </a:txBody>
                  <a:tcPr/>
                </a:tc>
                <a:tc>
                  <a:txBody>
                    <a:bodyPr/>
                    <a:lstStyle/>
                    <a:p>
                      <a:r>
                        <a:rPr sz="1300" b="1">
                          <a:solidFill>
                            <a:srgbClr val="FFFFFF"/>
                          </a:solidFill>
                        </a:rPr>
                        <a:t>Coverage</a:t>
                      </a:r>
                    </a:p>
                  </a:txBody>
                  <a:tcPr/>
                </a:tc>
                <a:tc>
                  <a:txBody>
                    <a:bodyPr/>
                    <a:lstStyle/>
                    <a:p>
                      <a:r>
                        <a:rPr sz="1300" b="1" dirty="0">
                          <a:solidFill>
                            <a:srgbClr val="FFFFFF"/>
                          </a:solidFill>
                        </a:rPr>
                        <a:t>What the evidence shows</a:t>
                      </a:r>
                    </a:p>
                  </a:txBody>
                  <a:tcPr/>
                </a:tc>
                <a:extLst>
                  <a:ext uri="{0D108BD9-81ED-4DB2-BD59-A6C34878D82A}">
                    <a16:rowId xmlns:a16="http://schemas.microsoft.com/office/drawing/2014/main" val="10000"/>
                  </a:ext>
                </a:extLst>
              </a:tr>
              <a:tr h="426339">
                <a:tc>
                  <a:txBody>
                    <a:bodyPr/>
                    <a:lstStyle/>
                    <a:p>
                      <a:r>
                        <a:rPr sz="1100"/>
                        <a:t>Google Shopping</a:t>
                      </a:r>
                    </a:p>
                  </a:txBody>
                  <a:tcPr/>
                </a:tc>
                <a:tc>
                  <a:txBody>
                    <a:bodyPr/>
                    <a:lstStyle/>
                    <a:p>
                      <a:r>
                        <a:rPr sz="1100"/>
                        <a:t>Optimised</a:t>
                      </a:r>
                    </a:p>
                  </a:txBody>
                  <a:tcPr/>
                </a:tc>
                <a:tc>
                  <a:txBody>
                    <a:bodyPr/>
                    <a:lstStyle/>
                    <a:p>
                      <a:r>
                        <a:rPr sz="1100"/>
                        <a:t>3 markets · 42,221 SKUs</a:t>
                      </a:r>
                    </a:p>
                  </a:txBody>
                  <a:tcPr/>
                </a:tc>
                <a:tc>
                  <a:txBody>
                    <a:bodyPr/>
                    <a:lstStyle/>
                    <a:p>
                      <a:r>
                        <a:rPr sz="1100" dirty="0"/>
                        <a:t>UK 21,055 · DE 10,606 · IE 10,560. Titles rewritten on 100% of all three; margin, stock and sale labelling live</a:t>
                      </a:r>
                    </a:p>
                  </a:txBody>
                  <a:tcPr/>
                </a:tc>
                <a:extLst>
                  <a:ext uri="{0D108BD9-81ED-4DB2-BD59-A6C34878D82A}">
                    <a16:rowId xmlns:a16="http://schemas.microsoft.com/office/drawing/2014/main" val="10001"/>
                  </a:ext>
                </a:extLst>
              </a:tr>
              <a:tr h="426339">
                <a:tc>
                  <a:txBody>
                    <a:bodyPr/>
                    <a:lstStyle/>
                    <a:p>
                      <a:r>
                        <a:rPr sz="1100"/>
                        <a:t>Meta / Commerce Manager</a:t>
                      </a:r>
                    </a:p>
                  </a:txBody>
                  <a:tcPr/>
                </a:tc>
                <a:tc>
                  <a:txBody>
                    <a:bodyPr/>
                    <a:lstStyle/>
                    <a:p>
                      <a:r>
                        <a:rPr sz="1100" b="1" dirty="0">
                          <a:solidFill>
                            <a:srgbClr val="2E7D32"/>
                          </a:solidFill>
                        </a:rPr>
                        <a:t>Live</a:t>
                      </a:r>
                    </a:p>
                  </a:txBody>
                  <a:tcPr/>
                </a:tc>
                <a:tc>
                  <a:txBody>
                    <a:bodyPr/>
                    <a:lstStyle/>
                    <a:p>
                      <a:r>
                        <a:rPr sz="1100" dirty="0"/>
                        <a:t>3 markets</a:t>
                      </a:r>
                      <a:endParaRPr sz="1100" dirty="0"/>
                    </a:p>
                  </a:txBody>
                  <a:tcPr/>
                </a:tc>
                <a:tc>
                  <a:txBody>
                    <a:bodyPr/>
                    <a:lstStyle/>
                    <a:p>
                      <a:r>
                        <a:rPr sz="1100" dirty="0"/>
                        <a:t>Own title rule (item type and </a:t>
                      </a:r>
                      <a:r>
                        <a:rPr sz="1100" dirty="0" err="1"/>
                        <a:t>colour</a:t>
                      </a:r>
                      <a:r>
                        <a:rPr sz="1100" dirty="0"/>
                        <a:t> stripped), sale custom label carried across, product-set structure aligned to product type</a:t>
                      </a:r>
                    </a:p>
                  </a:txBody>
                  <a:tcPr/>
                </a:tc>
                <a:extLst>
                  <a:ext uri="{0D108BD9-81ED-4DB2-BD59-A6C34878D82A}">
                    <a16:rowId xmlns:a16="http://schemas.microsoft.com/office/drawing/2014/main" val="10003"/>
                  </a:ext>
                </a:extLst>
              </a:tr>
              <a:tr h="426339">
                <a:tc>
                  <a:txBody>
                    <a:bodyPr/>
                    <a:lstStyle/>
                    <a:p>
                      <a:r>
                        <a:rPr sz="1100" dirty="0"/>
                        <a:t>LIA — Click &amp; Collect</a:t>
                      </a:r>
                    </a:p>
                  </a:txBody>
                  <a:tcPr/>
                </a:tc>
                <a:tc>
                  <a:txBody>
                    <a:bodyPr/>
                    <a:lstStyle/>
                    <a:p>
                      <a:r>
                        <a:rPr sz="1100" b="1" dirty="0">
                          <a:solidFill>
                            <a:srgbClr val="ED6F0B"/>
                          </a:solidFill>
                        </a:rPr>
                        <a:t>Awaiting Schuh dev</a:t>
                      </a:r>
                    </a:p>
                  </a:txBody>
                  <a:tcPr/>
                </a:tc>
                <a:tc>
                  <a:txBody>
                    <a:bodyPr/>
                    <a:lstStyle/>
                    <a:p>
                      <a:r>
                        <a:rPr sz="1100" b="1">
                          <a:solidFill>
                            <a:srgbClr val="2E7D32"/>
                          </a:solidFill>
                        </a:rPr>
                        <a:t>Not yet live</a:t>
                      </a:r>
                    </a:p>
                  </a:txBody>
                  <a:tcPr/>
                </a:tc>
                <a:tc>
                  <a:txBody>
                    <a:bodyPr/>
                    <a:lstStyle/>
                    <a:p>
                      <a:r>
                        <a:rPr sz="1100" dirty="0"/>
                        <a:t>Feed setup scoped and a separate </a:t>
                      </a:r>
                      <a:r>
                        <a:rPr sz="1100" dirty="0" err="1"/>
                        <a:t>PMax</a:t>
                      </a:r>
                      <a:r>
                        <a:rPr sz="1100" dirty="0"/>
                        <a:t> campaign agreed to cap traffic off the main one; waiting on Schuh's dev team to pick up GMC</a:t>
                      </a:r>
                    </a:p>
                  </a:txBody>
                  <a:tcPr/>
                </a:tc>
                <a:extLst>
                  <a:ext uri="{0D108BD9-81ED-4DB2-BD59-A6C34878D82A}">
                    <a16:rowId xmlns:a16="http://schemas.microsoft.com/office/drawing/2014/main" val="10005"/>
                  </a:ext>
                </a:extLst>
              </a:tr>
              <a:tr h="426339">
                <a:tc>
                  <a:txBody>
                    <a:bodyPr/>
                    <a:lstStyle/>
                    <a:p>
                      <a:r>
                        <a:rPr sz="1100" dirty="0"/>
                        <a:t>Social DPA overlays</a:t>
                      </a:r>
                    </a:p>
                  </a:txBody>
                  <a:tcPr/>
                </a:tc>
                <a:tc>
                  <a:txBody>
                    <a:bodyPr/>
                    <a:lstStyle/>
                    <a:p>
                      <a:r>
                        <a:rPr sz="1100" b="1">
                          <a:solidFill>
                            <a:srgbClr val="767676"/>
                          </a:solidFill>
                        </a:rPr>
                        <a:t>Open</a:t>
                      </a:r>
                    </a:p>
                  </a:txBody>
                  <a:tcPr/>
                </a:tc>
                <a:tc>
                  <a:txBody>
                    <a:bodyPr/>
                    <a:lstStyle/>
                    <a:p>
                      <a:r>
                        <a:rPr sz="1100"/>
                        <a:t>—</a:t>
                      </a:r>
                    </a:p>
                  </a:txBody>
                  <a:tcPr/>
                </a:tc>
                <a:tc>
                  <a:txBody>
                    <a:bodyPr/>
                    <a:lstStyle/>
                    <a:p>
                      <a:r>
                        <a:rPr sz="1100" dirty="0"/>
                        <a:t>Dynamic frames scoped for the Meta feeds, not yet built</a:t>
                      </a:r>
                    </a:p>
                  </a:txBody>
                  <a:tcPr/>
                </a:tc>
                <a:extLst>
                  <a:ext uri="{0D108BD9-81ED-4DB2-BD59-A6C34878D82A}">
                    <a16:rowId xmlns:a16="http://schemas.microsoft.com/office/drawing/2014/main" val="10006"/>
                  </a:ext>
                </a:extLst>
              </a:tr>
              <a:tr h="426339">
                <a:tc>
                  <a:txBody>
                    <a:bodyPr/>
                    <a:lstStyle/>
                    <a:p>
                      <a:r>
                        <a:rPr sz="1100" dirty="0"/>
                        <a:t>Microsoft / Bing Shopping</a:t>
                      </a:r>
                    </a:p>
                  </a:txBody>
                  <a:tcPr/>
                </a:tc>
                <a:tc>
                  <a:txBody>
                    <a:bodyPr/>
                    <a:lstStyle/>
                    <a:p>
                      <a:r>
                        <a:rPr sz="1100"/>
                        <a:t>Not in scope</a:t>
                      </a:r>
                    </a:p>
                  </a:txBody>
                  <a:tcPr/>
                </a:tc>
                <a:tc>
                  <a:txBody>
                    <a:bodyPr/>
                    <a:lstStyle/>
                    <a:p>
                      <a:r>
                        <a:rPr sz="1100"/>
                        <a:t>—</a:t>
                      </a:r>
                    </a:p>
                  </a:txBody>
                  <a:tcPr/>
                </a:tc>
                <a:tc>
                  <a:txBody>
                    <a:bodyPr/>
                    <a:lstStyle/>
                    <a:p>
                      <a:r>
                        <a:rPr sz="1100"/>
                        <a:t>No feed built and no activity today — an open opportunity</a:t>
                      </a:r>
                    </a:p>
                  </a:txBody>
                  <a:tcPr/>
                </a:tc>
                <a:extLst>
                  <a:ext uri="{0D108BD9-81ED-4DB2-BD59-A6C34878D82A}">
                    <a16:rowId xmlns:a16="http://schemas.microsoft.com/office/drawing/2014/main" val="10007"/>
                  </a:ext>
                </a:extLst>
              </a:tr>
              <a:tr h="426339">
                <a:tc>
                  <a:txBody>
                    <a:bodyPr/>
                    <a:lstStyle/>
                    <a:p>
                      <a:r>
                        <a:rPr sz="1100" dirty="0"/>
                        <a:t>Pinterest</a:t>
                      </a:r>
                    </a:p>
                  </a:txBody>
                  <a:tcPr/>
                </a:tc>
                <a:tc>
                  <a:txBody>
                    <a:bodyPr/>
                    <a:lstStyle/>
                    <a:p>
                      <a:r>
                        <a:rPr sz="1100"/>
                        <a:t>Not in scope</a:t>
                      </a:r>
                    </a:p>
                  </a:txBody>
                  <a:tcPr/>
                </a:tc>
                <a:tc>
                  <a:txBody>
                    <a:bodyPr/>
                    <a:lstStyle/>
                    <a:p>
                      <a:r>
                        <a:rPr sz="1100"/>
                        <a:t>—</a:t>
                      </a:r>
                    </a:p>
                  </a:txBody>
                  <a:tcPr/>
                </a:tc>
                <a:tc>
                  <a:txBody>
                    <a:bodyPr/>
                    <a:lstStyle/>
                    <a:p>
                      <a:r>
                        <a:rPr sz="1100" dirty="0"/>
                        <a:t>No feed built and no activity today — an open opportunity</a:t>
                      </a:r>
                    </a:p>
                  </a:txBody>
                  <a:tcPr/>
                </a:tc>
                <a:extLst>
                  <a:ext uri="{0D108BD9-81ED-4DB2-BD59-A6C34878D82A}">
                    <a16:rowId xmlns:a16="http://schemas.microsoft.com/office/drawing/2014/main" val="10008"/>
                  </a:ext>
                </a:extLst>
              </a:tr>
            </a:tbl>
          </a:graphicData>
        </a:graphic>
      </p:graphicFrame>
      <p:sp>
        <p:nvSpPr>
          <p:cNvPr id="4" name="TextBox 3">
            <a:extLst>
              <a:ext uri="{FF2B5EF4-FFF2-40B4-BE49-F238E27FC236}">
                <a16:creationId xmlns:a16="http://schemas.microsoft.com/office/drawing/2014/main" id="{55B820C2-34E6-931C-E198-B97431B58F0B}"/>
              </a:ext>
            </a:extLst>
          </p:cNvPr>
          <p:cNvSpPr txBox="1"/>
          <p:nvPr/>
        </p:nvSpPr>
        <p:spPr>
          <a:xfrm>
            <a:off x="735496" y="5844208"/>
            <a:ext cx="4899098" cy="292388"/>
          </a:xfrm>
          <a:prstGeom prst="rect">
            <a:avLst/>
          </a:prstGeom>
          <a:noFill/>
        </p:spPr>
        <p:txBody>
          <a:bodyPr wrap="none" rtlCol="0">
            <a:spAutoFit/>
          </a:bodyPr>
          <a:lstStyle/>
          <a:p>
            <a:r>
              <a:rPr lang="en-GB" sz="1300" dirty="0">
                <a:latin typeface="Interbody"/>
              </a:rPr>
              <a:t>Reexploring overlay on PPC following success from FY25 summer sale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r>
              <a:rPr dirty="0"/>
              <a:t>New products</a:t>
            </a:r>
            <a:r>
              <a:rPr lang="en-GB" dirty="0"/>
              <a:t> volume</a:t>
            </a:r>
            <a:endParaRPr dirty="0"/>
          </a:p>
        </p:txBody>
      </p:sp>
      <p:sp>
        <p:nvSpPr>
          <p:cNvPr id="4" name="TextBox 3">
            <a:extLst>
              <a:ext uri="{FF2B5EF4-FFF2-40B4-BE49-F238E27FC236}">
                <a16:creationId xmlns:a16="http://schemas.microsoft.com/office/drawing/2014/main" id="{509DB9FA-6576-13CB-7990-44E9E63D28F4}"/>
              </a:ext>
            </a:extLst>
          </p:cNvPr>
          <p:cNvSpPr txBox="1"/>
          <p:nvPr/>
        </p:nvSpPr>
        <p:spPr>
          <a:xfrm>
            <a:off x="728870" y="5849424"/>
            <a:ext cx="7136890" cy="292388"/>
          </a:xfrm>
          <a:prstGeom prst="rect">
            <a:avLst/>
          </a:prstGeom>
          <a:noFill/>
        </p:spPr>
        <p:txBody>
          <a:bodyPr wrap="none" rtlCol="0">
            <a:spAutoFit/>
          </a:bodyPr>
          <a:lstStyle/>
          <a:p>
            <a:r>
              <a:rPr lang="en-GB" sz="1300" dirty="0">
                <a:latin typeface="+mj-lt"/>
              </a:rPr>
              <a:t>42,221 Live SKUs (3 markets)  ·  2,353 New per month  ·  7,060 New per quarter  ·  28,240 New per year</a:t>
            </a:r>
          </a:p>
        </p:txBody>
      </p:sp>
      <p:pic>
        <p:nvPicPr>
          <p:cNvPr id="9" name="Picture 8">
            <a:extLst>
              <a:ext uri="{FF2B5EF4-FFF2-40B4-BE49-F238E27FC236}">
                <a16:creationId xmlns:a16="http://schemas.microsoft.com/office/drawing/2014/main" id="{0727DE6C-63EC-F103-E9DC-DC348484AADB}"/>
              </a:ext>
            </a:extLst>
          </p:cNvPr>
          <p:cNvPicPr>
            <a:picLocks noChangeAspect="1"/>
          </p:cNvPicPr>
          <p:nvPr/>
        </p:nvPicPr>
        <p:blipFill>
          <a:blip r:embed="rId2"/>
          <a:stretch>
            <a:fillRect/>
          </a:stretch>
        </p:blipFill>
        <p:spPr>
          <a:xfrm>
            <a:off x="609480" y="1313964"/>
            <a:ext cx="10973040" cy="421807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1"/>
          </p:nvPr>
        </p:nvSpPr>
        <p:spPr/>
        <p:txBody>
          <a:bodyPr wrap="square"/>
          <a:lstStyle/>
          <a:p>
            <a:r>
              <a:t>Chapter three</a:t>
            </a:r>
          </a:p>
        </p:txBody>
      </p:sp>
      <p:sp>
        <p:nvSpPr>
          <p:cNvPr id="3" name="Title 2"/>
          <p:cNvSpPr>
            <a:spLocks noGrp="1"/>
          </p:cNvSpPr>
          <p:nvPr>
            <p:ph type="title"/>
          </p:nvPr>
        </p:nvSpPr>
        <p:spPr/>
        <p:txBody>
          <a:bodyPr wrap="square"/>
          <a:lstStyle/>
          <a:p>
            <a:r>
              <a:t>Number of wins / results</a:t>
            </a:r>
          </a:p>
        </p:txBody>
      </p:sp>
      <p:sp>
        <p:nvSpPr>
          <p:cNvPr id="4" name="Text Placeholder 3"/>
          <p:cNvSpPr>
            <a:spLocks noGrp="1"/>
          </p:cNvSpPr>
          <p:nvPr>
            <p:ph type="body" idx="1"/>
          </p:nvPr>
        </p:nvSpPr>
        <p:spPr/>
        <p:txBody>
          <a:bodyPr wrap="square"/>
          <a:lstStyle/>
          <a:p>
            <a:r>
              <a:t>Eleven quantified tests in the archive — keyword optimisation wins seven times in nine, and both title-placement tests lost to control.</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dirty="0"/>
              <a:t>Number of wins / results</a:t>
            </a:r>
          </a:p>
        </p:txBody>
      </p:sp>
      <p:sp>
        <p:nvSpPr>
          <p:cNvPr id="3" name="Text Placeholder 2"/>
          <p:cNvSpPr>
            <a:spLocks noGrp="1"/>
          </p:cNvSpPr>
          <p:nvPr>
            <p:ph type="body" idx="13"/>
          </p:nvPr>
        </p:nvSpPr>
        <p:spPr/>
        <p:txBody>
          <a:bodyPr wrap="square"/>
          <a:lstStyle/>
          <a:p>
            <a:r>
              <a:rPr sz="1390" dirty="0"/>
              <a:t>Read from the A/B Test Archive: nine keyword tests, two title tests, every one with a logged figure.</a:t>
            </a:r>
          </a:p>
        </p:txBody>
      </p:sp>
      <p:sp>
        <p:nvSpPr>
          <p:cNvPr id="4" name="Text Placeholder 3"/>
          <p:cNvSpPr>
            <a:spLocks noGrp="1"/>
          </p:cNvSpPr>
          <p:nvPr>
            <p:ph type="body" idx="1"/>
          </p:nvPr>
        </p:nvSpPr>
        <p:spPr/>
        <p:txBody>
          <a:bodyPr wrap="square"/>
          <a:lstStyle/>
          <a:p>
            <a:r>
              <a:t>CSS retest returned no CPC benefit</a:t>
            </a:r>
          </a:p>
        </p:txBody>
      </p:sp>
      <p:sp>
        <p:nvSpPr>
          <p:cNvPr id="5" name="Text Placeholder 4"/>
          <p:cNvSpPr>
            <a:spLocks noGrp="1"/>
          </p:cNvSpPr>
          <p:nvPr>
            <p:ph type="body" idx="2"/>
          </p:nvPr>
        </p:nvSpPr>
        <p:spPr/>
        <p:txBody>
          <a:bodyPr wrap="square"/>
          <a:lstStyle/>
          <a:p>
            <a:r>
              <a:rPr sz="1500" dirty="0"/>
              <a:t>A split test, run as a retest rather than a first look, comparing the current CSS arrangement against Google's own. The read was clean and the answer was no measurable CPC advantage in the UK market.</a:t>
            </a:r>
          </a:p>
          <a:p>
            <a:r>
              <a:rPr sz="1500" dirty="0"/>
              <a:t>This is the most valuable result of the cycle. A negative read on a retest closes a question that would otherwise keep being reopened, and it redirects the CSS conversation from “which provider” to the feed restructure now open on the plan.</a:t>
            </a:r>
          </a:p>
        </p:txBody>
      </p:sp>
      <p:sp>
        <p:nvSpPr>
          <p:cNvPr id="6" name="Text Placeholder 5"/>
          <p:cNvSpPr>
            <a:spLocks noGrp="1"/>
          </p:cNvSpPr>
          <p:nvPr>
            <p:ph type="body" idx="3"/>
          </p:nvPr>
        </p:nvSpPr>
        <p:spPr/>
        <p:txBody>
          <a:bodyPr wrap="square"/>
          <a:lstStyle/>
          <a:p>
            <a:r>
              <a:rPr sz="1760"/>
              <a:t>Both title-placement tests lost to control</a:t>
            </a:r>
          </a:p>
        </p:txBody>
      </p:sp>
      <p:sp>
        <p:nvSpPr>
          <p:cNvPr id="7" name="Text Placeholder 6"/>
          <p:cNvSpPr>
            <a:spLocks noGrp="1"/>
          </p:cNvSpPr>
          <p:nvPr>
            <p:ph type="body" idx="4"/>
          </p:nvPr>
        </p:nvSpPr>
        <p:spPr/>
        <p:txBody>
          <a:bodyPr wrap="square"/>
          <a:lstStyle/>
          <a:p>
            <a:r>
              <a:rPr dirty="0"/>
              <a:t>Schuh vs non-Schuh branding returned −56.79% impressions; the size-format variant −44.62%. The current title structure beat both.
That is why the roadmap changes title LENGTH toward the MASK band rather than its composition — chapter 07.</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C1269-73A6-AADF-AFE5-C4AE6CC244B9}"/>
              </a:ext>
            </a:extLst>
          </p:cNvPr>
          <p:cNvSpPr>
            <a:spLocks noGrp="1"/>
          </p:cNvSpPr>
          <p:nvPr>
            <p:ph type="title"/>
          </p:nvPr>
        </p:nvSpPr>
        <p:spPr/>
        <p:txBody>
          <a:bodyPr/>
          <a:lstStyle/>
          <a:p>
            <a:r>
              <a:rPr lang="en-GB" dirty="0"/>
              <a:t>A/B Test Archive	</a:t>
            </a:r>
          </a:p>
        </p:txBody>
      </p:sp>
      <p:pic>
        <p:nvPicPr>
          <p:cNvPr id="7" name="Picture Placeholder 6">
            <a:extLst>
              <a:ext uri="{FF2B5EF4-FFF2-40B4-BE49-F238E27FC236}">
                <a16:creationId xmlns:a16="http://schemas.microsoft.com/office/drawing/2014/main" id="{F4416BCB-D2D8-2A26-F6D2-0186FAE4AFCE}"/>
              </a:ext>
            </a:extLst>
          </p:cNvPr>
          <p:cNvPicPr>
            <a:picLocks noGrp="1" noChangeAspect="1"/>
          </p:cNvPicPr>
          <p:nvPr>
            <p:ph type="pic" idx="1"/>
          </p:nvPr>
        </p:nvPicPr>
        <p:blipFill>
          <a:blip r:embed="rId2"/>
          <a:srcRect t="15062" b="15062"/>
          <a:stretch/>
        </p:blipFill>
        <p:spPr>
          <a:prstGeom prst="roundRect">
            <a:avLst>
              <a:gd name="adj" fmla="val 4500"/>
            </a:avLst>
          </a:prstGeom>
          <a:solidFill>
            <a:srgbClr val="F8FAFC"/>
          </a:solidFill>
          <a:ln w="12700">
            <a:solidFill>
              <a:srgbClr val="E2E8F0"/>
            </a:solidFill>
          </a:ln>
        </p:spPr>
      </p:pic>
      <p:sp>
        <p:nvSpPr>
          <p:cNvPr id="5" name="Text Placeholder 4">
            <a:extLst>
              <a:ext uri="{FF2B5EF4-FFF2-40B4-BE49-F238E27FC236}">
                <a16:creationId xmlns:a16="http://schemas.microsoft.com/office/drawing/2014/main" id="{674012A9-DDD8-CBDC-A1A8-CE26FECA1825}"/>
              </a:ext>
            </a:extLst>
          </p:cNvPr>
          <p:cNvSpPr>
            <a:spLocks noGrp="1"/>
          </p:cNvSpPr>
          <p:nvPr>
            <p:ph type="body" idx="14"/>
          </p:nvPr>
        </p:nvSpPr>
        <p:spPr/>
        <p:txBody>
          <a:bodyPr/>
          <a:lstStyle/>
          <a:p>
            <a:r>
              <a:rPr lang="en-GB" dirty="0"/>
              <a:t>Keywords Optimisation consistently wins – continuing theme granularity with Marketing Calendar</a:t>
            </a:r>
          </a:p>
        </p:txBody>
      </p:sp>
      <p:pic>
        <p:nvPicPr>
          <p:cNvPr id="11" name="Picture 10">
            <a:extLst>
              <a:ext uri="{FF2B5EF4-FFF2-40B4-BE49-F238E27FC236}">
                <a16:creationId xmlns:a16="http://schemas.microsoft.com/office/drawing/2014/main" id="{359F65B1-72E9-AC3E-689A-45122741297E}"/>
              </a:ext>
            </a:extLst>
          </p:cNvPr>
          <p:cNvPicPr>
            <a:picLocks noChangeAspect="1"/>
          </p:cNvPicPr>
          <p:nvPr/>
        </p:nvPicPr>
        <p:blipFill>
          <a:blip r:embed="rId3"/>
          <a:stretch>
            <a:fillRect/>
          </a:stretch>
        </p:blipFill>
        <p:spPr>
          <a:xfrm>
            <a:off x="6418297" y="1500000"/>
            <a:ext cx="5164223" cy="859378"/>
          </a:xfrm>
          <a:prstGeom prst="rect">
            <a:avLst/>
          </a:prstGeom>
        </p:spPr>
      </p:pic>
    </p:spTree>
    <p:extLst>
      <p:ext uri="{BB962C8B-B14F-4D97-AF65-F5344CB8AC3E}">
        <p14:creationId xmlns:p14="http://schemas.microsoft.com/office/powerpoint/2010/main" val="69199286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1"/>
          </p:nvPr>
        </p:nvSpPr>
        <p:spPr/>
        <p:txBody>
          <a:bodyPr wrap="square"/>
          <a:lstStyle/>
          <a:p>
            <a:r>
              <a:t>Chapter four</a:t>
            </a:r>
          </a:p>
        </p:txBody>
      </p:sp>
      <p:sp>
        <p:nvSpPr>
          <p:cNvPr id="3" name="Title 2"/>
          <p:cNvSpPr>
            <a:spLocks noGrp="1"/>
          </p:cNvSpPr>
          <p:nvPr>
            <p:ph type="title"/>
          </p:nvPr>
        </p:nvSpPr>
        <p:spPr/>
        <p:txBody>
          <a:bodyPr wrap="square">
            <a:normAutofit fontScale="90000"/>
          </a:bodyPr>
          <a:lstStyle/>
          <a:p>
            <a:r>
              <a:rPr dirty="0"/>
              <a:t>Feed optimisation score</a:t>
            </a:r>
            <a:br>
              <a:rPr lang="en-GB" dirty="0"/>
            </a:br>
            <a:r>
              <a:rPr lang="en-GB" dirty="0"/>
              <a:t>(let’s dissect real-time!)</a:t>
            </a:r>
            <a:endParaRPr dirty="0"/>
          </a:p>
        </p:txBody>
      </p:sp>
      <p:sp>
        <p:nvSpPr>
          <p:cNvPr id="4" name="Text Placeholder 3"/>
          <p:cNvSpPr>
            <a:spLocks noGrp="1"/>
          </p:cNvSpPr>
          <p:nvPr>
            <p:ph type="body" idx="1"/>
          </p:nvPr>
        </p:nvSpPr>
        <p:spPr/>
        <p:txBody>
          <a:bodyPr wrap="square"/>
          <a:lstStyle/>
          <a:p>
            <a:r>
              <a:rPr dirty="0"/>
              <a:t>74 out of 100. The foundations are near-perfect; three lanes carry almost all of the remaining gap.</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lang="en-GB" dirty="0"/>
              <a:t>Required Attributes (Footwear)</a:t>
            </a:r>
            <a:endParaRPr dirty="0"/>
          </a:p>
        </p:txBody>
      </p:sp>
      <p:sp>
        <p:nvSpPr>
          <p:cNvPr id="4" name="Text Placeholder 3"/>
          <p:cNvSpPr>
            <a:spLocks noGrp="1"/>
          </p:cNvSpPr>
          <p:nvPr>
            <p:ph type="body" idx="1"/>
          </p:nvPr>
        </p:nvSpPr>
        <p:spPr/>
        <p:txBody>
          <a:bodyPr wrap="square"/>
          <a:lstStyle/>
          <a:p>
            <a:r>
              <a:rPr lang="en-GB" sz="1800" dirty="0"/>
              <a:t>99.9% completeness</a:t>
            </a:r>
          </a:p>
        </p:txBody>
      </p:sp>
      <p:sp>
        <p:nvSpPr>
          <p:cNvPr id="5" name="Text Placeholder 4"/>
          <p:cNvSpPr>
            <a:spLocks noGrp="1"/>
          </p:cNvSpPr>
          <p:nvPr>
            <p:ph type="body" idx="2"/>
          </p:nvPr>
        </p:nvSpPr>
        <p:spPr/>
        <p:txBody>
          <a:bodyPr wrap="square"/>
          <a:lstStyle/>
          <a:p>
            <a:r>
              <a:rPr lang="en-GB" dirty="0"/>
              <a:t>All </a:t>
            </a:r>
            <a:r>
              <a:rPr lang="en-GB" b="1" dirty="0"/>
              <a:t>7 required attributes</a:t>
            </a:r>
            <a:r>
              <a:rPr lang="en-GB" dirty="0"/>
              <a:t> present.</a:t>
            </a:r>
          </a:p>
          <a:p>
            <a:r>
              <a:rPr/>
              <a:t>Germany is running a different title engine.</a:t>
            </a:r>
          </a:p>
          <a:p>
            <a:r>
              <a:rPr/>
              <a:t>The UK and Ireland share one: Ireland inherits UK titles on 99.2% of its catalogue. Germany runs “Google product name” on 88.1% instead, and it is the only market where description enrichment has never run at all — 0%, against 100% in the UK.</a:t>
            </a:r>
          </a:p>
        </p:txBody>
      </p:sp>
      <p:sp>
        <p:nvSpPr>
          <p:cNvPr id="8" name="Text Placeholder 7"/>
          <p:cNvSpPr>
            <a:spLocks noGrp="1"/>
          </p:cNvSpPr>
          <p:nvPr>
            <p:ph type="body" idx="14"/>
          </p:nvPr>
        </p:nvSpPr>
        <p:spPr/>
        <p:txBody>
          <a:bodyPr wrap="square">
            <a:normAutofit/>
          </a:bodyPr>
          <a:lstStyle/>
          <a:p>
            <a:r>
              <a:rPr lang="en-GB" dirty="0"/>
              <a:t>Data Foundational level is strong!</a:t>
            </a:r>
            <a:endParaRPr dirty="0"/>
          </a:p>
        </p:txBody>
      </p:sp>
      <p:pic>
        <p:nvPicPr>
          <p:cNvPr id="17" name="Picture 16">
            <a:extLst>
              <a:ext uri="{FF2B5EF4-FFF2-40B4-BE49-F238E27FC236}">
                <a16:creationId xmlns:a16="http://schemas.microsoft.com/office/drawing/2014/main" id="{3A3F9FF1-DAD1-6D49-DFD8-1290A8D3A045}"/>
              </a:ext>
            </a:extLst>
          </p:cNvPr>
          <p:cNvPicPr>
            <a:picLocks noChangeAspect="1"/>
          </p:cNvPicPr>
          <p:nvPr/>
        </p:nvPicPr>
        <p:blipFill>
          <a:blip r:embed="rId2"/>
          <a:stretch>
            <a:fillRect/>
          </a:stretch>
        </p:blipFill>
        <p:spPr>
          <a:xfrm>
            <a:off x="5983141" y="1737350"/>
            <a:ext cx="5956309" cy="371475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BAFABF-788B-761E-5F27-88375DEF8B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56E51F-FE1D-9E6C-5788-4B91C0F60E2B}"/>
              </a:ext>
            </a:extLst>
          </p:cNvPr>
          <p:cNvSpPr>
            <a:spLocks noGrp="1"/>
          </p:cNvSpPr>
          <p:nvPr>
            <p:ph type="title"/>
          </p:nvPr>
        </p:nvSpPr>
        <p:spPr/>
        <p:txBody>
          <a:bodyPr wrap="square"/>
          <a:lstStyle/>
          <a:p>
            <a:r>
              <a:rPr lang="en-GB" dirty="0"/>
              <a:t>Recommended Attributes (Footwear)</a:t>
            </a:r>
            <a:endParaRPr dirty="0"/>
          </a:p>
        </p:txBody>
      </p:sp>
      <p:sp>
        <p:nvSpPr>
          <p:cNvPr id="4" name="Text Placeholder 3">
            <a:extLst>
              <a:ext uri="{FF2B5EF4-FFF2-40B4-BE49-F238E27FC236}">
                <a16:creationId xmlns:a16="http://schemas.microsoft.com/office/drawing/2014/main" id="{E51B9EF0-6398-54D9-EB74-AD6EE52B46EA}"/>
              </a:ext>
            </a:extLst>
          </p:cNvPr>
          <p:cNvSpPr>
            <a:spLocks noGrp="1"/>
          </p:cNvSpPr>
          <p:nvPr>
            <p:ph type="body" idx="1"/>
          </p:nvPr>
        </p:nvSpPr>
        <p:spPr/>
        <p:txBody>
          <a:bodyPr wrap="square"/>
          <a:lstStyle/>
          <a:p>
            <a:r>
              <a:rPr lang="en-GB" sz="1760" dirty="0"/>
              <a:t>53.2% completeness</a:t>
            </a:r>
            <a:endParaRPr sz="1760" dirty="0"/>
          </a:p>
        </p:txBody>
      </p:sp>
      <p:sp>
        <p:nvSpPr>
          <p:cNvPr id="5" name="Text Placeholder 4">
            <a:extLst>
              <a:ext uri="{FF2B5EF4-FFF2-40B4-BE49-F238E27FC236}">
                <a16:creationId xmlns:a16="http://schemas.microsoft.com/office/drawing/2014/main" id="{CC760912-2A17-2215-4AB6-65FDB2E81198}"/>
              </a:ext>
            </a:extLst>
          </p:cNvPr>
          <p:cNvSpPr>
            <a:spLocks noGrp="1"/>
          </p:cNvSpPr>
          <p:nvPr>
            <p:ph type="body" idx="2"/>
          </p:nvPr>
        </p:nvSpPr>
        <p:spPr/>
        <p:txBody>
          <a:bodyPr wrap="square"/>
          <a:lstStyle/>
          <a:p>
            <a:r>
              <a:rPr lang="en-GB" dirty="0"/>
              <a:t>Heavy back-fill recommendations for:</a:t>
            </a:r>
          </a:p>
          <a:p>
            <a:pPr marL="285750" indent="-285750">
              <a:buFont typeface="Arial" panose="020B0604020202020204" pitchFamily="34" charset="0"/>
              <a:buChar char="•"/>
            </a:pPr>
            <a:r>
              <a:rPr lang="en-GB" dirty="0"/>
              <a:t>Material </a:t>
            </a:r>
          </a:p>
          <a:p>
            <a:pPr marL="285750" indent="-285750">
              <a:buFont typeface="Arial" panose="020B0604020202020204" pitchFamily="34" charset="0"/>
              <a:buChar char="•"/>
            </a:pPr>
            <a:r>
              <a:rPr lang="en-GB" dirty="0"/>
              <a:t>Pattern</a:t>
            </a:r>
          </a:p>
        </p:txBody>
      </p:sp>
      <p:sp>
        <p:nvSpPr>
          <p:cNvPr id="8" name="Text Placeholder 7">
            <a:extLst>
              <a:ext uri="{FF2B5EF4-FFF2-40B4-BE49-F238E27FC236}">
                <a16:creationId xmlns:a16="http://schemas.microsoft.com/office/drawing/2014/main" id="{9D18A460-D0B6-9CD1-0664-A765F43F5073}"/>
              </a:ext>
            </a:extLst>
          </p:cNvPr>
          <p:cNvSpPr>
            <a:spLocks noGrp="1"/>
          </p:cNvSpPr>
          <p:nvPr>
            <p:ph type="body" idx="14"/>
          </p:nvPr>
        </p:nvSpPr>
        <p:spPr/>
        <p:txBody>
          <a:bodyPr wrap="square"/>
          <a:lstStyle/>
          <a:p>
            <a:r>
              <a:rPr lang="en-GB" sz="1140" dirty="0"/>
              <a:t>Product-Type depth is optimal! (3–4 levels deep, &gt; industry standard benchmark)</a:t>
            </a:r>
            <a:endParaRPr sz="1140" dirty="0"/>
          </a:p>
        </p:txBody>
      </p:sp>
      <p:pic>
        <p:nvPicPr>
          <p:cNvPr id="13" name="Picture 12">
            <a:extLst>
              <a:ext uri="{FF2B5EF4-FFF2-40B4-BE49-F238E27FC236}">
                <a16:creationId xmlns:a16="http://schemas.microsoft.com/office/drawing/2014/main" id="{8DDA1F8B-43A3-BA7B-3853-F770E29CD19D}"/>
              </a:ext>
            </a:extLst>
          </p:cNvPr>
          <p:cNvPicPr>
            <a:picLocks noChangeAspect="1"/>
          </p:cNvPicPr>
          <p:nvPr/>
        </p:nvPicPr>
        <p:blipFill>
          <a:blip r:embed="rId2"/>
          <a:stretch>
            <a:fillRect/>
          </a:stretch>
        </p:blipFill>
        <p:spPr>
          <a:xfrm>
            <a:off x="5950992" y="1698000"/>
            <a:ext cx="6241008" cy="3814526"/>
          </a:xfrm>
          <a:prstGeom prst="rect">
            <a:avLst/>
          </a:prstGeom>
        </p:spPr>
      </p:pic>
      <p:pic>
        <p:nvPicPr>
          <p:cNvPr id="15" name="Picture 14">
            <a:extLst>
              <a:ext uri="{FF2B5EF4-FFF2-40B4-BE49-F238E27FC236}">
                <a16:creationId xmlns:a16="http://schemas.microsoft.com/office/drawing/2014/main" id="{B81703E2-E0ED-4508-CCA7-8E13670A3E24}"/>
              </a:ext>
            </a:extLst>
          </p:cNvPr>
          <p:cNvPicPr>
            <a:picLocks noChangeAspect="1"/>
          </p:cNvPicPr>
          <p:nvPr/>
        </p:nvPicPr>
        <p:blipFill>
          <a:blip r:embed="rId3"/>
          <a:srcRect l="1769" r="1168" b="2894"/>
          <a:stretch>
            <a:fillRect/>
          </a:stretch>
        </p:blipFill>
        <p:spPr>
          <a:xfrm>
            <a:off x="985191" y="3562245"/>
            <a:ext cx="4156321" cy="1629187"/>
          </a:xfrm>
          <a:prstGeom prst="rect">
            <a:avLst/>
          </a:prstGeom>
        </p:spPr>
      </p:pic>
    </p:spTree>
    <p:extLst>
      <p:ext uri="{BB962C8B-B14F-4D97-AF65-F5344CB8AC3E}">
        <p14:creationId xmlns:p14="http://schemas.microsoft.com/office/powerpoint/2010/main" val="330289772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862829-F413-1CAE-44A0-CAA99A7BA9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595852-E435-DDA8-F747-27291E44862D}"/>
              </a:ext>
            </a:extLst>
          </p:cNvPr>
          <p:cNvSpPr>
            <a:spLocks noGrp="1"/>
          </p:cNvSpPr>
          <p:nvPr>
            <p:ph type="title"/>
          </p:nvPr>
        </p:nvSpPr>
        <p:spPr/>
        <p:txBody>
          <a:bodyPr wrap="square"/>
          <a:lstStyle/>
          <a:p>
            <a:r>
              <a:rPr lang="en-GB" dirty="0"/>
              <a:t>Content Quality  </a:t>
            </a:r>
            <a:endParaRPr dirty="0"/>
          </a:p>
        </p:txBody>
      </p:sp>
      <p:sp>
        <p:nvSpPr>
          <p:cNvPr id="4" name="Text Placeholder 3">
            <a:extLst>
              <a:ext uri="{FF2B5EF4-FFF2-40B4-BE49-F238E27FC236}">
                <a16:creationId xmlns:a16="http://schemas.microsoft.com/office/drawing/2014/main" id="{53E07B46-7CEB-C60C-3F63-862E1AAE64ED}"/>
              </a:ext>
            </a:extLst>
          </p:cNvPr>
          <p:cNvSpPr>
            <a:spLocks noGrp="1"/>
          </p:cNvSpPr>
          <p:nvPr>
            <p:ph type="body" idx="1"/>
          </p:nvPr>
        </p:nvSpPr>
        <p:spPr/>
        <p:txBody>
          <a:bodyPr wrap="square"/>
          <a:lstStyle/>
          <a:p>
            <a:r>
              <a:rPr lang="en-GB" sz="1760" dirty="0"/>
              <a:t>91.6 / 100 content score</a:t>
            </a:r>
            <a:endParaRPr sz="1760" dirty="0"/>
          </a:p>
        </p:txBody>
      </p:sp>
      <p:sp>
        <p:nvSpPr>
          <p:cNvPr id="5" name="Text Placeholder 4">
            <a:extLst>
              <a:ext uri="{FF2B5EF4-FFF2-40B4-BE49-F238E27FC236}">
                <a16:creationId xmlns:a16="http://schemas.microsoft.com/office/drawing/2014/main" id="{1C72F187-6E45-DF92-5CF9-B95F72370306}"/>
              </a:ext>
            </a:extLst>
          </p:cNvPr>
          <p:cNvSpPr>
            <a:spLocks noGrp="1"/>
          </p:cNvSpPr>
          <p:nvPr>
            <p:ph type="body" idx="2"/>
          </p:nvPr>
        </p:nvSpPr>
        <p:spPr/>
        <p:txBody>
          <a:bodyPr wrap="square"/>
          <a:lstStyle/>
          <a:p>
            <a:r>
              <a:rPr lang="en-GB" dirty="0"/>
              <a:t>Improvement recommendations:</a:t>
            </a:r>
          </a:p>
          <a:p>
            <a:pPr marL="285750" indent="-285750">
              <a:buFont typeface="Arial" panose="020B0604020202020204" pitchFamily="34" charset="0"/>
              <a:buChar char="•"/>
            </a:pPr>
            <a:r>
              <a:rPr lang="en-GB" dirty="0"/>
              <a:t>Duplicated titles (Nike, Converse range..)</a:t>
            </a:r>
          </a:p>
          <a:p>
            <a:pPr marL="285750" indent="-285750">
              <a:buFont typeface="Arial" panose="020B0604020202020204" pitchFamily="34" charset="0"/>
              <a:buChar char="•"/>
            </a:pPr>
            <a:r>
              <a:rPr lang="en-GB" dirty="0"/>
              <a:t>Short Titles (&lt; 30 char)</a:t>
            </a:r>
          </a:p>
          <a:p>
            <a:endParaRPr lang="en-GB" dirty="0"/>
          </a:p>
        </p:txBody>
      </p:sp>
      <p:sp>
        <p:nvSpPr>
          <p:cNvPr id="8" name="Text Placeholder 7">
            <a:extLst>
              <a:ext uri="{FF2B5EF4-FFF2-40B4-BE49-F238E27FC236}">
                <a16:creationId xmlns:a16="http://schemas.microsoft.com/office/drawing/2014/main" id="{55D51F7B-DF83-4B81-5E0C-A686DBEC7ECB}"/>
              </a:ext>
            </a:extLst>
          </p:cNvPr>
          <p:cNvSpPr>
            <a:spLocks noGrp="1"/>
          </p:cNvSpPr>
          <p:nvPr>
            <p:ph type="body" idx="14"/>
          </p:nvPr>
        </p:nvSpPr>
        <p:spPr/>
        <p:txBody>
          <a:bodyPr wrap="square"/>
          <a:lstStyle/>
          <a:p>
            <a:r>
              <a:rPr lang="en-GB" sz="1140" dirty="0"/>
              <a:t>Content score hits 91.6 / 100 — the key part is to fill up Material &amp; Pattern to as fully as possible !</a:t>
            </a:r>
            <a:endParaRPr sz="1140" dirty="0"/>
          </a:p>
        </p:txBody>
      </p:sp>
      <p:pic>
        <p:nvPicPr>
          <p:cNvPr id="10" name="Picture 9">
            <a:extLst>
              <a:ext uri="{FF2B5EF4-FFF2-40B4-BE49-F238E27FC236}">
                <a16:creationId xmlns:a16="http://schemas.microsoft.com/office/drawing/2014/main" id="{7AA8AA1F-C188-6157-47C7-AF7646B78E8A}"/>
              </a:ext>
            </a:extLst>
          </p:cNvPr>
          <p:cNvPicPr>
            <a:picLocks noChangeAspect="1"/>
          </p:cNvPicPr>
          <p:nvPr/>
        </p:nvPicPr>
        <p:blipFill>
          <a:blip r:embed="rId2"/>
          <a:stretch>
            <a:fillRect/>
          </a:stretch>
        </p:blipFill>
        <p:spPr>
          <a:xfrm>
            <a:off x="5998624" y="1618000"/>
            <a:ext cx="5887272" cy="3896269"/>
          </a:xfrm>
          <a:prstGeom prst="rect">
            <a:avLst/>
          </a:prstGeom>
        </p:spPr>
      </p:pic>
    </p:spTree>
    <p:extLst>
      <p:ext uri="{BB962C8B-B14F-4D97-AF65-F5344CB8AC3E}">
        <p14:creationId xmlns:p14="http://schemas.microsoft.com/office/powerpoint/2010/main" val="36012098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1"/>
          </p:nvPr>
        </p:nvSpPr>
        <p:spPr/>
        <p:txBody>
          <a:bodyPr wrap="square"/>
          <a:lstStyle/>
          <a:p>
            <a:r>
              <a:t>Chapter five</a:t>
            </a:r>
          </a:p>
        </p:txBody>
      </p:sp>
      <p:sp>
        <p:nvSpPr>
          <p:cNvPr id="3" name="Title 2"/>
          <p:cNvSpPr>
            <a:spLocks noGrp="1"/>
          </p:cNvSpPr>
          <p:nvPr>
            <p:ph type="title"/>
          </p:nvPr>
        </p:nvSpPr>
        <p:spPr/>
        <p:txBody>
          <a:bodyPr wrap="square"/>
          <a:lstStyle/>
          <a:p>
            <a:r>
              <a:rPr dirty="0"/>
              <a:t>AI readiness</a:t>
            </a:r>
          </a:p>
        </p:txBody>
      </p:sp>
      <p:sp>
        <p:nvSpPr>
          <p:cNvPr id="4" name="Text Placeholder 3"/>
          <p:cNvSpPr>
            <a:spLocks noGrp="1"/>
          </p:cNvSpPr>
          <p:nvPr>
            <p:ph type="body" idx="1"/>
          </p:nvPr>
        </p:nvSpPr>
        <p:spPr/>
        <p:txBody>
          <a:bodyPr wrap="square"/>
          <a:lstStyle/>
          <a:p>
            <a:r>
              <a:t>Tier 2 reached in the UK, and in the UK only — two conversational attributes are already live on every British SKU.</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dirty="0"/>
              <a:t>Google conversational attributes</a:t>
            </a:r>
          </a:p>
        </p:txBody>
      </p:sp>
      <p:sp>
        <p:nvSpPr>
          <p:cNvPr id="3" name="Text Placeholder 2"/>
          <p:cNvSpPr>
            <a:spLocks noGrp="1"/>
          </p:cNvSpPr>
          <p:nvPr>
            <p:ph type="body" idx="11"/>
          </p:nvPr>
        </p:nvSpPr>
        <p:spPr>
          <a:xfrm>
            <a:off x="609480" y="1115010"/>
            <a:ext cx="10973040" cy="430000"/>
          </a:xfrm>
        </p:spPr>
        <p:txBody>
          <a:bodyPr wrap="square">
            <a:noAutofit/>
          </a:bodyPr>
          <a:lstStyle/>
          <a:p>
            <a:r>
              <a:rPr lang="en-GB" sz="1390" dirty="0"/>
              <a:t>question_and_answer is the highest-value attribute and the highest-risk one for a footwear retailer. </a:t>
            </a:r>
            <a:endParaRPr sz="1390" dirty="0"/>
          </a:p>
        </p:txBody>
      </p:sp>
      <p:graphicFrame>
        <p:nvGraphicFramePr>
          <p:cNvPr id="5" name="Table 4"/>
          <p:cNvGraphicFramePr>
            <a:graphicFrameLocks noGrp="1"/>
          </p:cNvGraphicFramePr>
          <p:nvPr>
            <p:extLst>
              <p:ext uri="{D42A27DB-BD31-4B8C-83A1-F6EECF244321}">
                <p14:modId xmlns:p14="http://schemas.microsoft.com/office/powerpoint/2010/main" val="3903918437"/>
              </p:ext>
            </p:extLst>
          </p:nvPr>
        </p:nvGraphicFramePr>
        <p:xfrm>
          <a:off x="612648" y="1847088"/>
          <a:ext cx="10972798" cy="3794760"/>
        </p:xfrm>
        <a:graphic>
          <a:graphicData uri="http://schemas.openxmlformats.org/drawingml/2006/table">
            <a:tbl>
              <a:tblPr firstRow="1" bandRow="1">
                <a:tableStyleId>{5C22544A-7EE6-4342-B048-85BDC9FD1C3A}</a:tableStyleId>
              </a:tblPr>
              <a:tblGrid>
                <a:gridCol w="1510474">
                  <a:extLst>
                    <a:ext uri="{9D8B030D-6E8A-4147-A177-3AD203B41FA5}">
                      <a16:colId xmlns:a16="http://schemas.microsoft.com/office/drawing/2014/main" val="20000"/>
                    </a:ext>
                  </a:extLst>
                </a:gridCol>
                <a:gridCol w="769149">
                  <a:extLst>
                    <a:ext uri="{9D8B030D-6E8A-4147-A177-3AD203B41FA5}">
                      <a16:colId xmlns:a16="http://schemas.microsoft.com/office/drawing/2014/main" val="20001"/>
                    </a:ext>
                  </a:extLst>
                </a:gridCol>
                <a:gridCol w="769149">
                  <a:extLst>
                    <a:ext uri="{9D8B030D-6E8A-4147-A177-3AD203B41FA5}">
                      <a16:colId xmlns:a16="http://schemas.microsoft.com/office/drawing/2014/main" val="20002"/>
                    </a:ext>
                  </a:extLst>
                </a:gridCol>
                <a:gridCol w="769149">
                  <a:extLst>
                    <a:ext uri="{9D8B030D-6E8A-4147-A177-3AD203B41FA5}">
                      <a16:colId xmlns:a16="http://schemas.microsoft.com/office/drawing/2014/main" val="20003"/>
                    </a:ext>
                  </a:extLst>
                </a:gridCol>
                <a:gridCol w="7154877">
                  <a:extLst>
                    <a:ext uri="{9D8B030D-6E8A-4147-A177-3AD203B41FA5}">
                      <a16:colId xmlns:a16="http://schemas.microsoft.com/office/drawing/2014/main" val="20004"/>
                    </a:ext>
                  </a:extLst>
                </a:gridCol>
              </a:tblGrid>
              <a:tr h="384048">
                <a:tc>
                  <a:txBody>
                    <a:bodyPr/>
                    <a:lstStyle/>
                    <a:p>
                      <a:r>
                        <a:rPr sz="1300" b="1">
                          <a:solidFill>
                            <a:srgbClr val="FFFFFF"/>
                          </a:solidFill>
                        </a:rPr>
                        <a:t>Attribute</a:t>
                      </a:r>
                    </a:p>
                  </a:txBody>
                  <a:tcPr/>
                </a:tc>
                <a:tc>
                  <a:txBody>
                    <a:bodyPr/>
                    <a:lstStyle/>
                    <a:p>
                      <a:r>
                        <a:rPr sz="1300" b="1">
                          <a:solidFill>
                            <a:srgbClr val="FFFFFF"/>
                          </a:solidFill>
                        </a:rPr>
                        <a:t>UK</a:t>
                      </a:r>
                    </a:p>
                  </a:txBody>
                  <a:tcPr/>
                </a:tc>
                <a:tc>
                  <a:txBody>
                    <a:bodyPr/>
                    <a:lstStyle/>
                    <a:p>
                      <a:r>
                        <a:rPr sz="1300" b="1" dirty="0">
                          <a:solidFill>
                            <a:srgbClr val="FFFFFF"/>
                          </a:solidFill>
                        </a:rPr>
                        <a:t>Germany</a:t>
                      </a:r>
                      <a:endParaRPr sz="1300" b="1" dirty="0">
                        <a:solidFill>
                          <a:srgbClr val="FFFFFF"/>
                        </a:solidFill>
                      </a:endParaRPr>
                    </a:p>
                  </a:txBody>
                  <a:tcPr/>
                </a:tc>
                <a:tc>
                  <a:txBody>
                    <a:bodyPr/>
                    <a:lstStyle/>
                    <a:p>
                      <a:r>
                        <a:rPr sz="1300" b="1">
                          <a:solidFill>
                            <a:srgbClr val="FFFFFF"/>
                          </a:solidFill>
                        </a:rPr>
                        <a:t>Ireland</a:t>
                      </a:r>
                    </a:p>
                  </a:txBody>
                  <a:tcPr/>
                </a:tc>
                <a:tc>
                  <a:txBody>
                    <a:bodyPr/>
                    <a:lstStyle/>
                    <a:p>
                      <a:r>
                        <a:rPr sz="1300" b="1">
                          <a:solidFill>
                            <a:srgbClr val="FFFFFF"/>
                          </a:solidFill>
                        </a:rPr>
                        <a:t>Status</a:t>
                      </a:r>
                    </a:p>
                  </a:txBody>
                  <a:tcPr/>
                </a:tc>
                <a:extLst>
                  <a:ext uri="{0D108BD9-81ED-4DB2-BD59-A6C34878D82A}">
                    <a16:rowId xmlns:a16="http://schemas.microsoft.com/office/drawing/2014/main" val="10000"/>
                  </a:ext>
                </a:extLst>
              </a:tr>
              <a:tr h="568452">
                <a:tc>
                  <a:txBody>
                    <a:bodyPr/>
                    <a:lstStyle/>
                    <a:p>
                      <a:r>
                        <a:rPr sz="1100"/>
                        <a:t>item_group_title</a:t>
                      </a:r>
                    </a:p>
                  </a:txBody>
                  <a:tcPr/>
                </a:tc>
                <a:tc>
                  <a:txBody>
                    <a:bodyPr/>
                    <a:lstStyle/>
                    <a:p>
                      <a:r>
                        <a:rPr sz="1100"/>
                        <a:t>100%</a:t>
                      </a:r>
                    </a:p>
                  </a:txBody>
                  <a:tcPr/>
                </a:tc>
                <a:tc>
                  <a:txBody>
                    <a:bodyPr/>
                    <a:lstStyle/>
                    <a:p>
                      <a:r>
                        <a:rPr sz="1100"/>
                        <a:t>—</a:t>
                      </a:r>
                    </a:p>
                  </a:txBody>
                  <a:tcPr/>
                </a:tc>
                <a:tc>
                  <a:txBody>
                    <a:bodyPr/>
                    <a:lstStyle/>
                    <a:p>
                      <a:r>
                        <a:rPr sz="1100"/>
                        <a:t>—</a:t>
                      </a:r>
                    </a:p>
                  </a:txBody>
                  <a:tcPr/>
                </a:tc>
                <a:tc>
                  <a:txBody>
                    <a:bodyPr/>
                    <a:lstStyle/>
                    <a:p>
                      <a:r>
                        <a:rPr sz="1100" dirty="0"/>
                        <a:t>Live on all 21,055 UK SKUs — the clean parent name for a variant family</a:t>
                      </a:r>
                    </a:p>
                  </a:txBody>
                  <a:tcPr/>
                </a:tc>
                <a:extLst>
                  <a:ext uri="{0D108BD9-81ED-4DB2-BD59-A6C34878D82A}">
                    <a16:rowId xmlns:a16="http://schemas.microsoft.com/office/drawing/2014/main" val="10001"/>
                  </a:ext>
                </a:extLst>
              </a:tr>
              <a:tr h="568452">
                <a:tc>
                  <a:txBody>
                    <a:bodyPr/>
                    <a:lstStyle/>
                    <a:p>
                      <a:r>
                        <a:rPr sz="1100"/>
                        <a:t>variant_option</a:t>
                      </a:r>
                    </a:p>
                  </a:txBody>
                  <a:tcPr/>
                </a:tc>
                <a:tc>
                  <a:txBody>
                    <a:bodyPr/>
                    <a:lstStyle/>
                    <a:p>
                      <a:r>
                        <a:rPr sz="1100"/>
                        <a:t>100%</a:t>
                      </a:r>
                    </a:p>
                  </a:txBody>
                  <a:tcPr/>
                </a:tc>
                <a:tc>
                  <a:txBody>
                    <a:bodyPr/>
                    <a:lstStyle/>
                    <a:p>
                      <a:r>
                        <a:rPr sz="1100" dirty="0"/>
                        <a:t>—</a:t>
                      </a:r>
                    </a:p>
                  </a:txBody>
                  <a:tcPr/>
                </a:tc>
                <a:tc>
                  <a:txBody>
                    <a:bodyPr/>
                    <a:lstStyle/>
                    <a:p>
                      <a:r>
                        <a:rPr sz="1100"/>
                        <a:t>—</a:t>
                      </a:r>
                    </a:p>
                  </a:txBody>
                  <a:tcPr/>
                </a:tc>
                <a:tc>
                  <a:txBody>
                    <a:bodyPr/>
                    <a:lstStyle/>
                    <a:p>
                      <a:r>
                        <a:rPr sz="1100"/>
                        <a:t>Two pairs per UK SKU — Colour and Size, structured name/value</a:t>
                      </a:r>
                    </a:p>
                  </a:txBody>
                  <a:tcPr/>
                </a:tc>
                <a:extLst>
                  <a:ext uri="{0D108BD9-81ED-4DB2-BD59-A6C34878D82A}">
                    <a16:rowId xmlns:a16="http://schemas.microsoft.com/office/drawing/2014/main" val="10002"/>
                  </a:ext>
                </a:extLst>
              </a:tr>
              <a:tr h="568452">
                <a:tc>
                  <a:txBody>
                    <a:bodyPr/>
                    <a:lstStyle/>
                    <a:p>
                      <a:r>
                        <a:rPr sz="1100"/>
                        <a:t>question_and_answer</a:t>
                      </a:r>
                    </a:p>
                  </a:txBody>
                  <a:tcPr/>
                </a:tc>
                <a:tc>
                  <a:txBody>
                    <a:bodyPr/>
                    <a:lstStyle/>
                    <a:p>
                      <a:r>
                        <a:rPr sz="1100" dirty="0"/>
                        <a:t>—</a:t>
                      </a:r>
                    </a:p>
                  </a:txBody>
                  <a:tcPr/>
                </a:tc>
                <a:tc>
                  <a:txBody>
                    <a:bodyPr/>
                    <a:lstStyle/>
                    <a:p>
                      <a:r>
                        <a:rPr sz="1100"/>
                        <a:t>—</a:t>
                      </a:r>
                    </a:p>
                  </a:txBody>
                  <a:tcPr/>
                </a:tc>
                <a:tc>
                  <a:txBody>
                    <a:bodyPr/>
                    <a:lstStyle/>
                    <a:p>
                      <a:r>
                        <a:rPr sz="1100"/>
                        <a:t>—</a:t>
                      </a:r>
                    </a:p>
                  </a:txBody>
                  <a:tcPr/>
                </a:tc>
                <a:tc>
                  <a:txBody>
                    <a:bodyPr/>
                    <a:lstStyle/>
                    <a:p>
                      <a:r>
                        <a:rPr sz="1100" dirty="0"/>
                        <a:t>Not submitted. Highest value and highest governance risk — fit and sizing answers carry return-rate consequences</a:t>
                      </a:r>
                    </a:p>
                  </a:txBody>
                  <a:tcPr/>
                </a:tc>
                <a:extLst>
                  <a:ext uri="{0D108BD9-81ED-4DB2-BD59-A6C34878D82A}">
                    <a16:rowId xmlns:a16="http://schemas.microsoft.com/office/drawing/2014/main" val="10003"/>
                  </a:ext>
                </a:extLst>
              </a:tr>
              <a:tr h="568452">
                <a:tc>
                  <a:txBody>
                    <a:bodyPr/>
                    <a:lstStyle/>
                    <a:p>
                      <a:r>
                        <a:rPr sz="1100" dirty="0" err="1"/>
                        <a:t>popularity_rank</a:t>
                      </a:r>
                      <a:endParaRPr sz="1100" dirty="0"/>
                    </a:p>
                  </a:txBody>
                  <a:tcPr/>
                </a:tc>
                <a:tc>
                  <a:txBody>
                    <a:bodyPr/>
                    <a:lstStyle/>
                    <a:p>
                      <a:r>
                        <a:rPr sz="1100"/>
                        <a:t>—</a:t>
                      </a:r>
                    </a:p>
                  </a:txBody>
                  <a:tcPr/>
                </a:tc>
                <a:tc>
                  <a:txBody>
                    <a:bodyPr/>
                    <a:lstStyle/>
                    <a:p>
                      <a:r>
                        <a:rPr sz="1100"/>
                        <a:t>—</a:t>
                      </a:r>
                    </a:p>
                  </a:txBody>
                  <a:tcPr/>
                </a:tc>
                <a:tc>
                  <a:txBody>
                    <a:bodyPr/>
                    <a:lstStyle/>
                    <a:p>
                      <a:r>
                        <a:rPr sz="1100"/>
                        <a:t>—</a:t>
                      </a:r>
                    </a:p>
                  </a:txBody>
                  <a:tcPr/>
                </a:tc>
                <a:tc>
                  <a:txBody>
                    <a:bodyPr/>
                    <a:lstStyle/>
                    <a:p>
                      <a:r>
                        <a:rPr sz="1100"/>
                        <a:t>Not submitted. Computable from Schuh's own performance data</a:t>
                      </a:r>
                    </a:p>
                  </a:txBody>
                  <a:tcPr/>
                </a:tc>
                <a:extLst>
                  <a:ext uri="{0D108BD9-81ED-4DB2-BD59-A6C34878D82A}">
                    <a16:rowId xmlns:a16="http://schemas.microsoft.com/office/drawing/2014/main" val="10004"/>
                  </a:ext>
                </a:extLst>
              </a:tr>
              <a:tr h="568452">
                <a:tc>
                  <a:txBody>
                    <a:bodyPr/>
                    <a:lstStyle/>
                    <a:p>
                      <a:r>
                        <a:rPr sz="1100"/>
                        <a:t>related_product</a:t>
                      </a:r>
                    </a:p>
                  </a:txBody>
                  <a:tcPr/>
                </a:tc>
                <a:tc>
                  <a:txBody>
                    <a:bodyPr/>
                    <a:lstStyle/>
                    <a:p>
                      <a:r>
                        <a:rPr sz="1100"/>
                        <a:t>—</a:t>
                      </a:r>
                    </a:p>
                  </a:txBody>
                  <a:tcPr/>
                </a:tc>
                <a:tc>
                  <a:txBody>
                    <a:bodyPr/>
                    <a:lstStyle/>
                    <a:p>
                      <a:r>
                        <a:rPr sz="1100"/>
                        <a:t>—</a:t>
                      </a:r>
                    </a:p>
                  </a:txBody>
                  <a:tcPr/>
                </a:tc>
                <a:tc>
                  <a:txBody>
                    <a:bodyPr/>
                    <a:lstStyle/>
                    <a:p>
                      <a:r>
                        <a:rPr sz="1100"/>
                        <a:t>—</a:t>
                      </a:r>
                    </a:p>
                  </a:txBody>
                  <a:tcPr/>
                </a:tc>
                <a:tc>
                  <a:txBody>
                    <a:bodyPr/>
                    <a:lstStyle/>
                    <a:p>
                      <a:r>
                        <a:rPr sz="1100"/>
                        <a:t>Not submitted. The mechanism for footwear-and-care or outfit pairing</a:t>
                      </a:r>
                    </a:p>
                  </a:txBody>
                  <a:tcPr/>
                </a:tc>
                <a:extLst>
                  <a:ext uri="{0D108BD9-81ED-4DB2-BD59-A6C34878D82A}">
                    <a16:rowId xmlns:a16="http://schemas.microsoft.com/office/drawing/2014/main" val="10005"/>
                  </a:ext>
                </a:extLst>
              </a:tr>
              <a:tr h="568452">
                <a:tc>
                  <a:txBody>
                    <a:bodyPr/>
                    <a:lstStyle/>
                    <a:p>
                      <a:r>
                        <a:rPr sz="1100"/>
                        <a:t>document_link</a:t>
                      </a:r>
                    </a:p>
                  </a:txBody>
                  <a:tcPr/>
                </a:tc>
                <a:tc>
                  <a:txBody>
                    <a:bodyPr/>
                    <a:lstStyle/>
                    <a:p>
                      <a:r>
                        <a:rPr sz="1100"/>
                        <a:t>—</a:t>
                      </a:r>
                    </a:p>
                  </a:txBody>
                  <a:tcPr/>
                </a:tc>
                <a:tc>
                  <a:txBody>
                    <a:bodyPr/>
                    <a:lstStyle/>
                    <a:p>
                      <a:r>
                        <a:rPr sz="1100"/>
                        <a:t>—</a:t>
                      </a:r>
                    </a:p>
                  </a:txBody>
                  <a:tcPr/>
                </a:tc>
                <a:tc>
                  <a:txBody>
                    <a:bodyPr/>
                    <a:lstStyle/>
                    <a:p>
                      <a:r>
                        <a:rPr sz="1100"/>
                        <a:t>—</a:t>
                      </a:r>
                    </a:p>
                  </a:txBody>
                  <a:tcPr/>
                </a:tc>
                <a:tc>
                  <a:txBody>
                    <a:bodyPr/>
                    <a:lstStyle/>
                    <a:p>
                      <a:r>
                        <a:rPr sz="1100" dirty="0"/>
                        <a:t>Not submitted. Size guides and care instructions where stable URLs exist</a:t>
                      </a:r>
                    </a:p>
                  </a:txBody>
                  <a:tcPr/>
                </a:tc>
                <a:extLst>
                  <a:ext uri="{0D108BD9-81ED-4DB2-BD59-A6C34878D82A}">
                    <a16:rowId xmlns:a16="http://schemas.microsoft.com/office/drawing/2014/main" val="10006"/>
                  </a:ext>
                </a:extLst>
              </a:tr>
            </a:tbl>
          </a:graphicData>
        </a:graphic>
      </p:graphicFrame>
      <p:sp>
        <p:nvSpPr>
          <p:cNvPr id="4" name="TextBox 3">
            <a:extLst>
              <a:ext uri="{FF2B5EF4-FFF2-40B4-BE49-F238E27FC236}">
                <a16:creationId xmlns:a16="http://schemas.microsoft.com/office/drawing/2014/main" id="{4127529C-117B-8CFA-604D-9053738CBF87}"/>
              </a:ext>
            </a:extLst>
          </p:cNvPr>
          <p:cNvSpPr txBox="1"/>
          <p:nvPr/>
        </p:nvSpPr>
        <p:spPr>
          <a:xfrm>
            <a:off x="662488" y="5849006"/>
            <a:ext cx="8775159" cy="292388"/>
          </a:xfrm>
          <a:prstGeom prst="rect">
            <a:avLst/>
          </a:prstGeom>
          <a:noFill/>
        </p:spPr>
        <p:txBody>
          <a:bodyPr wrap="none" rtlCol="0">
            <a:spAutoFit/>
          </a:bodyPr>
          <a:lstStyle/>
          <a:p>
            <a:r>
              <a:rPr lang="en-GB" sz="1300" dirty="0">
                <a:latin typeface="Interbody"/>
              </a:rPr>
              <a:t>“Do these run true to size?” is the single most-asked question in the category, and a wrong answer at feed scale drives returns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F21DE-0969-7CF3-5E3B-D2EBC316D36B}"/>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6037E08A-24E6-A53F-7F76-94488B4CAD36}"/>
              </a:ext>
            </a:extLst>
          </p:cNvPr>
          <p:cNvSpPr>
            <a:spLocks noGrp="1"/>
          </p:cNvSpPr>
          <p:nvPr>
            <p:ph type="title"/>
          </p:nvPr>
        </p:nvSpPr>
        <p:spPr>
          <a:xfrm>
            <a:off x="609480" y="350000"/>
            <a:ext cx="10973040" cy="760000"/>
          </a:xfrm>
        </p:spPr>
        <p:txBody>
          <a:bodyPr wrap="square"/>
          <a:lstStyle/>
          <a:p>
            <a:r>
              <a:rPr dirty="0"/>
              <a:t>AI readiness </a:t>
            </a:r>
          </a:p>
        </p:txBody>
      </p:sp>
      <p:pic>
        <p:nvPicPr>
          <p:cNvPr id="10" name="Picture 9">
            <a:extLst>
              <a:ext uri="{FF2B5EF4-FFF2-40B4-BE49-F238E27FC236}">
                <a16:creationId xmlns:a16="http://schemas.microsoft.com/office/drawing/2014/main" id="{6F1889D3-B8F9-FBB3-C2D3-9D4705585CA3}"/>
              </a:ext>
            </a:extLst>
          </p:cNvPr>
          <p:cNvPicPr>
            <a:picLocks noChangeAspect="1"/>
          </p:cNvPicPr>
          <p:nvPr/>
        </p:nvPicPr>
        <p:blipFill>
          <a:blip r:embed="rId2"/>
          <a:stretch>
            <a:fillRect/>
          </a:stretch>
        </p:blipFill>
        <p:spPr>
          <a:xfrm>
            <a:off x="609480" y="1075096"/>
            <a:ext cx="10973040" cy="4696118"/>
          </a:xfrm>
          <a:prstGeom prst="rect">
            <a:avLst/>
          </a:prstGeom>
        </p:spPr>
      </p:pic>
      <p:sp>
        <p:nvSpPr>
          <p:cNvPr id="13" name="Text Placeholder 4">
            <a:extLst>
              <a:ext uri="{FF2B5EF4-FFF2-40B4-BE49-F238E27FC236}">
                <a16:creationId xmlns:a16="http://schemas.microsoft.com/office/drawing/2014/main" id="{5222073B-727B-A6AF-1A8F-74AA8C5A854E}"/>
              </a:ext>
            </a:extLst>
          </p:cNvPr>
          <p:cNvSpPr txBox="1">
            <a:spLocks/>
          </p:cNvSpPr>
          <p:nvPr/>
        </p:nvSpPr>
        <p:spPr>
          <a:xfrm>
            <a:off x="909480" y="5828000"/>
            <a:ext cx="10413040" cy="324000"/>
          </a:xfrm>
          <a:prstGeom prst="rect">
            <a:avLst/>
          </a:prstGeom>
        </p:spPr>
        <p:txBody>
          <a:bodyPr lIns="0" tIns="0" rIns="0" bIns="0" anchor="ctr">
            <a:normAutofit/>
          </a:bodyPr>
          <a:lstStyle>
            <a:lvl1pPr marL="0" indent="0" algn="l">
              <a:lnSpc>
                <a:spcPct val="108000"/>
              </a:lnSpc>
              <a:spcBef>
                <a:spcPts val="600"/>
              </a:spcBef>
              <a:buNone/>
              <a:defRPr sz="1300" b="0" i="0">
                <a:solidFill>
                  <a:srgbClr val="0F172A"/>
                </a:solidFill>
                <a:latin typeface="+mn-lt"/>
              </a:defRPr>
            </a:lvl1pPr>
            <a:lvl2pPr marL="274320" indent="-274320">
              <a:lnSpc>
                <a:spcPct val="118000"/>
              </a:lnSpc>
              <a:spcBef>
                <a:spcPts val="500"/>
              </a:spcBef>
              <a:buClr>
                <a:srgbClr val="F7941E"/>
              </a:buClr>
              <a:buFont typeface="Arial"/>
              <a:buChar char="•"/>
              <a:defRPr sz="1500">
                <a:solidFill>
                  <a:srgbClr val="475569"/>
                </a:solidFill>
                <a:latin typeface="+mn-lt"/>
              </a:defRPr>
            </a:lvl2pPr>
            <a:lvl3pPr marL="548640" indent="-274320">
              <a:spcBef>
                <a:spcPts val="300"/>
              </a:spcBef>
              <a:buClr>
                <a:srgbClr val="94A3B8"/>
              </a:buClr>
              <a:buFont typeface="Arial"/>
              <a:buChar char="–"/>
              <a:defRPr sz="1400">
                <a:solidFill>
                  <a:srgbClr val="475569"/>
                </a:solidFill>
              </a:defRPr>
            </a:lvl3pPr>
          </a:lstStyle>
          <a:p>
            <a:r>
              <a:rPr lang="en-GB" dirty="0"/>
              <a:t>The key areas the 6 Conversational Attributes that’s been announced by Google &amp; agent-friendly product highlights &amp; details</a:t>
            </a:r>
          </a:p>
        </p:txBody>
      </p:sp>
    </p:spTree>
    <p:extLst>
      <p:ext uri="{BB962C8B-B14F-4D97-AF65-F5344CB8AC3E}">
        <p14:creationId xmlns:p14="http://schemas.microsoft.com/office/powerpoint/2010/main" val="30221895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0F0EF"/>
        </a:solidFill>
        <a:effectLst/>
      </p:bgPr>
    </p:bg>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3ACE8481-C5D0-ABAF-3790-C0E937C7D454}"/>
              </a:ext>
            </a:extLst>
          </p:cNvPr>
          <p:cNvSpPr>
            <a:spLocks noGrp="1"/>
          </p:cNvSpPr>
          <p:nvPr>
            <p:ph type="body" idx="14"/>
          </p:nvPr>
        </p:nvSpPr>
        <p:spPr/>
        <p:txBody>
          <a:bodyPr/>
          <a:lstStyle/>
          <a:p>
            <a:r>
              <a:rPr lang="en-GB" dirty="0"/>
              <a:t>After filling up Conversation Attributes &amp; SparkAI generated Highlights &amp; Details &gt; we’re aiming to hit at least &gt;85 before Peak/26</a:t>
            </a:r>
          </a:p>
        </p:txBody>
      </p:sp>
      <p:pic>
        <p:nvPicPr>
          <p:cNvPr id="7" name="Picture 6">
            <a:extLst>
              <a:ext uri="{FF2B5EF4-FFF2-40B4-BE49-F238E27FC236}">
                <a16:creationId xmlns:a16="http://schemas.microsoft.com/office/drawing/2014/main" id="{004C69EF-C7C9-FBE8-9ACB-ED3D0C93C68F}"/>
              </a:ext>
            </a:extLst>
          </p:cNvPr>
          <p:cNvPicPr>
            <a:picLocks noChangeAspect="1"/>
          </p:cNvPicPr>
          <p:nvPr/>
        </p:nvPicPr>
        <p:blipFill>
          <a:blip r:embed="rId2"/>
          <a:stretch>
            <a:fillRect/>
          </a:stretch>
        </p:blipFill>
        <p:spPr>
          <a:xfrm>
            <a:off x="609480" y="3599861"/>
            <a:ext cx="7332012" cy="1543050"/>
          </a:xfrm>
          <a:prstGeom prst="rect">
            <a:avLst/>
          </a:prstGeom>
        </p:spPr>
      </p:pic>
      <p:sp>
        <p:nvSpPr>
          <p:cNvPr id="9" name="Title 1">
            <a:extLst>
              <a:ext uri="{FF2B5EF4-FFF2-40B4-BE49-F238E27FC236}">
                <a16:creationId xmlns:a16="http://schemas.microsoft.com/office/drawing/2014/main" id="{35E6E6F8-3B53-A1A1-805F-EC38EB5F4E59}"/>
              </a:ext>
            </a:extLst>
          </p:cNvPr>
          <p:cNvSpPr>
            <a:spLocks noGrp="1"/>
          </p:cNvSpPr>
          <p:nvPr>
            <p:ph type="title"/>
          </p:nvPr>
        </p:nvSpPr>
        <p:spPr>
          <a:xfrm>
            <a:off x="609480" y="350000"/>
            <a:ext cx="10973040" cy="760000"/>
          </a:xfrm>
        </p:spPr>
        <p:txBody>
          <a:bodyPr wrap="square"/>
          <a:lstStyle/>
          <a:p>
            <a:r>
              <a:rPr lang="en-GB" dirty="0"/>
              <a:t>Golden Score &amp; AI Readiness</a:t>
            </a:r>
            <a:endParaRPr dirty="0"/>
          </a:p>
        </p:txBody>
      </p:sp>
      <p:pic>
        <p:nvPicPr>
          <p:cNvPr id="11" name="Picture 10">
            <a:extLst>
              <a:ext uri="{FF2B5EF4-FFF2-40B4-BE49-F238E27FC236}">
                <a16:creationId xmlns:a16="http://schemas.microsoft.com/office/drawing/2014/main" id="{A4EF16E5-A55D-2A14-5FD1-1A93FBC4C739}"/>
              </a:ext>
            </a:extLst>
          </p:cNvPr>
          <p:cNvPicPr>
            <a:picLocks noChangeAspect="1"/>
          </p:cNvPicPr>
          <p:nvPr/>
        </p:nvPicPr>
        <p:blipFill>
          <a:blip r:embed="rId3"/>
          <a:stretch>
            <a:fillRect/>
          </a:stretch>
        </p:blipFill>
        <p:spPr>
          <a:xfrm>
            <a:off x="609480" y="1735208"/>
            <a:ext cx="3191320" cy="1733792"/>
          </a:xfrm>
          <a:prstGeom prst="rect">
            <a:avLst/>
          </a:prstGeom>
        </p:spPr>
      </p:pic>
    </p:spTree>
    <p:extLst>
      <p:ext uri="{BB962C8B-B14F-4D97-AF65-F5344CB8AC3E}">
        <p14:creationId xmlns:p14="http://schemas.microsoft.com/office/powerpoint/2010/main" val="64799117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1"/>
          </p:nvPr>
        </p:nvSpPr>
        <p:spPr/>
        <p:txBody>
          <a:bodyPr wrap="square"/>
          <a:lstStyle/>
          <a:p>
            <a:r>
              <a:t>Chapter six</a:t>
            </a:r>
          </a:p>
        </p:txBody>
      </p:sp>
      <p:sp>
        <p:nvSpPr>
          <p:cNvPr id="3" name="Title 2"/>
          <p:cNvSpPr>
            <a:spLocks noGrp="1"/>
          </p:cNvSpPr>
          <p:nvPr>
            <p:ph type="title"/>
          </p:nvPr>
        </p:nvSpPr>
        <p:spPr/>
        <p:txBody>
          <a:bodyPr wrap="square"/>
          <a:lstStyle/>
          <a:p>
            <a:r>
              <a:t>Case studies / test wins</a:t>
            </a:r>
          </a:p>
        </p:txBody>
      </p:sp>
      <p:sp>
        <p:nvSpPr>
          <p:cNvPr id="4" name="Text Placeholder 3"/>
          <p:cNvSpPr>
            <a:spLocks noGrp="1"/>
          </p:cNvSpPr>
          <p:nvPr>
            <p:ph type="body" idx="1"/>
          </p:nvPr>
        </p:nvSpPr>
        <p:spPr/>
        <p:txBody>
          <a:bodyPr wrap="square"/>
          <a:lstStyle/>
          <a:p>
            <a:r>
              <a:t>What the same interventions returned on comparable FeedSpark accounts, and which of them apply here.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dirty="0"/>
              <a:t>Case studies / test wins</a:t>
            </a:r>
          </a:p>
        </p:txBody>
      </p:sp>
      <p:sp>
        <p:nvSpPr>
          <p:cNvPr id="3" name="Text Placeholder 2"/>
          <p:cNvSpPr>
            <a:spLocks noGrp="1"/>
          </p:cNvSpPr>
          <p:nvPr>
            <p:ph type="body" idx="13"/>
          </p:nvPr>
        </p:nvSpPr>
        <p:spPr/>
        <p:txBody>
          <a:bodyPr wrap="square"/>
          <a:lstStyle/>
          <a:p>
            <a:r>
              <a:rPr sz="1500"/>
              <a:t>Schuh's own archive is chapter 03. These are the same levers on comparable FeedSpark accounts — read alongside it, they say which Schuh has not tested yet.</a:t>
            </a:r>
          </a:p>
        </p:txBody>
      </p:sp>
      <p:sp>
        <p:nvSpPr>
          <p:cNvPr id="4" name="Text Placeholder 3"/>
          <p:cNvSpPr>
            <a:spLocks noGrp="1"/>
          </p:cNvSpPr>
          <p:nvPr>
            <p:ph type="body" idx="1"/>
          </p:nvPr>
        </p:nvSpPr>
        <p:spPr/>
        <p:txBody>
          <a:bodyPr wrap="square"/>
          <a:lstStyle/>
          <a:p>
            <a:r>
              <a:t>Benefit-led copy beat feature-led copy</a:t>
            </a:r>
          </a:p>
        </p:txBody>
      </p:sp>
      <p:sp>
        <p:nvSpPr>
          <p:cNvPr id="5" name="Text Placeholder 4"/>
          <p:cNvSpPr>
            <a:spLocks noGrp="1"/>
          </p:cNvSpPr>
          <p:nvPr>
            <p:ph type="body" idx="2"/>
          </p:nvPr>
        </p:nvSpPr>
        <p:spPr/>
        <p:txBody>
          <a:bodyPr wrap="square"/>
          <a:lstStyle/>
          <a:p>
            <a:r>
              <a:rPr dirty="0"/>
              <a:t>+24.7% — </a:t>
            </a:r>
            <a:r>
              <a:rPr dirty="0" err="1"/>
              <a:t>YuMOVE</a:t>
            </a:r>
            <a:r>
              <a:rPr dirty="0"/>
              <a:t>, pet supplements. Rewriting titles and descriptions around what the product does for the buyer rather than what it is.</a:t>
            </a:r>
          </a:p>
          <a:p>
            <a:r>
              <a:rPr dirty="0"/>
              <a:t>Applies directly: Schuh's titles are accurate and descriptive (“Trainers in Grey, Size: 8”) but carry no use-case language at all.</a:t>
            </a:r>
          </a:p>
        </p:txBody>
      </p:sp>
      <p:sp>
        <p:nvSpPr>
          <p:cNvPr id="6" name="Text Placeholder 5"/>
          <p:cNvSpPr>
            <a:spLocks noGrp="1"/>
          </p:cNvSpPr>
          <p:nvPr>
            <p:ph type="body" idx="3"/>
          </p:nvPr>
        </p:nvSpPr>
        <p:spPr/>
        <p:txBody>
          <a:bodyPr wrap="square"/>
          <a:lstStyle/>
          <a:p>
            <a:r>
              <a:rPr sz="1639"/>
              <a:t>Naming the category term the shopper types</a:t>
            </a:r>
          </a:p>
        </p:txBody>
      </p:sp>
      <p:sp>
        <p:nvSpPr>
          <p:cNvPr id="7" name="Text Placeholder 6"/>
          <p:cNvSpPr>
            <a:spLocks noGrp="1"/>
          </p:cNvSpPr>
          <p:nvPr>
            <p:ph type="body" idx="4"/>
          </p:nvPr>
        </p:nvSpPr>
        <p:spPr/>
        <p:txBody>
          <a:bodyPr wrap="square"/>
          <a:lstStyle/>
          <a:p>
            <a:r>
              <a:rPr dirty="0"/>
              <a:t>+126.62% — </a:t>
            </a:r>
            <a:r>
              <a:rPr dirty="0" err="1"/>
              <a:t>YuMOVE</a:t>
            </a:r>
            <a:r>
              <a:rPr dirty="0"/>
              <a:t>, on the single term “Multivitamins”. Adding the plain category noun a buyer actually searches, rather than the brand's own product name.</a:t>
            </a:r>
          </a:p>
          <a:p>
            <a:r>
              <a:rPr dirty="0"/>
              <a:t>Applies with care: Schuh titles already carry a category noun. The equivalent lever here is the second and third </a:t>
            </a:r>
            <a:r>
              <a:rPr lang="en-GB" dirty="0"/>
              <a:t>[Search Intent] </a:t>
            </a:r>
            <a:r>
              <a:rPr dirty="0"/>
              <a:t>— occasion, use-case, fit.</a:t>
            </a:r>
          </a:p>
        </p:txBody>
      </p:sp>
      <p:sp>
        <p:nvSpPr>
          <p:cNvPr id="9" name="Rectangle 8">
            <a:extLst>
              <a:ext uri="{FF2B5EF4-FFF2-40B4-BE49-F238E27FC236}">
                <a16:creationId xmlns:a16="http://schemas.microsoft.com/office/drawing/2014/main" id="{FB531E7F-8533-FE4B-D2DB-9B6940674CD8}"/>
              </a:ext>
            </a:extLst>
          </p:cNvPr>
          <p:cNvSpPr/>
          <p:nvPr/>
        </p:nvSpPr>
        <p:spPr>
          <a:xfrm>
            <a:off x="526774" y="5724939"/>
            <a:ext cx="11099906" cy="60628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1"/>
          </p:nvPr>
        </p:nvSpPr>
        <p:spPr/>
        <p:txBody>
          <a:bodyPr wrap="square"/>
          <a:lstStyle/>
          <a:p>
            <a:r>
              <a:t>Chapter seven</a:t>
            </a:r>
          </a:p>
        </p:txBody>
      </p:sp>
      <p:sp>
        <p:nvSpPr>
          <p:cNvPr id="3" name="Title 2"/>
          <p:cNvSpPr>
            <a:spLocks noGrp="1"/>
          </p:cNvSpPr>
          <p:nvPr>
            <p:ph type="title"/>
          </p:nvPr>
        </p:nvSpPr>
        <p:spPr/>
        <p:txBody>
          <a:bodyPr wrap="square"/>
          <a:lstStyle/>
          <a:p>
            <a:r>
              <a:t>Roadmap / next quarter</a:t>
            </a:r>
          </a:p>
        </p:txBody>
      </p:sp>
      <p:sp>
        <p:nvSpPr>
          <p:cNvPr id="4" name="Text Placeholder 3"/>
          <p:cNvSpPr>
            <a:spLocks noGrp="1"/>
          </p:cNvSpPr>
          <p:nvPr>
            <p:ph type="body" idx="1"/>
          </p:nvPr>
        </p:nvSpPr>
        <p:spPr/>
        <p:txBody>
          <a:bodyPr wrap="square"/>
          <a:lstStyle/>
          <a:p>
            <a:r>
              <a:t>Three unblocks, one rollout that pays for itself twice, and a testing lane that needs widening before the next review.</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dirty="0"/>
              <a:t>Roadmap / next quarter</a:t>
            </a:r>
          </a:p>
        </p:txBody>
      </p:sp>
      <p:sp>
        <p:nvSpPr>
          <p:cNvPr id="4" name="Text Placeholder 3"/>
          <p:cNvSpPr>
            <a:spLocks noGrp="1"/>
          </p:cNvSpPr>
          <p:nvPr>
            <p:ph type="body" idx="1"/>
          </p:nvPr>
        </p:nvSpPr>
        <p:spPr/>
        <p:txBody>
          <a:bodyPr wrap="square"/>
          <a:lstStyle/>
          <a:p>
            <a:r>
              <a:t>1</a:t>
            </a:r>
          </a:p>
        </p:txBody>
      </p:sp>
      <p:sp>
        <p:nvSpPr>
          <p:cNvPr id="5" name="Text Placeholder 4"/>
          <p:cNvSpPr>
            <a:spLocks noGrp="1"/>
          </p:cNvSpPr>
          <p:nvPr>
            <p:ph type="body" idx="2"/>
          </p:nvPr>
        </p:nvSpPr>
        <p:spPr/>
        <p:txBody>
          <a:bodyPr wrap="square"/>
          <a:lstStyle/>
          <a:p>
            <a:r>
              <a:rPr sz="1689"/>
              <a:t>Clear what is waiting on Schuh</a:t>
            </a:r>
          </a:p>
        </p:txBody>
      </p:sp>
      <p:sp>
        <p:nvSpPr>
          <p:cNvPr id="6" name="Text Placeholder 5"/>
          <p:cNvSpPr>
            <a:spLocks noGrp="1"/>
          </p:cNvSpPr>
          <p:nvPr>
            <p:ph type="body" idx="3"/>
          </p:nvPr>
        </p:nvSpPr>
        <p:spPr/>
        <p:txBody>
          <a:bodyPr wrap="square">
            <a:normAutofit fontScale="92500" lnSpcReduction="10000"/>
          </a:bodyPr>
          <a:lstStyle/>
          <a:p>
            <a:pPr marL="285750" indent="-285750" algn="l">
              <a:buFont typeface="Arial" panose="020B0604020202020204" pitchFamily="34" charset="0"/>
              <a:buChar char="•"/>
            </a:pPr>
            <a:r>
              <a:rPr dirty="0"/>
              <a:t>Oct 2026</a:t>
            </a:r>
          </a:p>
          <a:p>
            <a:pPr marL="285750" indent="-285750" algn="l">
              <a:buFont typeface="Arial" panose="020B0604020202020204" pitchFamily="34" charset="0"/>
              <a:buChar char="•"/>
            </a:pPr>
            <a:r>
              <a:rPr dirty="0"/>
              <a:t>s360 description prompt — Will</a:t>
            </a:r>
          </a:p>
          <a:p>
            <a:pPr marL="285750" indent="-285750" algn="l">
              <a:buFont typeface="Arial" panose="020B0604020202020204" pitchFamily="34" charset="0"/>
              <a:buChar char="•"/>
            </a:pPr>
            <a:r>
              <a:rPr dirty="0"/>
              <a:t>LIA / GMC setup — Schuh dev team</a:t>
            </a:r>
          </a:p>
          <a:p>
            <a:pPr marL="285750" indent="-285750" algn="l">
              <a:buFont typeface="Arial" panose="020B0604020202020204" pitchFamily="34" charset="0"/>
              <a:buChar char="•"/>
            </a:pPr>
            <a:r>
              <a:rPr dirty="0"/>
              <a:t>Product rating fields — Schuh dev</a:t>
            </a:r>
          </a:p>
          <a:p>
            <a:pPr marL="285750" indent="-285750" algn="l">
              <a:buFont typeface="Arial" panose="020B0604020202020204" pitchFamily="34" charset="0"/>
              <a:buChar char="•"/>
            </a:pPr>
            <a:r>
              <a:rPr dirty="0"/>
              <a:t>Hero Sizes mapping — close out</a:t>
            </a:r>
          </a:p>
        </p:txBody>
      </p:sp>
      <p:sp>
        <p:nvSpPr>
          <p:cNvPr id="7" name="Text Placeholder 6"/>
          <p:cNvSpPr>
            <a:spLocks noGrp="1"/>
          </p:cNvSpPr>
          <p:nvPr>
            <p:ph type="body" idx="4"/>
          </p:nvPr>
        </p:nvSpPr>
        <p:spPr/>
        <p:txBody>
          <a:bodyPr wrap="square"/>
          <a:lstStyle/>
          <a:p>
            <a:r>
              <a:t>2</a:t>
            </a:r>
          </a:p>
        </p:txBody>
      </p:sp>
      <p:sp>
        <p:nvSpPr>
          <p:cNvPr id="8" name="Text Placeholder 7"/>
          <p:cNvSpPr>
            <a:spLocks noGrp="1"/>
          </p:cNvSpPr>
          <p:nvPr>
            <p:ph type="body" idx="5"/>
          </p:nvPr>
        </p:nvSpPr>
        <p:spPr/>
        <p:txBody>
          <a:bodyPr wrap="square"/>
          <a:lstStyle/>
          <a:p>
            <a:r>
              <a:rPr sz="1689"/>
              <a:t>Take the UK build to DE and IE</a:t>
            </a:r>
          </a:p>
        </p:txBody>
      </p:sp>
      <p:sp>
        <p:nvSpPr>
          <p:cNvPr id="9" name="Text Placeholder 8"/>
          <p:cNvSpPr>
            <a:spLocks noGrp="1"/>
          </p:cNvSpPr>
          <p:nvPr>
            <p:ph type="body" idx="6"/>
          </p:nvPr>
        </p:nvSpPr>
        <p:spPr/>
        <p:txBody>
          <a:bodyPr wrap="square">
            <a:noAutofit/>
          </a:bodyPr>
          <a:lstStyle/>
          <a:p>
            <a:pPr marL="285750" indent="-285750" algn="l">
              <a:buFont typeface="Arial" panose="020B0604020202020204" pitchFamily="34" charset="0"/>
              <a:buChar char="•"/>
            </a:pPr>
            <a:r>
              <a:rPr sz="1400" dirty="0"/>
              <a:t>Oct – Nov 2026</a:t>
            </a:r>
          </a:p>
          <a:p>
            <a:pPr marL="285750" indent="-285750" algn="l">
              <a:buFont typeface="Arial" panose="020B0604020202020204" pitchFamily="34" charset="0"/>
              <a:buChar char="•"/>
            </a:pPr>
            <a:r>
              <a:rPr sz="1400" dirty="0"/>
              <a:t>Description enrichment — 0% DE, 2.3% IE</a:t>
            </a:r>
          </a:p>
          <a:p>
            <a:pPr marL="285750" indent="-285750" algn="l">
              <a:buFont typeface="Arial" panose="020B0604020202020204" pitchFamily="34" charset="0"/>
              <a:buChar char="•"/>
            </a:pPr>
            <a:r>
              <a:rPr sz="1400" dirty="0"/>
              <a:t>Conversational attributes — UK</a:t>
            </a:r>
            <a:r>
              <a:rPr lang="en-GB" sz="1400" dirty="0"/>
              <a:t>, DE, IE</a:t>
            </a:r>
            <a:endParaRPr sz="1400" dirty="0"/>
          </a:p>
          <a:p>
            <a:pPr marL="285750" indent="-285750" algn="l">
              <a:buFont typeface="Arial" panose="020B0604020202020204" pitchFamily="34" charset="0"/>
              <a:buChar char="•"/>
            </a:pPr>
            <a:r>
              <a:rPr lang="en-GB" sz="1400" dirty="0"/>
              <a:t>Explore SparkAI – Visual highlights</a:t>
            </a:r>
            <a:endParaRPr sz="1400" dirty="0"/>
          </a:p>
          <a:p>
            <a:pPr algn="l"/>
            <a:endParaRPr sz="1400" dirty="0"/>
          </a:p>
        </p:txBody>
      </p:sp>
      <p:sp>
        <p:nvSpPr>
          <p:cNvPr id="10" name="Text Placeholder 9"/>
          <p:cNvSpPr>
            <a:spLocks noGrp="1"/>
          </p:cNvSpPr>
          <p:nvPr>
            <p:ph type="body" idx="7"/>
          </p:nvPr>
        </p:nvSpPr>
        <p:spPr/>
        <p:txBody>
          <a:bodyPr wrap="square"/>
          <a:lstStyle/>
          <a:p>
            <a:r>
              <a:t>3</a:t>
            </a:r>
          </a:p>
        </p:txBody>
      </p:sp>
      <p:sp>
        <p:nvSpPr>
          <p:cNvPr id="11" name="Text Placeholder 10"/>
          <p:cNvSpPr>
            <a:spLocks noGrp="1"/>
          </p:cNvSpPr>
          <p:nvPr>
            <p:ph type="body" idx="8"/>
          </p:nvPr>
        </p:nvSpPr>
        <p:spPr/>
        <p:txBody>
          <a:bodyPr wrap="square"/>
          <a:lstStyle/>
          <a:p>
            <a:r>
              <a:rPr sz="1689" dirty="0"/>
              <a:t>Stable, no architecture changes</a:t>
            </a:r>
          </a:p>
        </p:txBody>
      </p:sp>
      <p:sp>
        <p:nvSpPr>
          <p:cNvPr id="12" name="Text Placeholder 11"/>
          <p:cNvSpPr>
            <a:spLocks noGrp="1"/>
          </p:cNvSpPr>
          <p:nvPr>
            <p:ph type="body" idx="9"/>
          </p:nvPr>
        </p:nvSpPr>
        <p:spPr/>
        <p:txBody>
          <a:bodyPr wrap="square">
            <a:normAutofit lnSpcReduction="10000"/>
          </a:bodyPr>
          <a:lstStyle/>
          <a:p>
            <a:pPr marL="285750" indent="-285750" algn="l">
              <a:buFont typeface="Arial" panose="020B0604020202020204" pitchFamily="34" charset="0"/>
              <a:buChar char="•"/>
            </a:pPr>
            <a:r>
              <a:rPr sz="1410" dirty="0"/>
              <a:t>Nov – Dec 2026</a:t>
            </a:r>
          </a:p>
          <a:p>
            <a:pPr marL="285750" indent="-285750" algn="l">
              <a:buFont typeface="Arial" panose="020B0604020202020204" pitchFamily="34" charset="0"/>
              <a:buChar char="•"/>
            </a:pPr>
            <a:r>
              <a:rPr sz="1410" dirty="0"/>
              <a:t>Margin + stock banding hold through sale</a:t>
            </a:r>
          </a:p>
          <a:p>
            <a:pPr marL="285750" indent="-285750" algn="l">
              <a:buFont typeface="Arial" panose="020B0604020202020204" pitchFamily="34" charset="0"/>
              <a:buChar char="•"/>
            </a:pPr>
            <a:r>
              <a:rPr sz="1410" dirty="0"/>
              <a:t>EOSS sale keywords re-applied</a:t>
            </a:r>
          </a:p>
          <a:p>
            <a:pPr marL="285750" indent="-285750" algn="l">
              <a:buFont typeface="Arial" panose="020B0604020202020204" pitchFamily="34" charset="0"/>
              <a:buChar char="•"/>
            </a:pPr>
            <a:r>
              <a:rPr sz="1410" dirty="0"/>
              <a:t>Disapproval monitoring across six feeds</a:t>
            </a:r>
          </a:p>
          <a:p>
            <a:pPr marL="285750" indent="-285750" algn="l">
              <a:buFont typeface="Arial" panose="020B0604020202020204" pitchFamily="34" charset="0"/>
              <a:buChar char="•"/>
            </a:pPr>
            <a:r>
              <a:rPr sz="1410" dirty="0"/>
              <a:t>Title-</a:t>
            </a:r>
            <a:r>
              <a:rPr lang="en-GB" sz="1410" dirty="0"/>
              <a:t>[Material]</a:t>
            </a:r>
            <a:r>
              <a:rPr sz="1410" dirty="0"/>
              <a:t> test reads out</a:t>
            </a:r>
          </a:p>
        </p:txBody>
      </p:sp>
      <p:sp>
        <p:nvSpPr>
          <p:cNvPr id="3" name="Rectangle 2">
            <a:extLst>
              <a:ext uri="{FF2B5EF4-FFF2-40B4-BE49-F238E27FC236}">
                <a16:creationId xmlns:a16="http://schemas.microsoft.com/office/drawing/2014/main" id="{263A0879-4773-9EC8-60B8-D3F092FD445B}"/>
              </a:ext>
            </a:extLst>
          </p:cNvPr>
          <p:cNvSpPr/>
          <p:nvPr/>
        </p:nvSpPr>
        <p:spPr>
          <a:xfrm>
            <a:off x="526774" y="5724939"/>
            <a:ext cx="11099906" cy="60628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Roadmap / next quarter (cont.)</a:t>
            </a:r>
          </a:p>
        </p:txBody>
      </p:sp>
      <p:graphicFrame>
        <p:nvGraphicFramePr>
          <p:cNvPr id="5" name="Table 4"/>
          <p:cNvGraphicFramePr>
            <a:graphicFrameLocks noGrp="1"/>
          </p:cNvGraphicFramePr>
          <p:nvPr>
            <p:extLst>
              <p:ext uri="{D42A27DB-BD31-4B8C-83A1-F6EECF244321}">
                <p14:modId xmlns:p14="http://schemas.microsoft.com/office/powerpoint/2010/main" val="3592167899"/>
              </p:ext>
            </p:extLst>
          </p:nvPr>
        </p:nvGraphicFramePr>
        <p:xfrm>
          <a:off x="612648" y="1847088"/>
          <a:ext cx="10972797" cy="3796284"/>
        </p:xfrm>
        <a:graphic>
          <a:graphicData uri="http://schemas.openxmlformats.org/drawingml/2006/table">
            <a:tbl>
              <a:tblPr firstRow="1" bandRow="1">
                <a:tableStyleId>{5C22544A-7EE6-4342-B048-85BDC9FD1C3A}</a:tableStyleId>
              </a:tblPr>
              <a:tblGrid>
                <a:gridCol w="775771">
                  <a:extLst>
                    <a:ext uri="{9D8B030D-6E8A-4147-A177-3AD203B41FA5}">
                      <a16:colId xmlns:a16="http://schemas.microsoft.com/office/drawing/2014/main" val="20000"/>
                    </a:ext>
                  </a:extLst>
                </a:gridCol>
                <a:gridCol w="2503550">
                  <a:extLst>
                    <a:ext uri="{9D8B030D-6E8A-4147-A177-3AD203B41FA5}">
                      <a16:colId xmlns:a16="http://schemas.microsoft.com/office/drawing/2014/main" val="20001"/>
                    </a:ext>
                  </a:extLst>
                </a:gridCol>
                <a:gridCol w="5929462">
                  <a:extLst>
                    <a:ext uri="{9D8B030D-6E8A-4147-A177-3AD203B41FA5}">
                      <a16:colId xmlns:a16="http://schemas.microsoft.com/office/drawing/2014/main" val="20002"/>
                    </a:ext>
                  </a:extLst>
                </a:gridCol>
                <a:gridCol w="988243">
                  <a:extLst>
                    <a:ext uri="{9D8B030D-6E8A-4147-A177-3AD203B41FA5}">
                      <a16:colId xmlns:a16="http://schemas.microsoft.com/office/drawing/2014/main" val="20003"/>
                    </a:ext>
                  </a:extLst>
                </a:gridCol>
                <a:gridCol w="775771">
                  <a:extLst>
                    <a:ext uri="{9D8B030D-6E8A-4147-A177-3AD203B41FA5}">
                      <a16:colId xmlns:a16="http://schemas.microsoft.com/office/drawing/2014/main" val="20004"/>
                    </a:ext>
                  </a:extLst>
                </a:gridCol>
              </a:tblGrid>
              <a:tr h="384048">
                <a:tc>
                  <a:txBody>
                    <a:bodyPr/>
                    <a:lstStyle/>
                    <a:p>
                      <a:r>
                        <a:rPr sz="1300" b="1">
                          <a:solidFill>
                            <a:srgbClr val="FFFFFF"/>
                          </a:solidFill>
                        </a:rPr>
                        <a:t>#</a:t>
                      </a:r>
                    </a:p>
                  </a:txBody>
                  <a:tcPr/>
                </a:tc>
                <a:tc>
                  <a:txBody>
                    <a:bodyPr/>
                    <a:lstStyle/>
                    <a:p>
                      <a:r>
                        <a:rPr sz="1300" b="1">
                          <a:solidFill>
                            <a:srgbClr val="FFFFFF"/>
                          </a:solidFill>
                        </a:rPr>
                        <a:t>Workstream</a:t>
                      </a:r>
                    </a:p>
                  </a:txBody>
                  <a:tcPr/>
                </a:tc>
                <a:tc>
                  <a:txBody>
                    <a:bodyPr/>
                    <a:lstStyle/>
                    <a:p>
                      <a:r>
                        <a:rPr sz="1300" b="1">
                          <a:solidFill>
                            <a:srgbClr val="FFFFFF"/>
                          </a:solidFill>
                        </a:rPr>
                        <a:t>What it needs</a:t>
                      </a:r>
                    </a:p>
                  </a:txBody>
                  <a:tcPr/>
                </a:tc>
                <a:tc>
                  <a:txBody>
                    <a:bodyPr/>
                    <a:lstStyle/>
                    <a:p>
                      <a:r>
                        <a:rPr sz="1300" b="1">
                          <a:solidFill>
                            <a:srgbClr val="FFFFFF"/>
                          </a:solidFill>
                        </a:rPr>
                        <a:t>Owner</a:t>
                      </a:r>
                    </a:p>
                  </a:txBody>
                  <a:tcPr/>
                </a:tc>
                <a:tc>
                  <a:txBody>
                    <a:bodyPr/>
                    <a:lstStyle/>
                    <a:p>
                      <a:r>
                        <a:rPr sz="1300" b="1">
                          <a:solidFill>
                            <a:srgbClr val="FFFFFF"/>
                          </a:solidFill>
                        </a:rPr>
                        <a:t>Priority</a:t>
                      </a:r>
                    </a:p>
                  </a:txBody>
                  <a:tcPr/>
                </a:tc>
                <a:extLst>
                  <a:ext uri="{0D108BD9-81ED-4DB2-BD59-A6C34878D82A}">
                    <a16:rowId xmlns:a16="http://schemas.microsoft.com/office/drawing/2014/main" val="10000"/>
                  </a:ext>
                </a:extLst>
              </a:tr>
              <a:tr h="426339">
                <a:tc>
                  <a:txBody>
                    <a:bodyPr/>
                    <a:lstStyle/>
                    <a:p>
                      <a:r>
                        <a:rPr sz="1100"/>
                        <a:t>W1</a:t>
                      </a:r>
                    </a:p>
                  </a:txBody>
                  <a:tcPr/>
                </a:tc>
                <a:tc>
                  <a:txBody>
                    <a:bodyPr/>
                    <a:lstStyle/>
                    <a:p>
                      <a:r>
                        <a:rPr sz="1100" dirty="0"/>
                        <a:t>Title length toward the MASK band</a:t>
                      </a:r>
                    </a:p>
                  </a:txBody>
                  <a:tcPr/>
                </a:tc>
                <a:tc>
                  <a:txBody>
                    <a:bodyPr/>
                    <a:lstStyle/>
                    <a:p>
                      <a:r>
                        <a:rPr sz="1100" dirty="0"/>
                        <a:t>A rule change — 2.6% in band today at a 60-character mean; the engine already reaches 100% of the catalogue</a:t>
                      </a:r>
                    </a:p>
                  </a:txBody>
                  <a:tcPr/>
                </a:tc>
                <a:tc>
                  <a:txBody>
                    <a:bodyPr/>
                    <a:lstStyle/>
                    <a:p>
                      <a:r>
                        <a:rPr sz="1100"/>
                        <a:t>Ray / Steven</a:t>
                      </a:r>
                    </a:p>
                  </a:txBody>
                  <a:tcPr/>
                </a:tc>
                <a:tc>
                  <a:txBody>
                    <a:bodyPr/>
                    <a:lstStyle/>
                    <a:p>
                      <a:r>
                        <a:rPr sz="1100" b="1">
                          <a:solidFill>
                            <a:srgbClr val="2E7D32"/>
                          </a:solidFill>
                        </a:rPr>
                        <a:t>High</a:t>
                      </a:r>
                    </a:p>
                  </a:txBody>
                  <a:tcPr/>
                </a:tc>
                <a:extLst>
                  <a:ext uri="{0D108BD9-81ED-4DB2-BD59-A6C34878D82A}">
                    <a16:rowId xmlns:a16="http://schemas.microsoft.com/office/drawing/2014/main" val="10001"/>
                  </a:ext>
                </a:extLst>
              </a:tr>
              <a:tr h="426339">
                <a:tc>
                  <a:txBody>
                    <a:bodyPr/>
                    <a:lstStyle/>
                    <a:p>
                      <a:r>
                        <a:rPr sz="1100"/>
                        <a:t>W2</a:t>
                      </a:r>
                    </a:p>
                  </a:txBody>
                  <a:tcPr/>
                </a:tc>
                <a:tc>
                  <a:txBody>
                    <a:bodyPr/>
                    <a:lstStyle/>
                    <a:p>
                      <a:r>
                        <a:rPr sz="1100" dirty="0"/>
                        <a:t>Description enrichment to DE and IE</a:t>
                      </a:r>
                    </a:p>
                  </a:txBody>
                  <a:tcPr/>
                </a:tc>
                <a:tc>
                  <a:txBody>
                    <a:bodyPr/>
                    <a:lstStyle/>
                    <a:p>
                      <a:r>
                        <a:rPr lang="en-GB" sz="1100" dirty="0"/>
                        <a:t>s360’s own area of work — can it run through to FeedSpark?</a:t>
                      </a:r>
                      <a:endParaRPr sz="1100" dirty="0"/>
                    </a:p>
                  </a:txBody>
                  <a:tcPr/>
                </a:tc>
                <a:tc>
                  <a:txBody>
                    <a:bodyPr/>
                    <a:lstStyle/>
                    <a:p>
                      <a:r>
                        <a:rPr sz="1100"/>
                        <a:t>Will → Ray</a:t>
                      </a:r>
                    </a:p>
                  </a:txBody>
                  <a:tcPr/>
                </a:tc>
                <a:tc>
                  <a:txBody>
                    <a:bodyPr/>
                    <a:lstStyle/>
                    <a:p>
                      <a:r>
                        <a:rPr sz="1100" b="1">
                          <a:solidFill>
                            <a:srgbClr val="2E7D32"/>
                          </a:solidFill>
                        </a:rPr>
                        <a:t>High</a:t>
                      </a:r>
                    </a:p>
                  </a:txBody>
                  <a:tcPr/>
                </a:tc>
                <a:extLst>
                  <a:ext uri="{0D108BD9-81ED-4DB2-BD59-A6C34878D82A}">
                    <a16:rowId xmlns:a16="http://schemas.microsoft.com/office/drawing/2014/main" val="10002"/>
                  </a:ext>
                </a:extLst>
              </a:tr>
              <a:tr h="426339">
                <a:tc>
                  <a:txBody>
                    <a:bodyPr/>
                    <a:lstStyle/>
                    <a:p>
                      <a:r>
                        <a:rPr sz="1100"/>
                        <a:t>W3</a:t>
                      </a:r>
                    </a:p>
                  </a:txBody>
                  <a:tcPr/>
                </a:tc>
                <a:tc>
                  <a:txBody>
                    <a:bodyPr/>
                    <a:lstStyle/>
                    <a:p>
                      <a:r>
                        <a:rPr sz="1100" dirty="0"/>
                        <a:t>Product highlights across all markets</a:t>
                      </a:r>
                    </a:p>
                  </a:txBody>
                  <a:tcPr/>
                </a:tc>
                <a:tc>
                  <a:txBody>
                    <a:bodyPr/>
                    <a:lstStyle/>
                    <a:p>
                      <a:r>
                        <a:rPr sz="1100" dirty="0"/>
                        <a:t>Nothing external — 89.9% of UK and all of DE/IE carry none; the 10.1% that exist are already well-formed</a:t>
                      </a:r>
                    </a:p>
                  </a:txBody>
                  <a:tcPr/>
                </a:tc>
                <a:tc>
                  <a:txBody>
                    <a:bodyPr/>
                    <a:lstStyle/>
                    <a:p>
                      <a:r>
                        <a:rPr lang="en-GB" sz="1100" dirty="0"/>
                        <a:t>Ray</a:t>
                      </a:r>
                      <a:endParaRPr sz="1100" dirty="0"/>
                    </a:p>
                  </a:txBody>
                  <a:tcPr/>
                </a:tc>
                <a:tc>
                  <a:txBody>
                    <a:bodyPr/>
                    <a:lstStyle/>
                    <a:p>
                      <a:r>
                        <a:rPr sz="1100" b="1">
                          <a:solidFill>
                            <a:srgbClr val="2E7D32"/>
                          </a:solidFill>
                        </a:rPr>
                        <a:t>High</a:t>
                      </a:r>
                    </a:p>
                  </a:txBody>
                  <a:tcPr/>
                </a:tc>
                <a:extLst>
                  <a:ext uri="{0D108BD9-81ED-4DB2-BD59-A6C34878D82A}">
                    <a16:rowId xmlns:a16="http://schemas.microsoft.com/office/drawing/2014/main" val="10003"/>
                  </a:ext>
                </a:extLst>
              </a:tr>
              <a:tr h="426339">
                <a:tc>
                  <a:txBody>
                    <a:bodyPr/>
                    <a:lstStyle/>
                    <a:p>
                      <a:r>
                        <a:rPr sz="1100"/>
                        <a:t>W4</a:t>
                      </a:r>
                    </a:p>
                  </a:txBody>
                  <a:tcPr/>
                </a:tc>
                <a:tc>
                  <a:txBody>
                    <a:bodyPr/>
                    <a:lstStyle/>
                    <a:p>
                      <a:r>
                        <a:rPr sz="1100"/>
                        <a:t>Keyword rollout, UK</a:t>
                      </a:r>
                    </a:p>
                  </a:txBody>
                  <a:tcPr/>
                </a:tc>
                <a:tc>
                  <a:txBody>
                    <a:bodyPr/>
                    <a:lstStyle/>
                    <a:p>
                      <a:r>
                        <a:rPr lang="en-GB" sz="1100" dirty="0"/>
                        <a:t>Following </a:t>
                      </a:r>
                      <a:r>
                        <a:rPr lang="en-GB" sz="1100" b="1" dirty="0">
                          <a:hlinkClick r:id="rId2"/>
                        </a:rPr>
                        <a:t>ingested Marketing Calendar </a:t>
                      </a:r>
                      <a:r>
                        <a:rPr lang="en-GB" sz="1100" dirty="0"/>
                        <a:t>to support 3 themes / month until EOY.</a:t>
                      </a:r>
                    </a:p>
                    <a:p>
                      <a:endParaRPr sz="1100" dirty="0"/>
                    </a:p>
                  </a:txBody>
                  <a:tcPr/>
                </a:tc>
                <a:tc>
                  <a:txBody>
                    <a:bodyPr/>
                    <a:lstStyle/>
                    <a:p>
                      <a:r>
                        <a:rPr lang="en-GB" sz="1100" dirty="0"/>
                        <a:t>Steven</a:t>
                      </a:r>
                      <a:endParaRPr sz="1100" dirty="0"/>
                    </a:p>
                  </a:txBody>
                  <a:tcPr/>
                </a:tc>
                <a:tc>
                  <a:txBody>
                    <a:bodyPr/>
                    <a:lstStyle/>
                    <a:p>
                      <a:r>
                        <a:rPr sz="1100" b="1">
                          <a:solidFill>
                            <a:srgbClr val="2E7D32"/>
                          </a:solidFill>
                        </a:rPr>
                        <a:t>High</a:t>
                      </a:r>
                    </a:p>
                  </a:txBody>
                  <a:tcPr/>
                </a:tc>
                <a:extLst>
                  <a:ext uri="{0D108BD9-81ED-4DB2-BD59-A6C34878D82A}">
                    <a16:rowId xmlns:a16="http://schemas.microsoft.com/office/drawing/2014/main" val="10004"/>
                  </a:ext>
                </a:extLst>
              </a:tr>
              <a:tr h="426339">
                <a:tc>
                  <a:txBody>
                    <a:bodyPr/>
                    <a:lstStyle/>
                    <a:p>
                      <a:r>
                        <a:rPr sz="1100"/>
                        <a:t>W5</a:t>
                      </a:r>
                    </a:p>
                  </a:txBody>
                  <a:tcPr/>
                </a:tc>
                <a:tc>
                  <a:txBody>
                    <a:bodyPr/>
                    <a:lstStyle/>
                    <a:p>
                      <a:r>
                        <a:rPr sz="1100"/>
                        <a:t>Category depth beyond two levels</a:t>
                      </a:r>
                    </a:p>
                  </a:txBody>
                  <a:tcPr/>
                </a:tc>
                <a:tc>
                  <a:txBody>
                    <a:bodyPr/>
                    <a:lstStyle/>
                    <a:p>
                      <a:r>
                        <a:rPr lang="en-GB" sz="1100" dirty="0"/>
                        <a:t>Carry the UK’s 3–4-level depth across to DE and IE</a:t>
                      </a:r>
                      <a:endParaRPr sz="1100" dirty="0"/>
                    </a:p>
                  </a:txBody>
                  <a:tcPr/>
                </a:tc>
                <a:tc>
                  <a:txBody>
                    <a:bodyPr/>
                    <a:lstStyle/>
                    <a:p>
                      <a:r>
                        <a:rPr sz="1100"/>
                        <a:t>Ray</a:t>
                      </a:r>
                    </a:p>
                  </a:txBody>
                  <a:tcPr/>
                </a:tc>
                <a:tc>
                  <a:txBody>
                    <a:bodyPr/>
                    <a:lstStyle/>
                    <a:p>
                      <a:r>
                        <a:rPr sz="1100" b="1">
                          <a:solidFill>
                            <a:srgbClr val="ED6F0B"/>
                          </a:solidFill>
                        </a:rPr>
                        <a:t>Medium</a:t>
                      </a:r>
                    </a:p>
                  </a:txBody>
                  <a:tcPr/>
                </a:tc>
                <a:extLst>
                  <a:ext uri="{0D108BD9-81ED-4DB2-BD59-A6C34878D82A}">
                    <a16:rowId xmlns:a16="http://schemas.microsoft.com/office/drawing/2014/main" val="10005"/>
                  </a:ext>
                </a:extLst>
              </a:tr>
              <a:tr h="426339">
                <a:tc>
                  <a:txBody>
                    <a:bodyPr/>
                    <a:lstStyle/>
                    <a:p>
                      <a:r>
                        <a:rPr sz="1100"/>
                        <a:t>W6</a:t>
                      </a:r>
                    </a:p>
                  </a:txBody>
                  <a:tcPr/>
                </a:tc>
                <a:tc>
                  <a:txBody>
                    <a:bodyPr/>
                    <a:lstStyle/>
                    <a:p>
                      <a:r>
                        <a:rPr sz="1100"/>
                        <a:t>LIA launch</a:t>
                      </a:r>
                    </a:p>
                  </a:txBody>
                  <a:tcPr/>
                </a:tc>
                <a:tc>
                  <a:txBody>
                    <a:bodyPr/>
                    <a:lstStyle/>
                    <a:p>
                      <a:r>
                        <a:rPr sz="1100" dirty="0"/>
                        <a:t>Schuh's dev team on the Merchant Center side; feed and campaign design already agreed</a:t>
                      </a:r>
                    </a:p>
                  </a:txBody>
                  <a:tcPr/>
                </a:tc>
                <a:tc>
                  <a:txBody>
                    <a:bodyPr/>
                    <a:lstStyle/>
                    <a:p>
                      <a:r>
                        <a:rPr sz="1100" dirty="0"/>
                        <a:t>Schuh dev / Ray</a:t>
                      </a:r>
                    </a:p>
                  </a:txBody>
                  <a:tcPr/>
                </a:tc>
                <a:tc>
                  <a:txBody>
                    <a:bodyPr/>
                    <a:lstStyle/>
                    <a:p>
                      <a:r>
                        <a:rPr sz="1100" b="1">
                          <a:solidFill>
                            <a:srgbClr val="ED6F0B"/>
                          </a:solidFill>
                        </a:rPr>
                        <a:t>Medium</a:t>
                      </a:r>
                    </a:p>
                  </a:txBody>
                  <a:tcPr/>
                </a:tc>
                <a:extLst>
                  <a:ext uri="{0D108BD9-81ED-4DB2-BD59-A6C34878D82A}">
                    <a16:rowId xmlns:a16="http://schemas.microsoft.com/office/drawing/2014/main" val="10006"/>
                  </a:ext>
                </a:extLst>
              </a:tr>
              <a:tr h="426339">
                <a:tc>
                  <a:txBody>
                    <a:bodyPr/>
                    <a:lstStyle/>
                    <a:p>
                      <a:r>
                        <a:rPr sz="1100"/>
                        <a:t>W7</a:t>
                      </a:r>
                    </a:p>
                  </a:txBody>
                  <a:tcPr/>
                </a:tc>
                <a:tc>
                  <a:txBody>
                    <a:bodyPr/>
                    <a:lstStyle/>
                    <a:p>
                      <a:r>
                        <a:rPr sz="1100"/>
                        <a:t>Conversational attributes to DE and IE</a:t>
                      </a:r>
                    </a:p>
                  </a:txBody>
                  <a:tcPr/>
                </a:tc>
                <a:tc>
                  <a:txBody>
                    <a:bodyPr/>
                    <a:lstStyle/>
                    <a:p>
                      <a:r>
                        <a:rPr sz="1100"/>
                        <a:t>Replicate the UK configuration — item_group_title and variant_option are built and proven</a:t>
                      </a:r>
                    </a:p>
                  </a:txBody>
                  <a:tcPr/>
                </a:tc>
                <a:tc>
                  <a:txBody>
                    <a:bodyPr/>
                    <a:lstStyle/>
                    <a:p>
                      <a:r>
                        <a:rPr sz="1100" dirty="0"/>
                        <a:t>Ray / Steven</a:t>
                      </a:r>
                    </a:p>
                  </a:txBody>
                  <a:tcPr/>
                </a:tc>
                <a:tc>
                  <a:txBody>
                    <a:bodyPr/>
                    <a:lstStyle/>
                    <a:p>
                      <a:r>
                        <a:rPr sz="1100" b="1">
                          <a:solidFill>
                            <a:srgbClr val="ED6F0B"/>
                          </a:solidFill>
                        </a:rPr>
                        <a:t>Medium</a:t>
                      </a:r>
                    </a:p>
                  </a:txBody>
                  <a:tcPr/>
                </a:tc>
                <a:extLst>
                  <a:ext uri="{0D108BD9-81ED-4DB2-BD59-A6C34878D82A}">
                    <a16:rowId xmlns:a16="http://schemas.microsoft.com/office/drawing/2014/main" val="10007"/>
                  </a:ext>
                </a:extLst>
              </a:tr>
              <a:tr h="426339">
                <a:tc>
                  <a:txBody>
                    <a:bodyPr/>
                    <a:lstStyle/>
                    <a:p>
                      <a:r>
                        <a:rPr sz="1100"/>
                        <a:t>W8</a:t>
                      </a:r>
                    </a:p>
                  </a:txBody>
                  <a:tcPr/>
                </a:tc>
                <a:tc>
                  <a:txBody>
                    <a:bodyPr/>
                    <a:lstStyle/>
                    <a:p>
                      <a:r>
                        <a:rPr lang="en-GB" sz="1100" dirty="0"/>
                        <a:t>Overlay test for both PPC &amp; Social</a:t>
                      </a:r>
                      <a:endParaRPr sz="1100" dirty="0"/>
                    </a:p>
                  </a:txBody>
                  <a:tcPr/>
                </a:tc>
                <a:tc>
                  <a:txBody>
                    <a:bodyPr/>
                    <a:lstStyle/>
                    <a:p>
                      <a:r>
                        <a:rPr lang="en-GB" sz="1100" dirty="0"/>
                        <a:t>Kickstart the use of PPC overlay on both channels to yield higher CTR</a:t>
                      </a:r>
                      <a:endParaRPr sz="1100" dirty="0"/>
                    </a:p>
                  </a:txBody>
                  <a:tcPr/>
                </a:tc>
                <a:tc>
                  <a:txBody>
                    <a:bodyPr/>
                    <a:lstStyle/>
                    <a:p>
                      <a:r>
                        <a:rPr lang="en-GB" sz="1100" dirty="0"/>
                        <a:t>Mia / Ray</a:t>
                      </a:r>
                      <a:endParaRPr sz="1100" dirty="0"/>
                    </a:p>
                  </a:txBody>
                  <a:tcPr/>
                </a:tc>
                <a:tc>
                  <a:txBody>
                    <a:bodyPr/>
                    <a:lstStyle/>
                    <a:p>
                      <a:r>
                        <a:rPr sz="1100" b="1" dirty="0" err="1">
                          <a:solidFill>
                            <a:srgbClr val="ED6F0B"/>
                          </a:solidFill>
                        </a:rPr>
                        <a:t>Mediu</a:t>
                      </a:r>
                      <a:r>
                        <a:rPr lang="en-GB" sz="1100" b="1" dirty="0">
                          <a:solidFill>
                            <a:srgbClr val="ED6F0B"/>
                          </a:solidFill>
                        </a:rPr>
                        <a:t>m</a:t>
                      </a:r>
                    </a:p>
                  </a:txBody>
                  <a:tcPr/>
                </a:tc>
                <a:extLst>
                  <a:ext uri="{0D108BD9-81ED-4DB2-BD59-A6C34878D82A}">
                    <a16:rowId xmlns:a16="http://schemas.microsoft.com/office/drawing/2014/main" val="10008"/>
                  </a:ext>
                </a:extLst>
              </a:tr>
            </a:tbl>
          </a:graphicData>
        </a:graphic>
      </p:graphicFrame>
      <p:sp>
        <p:nvSpPr>
          <p:cNvPr id="7" name="Rectangle 6">
            <a:extLst>
              <a:ext uri="{FF2B5EF4-FFF2-40B4-BE49-F238E27FC236}">
                <a16:creationId xmlns:a16="http://schemas.microsoft.com/office/drawing/2014/main" id="{48D8144B-5B71-A146-F223-3362E64160E6}"/>
              </a:ext>
            </a:extLst>
          </p:cNvPr>
          <p:cNvSpPr/>
          <p:nvPr/>
        </p:nvSpPr>
        <p:spPr>
          <a:xfrm>
            <a:off x="526774" y="5724939"/>
            <a:ext cx="11099906" cy="60628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p:nvPr>
        </p:nvSpPr>
        <p:spPr/>
        <p:txBody>
          <a:bodyPr wrap="square"/>
          <a:lstStyle/>
          <a:p>
            <a:r>
              <a:t>Chapter eight</a:t>
            </a:r>
          </a:p>
        </p:txBody>
      </p:sp>
      <p:sp>
        <p:nvSpPr>
          <p:cNvPr id="3" name="Title 2"/>
          <p:cNvSpPr>
            <a:spLocks noGrp="1"/>
          </p:cNvSpPr>
          <p:nvPr>
            <p:ph type="title"/>
          </p:nvPr>
        </p:nvSpPr>
        <p:spPr/>
        <p:txBody>
          <a:bodyPr wrap="square"/>
          <a:lstStyle/>
          <a:p>
            <a:r>
              <a:t>Spark AI engine (Tachyon)</a:t>
            </a:r>
          </a:p>
        </p:txBody>
      </p:sp>
      <p:sp>
        <p:nvSpPr>
          <p:cNvPr id="4" name="Text Placeholder 3"/>
          <p:cNvSpPr>
            <a:spLocks noGrp="1"/>
          </p:cNvSpPr>
          <p:nvPr>
            <p:ph type="body" idx="1"/>
          </p:nvPr>
        </p:nvSpPr>
        <p:spPr/>
        <p:txBody>
          <a:bodyPr wrap="square"/>
          <a:lstStyle/>
          <a:p>
            <a:r>
              <a:t>Intent generation, description enrichment and visual attribute harvest — run on a real SKU from today’s UK feed.</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rPr dirty="0"/>
              <a:t>SparkAI engine</a:t>
            </a:r>
          </a:p>
        </p:txBody>
      </p:sp>
      <p:sp>
        <p:nvSpPr>
          <p:cNvPr id="4" name="Text Placeholder 3"/>
          <p:cNvSpPr>
            <a:spLocks noGrp="1"/>
          </p:cNvSpPr>
          <p:nvPr>
            <p:ph type="body" idx="1"/>
          </p:nvPr>
        </p:nvSpPr>
        <p:spPr/>
        <p:txBody>
          <a:bodyPr wrap="square"/>
          <a:lstStyle/>
          <a:p>
            <a:r>
              <a:rPr lang="en-GB" sz="1639" dirty="0"/>
              <a:t>[Search Intent] generation</a:t>
            </a:r>
            <a:endParaRPr sz="1639" dirty="0"/>
          </a:p>
        </p:txBody>
      </p:sp>
      <p:sp>
        <p:nvSpPr>
          <p:cNvPr id="5" name="Text Placeholder 4"/>
          <p:cNvSpPr>
            <a:spLocks noGrp="1"/>
          </p:cNvSpPr>
          <p:nvPr>
            <p:ph type="body" idx="2"/>
          </p:nvPr>
        </p:nvSpPr>
        <p:spPr/>
        <p:txBody>
          <a:bodyPr wrap="square">
            <a:normAutofit fontScale="92500" lnSpcReduction="20000"/>
          </a:bodyPr>
          <a:lstStyle/>
          <a:p>
            <a:r>
              <a:rPr sz="1310" dirty="0"/>
              <a:t>A real SKU from today's UK feed. Input: Black · Patent Leather · Heart Detail · Girls · £60 · School Shoes</a:t>
            </a:r>
          </a:p>
          <a:p>
            <a:r>
              <a:rPr sz="1310" dirty="0"/>
              <a:t>Title today (60 chars):</a:t>
            </a:r>
          </a:p>
          <a:p>
            <a:r>
              <a:rPr sz="1310" dirty="0"/>
              <a:t>“Lelli Kelly Girls Sabrina Scarpa School Shoes in Black, Heart Detail, Patent Leather, Size: 12”</a:t>
            </a:r>
          </a:p>
          <a:p>
            <a:r>
              <a:rPr sz="1310" dirty="0"/>
              <a:t>Intent terms Tachyon would generate:</a:t>
            </a:r>
          </a:p>
          <a:p>
            <a:r>
              <a:rPr sz="1310" dirty="0"/>
              <a:t>“patent leather school shoes girls size 12” </a:t>
            </a:r>
            <a:endParaRPr lang="en-GB" sz="1310" dirty="0"/>
          </a:p>
          <a:p>
            <a:r>
              <a:rPr sz="1310" dirty="0"/>
              <a:t>“black school shoes with heart detail” </a:t>
            </a:r>
            <a:endParaRPr lang="en-GB" sz="1310" dirty="0"/>
          </a:p>
          <a:p>
            <a:r>
              <a:rPr sz="1310" dirty="0"/>
              <a:t>“</a:t>
            </a:r>
            <a:r>
              <a:rPr sz="1310" dirty="0" err="1"/>
              <a:t>lelli</a:t>
            </a:r>
            <a:r>
              <a:rPr sz="1310" dirty="0"/>
              <a:t> </a:t>
            </a:r>
            <a:r>
              <a:rPr sz="1310" dirty="0" err="1"/>
              <a:t>kelly</a:t>
            </a:r>
            <a:r>
              <a:rPr sz="1310" dirty="0"/>
              <a:t> first day of school shoes”</a:t>
            </a:r>
            <a:endParaRPr lang="en-GB" sz="1310" dirty="0"/>
          </a:p>
          <a:p>
            <a:r>
              <a:rPr sz="1310" dirty="0"/>
              <a:t>20–40 generated per SKU, top 4–6 used. The occasion language — school, first day — is exactly the lever that returned the largest gains on comparable accounts in chapter 06.</a:t>
            </a:r>
          </a:p>
        </p:txBody>
      </p:sp>
      <p:sp>
        <p:nvSpPr>
          <p:cNvPr id="6" name="Text Placeholder 5"/>
          <p:cNvSpPr>
            <a:spLocks noGrp="1"/>
          </p:cNvSpPr>
          <p:nvPr>
            <p:ph type="body" idx="3"/>
          </p:nvPr>
        </p:nvSpPr>
        <p:spPr/>
        <p:txBody>
          <a:bodyPr wrap="square"/>
          <a:lstStyle/>
          <a:p>
            <a:r>
              <a:rPr lang="en-GB" sz="1760" dirty="0"/>
              <a:t>Visual [Product Details] extraction</a:t>
            </a:r>
            <a:endParaRPr sz="1760" dirty="0"/>
          </a:p>
        </p:txBody>
      </p:sp>
      <p:sp>
        <p:nvSpPr>
          <p:cNvPr id="7" name="Text Placeholder 6"/>
          <p:cNvSpPr>
            <a:spLocks noGrp="1"/>
          </p:cNvSpPr>
          <p:nvPr>
            <p:ph type="body" idx="4"/>
          </p:nvPr>
        </p:nvSpPr>
        <p:spPr/>
        <p:txBody>
          <a:bodyPr wrap="square"/>
          <a:lstStyle/>
          <a:p>
            <a:r>
              <a:rPr sz="1500" dirty="0"/>
              <a:t>Tier 3 normally waits on imagery.</a:t>
            </a:r>
            <a:endParaRPr lang="en-GB" sz="1500" dirty="0"/>
          </a:p>
          <a:p>
            <a:r>
              <a:rPr sz="1500" dirty="0"/>
              <a:t>Vision models read those images for the attributes the feed is thinnest on — material at 17.4% and pattern at 15.9% in the UK, and 7.5% / 4.5% in Ireland. Both are visible in a product photograph.</a:t>
            </a:r>
          </a:p>
          <a:p>
            <a:r>
              <a:rPr sz="1500" dirty="0"/>
              <a:t>The raw material for the most differentiated part of the stack is already sitting in the feed, complete, today.</a:t>
            </a:r>
          </a:p>
        </p:txBody>
      </p:sp>
      <p:sp>
        <p:nvSpPr>
          <p:cNvPr id="8" name="Rectangle 7">
            <a:extLst>
              <a:ext uri="{FF2B5EF4-FFF2-40B4-BE49-F238E27FC236}">
                <a16:creationId xmlns:a16="http://schemas.microsoft.com/office/drawing/2014/main" id="{B5491BB3-22B6-7F35-5636-684D43431F33}"/>
              </a:ext>
            </a:extLst>
          </p:cNvPr>
          <p:cNvSpPr/>
          <p:nvPr/>
        </p:nvSpPr>
        <p:spPr>
          <a:xfrm>
            <a:off x="526774" y="5724939"/>
            <a:ext cx="11099906" cy="60628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0" name="Picture 9">
            <a:extLst>
              <a:ext uri="{FF2B5EF4-FFF2-40B4-BE49-F238E27FC236}">
                <a16:creationId xmlns:a16="http://schemas.microsoft.com/office/drawing/2014/main" id="{520782BE-916A-5B29-6E83-C5D087F6DF5E}"/>
              </a:ext>
            </a:extLst>
          </p:cNvPr>
          <p:cNvPicPr>
            <a:picLocks noChangeAspect="1"/>
          </p:cNvPicPr>
          <p:nvPr/>
        </p:nvPicPr>
        <p:blipFill>
          <a:blip r:embed="rId2"/>
          <a:stretch>
            <a:fillRect/>
          </a:stretch>
        </p:blipFill>
        <p:spPr>
          <a:xfrm>
            <a:off x="3737112" y="286760"/>
            <a:ext cx="6287194" cy="1138301"/>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idx="1"/>
          </p:nvPr>
        </p:nvSpPr>
        <p:spPr/>
        <p:txBody>
          <a:bodyPr wrap="square"/>
          <a:lstStyle/>
          <a:p>
            <a:r>
              <a:rPr sz="2620"/>
              <a:t>Every structural win here — titles rewritten across three markets, identifiers and sizing at 100%, four images per product, margin banded on every UK SKU — is one pattern: fuller, more decomposable data, applied as a rule not a task. Tachyon and the attribute rollout are the next steps on that line.</a:t>
            </a:r>
          </a:p>
        </p:txBody>
      </p:sp>
      <p:sp>
        <p:nvSpPr>
          <p:cNvPr id="3" name="Text Placeholder 2"/>
          <p:cNvSpPr>
            <a:spLocks noGrp="1"/>
          </p:cNvSpPr>
          <p:nvPr>
            <p:ph type="body" idx="11"/>
          </p:nvPr>
        </p:nvSpPr>
        <p:spPr/>
        <p:txBody>
          <a:bodyPr wrap="square"/>
          <a:lstStyle/>
          <a:p>
            <a:r>
              <a:t>The through-line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lstStyle/>
          <a:p>
            <a:r>
              <a:t>Questions?</a:t>
            </a:r>
          </a:p>
        </p:txBody>
      </p:sp>
      <p:sp>
        <p:nvSpPr>
          <p:cNvPr id="3" name="Text Placeholder 2"/>
          <p:cNvSpPr>
            <a:spLocks noGrp="1"/>
          </p:cNvSpPr>
          <p:nvPr>
            <p:ph type="body" idx="1"/>
          </p:nvPr>
        </p:nvSpPr>
        <p:spPr/>
        <p:txBody>
          <a:bodyPr wrap="square"/>
          <a:lstStyle/>
          <a:p>
            <a:r>
              <a:t>Ray Vũ</a:t>
            </a:r>
          </a:p>
        </p:txBody>
      </p:sp>
      <p:sp>
        <p:nvSpPr>
          <p:cNvPr id="4" name="Text Placeholder 3"/>
          <p:cNvSpPr>
            <a:spLocks noGrp="1"/>
          </p:cNvSpPr>
          <p:nvPr>
            <p:ph type="body" idx="11"/>
          </p:nvPr>
        </p:nvSpPr>
        <p:spPr/>
        <p:txBody>
          <a:bodyPr wrap="square"/>
          <a:lstStyle/>
          <a:p>
            <a:r>
              <a:t>Senior Account Manager</a:t>
            </a:r>
          </a:p>
        </p:txBody>
      </p:sp>
      <p:sp>
        <p:nvSpPr>
          <p:cNvPr id="5" name="Text Placeholder 4"/>
          <p:cNvSpPr>
            <a:spLocks noGrp="1"/>
          </p:cNvSpPr>
          <p:nvPr>
            <p:ph type="body" idx="2"/>
          </p:nvPr>
        </p:nvSpPr>
        <p:spPr/>
        <p:txBody>
          <a:bodyPr wrap="square"/>
          <a:lstStyle/>
          <a:p>
            <a:r>
              <a:t>ray@feedspark.com</a:t>
            </a:r>
          </a:p>
        </p:txBody>
      </p:sp>
      <p:sp>
        <p:nvSpPr>
          <p:cNvPr id="6" name="Text Placeholder 5"/>
          <p:cNvSpPr>
            <a:spLocks noGrp="1"/>
          </p:cNvSpPr>
          <p:nvPr>
            <p:ph type="body" idx="3"/>
          </p:nvPr>
        </p:nvSpPr>
        <p:spPr/>
        <p:txBody>
          <a:bodyPr wrap="square"/>
          <a:lstStyle/>
          <a:p>
            <a:r>
              <a:t>Also on the account</a:t>
            </a:r>
          </a:p>
        </p:txBody>
      </p:sp>
      <p:sp>
        <p:nvSpPr>
          <p:cNvPr id="7" name="Text Placeholder 6"/>
          <p:cNvSpPr>
            <a:spLocks noGrp="1"/>
          </p:cNvSpPr>
          <p:nvPr>
            <p:ph type="body" idx="4"/>
          </p:nvPr>
        </p:nvSpPr>
        <p:spPr/>
        <p:txBody>
          <a:bodyPr wrap="square"/>
          <a:lstStyle/>
          <a:p>
            <a:r>
              <a:t>Steven Opuni — steven@feedspark.com</a:t>
            </a:r>
          </a:p>
          <a:p>
            <a:r>
              <a:t>Schuh team — schuh@feedspark.com</a:t>
            </a:r>
          </a:p>
        </p:txBody>
      </p:sp>
    </p:spTree>
  </p:cSld>
  <p:clrMapOvr>
    <a:masterClrMapping/>
  </p:clrMapOvr>
</p:sld>
</file>

<file path=ppt/theme/theme1.xml><?xml version="1.0" encoding="utf-8"?>
<a:theme xmlns:a="http://schemas.openxmlformats.org/drawingml/2006/main" name="Office Theme">
  <a:themeElements>
    <a:clrScheme name="FeedSpark Modern">
      <a:dk1>
        <a:srgbClr val="0F172A"/>
      </a:dk1>
      <a:lt1>
        <a:srgbClr val="FFFFFF"/>
      </a:lt1>
      <a:dk2>
        <a:srgbClr val="1E293B"/>
      </a:dk2>
      <a:lt2>
        <a:srgbClr val="F8FAFC"/>
      </a:lt2>
      <a:accent1>
        <a:srgbClr val="F7941E"/>
      </a:accent1>
      <a:accent2>
        <a:srgbClr val="0F172A"/>
      </a:accent2>
      <a:accent3>
        <a:srgbClr val="3B82F6"/>
      </a:accent3>
      <a:accent4>
        <a:srgbClr val="10B981"/>
      </a:accent4>
      <a:accent5>
        <a:srgbClr val="8B5CF6"/>
      </a:accent5>
      <a:accent6>
        <a:srgbClr val="EC4899"/>
      </a:accent6>
      <a:hlink>
        <a:srgbClr val="F7941E"/>
      </a:hlink>
      <a:folHlink>
        <a:srgbClr val="94A3B8"/>
      </a:folHlink>
    </a:clrScheme>
    <a:fontScheme name="FeedSpark Modern">
      <a:majorFont>
        <a:latin typeface="Inter" panose="02110004020202020204"/>
        <a:ea typeface=""/>
        <a:cs typeface=""/>
      </a:majorFont>
      <a:minorFont>
        <a:latin typeface="Inter" panose="0211000402020202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232</TotalTime>
  <Words>2542</Words>
  <Application>Microsoft Office PowerPoint</Application>
  <PresentationFormat>Widescreen</PresentationFormat>
  <Paragraphs>336</Paragraphs>
  <Slides>31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Arial</vt:lpstr>
      <vt:lpstr>Inter</vt:lpstr>
      <vt:lpstr>Interbody</vt:lpstr>
      <vt:lpstr>Office Theme</vt:lpstr>
      <vt:lpstr>Schuh</vt:lpstr>
      <vt:lpstr>PowerPoint Presentation</vt:lpstr>
      <vt:lpstr>What we'll cover</vt:lpstr>
      <vt:lpstr>Review &amp; project recap</vt:lpstr>
      <vt:lpstr>Scheduled Works</vt:lpstr>
      <vt:lpstr>Review &amp; project recap (cont.)</vt:lpstr>
      <vt:lpstr>Review &amp; project recap (cont.)</vt:lpstr>
      <vt:lpstr>Hours Allocation</vt:lpstr>
      <vt:lpstr>Hours Allocation</vt:lpstr>
      <vt:lpstr>Channel coverage</vt:lpstr>
      <vt:lpstr>Service coverage</vt:lpstr>
      <vt:lpstr>New products volume</vt:lpstr>
      <vt:lpstr>Number of wins / results</vt:lpstr>
      <vt:lpstr>Number of wins / results</vt:lpstr>
      <vt:lpstr>A/B Test Archive </vt:lpstr>
      <vt:lpstr>Feed optimisation score (let’s dissect real-time !)</vt:lpstr>
      <vt:lpstr>Required Attributes (Footwear)</vt:lpstr>
      <vt:lpstr>Recommended Attributes (Footwear)</vt:lpstr>
      <vt:lpstr>Content Quality  </vt:lpstr>
      <vt:lpstr>AI readiness</vt:lpstr>
      <vt:lpstr>Google conversational attributes</vt:lpstr>
      <vt:lpstr>AI readiness </vt:lpstr>
      <vt:lpstr>Golden Score &amp; AI Readiness</vt:lpstr>
      <vt:lpstr>Case studies / test wins</vt:lpstr>
      <vt:lpstr>Case studies / test wins</vt:lpstr>
      <vt:lpstr>Roadmap / next quarter</vt:lpstr>
      <vt:lpstr>Roadmap / next quarter</vt:lpstr>
      <vt:lpstr>Roadmap / next quarter (cont.)</vt:lpstr>
      <vt:lpstr>SparkAI engine</vt:lpstr>
      <vt:lpstr>PowerPoint Presentation</vt:lpstr>
      <vt:lpstr>Questions?</vt:lpstr>
    </vt:vector>
  </TitlesOfParts>
  <Company>FeedSpark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FeedSpark Template</dc:title>
  <dc:creator>FeedSpark</dc:creator>
  <cp:lastModifiedBy>Ray Vu</cp:lastModifiedBy>
  <cp:revision>19</cp:revision>
  <dcterms:modified xsi:type="dcterms:W3CDTF">2026-09-24T09:49:26Z</dcterms:modified>
</cp:coreProperties>
</file>