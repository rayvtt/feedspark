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GB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Master</c:v>
                </c:pt>
              </c:strCache>
            </c:strRef>
          </c:tx>
          <c:spPr>
            <a:solidFill>
              <a:srgbClr val="9AA3AE"/>
            </a:solidFill>
          </c:spPr>
          <c:cat>
            <c:strRef>
              <c:f>Sheet1!$A$2:$A$31</c:f>
              <c:strCache>
                <c:ptCount val="30"/>
                <c:pt idx="0">
                  <c:v>CH</c:v>
                </c:pt>
                <c:pt idx="1">
                  <c:v>DK</c:v>
                </c:pt>
                <c:pt idx="2">
                  <c:v>SE</c:v>
                </c:pt>
                <c:pt idx="3">
                  <c:v>QA</c:v>
                </c:pt>
                <c:pt idx="4">
                  <c:v>SG</c:v>
                </c:pt>
                <c:pt idx="5">
                  <c:v>PT</c:v>
                </c:pt>
                <c:pt idx="6">
                  <c:v>PL</c:v>
                </c:pt>
                <c:pt idx="7">
                  <c:v>IT</c:v>
                </c:pt>
                <c:pt idx="8">
                  <c:v>GR</c:v>
                </c:pt>
                <c:pt idx="9">
                  <c:v>BE</c:v>
                </c:pt>
                <c:pt idx="10">
                  <c:v>AT</c:v>
                </c:pt>
                <c:pt idx="11">
                  <c:v>RO</c:v>
                </c:pt>
                <c:pt idx="12">
                  <c:v>KW</c:v>
                </c:pt>
                <c:pt idx="13">
                  <c:v>FI</c:v>
                </c:pt>
                <c:pt idx="14">
                  <c:v>CZ</c:v>
                </c:pt>
                <c:pt idx="15">
                  <c:v>HK</c:v>
                </c:pt>
                <c:pt idx="16">
                  <c:v>SK</c:v>
                </c:pt>
                <c:pt idx="17">
                  <c:v>SA</c:v>
                </c:pt>
                <c:pt idx="18">
                  <c:v>IL</c:v>
                </c:pt>
                <c:pt idx="19">
                  <c:v>FR</c:v>
                </c:pt>
                <c:pt idx="20">
                  <c:v>UAE</c:v>
                </c:pt>
                <c:pt idx="21">
                  <c:v>DE</c:v>
                </c:pt>
                <c:pt idx="22">
                  <c:v>NL</c:v>
                </c:pt>
                <c:pt idx="23">
                  <c:v>AU</c:v>
                </c:pt>
                <c:pt idx="24">
                  <c:v>EU</c:v>
                </c:pt>
                <c:pt idx="25">
                  <c:v>ES</c:v>
                </c:pt>
                <c:pt idx="26">
                  <c:v>IE</c:v>
                </c:pt>
                <c:pt idx="27">
                  <c:v>CA</c:v>
                </c:pt>
                <c:pt idx="28">
                  <c:v>US</c:v>
                </c:pt>
                <c:pt idx="29">
                  <c:v>GB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22.5</c:v>
                </c:pt>
                <c:pt idx="1">
                  <c:v>21.5</c:v>
                </c:pt>
                <c:pt idx="2">
                  <c:v>21.4</c:v>
                </c:pt>
                <c:pt idx="3">
                  <c:v>21.4</c:v>
                </c:pt>
                <c:pt idx="4">
                  <c:v>21.4</c:v>
                </c:pt>
                <c:pt idx="5">
                  <c:v>21.5</c:v>
                </c:pt>
                <c:pt idx="6">
                  <c:v>21.5</c:v>
                </c:pt>
                <c:pt idx="7">
                  <c:v>21.5</c:v>
                </c:pt>
                <c:pt idx="8">
                  <c:v>21.5</c:v>
                </c:pt>
                <c:pt idx="9">
                  <c:v>21.5</c:v>
                </c:pt>
                <c:pt idx="10">
                  <c:v>21.5</c:v>
                </c:pt>
                <c:pt idx="11">
                  <c:v>21.4</c:v>
                </c:pt>
                <c:pt idx="12">
                  <c:v>21.4</c:v>
                </c:pt>
                <c:pt idx="13">
                  <c:v>21.4</c:v>
                </c:pt>
                <c:pt idx="14">
                  <c:v>21.4</c:v>
                </c:pt>
                <c:pt idx="15">
                  <c:v>22.4</c:v>
                </c:pt>
                <c:pt idx="16">
                  <c:v>21.5</c:v>
                </c:pt>
                <c:pt idx="17">
                  <c:v>22.4</c:v>
                </c:pt>
                <c:pt idx="18">
                  <c:v>21.4</c:v>
                </c:pt>
                <c:pt idx="19">
                  <c:v>22.5</c:v>
                </c:pt>
                <c:pt idx="20">
                  <c:v>21.4</c:v>
                </c:pt>
                <c:pt idx="21">
                  <c:v>22.5</c:v>
                </c:pt>
                <c:pt idx="22">
                  <c:v>22.5</c:v>
                </c:pt>
                <c:pt idx="23">
                  <c:v>22.5</c:v>
                </c:pt>
                <c:pt idx="24">
                  <c:v>22.4</c:v>
                </c:pt>
                <c:pt idx="25">
                  <c:v>21.4</c:v>
                </c:pt>
                <c:pt idx="26">
                  <c:v>22.5</c:v>
                </c:pt>
                <c:pt idx="27">
                  <c:v>21.4</c:v>
                </c:pt>
                <c:pt idx="28">
                  <c:v>22.4</c:v>
                </c:pt>
                <c:pt idx="29">
                  <c:v>22.5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Populated</c:v>
                </c:pt>
              </c:strCache>
            </c:strRef>
          </c:tx>
          <c:spPr>
            <a:solidFill>
              <a:srgbClr val="15A070"/>
            </a:solidFill>
          </c:spPr>
          <c:cat>
            <c:strRef>
              <c:f>Sheet1!$A$2:$A$31</c:f>
              <c:strCache>
                <c:ptCount val="30"/>
                <c:pt idx="0">
                  <c:v>CH</c:v>
                </c:pt>
                <c:pt idx="1">
                  <c:v>DK</c:v>
                </c:pt>
                <c:pt idx="2">
                  <c:v>SE</c:v>
                </c:pt>
                <c:pt idx="3">
                  <c:v>QA</c:v>
                </c:pt>
                <c:pt idx="4">
                  <c:v>SG</c:v>
                </c:pt>
                <c:pt idx="5">
                  <c:v>PT</c:v>
                </c:pt>
                <c:pt idx="6">
                  <c:v>PL</c:v>
                </c:pt>
                <c:pt idx="7">
                  <c:v>IT</c:v>
                </c:pt>
                <c:pt idx="8">
                  <c:v>GR</c:v>
                </c:pt>
                <c:pt idx="9">
                  <c:v>BE</c:v>
                </c:pt>
                <c:pt idx="10">
                  <c:v>AT</c:v>
                </c:pt>
                <c:pt idx="11">
                  <c:v>RO</c:v>
                </c:pt>
                <c:pt idx="12">
                  <c:v>KW</c:v>
                </c:pt>
                <c:pt idx="13">
                  <c:v>FI</c:v>
                </c:pt>
                <c:pt idx="14">
                  <c:v>CZ</c:v>
                </c:pt>
                <c:pt idx="15">
                  <c:v>HK</c:v>
                </c:pt>
                <c:pt idx="16">
                  <c:v>SK</c:v>
                </c:pt>
                <c:pt idx="17">
                  <c:v>SA</c:v>
                </c:pt>
                <c:pt idx="18">
                  <c:v>IL</c:v>
                </c:pt>
                <c:pt idx="19">
                  <c:v>FR</c:v>
                </c:pt>
                <c:pt idx="20">
                  <c:v>UAE</c:v>
                </c:pt>
                <c:pt idx="21">
                  <c:v>DE</c:v>
                </c:pt>
                <c:pt idx="22">
                  <c:v>NL</c:v>
                </c:pt>
                <c:pt idx="23">
                  <c:v>AU</c:v>
                </c:pt>
                <c:pt idx="24">
                  <c:v>EU</c:v>
                </c:pt>
                <c:pt idx="25">
                  <c:v>ES</c:v>
                </c:pt>
                <c:pt idx="26">
                  <c:v>IE</c:v>
                </c:pt>
                <c:pt idx="27">
                  <c:v>CA</c:v>
                </c:pt>
                <c:pt idx="28">
                  <c:v>US</c:v>
                </c:pt>
                <c:pt idx="29">
                  <c:v>GB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1.0</c:v>
                </c:pt>
                <c:pt idx="4">
                  <c:v>0.0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0.1</c:v>
                </c:pt>
                <c:pt idx="18">
                  <c:v>1.1</c:v>
                </c:pt>
                <c:pt idx="19">
                  <c:v>1.1</c:v>
                </c:pt>
                <c:pt idx="20">
                  <c:v>1.1</c:v>
                </c:pt>
                <c:pt idx="21">
                  <c:v>1.1</c:v>
                </c:pt>
                <c:pt idx="22">
                  <c:v>1.1</c:v>
                </c:pt>
                <c:pt idx="23">
                  <c:v>0.1</c:v>
                </c:pt>
                <c:pt idx="24">
                  <c:v>1.0</c:v>
                </c:pt>
                <c:pt idx="25">
                  <c:v>1.1</c:v>
                </c:pt>
                <c:pt idx="26">
                  <c:v>1.1</c:v>
                </c:pt>
                <c:pt idx="27">
                  <c:v>1.1</c:v>
                </c:pt>
                <c:pt idx="28">
                  <c:v>1.1</c:v>
                </c:pt>
                <c:pt idx="29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Optimised</c:v>
                </c:pt>
              </c:strCache>
            </c:strRef>
          </c:tx>
          <c:spPr>
            <a:solidFill>
              <a:srgbClr val="ED6F0B"/>
            </a:solidFill>
          </c:spPr>
          <c:cat>
            <c:strRef>
              <c:f>Sheet1!$A$2:$A$31</c:f>
              <c:strCache>
                <c:ptCount val="30"/>
                <c:pt idx="0">
                  <c:v>CH</c:v>
                </c:pt>
                <c:pt idx="1">
                  <c:v>DK</c:v>
                </c:pt>
                <c:pt idx="2">
                  <c:v>SE</c:v>
                </c:pt>
                <c:pt idx="3">
                  <c:v>QA</c:v>
                </c:pt>
                <c:pt idx="4">
                  <c:v>SG</c:v>
                </c:pt>
                <c:pt idx="5">
                  <c:v>PT</c:v>
                </c:pt>
                <c:pt idx="6">
                  <c:v>PL</c:v>
                </c:pt>
                <c:pt idx="7">
                  <c:v>IT</c:v>
                </c:pt>
                <c:pt idx="8">
                  <c:v>GR</c:v>
                </c:pt>
                <c:pt idx="9">
                  <c:v>BE</c:v>
                </c:pt>
                <c:pt idx="10">
                  <c:v>AT</c:v>
                </c:pt>
                <c:pt idx="11">
                  <c:v>RO</c:v>
                </c:pt>
                <c:pt idx="12">
                  <c:v>KW</c:v>
                </c:pt>
                <c:pt idx="13">
                  <c:v>FI</c:v>
                </c:pt>
                <c:pt idx="14">
                  <c:v>CZ</c:v>
                </c:pt>
                <c:pt idx="15">
                  <c:v>HK</c:v>
                </c:pt>
                <c:pt idx="16">
                  <c:v>SK</c:v>
                </c:pt>
                <c:pt idx="17">
                  <c:v>SA</c:v>
                </c:pt>
                <c:pt idx="18">
                  <c:v>IL</c:v>
                </c:pt>
                <c:pt idx="19">
                  <c:v>FR</c:v>
                </c:pt>
                <c:pt idx="20">
                  <c:v>UAE</c:v>
                </c:pt>
                <c:pt idx="21">
                  <c:v>DE</c:v>
                </c:pt>
                <c:pt idx="22">
                  <c:v>NL</c:v>
                </c:pt>
                <c:pt idx="23">
                  <c:v>AU</c:v>
                </c:pt>
                <c:pt idx="24">
                  <c:v>EU</c:v>
                </c:pt>
                <c:pt idx="25">
                  <c:v>ES</c:v>
                </c:pt>
                <c:pt idx="26">
                  <c:v>IE</c:v>
                </c:pt>
                <c:pt idx="27">
                  <c:v>CA</c:v>
                </c:pt>
                <c:pt idx="28">
                  <c:v>US</c:v>
                </c:pt>
                <c:pt idx="29">
                  <c:v>GB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5.1</c:v>
                </c:pt>
                <c:pt idx="1">
                  <c:v>6.0</c:v>
                </c:pt>
                <c:pt idx="2">
                  <c:v>5.3</c:v>
                </c:pt>
                <c:pt idx="3">
                  <c:v>5.3</c:v>
                </c:pt>
                <c:pt idx="4">
                  <c:v>6.5</c:v>
                </c:pt>
                <c:pt idx="5">
                  <c:v>6.0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6.0</c:v>
                </c:pt>
                <c:pt idx="10">
                  <c:v>6.0</c:v>
                </c:pt>
                <c:pt idx="11">
                  <c:v>6.5</c:v>
                </c:pt>
                <c:pt idx="12">
                  <c:v>6.5</c:v>
                </c:pt>
                <c:pt idx="13">
                  <c:v>6.5</c:v>
                </c:pt>
                <c:pt idx="14">
                  <c:v>6.5</c:v>
                </c:pt>
                <c:pt idx="15">
                  <c:v>6.7</c:v>
                </c:pt>
                <c:pt idx="16">
                  <c:v>7.5</c:v>
                </c:pt>
                <c:pt idx="17">
                  <c:v>8.9</c:v>
                </c:pt>
                <c:pt idx="18">
                  <c:v>7.5</c:v>
                </c:pt>
                <c:pt idx="19">
                  <c:v>8.7</c:v>
                </c:pt>
                <c:pt idx="20">
                  <c:v>9.0</c:v>
                </c:pt>
                <c:pt idx="21">
                  <c:v>8.7</c:v>
                </c:pt>
                <c:pt idx="22">
                  <c:v>8.7</c:v>
                </c:pt>
                <c:pt idx="23">
                  <c:v>9.6</c:v>
                </c:pt>
                <c:pt idx="24">
                  <c:v>9.0</c:v>
                </c:pt>
                <c:pt idx="25">
                  <c:v>8.9</c:v>
                </c:pt>
                <c:pt idx="26">
                  <c:v>8.7</c:v>
                </c:pt>
                <c:pt idx="27">
                  <c:v>8.9</c:v>
                </c:pt>
                <c:pt idx="28">
                  <c:v>11.1</c:v>
                </c:pt>
                <c:pt idx="29">
                  <c:v>12.0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Enriched</c:v>
                </c:pt>
              </c:strCache>
            </c:strRef>
          </c:tx>
          <c:spPr>
            <a:solidFill>
              <a:srgbClr val="5B47C7"/>
            </a:solidFill>
          </c:spPr>
          <c:cat>
            <c:strRef>
              <c:f>Sheet1!$A$2:$A$31</c:f>
              <c:strCache>
                <c:ptCount val="30"/>
                <c:pt idx="0">
                  <c:v>CH</c:v>
                </c:pt>
                <c:pt idx="1">
                  <c:v>DK</c:v>
                </c:pt>
                <c:pt idx="2">
                  <c:v>SE</c:v>
                </c:pt>
                <c:pt idx="3">
                  <c:v>QA</c:v>
                </c:pt>
                <c:pt idx="4">
                  <c:v>SG</c:v>
                </c:pt>
                <c:pt idx="5">
                  <c:v>PT</c:v>
                </c:pt>
                <c:pt idx="6">
                  <c:v>PL</c:v>
                </c:pt>
                <c:pt idx="7">
                  <c:v>IT</c:v>
                </c:pt>
                <c:pt idx="8">
                  <c:v>GR</c:v>
                </c:pt>
                <c:pt idx="9">
                  <c:v>BE</c:v>
                </c:pt>
                <c:pt idx="10">
                  <c:v>AT</c:v>
                </c:pt>
                <c:pt idx="11">
                  <c:v>RO</c:v>
                </c:pt>
                <c:pt idx="12">
                  <c:v>KW</c:v>
                </c:pt>
                <c:pt idx="13">
                  <c:v>FI</c:v>
                </c:pt>
                <c:pt idx="14">
                  <c:v>CZ</c:v>
                </c:pt>
                <c:pt idx="15">
                  <c:v>HK</c:v>
                </c:pt>
                <c:pt idx="16">
                  <c:v>SK</c:v>
                </c:pt>
                <c:pt idx="17">
                  <c:v>SA</c:v>
                </c:pt>
                <c:pt idx="18">
                  <c:v>IL</c:v>
                </c:pt>
                <c:pt idx="19">
                  <c:v>FR</c:v>
                </c:pt>
                <c:pt idx="20">
                  <c:v>UAE</c:v>
                </c:pt>
                <c:pt idx="21">
                  <c:v>DE</c:v>
                </c:pt>
                <c:pt idx="22">
                  <c:v>NL</c:v>
                </c:pt>
                <c:pt idx="23">
                  <c:v>AU</c:v>
                </c:pt>
                <c:pt idx="24">
                  <c:v>EU</c:v>
                </c:pt>
                <c:pt idx="25">
                  <c:v>ES</c:v>
                </c:pt>
                <c:pt idx="26">
                  <c:v>IE</c:v>
                </c:pt>
                <c:pt idx="27">
                  <c:v>CA</c:v>
                </c:pt>
                <c:pt idx="28">
                  <c:v>US</c:v>
                </c:pt>
                <c:pt idx="29">
                  <c:v>GB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2.2</c:v>
                </c:pt>
                <c:pt idx="1">
                  <c:v>2.7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2.7</c:v>
                </c:pt>
                <c:pt idx="6">
                  <c:v>2.7</c:v>
                </c:pt>
                <c:pt idx="7">
                  <c:v>2.7</c:v>
                </c:pt>
                <c:pt idx="8">
                  <c:v>2.7</c:v>
                </c:pt>
                <c:pt idx="9">
                  <c:v>2.7</c:v>
                </c:pt>
                <c:pt idx="10">
                  <c:v>2.7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3.1</c:v>
                </c:pt>
                <c:pt idx="16">
                  <c:v>2.5</c:v>
                </c:pt>
                <c:pt idx="17">
                  <c:v>2.4</c:v>
                </c:pt>
                <c:pt idx="18">
                  <c:v>3.3</c:v>
                </c:pt>
                <c:pt idx="19">
                  <c:v>2.5</c:v>
                </c:pt>
                <c:pt idx="20">
                  <c:v>2.8</c:v>
                </c:pt>
                <c:pt idx="21">
                  <c:v>3.1</c:v>
                </c:pt>
                <c:pt idx="22">
                  <c:v>3.5</c:v>
                </c:pt>
                <c:pt idx="23">
                  <c:v>3.7</c:v>
                </c:pt>
                <c:pt idx="24">
                  <c:v>3.4</c:v>
                </c:pt>
                <c:pt idx="25">
                  <c:v>3.4</c:v>
                </c:pt>
                <c:pt idx="26">
                  <c:v>3.7</c:v>
                </c:pt>
                <c:pt idx="27">
                  <c:v>3.7</c:v>
                </c:pt>
                <c:pt idx="28">
                  <c:v>5.3</c:v>
                </c:pt>
                <c:pt idx="29">
                  <c:v>5.3</c:v>
                </c:pt>
              </c:numCache>
            </c:numRef>
          </c:val>
        </c:ser>
        <c:dLbls>
          <c:numFmt formatCode="[&lt;2]&quot;&quot;;0.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76767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C6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D6F0B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A623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0F172A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94A3B8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Urgent &amp; critical · 229 h</c:v>
                </c:pt>
                <c:pt idx="1">
                  <c:v>Technical fixes · 727 h</c:v>
                </c:pt>
                <c:pt idx="2">
                  <c:v>Calls &amp; strategy · 153 h</c:v>
                </c:pt>
                <c:pt idx="3">
                  <c:v>Optimisation · 3,644 h</c:v>
                </c:pt>
                <c:pt idx="4">
                  <c:v>Set-up &amp; new markets · 598 h</c:v>
                </c:pt>
                <c:pt idx="5">
                  <c:v>Account &amp; support · 941 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229.25</c:v>
                </c:pt>
                <c:pt idx="1">
                  <c:v>727.25</c:v>
                </c:pt>
                <c:pt idx="2">
                  <c:v>152.5</c:v>
                </c:pt>
                <c:pt idx="3">
                  <c:v>3644.25</c:v>
                </c:pt>
                <c:pt idx="4">
                  <c:v>597.5</c:v>
                </c:pt>
                <c:pt idx="5">
                  <c:v>940.75</c:v>
                </c:pt>
              </c:numCache>
            </c:numRef>
          </c:val>
        </c:ser>
        <c:dLbls>
          <c:numFmt formatCode="[&lt;0.05]&quot;&quot;;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8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Inter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828800"/>
            <a:ext cx="43560" cy="274104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9599040" cy="13694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4000"/>
              </a:lnSpc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3300000"/>
            <a:ext cx="959904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20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Date / Prepared by"/>
          <p:cNvSpPr>
            <a:spLocks noGrp="1"/>
          </p:cNvSpPr>
          <p:nvPr>
            <p:ph type="body" idx="11"/>
          </p:nvPr>
        </p:nvSpPr>
        <p:spPr>
          <a:xfrm>
            <a:off x="914400" y="4150000"/>
            <a:ext cx="9599040" cy="3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14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Marker">
    <p:bg>
      <p:bgPr>
        <a:solidFill>
          <a:srgbClr val="F79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Circle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mallCircle"/>
          <p:cNvSpPr/>
          <p:nvPr/>
        </p:nvSpPr>
        <p:spPr>
          <a:xfrm>
            <a:off x="10058400" y="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77240" y="1828800"/>
            <a:ext cx="45720" cy="228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Section Label"/>
          <p:cNvSpPr>
            <a:spLocks noGrp="1"/>
          </p:cNvSpPr>
          <p:nvPr>
            <p:ph type="body" idx="11"/>
          </p:nvPr>
        </p:nvSpPr>
        <p:spPr>
          <a:xfrm>
            <a:off x="960120" y="1874520"/>
            <a:ext cx="5486400" cy="3200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0" i="0" spc="40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ection Title"/>
          <p:cNvSpPr>
            <a:spLocks noGrp="1"/>
          </p:cNvSpPr>
          <p:nvPr>
            <p:ph type="title"/>
          </p:nvPr>
        </p:nvSpPr>
        <p:spPr>
          <a:xfrm>
            <a:off x="960120" y="2194560"/>
            <a:ext cx="10058400" cy="1371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defRPr sz="48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ection Subtitle"/>
          <p:cNvSpPr>
            <a:spLocks noGrp="1"/>
          </p:cNvSpPr>
          <p:nvPr>
            <p:ph type="body" idx="1"/>
          </p:nvPr>
        </p:nvSpPr>
        <p:spPr>
          <a:xfrm>
            <a:off x="960120" y="3657600"/>
            <a:ext cx="9601200" cy="5486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FFE4C4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FeedSpark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1097304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Left 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25200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, Content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Image"/>
          <p:cNvSpPr>
            <a:spLocks noGrp="1"/>
          </p:cNvSpPr>
          <p:nvPr>
            <p:ph type="pic" idx="1"/>
          </p:nvPr>
        </p:nvSpPr>
        <p:spPr>
          <a:xfrm>
            <a:off x="60948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42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Content Left, Ima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Content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Image"/>
          <p:cNvSpPr>
            <a:spLocks noGrp="1"/>
          </p:cNvSpPr>
          <p:nvPr>
            <p:ph type="pic" idx="1"/>
          </p:nvPr>
        </p:nvSpPr>
        <p:spPr>
          <a:xfrm>
            <a:off x="618252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6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6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7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364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6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176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3750000"/>
            <a:ext cx="73152" cy="176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5948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5948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25200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252000" y="3750000"/>
            <a:ext cx="73152" cy="17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650200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650200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v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249032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249032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274032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274032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25200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25200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650200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650200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x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85948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85948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437116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437116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462116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462116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813284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8132840" y="3780000"/>
            <a:ext cx="73152" cy="179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Card 6 Heading"/>
          <p:cNvSpPr>
            <a:spLocks noGrp="1"/>
          </p:cNvSpPr>
          <p:nvPr>
            <p:ph type="body" idx="11"/>
          </p:nvPr>
        </p:nvSpPr>
        <p:spPr>
          <a:xfrm>
            <a:off x="838284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7" name="Card 6 Body"/>
          <p:cNvSpPr>
            <a:spLocks noGrp="1"/>
          </p:cNvSpPr>
          <p:nvPr>
            <p:ph type="body" idx="12"/>
          </p:nvPr>
        </p:nvSpPr>
        <p:spPr>
          <a:xfrm>
            <a:off x="838284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8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4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4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4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at 1 Number"/>
          <p:cNvSpPr>
            <a:spLocks noGrp="1"/>
          </p:cNvSpPr>
          <p:nvPr>
            <p:ph type="body" idx="1"/>
          </p:nvPr>
        </p:nvSpPr>
        <p:spPr>
          <a:xfrm>
            <a:off x="6094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F7941E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tat 1 Label"/>
          <p:cNvSpPr>
            <a:spLocks noGrp="1"/>
          </p:cNvSpPr>
          <p:nvPr>
            <p:ph type="body" idx="2"/>
          </p:nvPr>
        </p:nvSpPr>
        <p:spPr>
          <a:xfrm>
            <a:off x="6094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Stat 2 Number"/>
          <p:cNvSpPr>
            <a:spLocks noGrp="1"/>
          </p:cNvSpPr>
          <p:nvPr>
            <p:ph type="body" idx="3"/>
          </p:nvPr>
        </p:nvSpPr>
        <p:spPr>
          <a:xfrm>
            <a:off x="43908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3B82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at 2 Label"/>
          <p:cNvSpPr>
            <a:spLocks noGrp="1"/>
          </p:cNvSpPr>
          <p:nvPr>
            <p:ph type="body" idx="4"/>
          </p:nvPr>
        </p:nvSpPr>
        <p:spPr>
          <a:xfrm>
            <a:off x="43908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at 3 Number"/>
          <p:cNvSpPr>
            <a:spLocks noGrp="1"/>
          </p:cNvSpPr>
          <p:nvPr>
            <p:ph type="body" idx="5"/>
          </p:nvPr>
        </p:nvSpPr>
        <p:spPr>
          <a:xfrm>
            <a:off x="81722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8B5C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tat 3 Label"/>
          <p:cNvSpPr>
            <a:spLocks noGrp="1"/>
          </p:cNvSpPr>
          <p:nvPr>
            <p:ph type="body" idx="6"/>
          </p:nvPr>
        </p:nvSpPr>
        <p:spPr>
          <a:xfrm>
            <a:off x="81722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2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 1 Circle"/>
          <p:cNvSpPr/>
          <p:nvPr/>
        </p:nvSpPr>
        <p:spPr>
          <a:xfrm>
            <a:off x="1956680" y="1840000"/>
            <a:ext cx="760000" cy="760000"/>
          </a:xfrm>
          <a:prstGeom prst="ellipse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 1 Number"/>
          <p:cNvSpPr>
            <a:spLocks noGrp="1"/>
          </p:cNvSpPr>
          <p:nvPr>
            <p:ph type="body" idx="1"/>
          </p:nvPr>
        </p:nvSpPr>
        <p:spPr>
          <a:xfrm>
            <a:off x="19566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Step 1 Heading"/>
          <p:cNvSpPr>
            <a:spLocks noGrp="1"/>
          </p:cNvSpPr>
          <p:nvPr>
            <p:ph type="body" idx="2"/>
          </p:nvPr>
        </p:nvSpPr>
        <p:spPr>
          <a:xfrm>
            <a:off x="6094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ep 1 Detail"/>
          <p:cNvSpPr>
            <a:spLocks noGrp="1"/>
          </p:cNvSpPr>
          <p:nvPr>
            <p:ph type="body" idx="3"/>
          </p:nvPr>
        </p:nvSpPr>
        <p:spPr>
          <a:xfrm>
            <a:off x="6094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ep 2 Circle"/>
          <p:cNvSpPr/>
          <p:nvPr/>
        </p:nvSpPr>
        <p:spPr>
          <a:xfrm>
            <a:off x="5738080" y="1840000"/>
            <a:ext cx="760000" cy="760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 2 Number"/>
          <p:cNvSpPr>
            <a:spLocks noGrp="1"/>
          </p:cNvSpPr>
          <p:nvPr>
            <p:ph type="body" idx="4"/>
          </p:nvPr>
        </p:nvSpPr>
        <p:spPr>
          <a:xfrm>
            <a:off x="57380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Step 2 Heading"/>
          <p:cNvSpPr>
            <a:spLocks noGrp="1"/>
          </p:cNvSpPr>
          <p:nvPr>
            <p:ph type="body" idx="5"/>
          </p:nvPr>
        </p:nvSpPr>
        <p:spPr>
          <a:xfrm>
            <a:off x="43908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tep 2 Detail"/>
          <p:cNvSpPr>
            <a:spLocks noGrp="1"/>
          </p:cNvSpPr>
          <p:nvPr>
            <p:ph type="body" idx="6"/>
          </p:nvPr>
        </p:nvSpPr>
        <p:spPr>
          <a:xfrm>
            <a:off x="43908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tep 3 Circle"/>
          <p:cNvSpPr/>
          <p:nvPr/>
        </p:nvSpPr>
        <p:spPr>
          <a:xfrm>
            <a:off x="9519480" y="1840000"/>
            <a:ext cx="760000" cy="760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 3 Number"/>
          <p:cNvSpPr>
            <a:spLocks noGrp="1"/>
          </p:cNvSpPr>
          <p:nvPr>
            <p:ph type="body" idx="7"/>
          </p:nvPr>
        </p:nvSpPr>
        <p:spPr>
          <a:xfrm>
            <a:off x="95194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Step 3 Heading"/>
          <p:cNvSpPr>
            <a:spLocks noGrp="1"/>
          </p:cNvSpPr>
          <p:nvPr>
            <p:ph type="body" idx="8"/>
          </p:nvPr>
        </p:nvSpPr>
        <p:spPr>
          <a:xfrm>
            <a:off x="81722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2" name="Step 3 Detail"/>
          <p:cNvSpPr>
            <a:spLocks noGrp="1"/>
          </p:cNvSpPr>
          <p:nvPr>
            <p:ph type="body" idx="9"/>
          </p:nvPr>
        </p:nvSpPr>
        <p:spPr>
          <a:xfrm>
            <a:off x="81722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cing / Ti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7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8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Tier 1 Card"/>
          <p:cNvSpPr/>
          <p:nvPr/>
        </p:nvSpPr>
        <p:spPr>
          <a:xfrm>
            <a:off x="6094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Tier 1 Band"/>
          <p:cNvSpPr/>
          <p:nvPr/>
        </p:nvSpPr>
        <p:spPr>
          <a:xfrm>
            <a:off x="6094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Tier 1 Name"/>
          <p:cNvSpPr>
            <a:spLocks noGrp="1"/>
          </p:cNvSpPr>
          <p:nvPr>
            <p:ph type="body" idx="1"/>
          </p:nvPr>
        </p:nvSpPr>
        <p:spPr>
          <a:xfrm>
            <a:off x="6094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Tier 1 Price"/>
          <p:cNvSpPr>
            <a:spLocks noGrp="1"/>
          </p:cNvSpPr>
          <p:nvPr>
            <p:ph type="body" idx="2"/>
          </p:nvPr>
        </p:nvSpPr>
        <p:spPr>
          <a:xfrm>
            <a:off x="7594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Tier 1 Features"/>
          <p:cNvSpPr>
            <a:spLocks noGrp="1"/>
          </p:cNvSpPr>
          <p:nvPr>
            <p:ph type="body" idx="3"/>
          </p:nvPr>
        </p:nvSpPr>
        <p:spPr>
          <a:xfrm>
            <a:off x="8694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ier 2 Card"/>
          <p:cNvSpPr/>
          <p:nvPr/>
        </p:nvSpPr>
        <p:spPr>
          <a:xfrm>
            <a:off x="43908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7941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ier 2 Band"/>
          <p:cNvSpPr/>
          <p:nvPr/>
        </p:nvSpPr>
        <p:spPr>
          <a:xfrm>
            <a:off x="43908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Tier 2 Name"/>
          <p:cNvSpPr>
            <a:spLocks noGrp="1"/>
          </p:cNvSpPr>
          <p:nvPr>
            <p:ph type="body" idx="4"/>
          </p:nvPr>
        </p:nvSpPr>
        <p:spPr>
          <a:xfrm>
            <a:off x="43908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9" name="Tier 2 Price"/>
          <p:cNvSpPr>
            <a:spLocks noGrp="1"/>
          </p:cNvSpPr>
          <p:nvPr>
            <p:ph type="body" idx="5"/>
          </p:nvPr>
        </p:nvSpPr>
        <p:spPr>
          <a:xfrm>
            <a:off x="45408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0" name="Tier 2 Features"/>
          <p:cNvSpPr>
            <a:spLocks noGrp="1"/>
          </p:cNvSpPr>
          <p:nvPr>
            <p:ph type="body" idx="6"/>
          </p:nvPr>
        </p:nvSpPr>
        <p:spPr>
          <a:xfrm>
            <a:off x="46508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Tier 3 Card"/>
          <p:cNvSpPr/>
          <p:nvPr/>
        </p:nvSpPr>
        <p:spPr>
          <a:xfrm>
            <a:off x="81722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Tier 3 Band"/>
          <p:cNvSpPr/>
          <p:nvPr/>
        </p:nvSpPr>
        <p:spPr>
          <a:xfrm>
            <a:off x="81722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ier 3 Name"/>
          <p:cNvSpPr>
            <a:spLocks noGrp="1"/>
          </p:cNvSpPr>
          <p:nvPr>
            <p:ph type="body" idx="7"/>
          </p:nvPr>
        </p:nvSpPr>
        <p:spPr>
          <a:xfrm>
            <a:off x="81722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Tier 3 Price"/>
          <p:cNvSpPr>
            <a:spLocks noGrp="1"/>
          </p:cNvSpPr>
          <p:nvPr>
            <p:ph type="body" idx="8"/>
          </p:nvPr>
        </p:nvSpPr>
        <p:spPr>
          <a:xfrm>
            <a:off x="83222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Tier 3 Features"/>
          <p:cNvSpPr>
            <a:spLocks noGrp="1"/>
          </p:cNvSpPr>
          <p:nvPr>
            <p:ph type="body" idx="9"/>
          </p:nvPr>
        </p:nvSpPr>
        <p:spPr>
          <a:xfrm>
            <a:off x="84322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2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33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3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4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0F172A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0F172A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/ Statem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QuoteMark"/>
          <p:cNvSpPr/>
          <p:nvPr/>
        </p:nvSpPr>
        <p:spPr>
          <a:xfrm>
            <a:off x="609480" y="1120000"/>
            <a:ext cx="1900000" cy="1400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r>
              <a:rPr lang="en-GB" sz="9600" b="1">
                <a:solidFill>
                  <a:srgbClr val="F7941E"/>
                </a:solidFill>
                <a:latin typeface="+mj-lt"/>
              </a:rPr>
              <a:t>“</a:t>
            </a:r>
          </a:p>
        </p:txBody>
      </p:sp>
      <p:sp>
        <p:nvSpPr>
          <p:cNvPr id="14" name="Quote"/>
          <p:cNvSpPr>
            <a:spLocks noGrp="1"/>
          </p:cNvSpPr>
          <p:nvPr>
            <p:ph type="body" idx="1"/>
          </p:nvPr>
        </p:nvSpPr>
        <p:spPr>
          <a:xfrm>
            <a:off x="609480" y="2520000"/>
            <a:ext cx="10973040" cy="22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3200" b="0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Attribution"/>
          <p:cNvSpPr>
            <a:spLocks noGrp="1"/>
          </p:cNvSpPr>
          <p:nvPr>
            <p:ph type="body" idx="11"/>
          </p:nvPr>
        </p:nvSpPr>
        <p:spPr>
          <a:xfrm>
            <a:off x="609480" y="4900000"/>
            <a:ext cx="1097304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7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7}" type="slidenum">
              <a:rPr lang="en-GB" sz="1100">
                <a:solidFill>
                  <a:srgbClr val="94A3B8"/>
                </a:solidFill>
              </a:rPr>
              <a:t>‹#›</a:t>
            </a:fld>
            <a:endParaRPr lang="en-GB" sz="1100">
              <a:solidFill>
                <a:srgbClr val="94A3B8"/>
              </a:solidFill>
            </a:endParaRP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F7941E">
                  <a:alpha val="15000"/>
                </a:srgbClr>
              </a:gs>
              <a:gs pos="100000">
                <a:srgbClr val="F794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371600"/>
            <a:ext cx="45720" cy="31089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914400" y="1371600"/>
            <a:ext cx="9599040" cy="1097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Divider"/>
          <p:cNvSpPr/>
          <p:nvPr/>
        </p:nvSpPr>
        <p:spPr>
          <a:xfrm>
            <a:off x="914400" y="2480000"/>
            <a:ext cx="3200400" cy="22860"/>
          </a:xfrm>
          <a:prstGeom prst="rect">
            <a:avLst/>
          </a:prstGeom>
          <a:solidFill>
            <a:srgbClr val="F7941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Name"/>
          <p:cNvSpPr>
            <a:spLocks noGrp="1"/>
          </p:cNvSpPr>
          <p:nvPr>
            <p:ph type="body" idx="1"/>
          </p:nvPr>
        </p:nvSpPr>
        <p:spPr>
          <a:xfrm>
            <a:off x="914400" y="2620000"/>
            <a:ext cx="540000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Role / Title"/>
          <p:cNvSpPr>
            <a:spLocks noGrp="1"/>
          </p:cNvSpPr>
          <p:nvPr>
            <p:ph type="body" idx="11"/>
          </p:nvPr>
        </p:nvSpPr>
        <p:spPr>
          <a:xfrm>
            <a:off x="914400" y="3090000"/>
            <a:ext cx="54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1" i="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ontact details"/>
          <p:cNvSpPr>
            <a:spLocks noGrp="1"/>
          </p:cNvSpPr>
          <p:nvPr>
            <p:ph type="body" idx="2"/>
          </p:nvPr>
        </p:nvSpPr>
        <p:spPr>
          <a:xfrm>
            <a:off x="914400" y="3620000"/>
            <a:ext cx="54000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2000"/>
              </a:lnSpc>
              <a:defRPr sz="15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econd-Column Heading"/>
          <p:cNvSpPr>
            <a:spLocks noGrp="1"/>
          </p:cNvSpPr>
          <p:nvPr>
            <p:ph type="body" idx="3"/>
          </p:nvPr>
        </p:nvSpPr>
        <p:spPr>
          <a:xfrm>
            <a:off x="6858000" y="3090000"/>
            <a:ext cx="47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1" i="0" spc="200">
                <a:solidFill>
                  <a:srgbClr val="F7941E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Second-Column Content"/>
          <p:cNvSpPr>
            <a:spLocks noGrp="1"/>
          </p:cNvSpPr>
          <p:nvPr>
            <p:ph type="body" idx="4"/>
          </p:nvPr>
        </p:nvSpPr>
        <p:spPr>
          <a:xfrm>
            <a:off x="6858000" y="3560000"/>
            <a:ext cx="47000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0000"/>
              </a:lnSpc>
              <a:defRPr sz="14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22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1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8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10973040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Master text styles</a:t>
            </a:r>
          </a:p>
        </p:txBody>
      </p:sp>
      <p:sp>
        <p:nvSpPr>
          <p:cNvPr id="904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7941E"/>
                </a:solidFill>
              </a:rPr>
              <a:t>Feed</a:t>
            </a:r>
            <a:r>
              <a:rPr lang="en-GB" sz="1200" b="1">
                <a:solidFill>
                  <a:srgbClr val="0F172A"/>
                </a:solidFill>
              </a:rPr>
              <a:t>Spark</a:t>
            </a:r>
          </a:p>
        </p:txBody>
      </p:sp>
      <p:sp>
        <p:nvSpPr>
          <p:cNvPr id="905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905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90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F7941E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>
        <a:lnSpc>
          <a:spcPct val="100000"/>
        </a:lnSpc>
        <a:defRPr sz="3600" b="1">
          <a:solidFill>
            <a:srgbClr val="0F172A"/>
          </a:solidFill>
          <a:latin typeface="+mj-lt"/>
        </a:defRPr>
      </a:lvl1pPr>
    </p:titleStyle>
    <p:bodyStyle>
      <a:lvl1pPr marL="0" indent="0">
        <a:lnSpc>
          <a:spcPct val="118000"/>
        </a:lnSpc>
        <a:spcBef>
          <a:spcPts val="600"/>
        </a:spcBef>
        <a:buNone/>
        <a:defRPr sz="1600">
          <a:solidFill>
            <a:srgbClr val="475569"/>
          </a:solidFill>
          <a:latin typeface="+mn-lt"/>
        </a:defRPr>
      </a:lvl1pPr>
      <a:lvl2pPr marL="274320" indent="-274320">
        <a:lnSpc>
          <a:spcPct val="118000"/>
        </a:lnSpc>
        <a:spcBef>
          <a:spcPts val="500"/>
        </a:spcBef>
        <a:buClr>
          <a:srgbClr val="F7941E"/>
        </a:buClr>
        <a:buFont typeface="Arial"/>
        <a:buChar char="•"/>
        <a:defRPr sz="1500">
          <a:solidFill>
            <a:srgbClr val="475569"/>
          </a:solidFill>
          <a:latin typeface="+mn-lt"/>
        </a:defRPr>
      </a:lvl2pPr>
      <a:lvl3pPr marL="548640" indent="-274320">
        <a:spcBef>
          <a:spcPts val="300"/>
        </a:spcBef>
        <a:buClr>
          <a:srgbClr val="94A3B8"/>
        </a:buClr>
        <a:buFont typeface="Arial"/>
        <a:buChar char="–"/>
        <a:defRPr sz="1400">
          <a:solidFill>
            <a:srgbClr val="475569"/>
          </a:solidFill>
        </a:defRPr>
      </a:lvl3pPr>
    </p:bodyStyle>
    <p:otherStyle>
      <a:defPPr>
        <a:defRPr lang="en-GB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Reiss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Thirty markets, one feed engine: what we add, and how we stay ahead.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Estate 30 markets · 80 live feeds  ·  Traced 748,224 products  ·  Since February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we add to every product, in 30 markets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Fields per product, by the stage that set them — 748,224 products traced in 30 live feeds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GB: 22.5 fields arrive; we fill 1.1, rewrite 12.0 and add 5.3. 69% of every value is ours, 47% estate-wide.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1847088"/>
          <a:ext cx="109728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market, scored every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Re-read daily at 09:00 UK against Google’s own product data specification.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A change is seen the morning it lands, and raised with Reiss before anything is touched.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847088"/>
          <a:ext cx="10972800" cy="3794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114800"/>
                <a:gridCol w="1691640"/>
                <a:gridCol w="40233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Reiss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tells Reiss</a:t>
                      </a:r>
                    </a:p>
                  </a:txBody>
                  <a:tcPr/>
                </a:tc>
              </a:tr>
              <a:tr h="682142">
                <a:tc>
                  <a:txBody>
                    <a:bodyPr/>
                    <a:lstStyle/>
                    <a:p>
                      <a:r>
                        <a:rPr sz="1100"/>
                        <a:t>Golden Score ·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attribute’s fill against Google’s spec; required fields weigh three times recommended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GB 91.8 · 82.0–93.1 across 30 markets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Which field is missing, in which market</a:t>
                      </a:r>
                    </a:p>
                  </a:txBody>
                  <a:tcPr/>
                </a:tc>
              </a:tr>
              <a:tr h="682142">
                <a:tc>
                  <a:txBody>
                    <a:bodyPr/>
                    <a:lstStyle/>
                    <a:p>
                      <a:r>
                        <a:rPr sz="1100"/>
                        <a:t>Content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What is inside the free text: 46 rules quoted from Google’s spec pages, eight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GB 87.5 · 60.2–89.2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Copy that breaks Google’s guidance, before it costs a disapproval</a:t>
                      </a:r>
                    </a:p>
                  </a:txBody>
                  <a:tcPr/>
                </a:tc>
              </a:tr>
              <a:tr h="682142">
                <a:tc>
                  <a:txBody>
                    <a:bodyPr/>
                    <a:lstStyle/>
                    <a:p>
                      <a:r>
                        <a:rPr sz="1100"/>
                        <a:t>AI-readiness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 eight-pillar ladder AI shopping surfaces read; conversational attributes weigh most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GB 66, Tier 3 · 55–66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How far each market is from agentic-ready. 0 of 6 conversational attributes are live yet</a:t>
                      </a:r>
                    </a:p>
                  </a:txBody>
                  <a:tcPr/>
                </a:tc>
              </a:tr>
              <a:tr h="682142">
                <a:tc>
                  <a:txBody>
                    <a:bodyPr/>
                    <a:lstStyle/>
                    <a:p>
                      <a:r>
                        <a:rPr sz="1100"/>
                        <a:t>Score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 three recorded day by day, so every rise or fall is dated and explained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calendar for every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 trend is seen in days, not at the next quarterly review</a:t>
                      </a:r>
                    </a:p>
                  </a:txBody>
                  <a:tcPr/>
                </a:tc>
              </a:tr>
              <a:tr h="682142">
                <a:tc>
                  <a:txBody>
                    <a:bodyPr/>
                    <a:lstStyle/>
                    <a:p>
                      <a:r>
                        <a:rPr sz="1100"/>
                        <a:t>Drop-off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Custom labels and product types checked four times a day against the last known-good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Alerts on a material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 campaign structure never breaks silently. We confirm with Reiss before we act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Six workstreams, one marketing calendar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1,072 tasks and 1,440.8 hours across Reiss’s markets in the twelve months to September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Triaged daily, reviewed weekly, and every moment briefed three weeks before it goes live.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847088"/>
          <a:ext cx="1097279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384"/>
                <a:gridCol w="4912203"/>
                <a:gridCol w="816487"/>
                <a:gridCol w="37837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came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Where it lands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Keyword calendar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 moments, July–December: campaigns, studio drops, sale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Each moment briefed 21 days before it goes live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Project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469 tasks on the shared plan, 447 of them 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plan, updated live by every AM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Client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75 request threads, 723 messages: Reiss, Dentsu,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Triaged into a task or a brief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Calls &amp;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39 client calls; 13 strategy reviews and QBRs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Actions from the call notes go straight into the plan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Scheduled optimisation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221 weekly slots since June 2025: keywords, titles, product types, tagging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Go or hold, set against what the calendar needs that week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optimisation read back. Silk: +4.63% impressions, +5.18% 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Fortnightly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Filed against its moment, and into the next brief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Optimise once in the UK, carry it everywhere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One product carries 722 field values across Reiss’s 30 market feeds, each traced and audited daily.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Each UK improvement is built to travel to 29 more markets, and every field traces back to its source.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847088"/>
          <a:ext cx="10972799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02"/>
                <a:gridCol w="5197642"/>
                <a:gridCol w="3869355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Reiss today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Build and prove it in the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Titles, product types, keywords and highlights built and tested on GB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69% of every GB value set or changed by FeedSpark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Carry it in one supplemental feed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 internal feed holds the UK work for every product, with German, French and Dutch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60,577 products · 10 keyword and 10 highlight slots each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Localise it by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Price, currency, links, shipping and language rewritten per market automatically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2,218 active rules · 80 live output feeds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Trace every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value followed from master to populated, optimised or enriched, per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748,224 products traced in 30 feeds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Audit it every 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Golden Score re-reads each market, so a field that fails to arrive is caught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722 field values per product, 30 markets</a:t>
                      </a:r>
                    </a:p>
                  </a:txBody>
                  <a:tcPr/>
                </a:tc>
              </a:tr>
              <a:tr h="568452">
                <a:tc>
                  <a:txBody>
                    <a:bodyPr/>
                    <a:lstStyle/>
                    <a:p>
                      <a:r>
                        <a:rPr sz="1100"/>
                        <a:t>Close the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Where UK work has not landed yet: the FY26/27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Highlights in 15 markets, keywords in 9, titles in Sweden and Qatar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team, on call for every market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/>
          <a:lstStyle/>
          <a:p>
            <a:r>
              <a:t>6,291.5 hours on 4,305 tasks across Reiss’s markets since October 2021, by the kind of 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wrap="square"/>
          <a:lstStyle/>
          <a:p>
            <a:r>
              <a:t>Urgent, technical and call work took 17.6% of five years’ hours; optimisation took 57.9%.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1847088"/>
          <a:ext cx="4828032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9864" y="1847088"/>
          <a:ext cx="5815583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749"/>
                <a:gridCol w="1191143"/>
                <a:gridCol w="280269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Account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Ray Vũ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Strategy, the plan, every escalation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Executive Account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Steven Opuni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Requests, briefs, reviews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Technical AM 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FeedSpark Tech-AM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Disapprovals, Merchant Center, SKU drops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Optimisation specialists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26 this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Keywords, titles, product types, tagging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edSpark Modern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F7941E"/>
      </a:accent1>
      <a:accent2>
        <a:srgbClr val="0F172A"/>
      </a:accent2>
      <a:accent3>
        <a:srgbClr val="3B82F6"/>
      </a:accent3>
      <a:accent4>
        <a:srgbClr val="10B981"/>
      </a:accent4>
      <a:accent5>
        <a:srgbClr val="8B5CF6"/>
      </a:accent5>
      <a:accent6>
        <a:srgbClr val="EC4899"/>
      </a:accent6>
      <a:hlink>
        <a:srgbClr val="F7941E"/>
      </a:hlink>
      <a:folHlink>
        <a:srgbClr val="94A3B8"/>
      </a:folHlink>
    </a:clrScheme>
    <a:fontScheme name="FeedSpark Modern">
      <a:majorFont>
        <a:latin typeface="Inter" panose="02110004020202020204"/>
        <a:ea typeface=""/>
        <a:cs typeface=""/>
      </a:majorFont>
      <a:minorFont>
        <a:latin typeface="Inter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4449</Words>
  <Application>Microsoft Office PowerPoint</Application>
  <PresentationFormat>Widescreen</PresentationFormat>
  <Paragraphs>523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Inter</vt:lpstr>
      <vt:lpstr>Office Theme</vt:lpstr>
      <vt:lpstr>Superdry × FeedSpark</vt:lpstr>
      <vt:lpstr>PowerPoint Presentation</vt:lpstr>
      <vt:lpstr>What we’ll cover</vt:lpstr>
      <vt:lpstr>Service scope &amp; scale</vt:lpstr>
      <vt:lpstr>The programme in five numbers</vt:lpstr>
      <vt:lpstr>Channels and coverage</vt:lpstr>
      <vt:lpstr>Where the hours went — by market</vt:lpstr>
      <vt:lpstr>The delivery stack</vt:lpstr>
      <vt:lpstr>Four layers, live on the account today</vt:lpstr>
      <vt:lpstr>Review &amp; project recap</vt:lpstr>
      <vt:lpstr>Where the plan stands</vt:lpstr>
      <vt:lpstr>Action by action — what’s closed</vt:lpstr>
      <vt:lpstr>Action by action — open and parked</vt:lpstr>
      <vt:lpstr>The look-back period</vt:lpstr>
      <vt:lpstr>Sustained delivery, Jul 2024 → Jul 2026</vt:lpstr>
      <vt:lpstr>By activity type</vt:lpstr>
      <vt:lpstr>The task families behind the hours</vt:lpstr>
      <vt:lpstr>The value delivered</vt:lpstr>
      <vt:lpstr>Two years delivered, a third given</vt:lpstr>
      <vt:lpstr>The invested-hours story</vt:lpstr>
      <vt:lpstr>The protection work, quantified</vt:lpstr>
      <vt:lpstr>Automation &amp; readiness</vt:lpstr>
      <vt:lpstr>What runs on rules</vt:lpstr>
      <vt:lpstr>What still needs a hand</vt:lpstr>
      <vt:lpstr>The A/B test archive</vt:lpstr>
      <vt:lpstr>36 tests, read straight</vt:lpstr>
      <vt:lpstr>The archive by test type</vt:lpstr>
      <vt:lpstr>Reading the average straight</vt:lpstr>
      <vt:lpstr>Keyword tests — the results that moved</vt:lpstr>
      <vt:lpstr>Brand in the title — it depends</vt:lpstr>
      <vt:lpstr>External benchmark — retail feeds</vt:lpstr>
      <vt:lpstr>Four launches that woke dormant stock</vt:lpstr>
      <vt:lpstr>Team &amp; ways of working</vt:lpstr>
      <vt:lpstr>One manager, one pod, one cadence</vt:lpstr>
      <vt:lpstr>How work moves</vt:lpstr>
      <vt:lpstr>Feed optimisation score</vt:lpstr>
      <vt:lpstr>Superdry feed optimisation — 70 / 100</vt:lpstr>
      <vt:lpstr>The GB feed, scored — 22,527 SKUs</vt:lpstr>
      <vt:lpstr>Where plan and feed agree — and don’t</vt:lpstr>
      <vt:lpstr>A second internal signal worth flagging</vt:lpstr>
      <vt:lpstr>AI readiness</vt:lpstr>
      <vt:lpstr>Where Superdry sits on the climb</vt:lpstr>
      <vt:lpstr>AI-readiness audit — Superdry GB</vt:lpstr>
      <vt:lpstr>PowerPoint Presentation</vt:lpstr>
      <vt:lpstr>Roadmap — next quarter</vt:lpstr>
      <vt:lpstr>What comes next</vt:lpstr>
      <vt:lpstr>The tests queued for the coming quarter</vt:lpstr>
      <vt:lpstr>The testing queue — medium and low</vt:lpstr>
      <vt:lpstr>PowerPoint Presentation</vt:lpstr>
      <vt:lpstr>Questions?</vt:lpstr>
    </vt:vector>
  </TitlesOfParts>
  <Company>FeedSpark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FeedSpark Template</dc:title>
  <dc:creator>FeedSpark</dc:creator>
  <cp:lastModifiedBy>Ray Vu</cp:lastModifiedBy>
  <cp:revision>1</cp:revision>
  <dcterms:modified xsi:type="dcterms:W3CDTF">2026-08-04T13:18:53Z</dcterms:modified>
</cp:coreProperties>
</file>