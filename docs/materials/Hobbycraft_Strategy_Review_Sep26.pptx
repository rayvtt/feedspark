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
    <p:sldId id="303" r:id="rId4"/>
    <p:sldId id="304" r:id="rId3"/>
    <p:sldId id="305" r:id="rId2"/>
    <p:sldId id="306" r:id="rId56"/>
    <p:sldId id="307" r:id="rId57"/>
    <p:sldId id="308" r:id="rId58"/>
    <p:sldId id="309" r:id="rId59"/>
    <p:sldId id="310" r:id="rId60"/>
    <p:sldId id="311" r:id="rId61"/>
    <p:sldId id="312" r:id="rId62"/>
    <p:sldId id="313" r:id="rId63"/>
    <p:sldId id="314" r:id="rId64"/>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96"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0.xml"/><Relationship Id="rId3" Type="http://schemas.openxmlformats.org/officeDocument/2006/relationships/slide" Target="slides/slide49.xml"/><Relationship Id="rId4" Type="http://schemas.openxmlformats.org/officeDocument/2006/relationships/slide" Target="slides/slide48.xml"/><Relationship Id="rId5" Type="http://schemas.openxmlformats.org/officeDocument/2006/relationships/slide" Target="slides/slide47.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 delivered</c:v>
                </c:pt>
              </c:strCache>
            </c:strRef>
          </c:tx>
          <c:spPr>
            <a:solidFill>
              <a:srgbClr val="2563EB"/>
            </a:solidFill>
          </c:spPr>
          <c:cat>
            <c:strRef>
              <c:f>Sheet1!$A$2:$A$13</c:f>
              <c:strCache>
                <c:ptCount val="12"/>
                <c:pt idx="0">
                  <c:v>Oct 2025</c:v>
                </c:pt>
                <c:pt idx="1">
                  <c:v>Nov 2025</c:v>
                </c:pt>
                <c:pt idx="2">
                  <c:v>Dec 2025</c:v>
                </c:pt>
                <c:pt idx="3">
                  <c:v>Jan 2026</c:v>
                </c:pt>
                <c:pt idx="4">
                  <c:v>Feb 2026</c:v>
                </c:pt>
                <c:pt idx="5">
                  <c:v>Mar 2026</c:v>
                </c:pt>
                <c:pt idx="6">
                  <c:v>Apr 2026</c:v>
                </c:pt>
                <c:pt idx="7">
                  <c:v>May 2026</c:v>
                </c:pt>
                <c:pt idx="8">
                  <c:v>Jun 2026</c:v>
                </c:pt>
                <c:pt idx="9">
                  <c:v>Jul 2026</c:v>
                </c:pt>
                <c:pt idx="10">
                  <c:v>Aug 2026</c:v>
                </c:pt>
                <c:pt idx="11">
                  <c:v>Sep (part)</c:v>
                </c:pt>
              </c:strCache>
            </c:strRef>
          </c:cat>
          <c:val>
            <c:numRef>
              <c:f>Sheet1!$B$2:$B$13</c:f>
              <c:numCache>
                <c:formatCode>General</c:formatCode>
                <c:ptCount val="12"/>
                <c:pt idx="0">
                  <c:v>81.75</c:v>
                </c:pt>
                <c:pt idx="1">
                  <c:v>26.5</c:v>
                </c:pt>
                <c:pt idx="2">
                  <c:v>87.0</c:v>
                </c:pt>
                <c:pt idx="3">
                  <c:v>24.0</c:v>
                </c:pt>
                <c:pt idx="4">
                  <c:v>26.25</c:v>
                </c:pt>
                <c:pt idx="5">
                  <c:v>27.25</c:v>
                </c:pt>
                <c:pt idx="6">
                  <c:v>13.0</c:v>
                </c:pt>
                <c:pt idx="7">
                  <c:v>39.75</c:v>
                </c:pt>
                <c:pt idx="8">
                  <c:v>33.25</c:v>
                </c:pt>
                <c:pt idx="9">
                  <c:v>28.0</c:v>
                </c:pt>
                <c:pt idx="10">
                  <c:v>35.0</c:v>
                </c:pt>
                <c:pt idx="11">
                  <c:v>15.75</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latin typeface="Inte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New products</c:v>
                </c:pt>
              </c:strCache>
            </c:strRef>
          </c:tx>
          <c:spPr>
            <a:solidFill>
              <a:srgbClr val="2563EB"/>
            </a:solidFill>
          </c:spPr>
          <c:cat>
            <c:strRef>
              <c:f>Sheet1!$A$2:$A$13</c:f>
              <c:strCache>
                <c:ptCount val="12"/>
                <c:pt idx="0">
                  <c:v>Sep 2025</c:v>
                </c:pt>
                <c:pt idx="1">
                  <c:v>Oct 2025</c:v>
                </c:pt>
                <c:pt idx="2">
                  <c:v>Nov 2025</c:v>
                </c:pt>
                <c:pt idx="3">
                  <c:v>Dec 2025</c:v>
                </c:pt>
                <c:pt idx="4">
                  <c:v>Jan 2026</c:v>
                </c:pt>
                <c:pt idx="5">
                  <c:v>Feb 2026</c:v>
                </c:pt>
                <c:pt idx="6">
                  <c:v>Mar 2026</c:v>
                </c:pt>
                <c:pt idx="7">
                  <c:v>Apr 2026</c:v>
                </c:pt>
                <c:pt idx="8">
                  <c:v>May 2026</c:v>
                </c:pt>
                <c:pt idx="9">
                  <c:v>Jun 2026</c:v>
                </c:pt>
                <c:pt idx="10">
                  <c:v>Jul 2026</c:v>
                </c:pt>
                <c:pt idx="11">
                  <c:v>Aug 2026</c:v>
                </c:pt>
              </c:strCache>
            </c:strRef>
          </c:cat>
          <c:val>
            <c:numRef>
              <c:f>Sheet1!$B$2:$B$13</c:f>
              <c:numCache>
                <c:formatCode>General</c:formatCode>
                <c:ptCount val="12"/>
                <c:pt idx="0">
                  <c:v>375.0</c:v>
                </c:pt>
                <c:pt idx="1">
                  <c:v>1020.0</c:v>
                </c:pt>
                <c:pt idx="2">
                  <c:v>631.0</c:v>
                </c:pt>
                <c:pt idx="3">
                  <c:v>414.0</c:v>
                </c:pt>
                <c:pt idx="4">
                  <c:v>389.0</c:v>
                </c:pt>
                <c:pt idx="5">
                  <c:v>164.0</c:v>
                </c:pt>
                <c:pt idx="6">
                  <c:v>725.0</c:v>
                </c:pt>
                <c:pt idx="7">
                  <c:v>690.0</c:v>
                </c:pt>
                <c:pt idx="8">
                  <c:v>302.0</c:v>
                </c:pt>
                <c:pt idx="9">
                  <c:v>317.0</c:v>
                </c:pt>
                <c:pt idx="10">
                  <c:v>944.0</c:v>
                </c:pt>
                <c:pt idx="11">
                  <c:v>877.0</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latin typeface="Inte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Impressions</c:v>
                </c:pt>
              </c:strCache>
            </c:strRef>
          </c:tx>
          <c:spPr>
            <a:solidFill>
              <a:srgbClr val="2563EB"/>
            </a:solidFill>
          </c:spPr>
          <c:cat>
            <c:strRef>
              <c:f>Sheet1!$A$2:$A$11</c:f>
              <c:strCache>
                <c:ptCount val="10"/>
                <c:pt idx="0">
                  <c:v>Christmas II</c:v>
                </c:pt>
                <c:pt idx="1">
                  <c:v>Christmas I</c:v>
                </c:pt>
                <c:pt idx="2">
                  <c:v>Black Friday</c:v>
                </c:pt>
                <c:pt idx="3">
                  <c:v>Halloween</c:v>
                </c:pt>
                <c:pt idx="4">
                  <c:v>Back to School</c:v>
                </c:pt>
                <c:pt idx="5">
                  <c:v>Titles — [Brand], machines</c:v>
                </c:pt>
                <c:pt idx="6">
                  <c:v>Sep I — keywords</c:v>
                </c:pt>
                <c:pt idx="7">
                  <c:v>Aug I — keywords</c:v>
                </c:pt>
                <c:pt idx="8">
                  <c:v>Jul II — keywords</c:v>
                </c:pt>
                <c:pt idx="9">
                  <c:v>Jul I — keywords</c:v>
                </c:pt>
              </c:strCache>
            </c:strRef>
          </c:cat>
          <c:val>
            <c:numRef>
              <c:f>Sheet1!$B$2:$B$11</c:f>
              <c:numCache>
                <c:formatCode>General</c:formatCode>
                <c:ptCount val="10"/>
                <c:pt idx="0">
                  <c:v>-46.33</c:v>
                </c:pt>
                <c:pt idx="1">
                  <c:v>-46.73</c:v>
                </c:pt>
                <c:pt idx="2">
                  <c:v>139.77</c:v>
                </c:pt>
                <c:pt idx="3">
                  <c:v>9.46</c:v>
                </c:pt>
                <c:pt idx="4">
                  <c:v>50.52</c:v>
                </c:pt>
                <c:pt idx="5">
                  <c:v>38.69</c:v>
                </c:pt>
                <c:pt idx="6">
                  <c:v>5.32</c:v>
                </c:pt>
                <c:pt idx="7">
                  <c:v>-5.63</c:v>
                </c:pt>
                <c:pt idx="8">
                  <c:v>7.27</c:v>
                </c:pt>
                <c:pt idx="9">
                  <c:v>8.51</c:v>
                </c:pt>
              </c:numCache>
            </c:numRef>
          </c:val>
        </c:ser>
        <c:dLbls>
          <c:numFmt formatCode="0.0&quot;%&quot;" sourceLinked="0"/>
          <c:txPr>
            <a:bodyPr/>
            <a:lstStyle/>
            <a:p>
              <a:pPr>
                <a:defRPr sz="1000"/>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l"/>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100">
          <a:latin typeface="Inter"/>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t>Hobbycraft</a:t>
            </a:r>
          </a:p>
        </p:txBody>
      </p:sp>
      <p:sp>
        <p:nvSpPr>
          <p:cNvPr id="3" name="Subtitle 2"/>
          <p:cNvSpPr>
            <a:spLocks noGrp="1"/>
          </p:cNvSpPr>
          <p:nvPr>
            <p:ph type="subTitle" idx="1"/>
          </p:nvPr>
        </p:nvSpPr>
        <p:spPr/>
        <p:txBody>
          <a:bodyPr wrap="square"/>
          <a:lstStyle/>
          <a:p>
            <a:r>
              <a:t>Strategy Review · September 2026</a:t>
            </a:r>
          </a:p>
        </p:txBody>
      </p:sp>
      <p:sp>
        <p:nvSpPr>
          <p:cNvPr id="4" name="Text Placeholder 3"/>
          <p:cNvSpPr>
            <a:spLocks noGrp="1"/>
          </p:cNvSpPr>
          <p:nvPr>
            <p:ph type="body" idx="11"/>
          </p:nvPr>
        </p:nvSpPr>
        <p:spPr/>
        <p:txBody>
          <a:bodyPr wrap="square"/>
          <a:lstStyle/>
          <a:p>
            <a:r>
              <a:t>Market United Kingdom  ·  Catalogue 24,464 live SKUs · 7 feeds  ·  Cycle Look-back: Oct 2025 –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430"/>
              <a:t>"The feed becomes transaction infrastructure - In agentic commerce, a feed error can affect not only visibility but also the agent's recommendation, cart logic, displayed total, legal notice and ability to complete checkout. Accuracy, identifiers and policy data become commercial controls"</a:t>
            </a:r>
          </a:p>
          <a:p>
            <a:r>
              <a:rPr sz="2430"/>
              <a:t>Google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rPr sz="1290"/>
              <a:t>Eleven chapters, four sources: the project plan, the A/B test archive, the time log, and a live read of the Google Shopping feed this morning.</a:t>
            </a:r>
          </a:p>
        </p:txBody>
      </p:sp>
      <p:sp>
        <p:nvSpPr>
          <p:cNvPr id="4" name="Text Placeholder 3"/>
          <p:cNvSpPr>
            <a:spLocks noGrp="1"/>
          </p:cNvSpPr>
          <p:nvPr>
            <p:ph type="body" idx="1"/>
          </p:nvPr>
        </p:nvSpPr>
        <p:spPr/>
        <p:txBody>
          <a:bodyPr wrap="square"/>
          <a:lstStyle/>
          <a:p>
            <a:pPr>
              <a:spcBef>
                <a:spcPts val="0"/>
              </a:spcBef>
              <a:spcAft>
                <a:spcPts val="0"/>
              </a:spcAft>
            </a:pPr>
            <a:r>
              <a:rPr sz="1350" b="1">
                <a:solidFill>
                  <a:schemeClr val="accent1"/>
                </a:solidFill>
              </a:rPr>
              <a:t>01  </a:t>
            </a:r>
            <a:r>
              <a:rPr sz="1350" b="1"/>
              <a:t>Review &amp; project recap</a:t>
            </a:r>
          </a:p>
          <a:p>
            <a:pPr marL="283464" indent="0">
              <a:spcBef>
                <a:spcPts val="200"/>
              </a:spcBef>
              <a:spcAft>
                <a:spcPts val="0"/>
              </a:spcAft>
            </a:pPr>
            <a:r>
              <a:rPr sz="1050">
                <a:solidFill>
                  <a:srgbClr val="767676"/>
                </a:solidFill>
              </a:rPr>
              <a:t>146 of 222 initiatives closed · 153 live rules holding the feed</a:t>
            </a:r>
          </a:p>
          <a:p>
            <a:pPr>
              <a:spcBef>
                <a:spcPts val="1100"/>
              </a:spcBef>
              <a:spcAft>
                <a:spcPts val="0"/>
              </a:spcAft>
            </a:pPr>
            <a:r>
              <a:rPr sz="1350" b="1">
                <a:solidFill>
                  <a:schemeClr val="accent1"/>
                </a:solidFill>
              </a:rPr>
              <a:t>02  </a:t>
            </a:r>
            <a:r>
              <a:rPr sz="1350" b="1"/>
              <a:t>Channel coverage</a:t>
            </a:r>
          </a:p>
          <a:p>
            <a:pPr marL="283464" indent="0">
              <a:spcBef>
                <a:spcPts val="200"/>
              </a:spcBef>
              <a:spcAft>
                <a:spcPts val="0"/>
              </a:spcAft>
            </a:pPr>
            <a:r>
              <a:rPr sz="1050">
                <a:solidFill>
                  <a:srgbClr val="767676"/>
                </a:solidFill>
              </a:rPr>
              <a:t>Seven live feeds, LIA among them — and what is still unlit</a:t>
            </a:r>
          </a:p>
          <a:p>
            <a:pPr>
              <a:spcBef>
                <a:spcPts val="1100"/>
              </a:spcBef>
              <a:spcAft>
                <a:spcPts val="0"/>
              </a:spcAft>
            </a:pPr>
            <a:r>
              <a:rPr sz="1350" b="1">
                <a:solidFill>
                  <a:schemeClr val="accent1"/>
                </a:solidFill>
              </a:rPr>
              <a:t>03  </a:t>
            </a:r>
            <a:r>
              <a:rPr sz="1350" b="1"/>
              <a:t>Look-back period</a:t>
            </a:r>
          </a:p>
          <a:p>
            <a:pPr marL="283464" indent="0">
              <a:spcBef>
                <a:spcPts val="200"/>
              </a:spcBef>
              <a:spcAft>
                <a:spcPts val="0"/>
              </a:spcAft>
            </a:pPr>
            <a:r>
              <a:rPr sz="1050">
                <a:solidFill>
                  <a:srgbClr val="767676"/>
                </a:solidFill>
              </a:rPr>
              <a:t>October 2025 to September 2026, month by month</a:t>
            </a:r>
          </a:p>
          <a:p>
            <a:pPr>
              <a:spcBef>
                <a:spcPts val="1100"/>
              </a:spcBef>
              <a:spcAft>
                <a:spcPts val="0"/>
              </a:spcAft>
            </a:pPr>
            <a:r>
              <a:rPr sz="1350" b="1">
                <a:solidFill>
                  <a:schemeClr val="accent1"/>
                </a:solidFill>
              </a:rPr>
              <a:t>04  </a:t>
            </a:r>
            <a:r>
              <a:rPr sz="1350" b="1"/>
              <a:t>Number of wins / results</a:t>
            </a:r>
          </a:p>
          <a:p>
            <a:pPr marL="283464" indent="0">
              <a:spcBef>
                <a:spcPts val="200"/>
              </a:spcBef>
              <a:spcAft>
                <a:spcPts val="0"/>
              </a:spcAft>
            </a:pPr>
            <a:r>
              <a:rPr sz="1050">
                <a:solidFill>
                  <a:srgbClr val="767676"/>
                </a:solidFill>
              </a:rPr>
              <a:t>Ten measured tests — four of five controlled A/B tests won</a:t>
            </a:r>
          </a:p>
          <a:p>
            <a:pPr>
              <a:spcBef>
                <a:spcPts val="1100"/>
              </a:spcBef>
              <a:spcAft>
                <a:spcPts val="0"/>
              </a:spcAft>
            </a:pPr>
            <a:r>
              <a:rPr sz="1350" b="1">
                <a:solidFill>
                  <a:schemeClr val="accent1"/>
                </a:solidFill>
              </a:rPr>
              <a:t>05  </a:t>
            </a:r>
            <a:r>
              <a:rPr sz="1350" b="1"/>
              <a:t>Feed optimisation score</a:t>
            </a:r>
          </a:p>
          <a:p>
            <a:pPr marL="283464" indent="0">
              <a:spcBef>
                <a:spcPts val="200"/>
              </a:spcBef>
              <a:spcAft>
                <a:spcPts val="0"/>
              </a:spcAft>
            </a:pPr>
            <a:r>
              <a:rPr sz="1050">
                <a:solidFill>
                  <a:srgbClr val="767676"/>
                </a:solidFill>
              </a:rPr>
              <a:t>73/100 — eleven lanes, read against the live feed</a:t>
            </a:r>
          </a:p>
          <a:p>
            <a:pPr>
              <a:spcBef>
                <a:spcPts val="1100"/>
              </a:spcBef>
              <a:spcAft>
                <a:spcPts val="0"/>
              </a:spcAft>
            </a:pPr>
            <a:r>
              <a:rPr sz="1350" b="1">
                <a:solidFill>
                  <a:schemeClr val="accent1"/>
                </a:solidFill>
              </a:rPr>
              <a:t>06  </a:t>
            </a:r>
            <a:r>
              <a:rPr sz="1350" b="1"/>
              <a:t>AI readiness</a:t>
            </a:r>
          </a:p>
          <a:p>
            <a:pPr marL="283464" indent="0">
              <a:spcBef>
                <a:spcPts val="200"/>
              </a:spcBef>
              <a:spcAft>
                <a:spcPts val="0"/>
              </a:spcAft>
            </a:pPr>
            <a:r>
              <a:rPr sz="1050">
                <a:solidFill>
                  <a:srgbClr val="767676"/>
                </a:solidFill>
              </a:rPr>
              <a:t>Golden Record 90.9, and a hard ceiling at 79.3</a:t>
            </a:r>
          </a:p>
        </p:txBody>
      </p:sp>
      <p:sp>
        <p:nvSpPr>
          <p:cNvPr id="5" name="Text Placeholder 4"/>
          <p:cNvSpPr>
            <a:spLocks noGrp="1"/>
          </p:cNvSpPr>
          <p:nvPr>
            <p:ph type="body" idx="2"/>
          </p:nvPr>
        </p:nvSpPr>
        <p:spPr/>
        <p:txBody>
          <a:bodyPr wrap="square"/>
          <a:lstStyle/>
          <a:p>
            <a:pPr>
              <a:spcBef>
                <a:spcPts val="0"/>
              </a:spcBef>
              <a:spcAft>
                <a:spcPts val="0"/>
              </a:spcAft>
            </a:pPr>
            <a:r>
              <a:rPr sz="1350" b="1">
                <a:solidFill>
                  <a:schemeClr val="accent1"/>
                </a:solidFill>
              </a:rPr>
              <a:t>07  </a:t>
            </a:r>
            <a:r>
              <a:rPr sz="1350" b="1"/>
              <a:t>Case studies / test wins</a:t>
            </a:r>
          </a:p>
          <a:p>
            <a:pPr marL="283464" indent="0">
              <a:spcBef>
                <a:spcPts val="200"/>
              </a:spcBef>
              <a:spcAft>
                <a:spcPts val="0"/>
              </a:spcAft>
            </a:pPr>
            <a:r>
              <a:rPr sz="1050">
                <a:solidFill>
                  <a:srgbClr val="767676"/>
                </a:solidFill>
              </a:rPr>
              <a:t>The same levers on comparable FeedSpark accounts</a:t>
            </a:r>
          </a:p>
          <a:p>
            <a:pPr>
              <a:spcBef>
                <a:spcPts val="1100"/>
              </a:spcBef>
              <a:spcAft>
                <a:spcPts val="0"/>
              </a:spcAft>
            </a:pPr>
            <a:r>
              <a:rPr sz="1350" b="1">
                <a:solidFill>
                  <a:schemeClr val="accent1"/>
                </a:solidFill>
              </a:rPr>
              <a:t>08  </a:t>
            </a:r>
            <a:r>
              <a:rPr sz="1350" b="1"/>
              <a:t>Roadmap / next quarter</a:t>
            </a:r>
          </a:p>
          <a:p>
            <a:pPr marL="283464" indent="0">
              <a:spcBef>
                <a:spcPts val="200"/>
              </a:spcBef>
              <a:spcAft>
                <a:spcPts val="0"/>
              </a:spcAft>
            </a:pPr>
            <a:r>
              <a:rPr sz="1050">
                <a:solidFill>
                  <a:srgbClr val="767676"/>
                </a:solidFill>
              </a:rPr>
              <a:t>Sequenced against Hobbycraft's own trading calendar</a:t>
            </a:r>
          </a:p>
          <a:p>
            <a:pPr>
              <a:spcBef>
                <a:spcPts val="1100"/>
              </a:spcBef>
              <a:spcAft>
                <a:spcPts val="0"/>
              </a:spcAft>
            </a:pPr>
            <a:r>
              <a:rPr sz="1350" b="1">
                <a:solidFill>
                  <a:schemeClr val="accent1"/>
                </a:solidFill>
              </a:rPr>
              <a:t>09  </a:t>
            </a:r>
            <a:r>
              <a:rPr sz="1350" b="1"/>
              <a:t>Google conversational attributes</a:t>
            </a:r>
          </a:p>
          <a:p>
            <a:pPr marL="283464" indent="0">
              <a:spcBef>
                <a:spcPts val="200"/>
              </a:spcBef>
              <a:spcAft>
                <a:spcPts val="0"/>
              </a:spcAft>
            </a:pPr>
            <a:r>
              <a:rPr sz="1050">
                <a:solidFill>
                  <a:srgbClr val="767676"/>
                </a:solidFill>
              </a:rPr>
              <a:t>Six fields built for AI assistants — none live yet</a:t>
            </a:r>
          </a:p>
          <a:p>
            <a:pPr>
              <a:spcBef>
                <a:spcPts val="1100"/>
              </a:spcBef>
              <a:spcAft>
                <a:spcPts val="0"/>
              </a:spcAft>
            </a:pPr>
            <a:r>
              <a:rPr sz="1350" b="1">
                <a:solidFill>
                  <a:schemeClr val="accent1"/>
                </a:solidFill>
              </a:rPr>
              <a:t>10  </a:t>
            </a:r>
            <a:r>
              <a:rPr sz="1350" b="1"/>
              <a:t>Value delivered</a:t>
            </a:r>
          </a:p>
          <a:p>
            <a:pPr marL="283464" indent="0">
              <a:spcBef>
                <a:spcPts val="200"/>
              </a:spcBef>
              <a:spcAft>
                <a:spcPts val="0"/>
              </a:spcAft>
            </a:pPr>
            <a:r>
              <a:rPr sz="1050">
                <a:solidFill>
                  <a:srgbClr val="767676"/>
                </a:solidFill>
              </a:rPr>
              <a:t>437.5 hours, 153 rules, one catalogue held together</a:t>
            </a:r>
          </a:p>
          <a:p>
            <a:pPr>
              <a:spcBef>
                <a:spcPts val="1100"/>
              </a:spcBef>
              <a:spcAft>
                <a:spcPts val="0"/>
              </a:spcAft>
            </a:pPr>
            <a:r>
              <a:rPr sz="1350" b="1">
                <a:solidFill>
                  <a:schemeClr val="accent1"/>
                </a:solidFill>
              </a:rPr>
              <a:t>11  </a:t>
            </a:r>
            <a:r>
              <a:rPr sz="1350" b="1"/>
              <a:t>Spark AI engine (Tachyon)</a:t>
            </a:r>
          </a:p>
          <a:p>
            <a:pPr marL="283464" indent="0">
              <a:spcBef>
                <a:spcPts val="200"/>
              </a:spcBef>
              <a:spcAft>
                <a:spcPts val="0"/>
              </a:spcAft>
            </a:pPr>
            <a:r>
              <a:rPr sz="1050">
                <a:solidFill>
                  <a:srgbClr val="767676"/>
                </a:solidFill>
              </a:rPr>
              <a:t>Intent, enrichment and visual harvest for craft</a:t>
            </a:r>
          </a:p>
        </p:txBody>
      </p:sp>
      <p:sp>
        <p:nvSpPr>
          <p:cNvPr id="6" name="Text Placeholder 5"/>
          <p:cNvSpPr>
            <a:spLocks noGrp="1"/>
          </p:cNvSpPr>
          <p:nvPr>
            <p:ph type="body" idx="14"/>
          </p:nvPr>
        </p:nvSpPr>
        <p:spPr/>
        <p:txBody>
          <a:bodyPr wrap="square"/>
          <a:lstStyle/>
          <a:p>
            <a:r>
              <a:t>Where the plan and the feed disagree, the feed wins — every chapter shows both numbers rather than the friendlier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one</a:t>
            </a:r>
          </a:p>
        </p:txBody>
      </p:sp>
      <p:sp>
        <p:nvSpPr>
          <p:cNvPr id="3" name="Title 2"/>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146 of 222 tracked initiatives closed since May 2020 — and 153 live rules now hold the catalogue without anybody touching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a:t>
            </a:r>
          </a:p>
        </p:txBody>
      </p:sp>
      <p:sp>
        <p:nvSpPr>
          <p:cNvPr id="3" name="Text Placeholder 2"/>
          <p:cNvSpPr>
            <a:spLocks noGrp="1"/>
          </p:cNvSpPr>
          <p:nvPr>
            <p:ph type="body" idx="11"/>
          </p:nvPr>
        </p:nvSpPr>
        <p:spPr/>
        <p:txBody>
          <a:bodyPr wrap="square"/>
          <a:lstStyle/>
          <a:p>
            <a:r>
              <a:t>What closed in the current cycle</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4406746"/>
                <a:gridCol w="764885"/>
                <a:gridCol w="764885"/>
                <a:gridCol w="5036282"/>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426339">
                <a:tc>
                  <a:txBody>
                    <a:bodyPr/>
                    <a:lstStyle/>
                    <a:p>
                      <a:r>
                        <a:rPr sz="1100"/>
                        <a:t>Custom label aligned to promotional offers — linelist process removed</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custom_label_1 now carries Full Price / On Offer on 100% of 24,464 SKUs, by rule</a:t>
                      </a:r>
                    </a:p>
                  </a:txBody>
                  <a:tcPr/>
                </a:tc>
              </a:tr>
              <a:tr h="426339">
                <a:tc>
                  <a:txBody>
                    <a:bodyPr/>
                    <a:lstStyle/>
                    <a:p>
                      <a:r>
                        <a:rPr sz="1100"/>
                        <a:t>Valentine's Day — [Heart] related products, keywords removed by 15 Feb</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Seasonal keywords applied and retired to schedule — no residue in the live feed</a:t>
                      </a:r>
                    </a:p>
                  </a:txBody>
                  <a:tcPr/>
                </a:tc>
              </a:tr>
              <a:tr h="426339">
                <a:tc>
                  <a:txBody>
                    <a:bodyPr/>
                    <a:lstStyle/>
                    <a:p>
                      <a:r>
                        <a:rPr sz="1100"/>
                        <a:t>All custom label overview, PPC &amp; Social — for Performics to review</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Five-slot architecture documented per channel; feeds the restructure still open</a:t>
                      </a:r>
                    </a:p>
                  </a:txBody>
                  <a:tcPr/>
                </a:tc>
              </a:tr>
              <a:tr h="426339">
                <a:tc>
                  <a:txBody>
                    <a:bodyPr/>
                    <a:lstStyle/>
                    <a:p>
                      <a:r>
                        <a:rPr sz="1100"/>
                        <a:t>Promo roundel location confirmed in the Social feed</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Overlay engine live — 25%, 40%, 60% off and Save £x frames in production</a:t>
                      </a:r>
                    </a:p>
                  </a:txBody>
                  <a:tcPr/>
                </a:tc>
              </a:tr>
              <a:tr h="426339">
                <a:tc>
                  <a:txBody>
                    <a:bodyPr/>
                    <a:lstStyle/>
                    <a:p>
                      <a:r>
                        <a:rPr sz="1100"/>
                        <a:t>Easter — Easter Party &amp; Occasions keyword optimisation</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Occasion terms applied to the Easter range on the trading calendar's own month</a:t>
                      </a:r>
                    </a:p>
                  </a:txBody>
                  <a:tcPr/>
                </a:tc>
              </a:tr>
              <a:tr h="426339">
                <a:tc>
                  <a:txBody>
                    <a:bodyPr/>
                    <a:lstStyle/>
                    <a:p>
                      <a:r>
                        <a:rPr sz="1100"/>
                        <a:t>Kids — keyword optimisation</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April's primary category on the calendar, optimised in April</a:t>
                      </a:r>
                    </a:p>
                  </a:txBody>
                  <a:tcPr/>
                </a:tc>
              </a:tr>
              <a:tr h="426339">
                <a:tc>
                  <a:txBody>
                    <a:bodyPr/>
                    <a:lstStyle/>
                    <a:p>
                      <a:r>
                        <a:rPr sz="1100"/>
                        <a:t>TikTok feed setup reviewed with Claudia</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TikTok is one of the seven feeds live today — chapter 02</a:t>
                      </a:r>
                    </a:p>
                  </a:txBody>
                  <a:tcPr/>
                </a:tc>
              </a:tr>
              <a:tr h="426339">
                <a:tc>
                  <a:txBody>
                    <a:bodyPr/>
                    <a:lstStyle/>
                    <a:p>
                      <a:r>
                        <a:rPr sz="1100"/>
                        <a:t>Delivery rate moved into GMC — removed from the feed</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Shipping now configured where Google expects it, not duplicated in product data</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 (cont.)</a:t>
            </a:r>
          </a:p>
        </p:txBody>
      </p:sp>
      <p:graphicFrame>
        <p:nvGraphicFramePr>
          <p:cNvPr id="5" name="Table 4"/>
          <p:cNvGraphicFramePr>
            <a:graphicFrameLocks noGrp="1"/>
          </p:cNvGraphicFramePr>
          <p:nvPr/>
        </p:nvGraphicFramePr>
        <p:xfrm>
          <a:off x="612648" y="1389888"/>
          <a:ext cx="10972798" cy="1755648"/>
        </p:xfrm>
        <a:graphic>
          <a:graphicData uri="http://schemas.openxmlformats.org/drawingml/2006/table">
            <a:tbl>
              <a:tblPr firstRow="1" bandRow="1">
                <a:tableStyleId>{5C22544A-7EE6-4342-B048-85BDC9FD1C3A}</a:tableStyleId>
              </a:tblPr>
              <a:tblGrid>
                <a:gridCol w="3978285"/>
                <a:gridCol w="797569"/>
                <a:gridCol w="841560"/>
                <a:gridCol w="5355384"/>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685800">
                <a:tc>
                  <a:txBody>
                    <a:bodyPr/>
                    <a:lstStyle/>
                    <a:p>
                      <a:r>
                        <a:rPr sz="1100"/>
                        <a:t>Review product_type for non-existent values</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1,087 distinct primary category paths in the feed today, all resolving</a:t>
                      </a:r>
                    </a:p>
                  </a:txBody>
                  <a:tcPr/>
                </a:tc>
              </a:tr>
              <a:tr h="685800">
                <a:tc>
                  <a:txBody>
                    <a:bodyPr/>
                    <a:lstStyle/>
                    <a:p>
                      <a:r>
                        <a:rPr sz="1100"/>
                        <a:t>AI Titles A/B test — [Search Intent] on 200 products</a:t>
                      </a:r>
                    </a:p>
                  </a:txBody>
                  <a:tcPr/>
                </a:tc>
                <a:tc>
                  <a:txBody>
                    <a:bodyPr/>
                    <a:lstStyle/>
                    <a:p>
                      <a:r>
                        <a:rPr sz="1100"/>
                        <a:t>Ezgi</a:t>
                      </a:r>
                    </a:p>
                  </a:txBody>
                  <a:tcPr/>
                </a:tc>
                <a:tc>
                  <a:txBody>
                    <a:bodyPr/>
                    <a:lstStyle/>
                    <a:p>
                      <a:r>
                        <a:rPr sz="1100" b="1">
                          <a:solidFill>
                            <a:srgbClr val="ED6F0B"/>
                          </a:solidFill>
                        </a:rPr>
                        <a:t>In progress</a:t>
                      </a:r>
                    </a:p>
                  </a:txBody>
                  <a:tcPr/>
                </a:tc>
                <a:tc>
                  <a:txBody>
                    <a:bodyPr/>
                    <a:lstStyle/>
                    <a:p>
                      <a:r>
                        <a:rPr sz="1100"/>
                        <a:t>The next measured test. Chapter 04 says what the last one returned</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The account is older than most of the work in it. The project plan opens in May 2020 and has run continuously since — product type rules, competitor keyword batches, LIA, the custom label architecture, DPA overlays, Pinterest, TikTok. What holds it today is 153 active rules and 8 live batches in FeedHero, with 174 batches expired behind them. That is six years of decisions still being applied to every product that arrives.</a:t>
            </a:r>
          </a:p>
        </p:txBody>
      </p:sp>
      <p:sp>
        <p:nvSpPr>
          <p:cNvPr id="3" name="Text Placeholder 2"/>
          <p:cNvSpPr>
            <a:spLocks noGrp="1"/>
          </p:cNvSpPr>
          <p:nvPr>
            <p:ph type="body" idx="11"/>
          </p:nvPr>
        </p:nvSpPr>
        <p:spPr/>
        <p:txBody>
          <a:bodyPr wrap="square"/>
          <a:lstStyle/>
          <a:p>
            <a:r>
              <a:t>Review &amp; project recap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two</a:t>
            </a:r>
          </a:p>
        </p:txBody>
      </p:sp>
      <p:sp>
        <p:nvSpPr>
          <p:cNvPr id="3" name="Title 2"/>
          <p:cNvSpPr>
            <a:spLocks noGrp="1"/>
          </p:cNvSpPr>
          <p:nvPr>
            <p:ph type="title"/>
          </p:nvPr>
        </p:nvSpPr>
        <p:spPr/>
        <p:txBody>
          <a:bodyPr wrap="square"/>
          <a:lstStyle/>
          <a:p>
            <a:r>
              <a:t>Channel coverage</a:t>
            </a:r>
          </a:p>
        </p:txBody>
      </p:sp>
      <p:sp>
        <p:nvSpPr>
          <p:cNvPr id="4" name="Text Placeholder 3"/>
          <p:cNvSpPr>
            <a:spLocks noGrp="1"/>
          </p:cNvSpPr>
          <p:nvPr>
            <p:ph type="body" idx="1"/>
          </p:nvPr>
        </p:nvSpPr>
        <p:spPr/>
        <p:txBody>
          <a:bodyPr wrap="square"/>
          <a:lstStyle/>
          <a:p>
            <a:r>
              <a:t>Seven feeds live on one market, Local Inventory Ads among them — and three channels nobody has commissioned yet.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A channel marked not in scope is not a delivery gap — it is a channel nobody has commissioned, and each one runs on product data Hobbycraft already maintains.</a:t>
            </a:r>
          </a:p>
        </p:txBody>
      </p:sp>
      <p:sp>
        <p:nvSpPr>
          <p:cNvPr id="3" name="Text Placeholder 2"/>
          <p:cNvSpPr>
            <a:spLocks noGrp="1"/>
          </p:cNvSpPr>
          <p:nvPr>
            <p:ph type="body" idx="11"/>
          </p:nvPr>
        </p:nvSpPr>
        <p:spPr/>
        <p:txBody>
          <a:bodyPr wrap="square"/>
          <a:lstStyle/>
          <a:p>
            <a:r>
              <a:t>Channel coverage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Channel coverage (cont.)</a:t>
            </a:r>
          </a:p>
        </p:txBody>
      </p:sp>
      <p:graphicFrame>
        <p:nvGraphicFramePr>
          <p:cNvPr id="5" name="Table 4"/>
          <p:cNvGraphicFramePr>
            <a:graphicFrameLocks noGrp="1"/>
          </p:cNvGraphicFramePr>
          <p:nvPr/>
        </p:nvGraphicFramePr>
        <p:xfrm>
          <a:off x="612648" y="1389888"/>
          <a:ext cx="10972798" cy="4251958"/>
        </p:xfrm>
        <a:graphic>
          <a:graphicData uri="http://schemas.openxmlformats.org/drawingml/2006/table">
            <a:tbl>
              <a:tblPr firstRow="1" bandRow="1">
                <a:tableStyleId>{5C22544A-7EE6-4342-B048-85BDC9FD1C3A}</a:tableStyleId>
              </a:tblPr>
              <a:tblGrid>
                <a:gridCol w="1878904"/>
                <a:gridCol w="901873"/>
                <a:gridCol w="1427967"/>
                <a:gridCol w="6764054"/>
              </a:tblGrid>
              <a:tr h="384048">
                <a:tc>
                  <a:txBody>
                    <a:bodyPr/>
                    <a:lstStyle/>
                    <a:p>
                      <a:r>
                        <a:rPr sz="1300" b="1">
                          <a:solidFill>
                            <a:srgbClr val="FFFFFF"/>
                          </a:solidFill>
                        </a:rPr>
                        <a:t>Channel</a:t>
                      </a:r>
                    </a:p>
                  </a:txBody>
                  <a:tcPr/>
                </a:tc>
                <a:tc>
                  <a:txBody>
                    <a:bodyPr/>
                    <a:lstStyle/>
                    <a:p>
                      <a:r>
                        <a:rPr sz="1300" b="1">
                          <a:solidFill>
                            <a:srgbClr val="FFFFFF"/>
                          </a:solidFill>
                        </a:rPr>
                        <a:t>State</a:t>
                      </a:r>
                    </a:p>
                  </a:txBody>
                  <a:tcPr/>
                </a:tc>
                <a:tc>
                  <a:txBody>
                    <a:bodyPr/>
                    <a:lstStyle/>
                    <a:p>
                      <a:r>
                        <a:rPr sz="1300" b="1">
                          <a:solidFill>
                            <a:srgbClr val="FFFFFF"/>
                          </a:solidFill>
                        </a:rPr>
                        <a:t>Coverage</a:t>
                      </a:r>
                    </a:p>
                  </a:txBody>
                  <a:tcPr/>
                </a:tc>
                <a:tc>
                  <a:txBody>
                    <a:bodyPr/>
                    <a:lstStyle/>
                    <a:p>
                      <a:r>
                        <a:rPr sz="1300" b="1">
                          <a:solidFill>
                            <a:srgbClr val="FFFFFF"/>
                          </a:solidFill>
                        </a:rPr>
                        <a:t>What the evidence shows</a:t>
                      </a:r>
                    </a:p>
                  </a:txBody>
                  <a:tcPr/>
                </a:tc>
              </a:tr>
              <a:tr h="386791">
                <a:tc>
                  <a:txBody>
                    <a:bodyPr/>
                    <a:lstStyle/>
                    <a:p>
                      <a:r>
                        <a:rPr sz="1100"/>
                        <a:t>Google Shopping</a:t>
                      </a:r>
                    </a:p>
                  </a:txBody>
                  <a:tcPr/>
                </a:tc>
                <a:tc>
                  <a:txBody>
                    <a:bodyPr/>
                    <a:lstStyle/>
                    <a:p>
                      <a:r>
                        <a:rPr sz="1100"/>
                        <a:t>Optimised</a:t>
                      </a:r>
                    </a:p>
                  </a:txBody>
                  <a:tcPr/>
                </a:tc>
                <a:tc>
                  <a:txBody>
                    <a:bodyPr/>
                    <a:lstStyle/>
                    <a:p>
                      <a:r>
                        <a:rPr sz="1100"/>
                        <a:t>24,464 SKUs</a:t>
                      </a:r>
                    </a:p>
                  </a:txBody>
                  <a:tcPr/>
                </a:tc>
                <a:tc>
                  <a:txBody>
                    <a:bodyPr/>
                    <a:lstStyle/>
                    <a:p>
                      <a:r>
                        <a:rPr sz="1100"/>
                        <a:t>The primary feed. Required attributes complete, GPC on 100% at 4.18 levels average, titles rewritten by rule</a:t>
                      </a:r>
                    </a:p>
                  </a:txBody>
                  <a:tcPr/>
                </a:tc>
              </a:tr>
              <a:tr h="386791">
                <a:tc>
                  <a:txBody>
                    <a:bodyPr/>
                    <a:lstStyle/>
                    <a:p>
                      <a:r>
                        <a:rPr sz="1100"/>
                        <a:t>Google Base — FS mapping</a:t>
                      </a:r>
                    </a:p>
                  </a:txBody>
                  <a:tcPr/>
                </a:tc>
                <a:tc>
                  <a:txBody>
                    <a:bodyPr/>
                    <a:lstStyle/>
                    <a:p>
                      <a:r>
                        <a:rPr sz="1100" b="1">
                          <a:solidFill>
                            <a:srgbClr val="2E7D32"/>
                          </a:solidFill>
                        </a:rPr>
                        <a:t>Live</a:t>
                      </a:r>
                    </a:p>
                  </a:txBody>
                  <a:tcPr/>
                </a:tc>
                <a:tc>
                  <a:txBody>
                    <a:bodyPr/>
                    <a:lstStyle/>
                    <a:p>
                      <a:r>
                        <a:rPr sz="1100"/>
                        <a:t>Same catalogue</a:t>
                      </a:r>
                    </a:p>
                  </a:txBody>
                  <a:tcPr/>
                </a:tc>
                <a:tc>
                  <a:txBody>
                    <a:bodyPr/>
                    <a:lstStyle/>
                    <a:p>
                      <a:r>
                        <a:rPr sz="1100"/>
                        <a:t>FeedSpark's own mapping feed, carrying the category and label architecture into Merchant Center</a:t>
                      </a:r>
                    </a:p>
                  </a:txBody>
                  <a:tcPr/>
                </a:tc>
              </a:tr>
              <a:tr h="386791">
                <a:tc>
                  <a:txBody>
                    <a:bodyPr/>
                    <a:lstStyle/>
                    <a:p>
                      <a:r>
                        <a:rPr sz="1100"/>
                        <a:t>LIA — Local Inventory Ads</a:t>
                      </a:r>
                    </a:p>
                  </a:txBody>
                  <a:tcPr/>
                </a:tc>
                <a:tc>
                  <a:txBody>
                    <a:bodyPr/>
                    <a:lstStyle/>
                    <a:p>
                      <a:r>
                        <a:rPr sz="1100" b="1">
                          <a:solidFill>
                            <a:srgbClr val="2E7D32"/>
                          </a:solidFill>
                        </a:rPr>
                        <a:t>Live</a:t>
                      </a:r>
                    </a:p>
                  </a:txBody>
                  <a:tcPr/>
                </a:tc>
                <a:tc>
                  <a:txBody>
                    <a:bodyPr/>
                    <a:lstStyle/>
                    <a:p>
                      <a:r>
                        <a:rPr sz="1100"/>
                        <a:t>Store inventory</a:t>
                      </a:r>
                    </a:p>
                  </a:txBody>
                  <a:tcPr/>
                </a:tc>
                <a:tc>
                  <a:txBody>
                    <a:bodyPr/>
                    <a:lstStyle/>
                    <a:p>
                      <a:r>
                        <a:rPr sz="1100"/>
                        <a:t>Built out in four weeks against the plan's own step list — master inventory review, feed production, GMB link, SFTP, inventory verification, Local campaign enabled</a:t>
                      </a:r>
                    </a:p>
                  </a:txBody>
                  <a:tcPr/>
                </a:tc>
              </a:tr>
              <a:tr h="386791">
                <a:tc>
                  <a:txBody>
                    <a:bodyPr/>
                    <a:lstStyle/>
                    <a:p>
                      <a:r>
                        <a:rPr sz="1100"/>
                        <a:t>Meta / Commerce Manager</a:t>
                      </a:r>
                    </a:p>
                  </a:txBody>
                  <a:tcPr/>
                </a:tc>
                <a:tc>
                  <a:txBody>
                    <a:bodyPr/>
                    <a:lstStyle/>
                    <a:p>
                      <a:r>
                        <a:rPr sz="1100" b="1">
                          <a:solidFill>
                            <a:srgbClr val="2E7D32"/>
                          </a:solidFill>
                        </a:rPr>
                        <a:t>Live</a:t>
                      </a:r>
                    </a:p>
                  </a:txBody>
                  <a:tcPr/>
                </a:tc>
                <a:tc>
                  <a:txBody>
                    <a:bodyPr/>
                    <a:lstStyle/>
                    <a:p>
                      <a:r>
                        <a:rPr sz="1100"/>
                        <a:t>Facebook catalogue</a:t>
                      </a:r>
                    </a:p>
                  </a:txBody>
                  <a:tcPr/>
                </a:tc>
                <a:tc>
                  <a:txBody>
                    <a:bodyPr/>
                    <a:lstStyle/>
                    <a:p>
                      <a:r>
                        <a:rPr sz="1100"/>
                        <a:t>Own title rule (short_title on 100% of SKUs, mean 39.6 characters), own five-slot label architecture, DPA overlays in production</a:t>
                      </a:r>
                    </a:p>
                  </a:txBody>
                  <a:tcPr/>
                </a:tc>
              </a:tr>
              <a:tr h="386791">
                <a:tc>
                  <a:txBody>
                    <a:bodyPr/>
                    <a:lstStyle/>
                    <a:p>
                      <a:r>
                        <a:rPr sz="1100"/>
                        <a:t>Bing Shopping</a:t>
                      </a:r>
                    </a:p>
                  </a:txBody>
                  <a:tcPr/>
                </a:tc>
                <a:tc>
                  <a:txBody>
                    <a:bodyPr/>
                    <a:lstStyle/>
                    <a:p>
                      <a:r>
                        <a:rPr sz="1100" b="1">
                          <a:solidFill>
                            <a:srgbClr val="2E7D32"/>
                          </a:solidFill>
                        </a:rPr>
                        <a:t>Live</a:t>
                      </a:r>
                    </a:p>
                  </a:txBody>
                  <a:tcPr/>
                </a:tc>
                <a:tc>
                  <a:txBody>
                    <a:bodyPr/>
                    <a:lstStyle/>
                    <a:p>
                      <a:r>
                        <a:rPr sz="1100"/>
                        <a:t>Same catalogue</a:t>
                      </a:r>
                    </a:p>
                  </a:txBody>
                  <a:tcPr/>
                </a:tc>
                <a:tc>
                  <a:txBody>
                    <a:bodyPr/>
                    <a:lstStyle/>
                    <a:p>
                      <a:r>
                        <a:rPr sz="1100"/>
                        <a:t>Feed live in FeedHero; no separate optimisation lane commissioned</a:t>
                      </a:r>
                    </a:p>
                  </a:txBody>
                  <a:tcPr/>
                </a:tc>
              </a:tr>
              <a:tr h="386791">
                <a:tc>
                  <a:txBody>
                    <a:bodyPr/>
                    <a:lstStyle/>
                    <a:p>
                      <a:r>
                        <a:rPr sz="1100"/>
                        <a:t>Pinterest</a:t>
                      </a:r>
                    </a:p>
                  </a:txBody>
                  <a:tcPr/>
                </a:tc>
                <a:tc>
                  <a:txBody>
                    <a:bodyPr/>
                    <a:lstStyle/>
                    <a:p>
                      <a:r>
                        <a:rPr sz="1100" b="1">
                          <a:solidFill>
                            <a:srgbClr val="2E7D32"/>
                          </a:solidFill>
                        </a:rPr>
                        <a:t>Live</a:t>
                      </a:r>
                    </a:p>
                  </a:txBody>
                  <a:tcPr/>
                </a:tc>
                <a:tc>
                  <a:txBody>
                    <a:bodyPr/>
                    <a:lstStyle/>
                    <a:p>
                      <a:r>
                        <a:rPr sz="1100"/>
                        <a:t>GB XML feed</a:t>
                      </a:r>
                    </a:p>
                  </a:txBody>
                  <a:tcPr/>
                </a:tc>
                <a:tc>
                  <a:txBody>
                    <a:bodyPr/>
                    <a:lstStyle/>
                    <a:p>
                      <a:r>
                        <a:rPr sz="1100"/>
                        <a:t>Set live off the plan's August action; running on the same structured product data</a:t>
                      </a:r>
                    </a:p>
                  </a:txBody>
                  <a:tcPr/>
                </a:tc>
              </a:tr>
              <a:tr h="386791">
                <a:tc>
                  <a:txBody>
                    <a:bodyPr/>
                    <a:lstStyle/>
                    <a:p>
                      <a:r>
                        <a:rPr sz="1100"/>
                        <a:t>TikTok Shop</a:t>
                      </a:r>
                    </a:p>
                  </a:txBody>
                  <a:tcPr/>
                </a:tc>
                <a:tc>
                  <a:txBody>
                    <a:bodyPr/>
                    <a:lstStyle/>
                    <a:p>
                      <a:r>
                        <a:rPr sz="1100" b="1">
                          <a:solidFill>
                            <a:srgbClr val="2E7D32"/>
                          </a:solidFill>
                        </a:rPr>
                        <a:t>Live</a:t>
                      </a:r>
                    </a:p>
                  </a:txBody>
                  <a:tcPr/>
                </a:tc>
                <a:tc>
                  <a:txBody>
                    <a:bodyPr/>
                    <a:lstStyle/>
                    <a:p>
                      <a:r>
                        <a:rPr sz="1100"/>
                        <a:t>Tailored production</a:t>
                      </a:r>
                    </a:p>
                  </a:txBody>
                  <a:tcPr/>
                </a:tc>
                <a:tc>
                  <a:txBody>
                    <a:bodyPr/>
                    <a:lstStyle/>
                    <a:p>
                      <a:r>
                        <a:rPr sz="1100"/>
                        <a:t>Reactivated Feb 2026 and reviewed this cycle</a:t>
                      </a:r>
                    </a:p>
                  </a:txBody>
                  <a:tcPr/>
                </a:tc>
              </a:tr>
              <a:tr h="386791">
                <a:tc>
                  <a:txBody>
                    <a:bodyPr/>
                    <a:lstStyle/>
                    <a:p>
                      <a:r>
                        <a:rPr sz="1100"/>
                        <a:t>Product Type CSV</a:t>
                      </a:r>
                    </a:p>
                  </a:txBody>
                  <a:tcPr/>
                </a:tc>
                <a:tc>
                  <a:txBody>
                    <a:bodyPr/>
                    <a:lstStyle/>
                    <a:p>
                      <a:r>
                        <a:rPr sz="1100" b="1">
                          <a:solidFill>
                            <a:srgbClr val="2E7D32"/>
                          </a:solidFill>
                        </a:rPr>
                        <a:t>Live</a:t>
                      </a:r>
                    </a:p>
                  </a:txBody>
                  <a:tcPr/>
                </a:tc>
                <a:tc>
                  <a:txBody>
                    <a:bodyPr/>
                    <a:lstStyle/>
                    <a:p>
                      <a:r>
                        <a:rPr sz="1100"/>
                        <a:t>Internal</a:t>
                      </a:r>
                    </a:p>
                  </a:txBody>
                  <a:tcPr/>
                </a:tc>
                <a:tc>
                  <a:txBody>
                    <a:bodyPr/>
                    <a:lstStyle/>
                    <a:p>
                      <a:r>
                        <a:rPr sz="1100"/>
                        <a:t>The category-tree export the PPC and SEO teams work from</a:t>
                      </a:r>
                    </a:p>
                  </a:txBody>
                  <a:tcPr/>
                </a:tc>
              </a:tr>
              <a:tr h="386791">
                <a:tc>
                  <a:txBody>
                    <a:bodyPr/>
                    <a:lstStyle/>
                    <a:p>
                      <a:r>
                        <a:rPr sz="1100"/>
                        <a:t>CSS</a:t>
                      </a:r>
                    </a:p>
                  </a:txBody>
                  <a:tcPr/>
                </a:tc>
                <a:tc>
                  <a:txBody>
                    <a:bodyPr/>
                    <a:lstStyle/>
                    <a:p>
                      <a:r>
                        <a:rPr sz="1100"/>
                        <a:t>Not in scope</a:t>
                      </a:r>
                    </a:p>
                  </a:txBody>
                  <a:tcPr/>
                </a:tc>
                <a:tc>
                  <a:txBody>
                    <a:bodyPr/>
                    <a:lstStyle/>
                    <a:p>
                      <a:r>
                        <a:rPr sz="1100"/>
                        <a:t>—</a:t>
                      </a:r>
                    </a:p>
                  </a:txBody>
                  <a:tcPr/>
                </a:tc>
                <a:tc>
                  <a:txBody>
                    <a:bodyPr/>
                    <a:lstStyle/>
                    <a:p>
                      <a:r>
                        <a:rPr sz="1100"/>
                        <a:t>Discussed for non-performing products; the account runs a Zombie campaign instead</a:t>
                      </a:r>
                    </a:p>
                  </a:txBody>
                  <a:tcPr/>
                </a:tc>
              </a:tr>
              <a:tr h="386791">
                <a:tc>
                  <a:txBody>
                    <a:bodyPr/>
                    <a:lstStyle/>
                    <a:p>
                      <a:r>
                        <a:rPr sz="1100"/>
                        <a:t>Affiliate feeds</a:t>
                      </a:r>
                    </a:p>
                  </a:txBody>
                  <a:tcPr/>
                </a:tc>
                <a:tc>
                  <a:txBody>
                    <a:bodyPr/>
                    <a:lstStyle/>
                    <a:p>
                      <a:r>
                        <a:rPr sz="1100"/>
                        <a:t>Not in scope</a:t>
                      </a:r>
                    </a:p>
                  </a:txBody>
                  <a:tcPr/>
                </a:tc>
                <a:tc>
                  <a:txBody>
                    <a:bodyPr/>
                    <a:lstStyle/>
                    <a:p>
                      <a:r>
                        <a:rPr sz="1100"/>
                        <a:t>—</a:t>
                      </a:r>
                    </a:p>
                  </a:txBody>
                  <a:tcPr/>
                </a:tc>
                <a:tc>
                  <a:txBody>
                    <a:bodyPr/>
                    <a:lstStyle/>
                    <a:p>
                      <a:r>
                        <a:rPr sz="1100"/>
                        <a:t>No affiliate feed currently maintained — an open opportunity</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Channel coverage (cont.)</a:t>
            </a:r>
          </a:p>
        </p:txBody>
      </p:sp>
      <p:sp>
        <p:nvSpPr>
          <p:cNvPr id="4" name="Text Placeholder 3"/>
          <p:cNvSpPr>
            <a:spLocks noGrp="1"/>
          </p:cNvSpPr>
          <p:nvPr>
            <p:ph type="body" idx="1"/>
          </p:nvPr>
        </p:nvSpPr>
        <p:spPr/>
        <p:txBody>
          <a:bodyPr wrap="square"/>
          <a:lstStyle/>
          <a:p>
            <a:r>
              <a:rPr sz="1520"/>
              <a:t>Seven feeds is unusual for a single-market account</a:t>
            </a:r>
          </a:p>
        </p:txBody>
      </p:sp>
      <p:sp>
        <p:nvSpPr>
          <p:cNvPr id="5" name="Text Placeholder 4"/>
          <p:cNvSpPr>
            <a:spLocks noGrp="1"/>
          </p:cNvSpPr>
          <p:nvPr>
            <p:ph type="body" idx="2"/>
          </p:nvPr>
        </p:nvSpPr>
        <p:spPr/>
        <p:txBody>
          <a:bodyPr wrap="square"/>
          <a:lstStyle/>
          <a:p>
            <a:r>
              <a:t>Most accounts this size run two. Hobbycraft runs Shopping, a mapping feed, LIA, Meta, Bing, Pinterest and TikTok off one master feed imported by FTP, on a scheduled refresh — plus four live scrapes topping up web offers daily, product highlights, product type and the back-to-school SKU list.</a:t>
            </a:r>
          </a:p>
          <a:p>
            <a:r>
              <a:t>Every one of those channels is fed by the same rules. A category or label change made once lands in all seven.</a:t>
            </a:r>
          </a:p>
        </p:txBody>
      </p:sp>
      <p:sp>
        <p:nvSpPr>
          <p:cNvPr id="6" name="Text Placeholder 5"/>
          <p:cNvSpPr>
            <a:spLocks noGrp="1"/>
          </p:cNvSpPr>
          <p:nvPr>
            <p:ph type="body" idx="3"/>
          </p:nvPr>
        </p:nvSpPr>
        <p:spPr/>
        <p:txBody>
          <a:bodyPr wrap="square"/>
          <a:lstStyle/>
          <a:p>
            <a:r>
              <a:t>Where the next channel is cheapest</a:t>
            </a:r>
          </a:p>
        </p:txBody>
      </p:sp>
      <p:sp>
        <p:nvSpPr>
          <p:cNvPr id="7" name="Text Placeholder 6"/>
          <p:cNvSpPr>
            <a:spLocks noGrp="1"/>
          </p:cNvSpPr>
          <p:nvPr>
            <p:ph type="body" idx="4"/>
          </p:nvPr>
        </p:nvSpPr>
        <p:spPr/>
        <p:txBody>
          <a:bodyPr wrap="square"/>
          <a:lstStyle/>
          <a:p>
            <a:r>
              <a:t>The expensive part of a new channel is structured product data, and that is already done: identifiers at 100%, GPC at 100%, 381 brands normalised, 16,720 variant families resolved.</a:t>
            </a:r>
          </a:p>
          <a:p>
            <a:r>
              <a:t>An affiliate feed is a configuration and a QA cycle. So is a second market, if Hobbycraft ever takes the range beyond the UK.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three</a:t>
            </a:r>
          </a:p>
        </p:txBody>
      </p:sp>
      <p:sp>
        <p:nvSpPr>
          <p:cNvPr id="3" name="Title 2"/>
          <p:cNvSpPr>
            <a:spLocks noGrp="1"/>
          </p:cNvSpPr>
          <p:nvPr>
            <p:ph type="title"/>
          </p:nvPr>
        </p:nvSpPr>
        <p:spPr/>
        <p:txBody>
          <a:bodyPr wrap="square"/>
          <a:lstStyle/>
          <a:p>
            <a:r>
              <a:t>Look-back period</a:t>
            </a:r>
          </a:p>
        </p:txBody>
      </p:sp>
      <p:sp>
        <p:nvSpPr>
          <p:cNvPr id="4" name="Text Placeholder 3"/>
          <p:cNvSpPr>
            <a:spLocks noGrp="1"/>
          </p:cNvSpPr>
          <p:nvPr>
            <p:ph type="body" idx="1"/>
          </p:nvPr>
        </p:nvSpPr>
        <p:spPr/>
        <p:txBody>
          <a:bodyPr wrap="square"/>
          <a:lstStyle/>
          <a:p>
            <a:r>
              <a:t>October 2025 to September 2026 — 437.5 hours delivered against a 288-hour allowance, on a catalogue taking in 571 new products a month.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Look-back period</a:t>
            </a:r>
          </a:p>
        </p:txBody>
      </p:sp>
      <p:sp>
        <p:nvSpPr>
          <p:cNvPr id="3" name="Text Placeholder 2"/>
          <p:cNvSpPr>
            <a:spLocks noGrp="1"/>
          </p:cNvSpPr>
          <p:nvPr>
            <p:ph type="body" idx="11"/>
          </p:nvPr>
        </p:nvSpPr>
        <p:spPr/>
        <p:txBody>
          <a:bodyPr wrap="square"/>
          <a:lstStyle/>
          <a:p>
            <a:r>
              <a:t>Hours delivered per month</a:t>
            </a:r>
          </a:p>
        </p:txBody>
      </p:sp>
      <p:graphicFrame>
        <p:nvGraphicFramePr>
          <p:cNvPr id="5" name="Chart 4"/>
          <p:cNvGraphicFramePr>
            <a:graphicFrameLocks noGrp="1"/>
          </p:cNvGraphicFramePr>
          <p:nvPr/>
        </p:nvGraphicFramePr>
        <p:xfrm>
          <a:off x="612648" y="1847088"/>
          <a:ext cx="10972800" cy="379476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Peak is where the retainer actually goes. October and December carried 81.75 and 87.0 hours against a 24-hour monthly allowance — Halloween, Black Friday and Christmas keyword batches, the Christmas half-price labels and the Peak overlay work, all landing inside ten weeks. The quiet months average 26. Peak is roughly three months of retainer compressed into one, twice.</a:t>
            </a:r>
          </a:p>
        </p:txBody>
      </p:sp>
      <p:sp>
        <p:nvSpPr>
          <p:cNvPr id="3" name="Text Placeholder 2"/>
          <p:cNvSpPr>
            <a:spLocks noGrp="1"/>
          </p:cNvSpPr>
          <p:nvPr>
            <p:ph type="body" idx="11"/>
          </p:nvPr>
        </p:nvSpPr>
        <p:spPr/>
        <p:txBody>
          <a:bodyPr wrap="square"/>
          <a:lstStyle/>
          <a:p>
            <a:r>
              <a:t>Look-back period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Where the 437.5 hours went</a:t>
            </a:r>
          </a:p>
        </p:txBody>
      </p:sp>
      <p:graphicFrame>
        <p:nvGraphicFramePr>
          <p:cNvPr id="5" name="Table 4"/>
          <p:cNvGraphicFramePr>
            <a:graphicFrameLocks noGrp="1"/>
          </p:cNvGraphicFramePr>
          <p:nvPr/>
        </p:nvGraphicFramePr>
        <p:xfrm>
          <a:off x="612648" y="1389888"/>
          <a:ext cx="10972796" cy="4251958"/>
        </p:xfrm>
        <a:graphic>
          <a:graphicData uri="http://schemas.openxmlformats.org/drawingml/2006/table">
            <a:tbl>
              <a:tblPr firstRow="1" bandRow="1">
                <a:tableStyleId>{5C22544A-7EE6-4342-B048-85BDC9FD1C3A}</a:tableStyleId>
              </a:tblPr>
              <a:tblGrid>
                <a:gridCol w="6115986"/>
                <a:gridCol w="1079291"/>
                <a:gridCol w="1079291"/>
                <a:gridCol w="1259173"/>
                <a:gridCol w="1439055"/>
              </a:tblGrid>
              <a:tr h="384048">
                <a:tc>
                  <a:txBody>
                    <a:bodyPr/>
                    <a:lstStyle/>
                    <a:p>
                      <a:r>
                        <a:rPr sz="1300" b="1">
                          <a:solidFill>
                            <a:srgbClr val="FFFFFF"/>
                          </a:solidFill>
                        </a:rPr>
                        <a:t>Work</a:t>
                      </a:r>
                    </a:p>
                  </a:txBody>
                  <a:tcPr/>
                </a:tc>
                <a:tc>
                  <a:txBody>
                    <a:bodyPr/>
                    <a:lstStyle/>
                    <a:p>
                      <a:r>
                        <a:rPr sz="1300" b="1">
                          <a:solidFill>
                            <a:srgbClr val="FFFFFF"/>
                          </a:solidFill>
                        </a:rPr>
                        <a:t>Tasks</a:t>
                      </a:r>
                    </a:p>
                  </a:txBody>
                  <a:tcPr/>
                </a:tc>
                <a:tc>
                  <a:txBody>
                    <a:bodyPr/>
                    <a:lstStyle/>
                    <a:p>
                      <a:r>
                        <a:rPr sz="1300" b="1">
                          <a:solidFill>
                            <a:srgbClr val="FFFFFF"/>
                          </a:solidFill>
                        </a:rPr>
                        <a:t>Hours</a:t>
                      </a:r>
                    </a:p>
                  </a:txBody>
                  <a:tcPr/>
                </a:tc>
                <a:tc>
                  <a:txBody>
                    <a:bodyPr/>
                    <a:lstStyle/>
                    <a:p>
                      <a:r>
                        <a:rPr sz="1300" b="1">
                          <a:solidFill>
                            <a:srgbClr val="FFFFFF"/>
                          </a:solidFill>
                        </a:rPr>
                        <a:t>Charged</a:t>
                      </a:r>
                    </a:p>
                  </a:txBody>
                  <a:tcPr/>
                </a:tc>
                <a:tc>
                  <a:txBody>
                    <a:bodyPr/>
                    <a:lstStyle/>
                    <a:p>
                      <a:r>
                        <a:rPr sz="1300" b="1">
                          <a:solidFill>
                            <a:srgbClr val="FFFFFF"/>
                          </a:solidFill>
                        </a:rPr>
                        <a:t>Absorbed</a:t>
                      </a:r>
                    </a:p>
                  </a:txBody>
                  <a:tcPr/>
                </a:tc>
              </a:tr>
              <a:tr h="386791">
                <a:tc>
                  <a:txBody>
                    <a:bodyPr/>
                    <a:lstStyle/>
                    <a:p>
                      <a:r>
                        <a:rPr sz="1100"/>
                        <a:t>Data field and title optimisation</a:t>
                      </a:r>
                    </a:p>
                  </a:txBody>
                  <a:tcPr/>
                </a:tc>
                <a:tc>
                  <a:txBody>
                    <a:bodyPr/>
                    <a:lstStyle/>
                    <a:p>
                      <a:r>
                        <a:rPr sz="1100"/>
                        <a:t>7</a:t>
                      </a:r>
                    </a:p>
                  </a:txBody>
                  <a:tcPr/>
                </a:tc>
                <a:tc>
                  <a:txBody>
                    <a:bodyPr/>
                    <a:lstStyle/>
                    <a:p>
                      <a:r>
                        <a:rPr sz="1100"/>
                        <a:t>66.75</a:t>
                      </a:r>
                    </a:p>
                  </a:txBody>
                  <a:tcPr/>
                </a:tc>
                <a:tc>
                  <a:txBody>
                    <a:bodyPr/>
                    <a:lstStyle/>
                    <a:p>
                      <a:r>
                        <a:rPr sz="1100"/>
                        <a:t>28.5</a:t>
                      </a:r>
                    </a:p>
                  </a:txBody>
                  <a:tcPr/>
                </a:tc>
                <a:tc>
                  <a:txBody>
                    <a:bodyPr/>
                    <a:lstStyle/>
                    <a:p>
                      <a:r>
                        <a:rPr sz="1100"/>
                        <a:t>38.25</a:t>
                      </a:r>
                    </a:p>
                  </a:txBody>
                  <a:tcPr/>
                </a:tc>
              </a:tr>
              <a:tr h="386791">
                <a:tc>
                  <a:txBody>
                    <a:bodyPr/>
                    <a:lstStyle/>
                    <a:p>
                      <a:r>
                        <a:rPr sz="1100"/>
                        <a:t>Keyword optimisation</a:t>
                      </a:r>
                    </a:p>
                  </a:txBody>
                  <a:tcPr/>
                </a:tc>
                <a:tc>
                  <a:txBody>
                    <a:bodyPr/>
                    <a:lstStyle/>
                    <a:p>
                      <a:r>
                        <a:rPr sz="1100"/>
                        <a:t>11</a:t>
                      </a:r>
                    </a:p>
                  </a:txBody>
                  <a:tcPr/>
                </a:tc>
                <a:tc>
                  <a:txBody>
                    <a:bodyPr/>
                    <a:lstStyle/>
                    <a:p>
                      <a:r>
                        <a:rPr sz="1100"/>
                        <a:t>52.25</a:t>
                      </a:r>
                    </a:p>
                  </a:txBody>
                  <a:tcPr/>
                </a:tc>
                <a:tc>
                  <a:txBody>
                    <a:bodyPr/>
                    <a:lstStyle/>
                    <a:p>
                      <a:r>
                        <a:rPr sz="1100"/>
                        <a:t>31.5</a:t>
                      </a:r>
                    </a:p>
                  </a:txBody>
                  <a:tcPr/>
                </a:tc>
                <a:tc>
                  <a:txBody>
                    <a:bodyPr/>
                    <a:lstStyle/>
                    <a:p>
                      <a:r>
                        <a:rPr sz="1100"/>
                        <a:t>20.75</a:t>
                      </a:r>
                    </a:p>
                  </a:txBody>
                  <a:tcPr/>
                </a:tc>
              </a:tr>
              <a:tr h="386791">
                <a:tc>
                  <a:txBody>
                    <a:bodyPr/>
                    <a:lstStyle/>
                    <a:p>
                      <a:r>
                        <a:rPr sz="1100"/>
                        <a:t>DPA image overlay</a:t>
                      </a:r>
                    </a:p>
                  </a:txBody>
                  <a:tcPr/>
                </a:tc>
                <a:tc>
                  <a:txBody>
                    <a:bodyPr/>
                    <a:lstStyle/>
                    <a:p>
                      <a:r>
                        <a:rPr sz="1100"/>
                        <a:t>16</a:t>
                      </a:r>
                    </a:p>
                  </a:txBody>
                  <a:tcPr/>
                </a:tc>
                <a:tc>
                  <a:txBody>
                    <a:bodyPr/>
                    <a:lstStyle/>
                    <a:p>
                      <a:r>
                        <a:rPr sz="1100"/>
                        <a:t>38.25</a:t>
                      </a:r>
                    </a:p>
                  </a:txBody>
                  <a:tcPr/>
                </a:tc>
                <a:tc>
                  <a:txBody>
                    <a:bodyPr/>
                    <a:lstStyle/>
                    <a:p>
                      <a:r>
                        <a:rPr sz="1100"/>
                        <a:t>27.25</a:t>
                      </a:r>
                    </a:p>
                  </a:txBody>
                  <a:tcPr/>
                </a:tc>
                <a:tc>
                  <a:txBody>
                    <a:bodyPr/>
                    <a:lstStyle/>
                    <a:p>
                      <a:r>
                        <a:rPr sz="1100"/>
                        <a:t>11.0</a:t>
                      </a:r>
                    </a:p>
                  </a:txBody>
                  <a:tcPr/>
                </a:tc>
              </a:tr>
              <a:tr h="386791">
                <a:tc>
                  <a:txBody>
                    <a:bodyPr/>
                    <a:lstStyle/>
                    <a:p>
                      <a:r>
                        <a:rPr sz="1100"/>
                        <a:t>Data field update</a:t>
                      </a:r>
                    </a:p>
                  </a:txBody>
                  <a:tcPr/>
                </a:tc>
                <a:tc>
                  <a:txBody>
                    <a:bodyPr/>
                    <a:lstStyle/>
                    <a:p>
                      <a:r>
                        <a:rPr sz="1100"/>
                        <a:t>6</a:t>
                      </a:r>
                    </a:p>
                  </a:txBody>
                  <a:tcPr/>
                </a:tc>
                <a:tc>
                  <a:txBody>
                    <a:bodyPr/>
                    <a:lstStyle/>
                    <a:p>
                      <a:r>
                        <a:rPr sz="1100"/>
                        <a:t>38.0</a:t>
                      </a:r>
                    </a:p>
                  </a:txBody>
                  <a:tcPr/>
                </a:tc>
                <a:tc>
                  <a:txBody>
                    <a:bodyPr/>
                    <a:lstStyle/>
                    <a:p>
                      <a:r>
                        <a:rPr sz="1100"/>
                        <a:t>—</a:t>
                      </a:r>
                    </a:p>
                  </a:txBody>
                  <a:tcPr/>
                </a:tc>
                <a:tc>
                  <a:txBody>
                    <a:bodyPr/>
                    <a:lstStyle/>
                    <a:p>
                      <a:r>
                        <a:rPr sz="1100"/>
                        <a:t>38.0</a:t>
                      </a:r>
                    </a:p>
                  </a:txBody>
                  <a:tcPr/>
                </a:tc>
              </a:tr>
              <a:tr h="386791">
                <a:tc>
                  <a:txBody>
                    <a:bodyPr/>
                    <a:lstStyle/>
                    <a:p>
                      <a:r>
                        <a:rPr sz="1100"/>
                        <a:t>Title optimisation</a:t>
                      </a:r>
                    </a:p>
                  </a:txBody>
                  <a:tcPr/>
                </a:tc>
                <a:tc>
                  <a:txBody>
                    <a:bodyPr/>
                    <a:lstStyle/>
                    <a:p>
                      <a:r>
                        <a:rPr sz="1100"/>
                        <a:t>7</a:t>
                      </a:r>
                    </a:p>
                  </a:txBody>
                  <a:tcPr/>
                </a:tc>
                <a:tc>
                  <a:txBody>
                    <a:bodyPr/>
                    <a:lstStyle/>
                    <a:p>
                      <a:r>
                        <a:rPr sz="1100"/>
                        <a:t>34.0</a:t>
                      </a:r>
                    </a:p>
                  </a:txBody>
                  <a:tcPr/>
                </a:tc>
                <a:tc>
                  <a:txBody>
                    <a:bodyPr/>
                    <a:lstStyle/>
                    <a:p>
                      <a:r>
                        <a:rPr sz="1100"/>
                        <a:t>23.75</a:t>
                      </a:r>
                    </a:p>
                  </a:txBody>
                  <a:tcPr/>
                </a:tc>
                <a:tc>
                  <a:txBody>
                    <a:bodyPr/>
                    <a:lstStyle/>
                    <a:p>
                      <a:r>
                        <a:rPr sz="1100"/>
                        <a:t>10.25</a:t>
                      </a:r>
                    </a:p>
                  </a:txBody>
                  <a:tcPr/>
                </a:tc>
              </a:tr>
              <a:tr h="386791">
                <a:tc>
                  <a:txBody>
                    <a:bodyPr/>
                    <a:lstStyle/>
                    <a:p>
                      <a:r>
                        <a:rPr sz="1100"/>
                        <a:t>Custom label update</a:t>
                      </a:r>
                    </a:p>
                  </a:txBody>
                  <a:tcPr/>
                </a:tc>
                <a:tc>
                  <a:txBody>
                    <a:bodyPr/>
                    <a:lstStyle/>
                    <a:p>
                      <a:r>
                        <a:rPr sz="1100"/>
                        <a:t>9</a:t>
                      </a:r>
                    </a:p>
                  </a:txBody>
                  <a:tcPr/>
                </a:tc>
                <a:tc>
                  <a:txBody>
                    <a:bodyPr/>
                    <a:lstStyle/>
                    <a:p>
                      <a:r>
                        <a:rPr sz="1100"/>
                        <a:t>17.0</a:t>
                      </a:r>
                    </a:p>
                  </a:txBody>
                  <a:tcPr/>
                </a:tc>
                <a:tc>
                  <a:txBody>
                    <a:bodyPr/>
                    <a:lstStyle/>
                    <a:p>
                      <a:r>
                        <a:rPr sz="1100"/>
                        <a:t>16.75</a:t>
                      </a:r>
                    </a:p>
                  </a:txBody>
                  <a:tcPr/>
                </a:tc>
                <a:tc>
                  <a:txBody>
                    <a:bodyPr/>
                    <a:lstStyle/>
                    <a:p>
                      <a:r>
                        <a:rPr sz="1100"/>
                        <a:t>0.25</a:t>
                      </a:r>
                    </a:p>
                  </a:txBody>
                  <a:tcPr/>
                </a:tc>
              </a:tr>
              <a:tr h="386791">
                <a:tc>
                  <a:txBody>
                    <a:bodyPr/>
                    <a:lstStyle/>
                    <a:p>
                      <a:r>
                        <a:rPr sz="1100"/>
                        <a:t>General account management</a:t>
                      </a:r>
                    </a:p>
                  </a:txBody>
                  <a:tcPr/>
                </a:tc>
                <a:tc>
                  <a:txBody>
                    <a:bodyPr/>
                    <a:lstStyle/>
                    <a:p>
                      <a:r>
                        <a:rPr sz="1100"/>
                        <a:t>12</a:t>
                      </a:r>
                    </a:p>
                  </a:txBody>
                  <a:tcPr/>
                </a:tc>
                <a:tc>
                  <a:txBody>
                    <a:bodyPr/>
                    <a:lstStyle/>
                    <a:p>
                      <a:r>
                        <a:rPr sz="1100"/>
                        <a:t>12.0</a:t>
                      </a:r>
                    </a:p>
                  </a:txBody>
                  <a:tcPr/>
                </a:tc>
                <a:tc>
                  <a:txBody>
                    <a:bodyPr/>
                    <a:lstStyle/>
                    <a:p>
                      <a:r>
                        <a:rPr sz="1100"/>
                        <a:t>12.0</a:t>
                      </a:r>
                    </a:p>
                  </a:txBody>
                  <a:tcPr/>
                </a:tc>
                <a:tc>
                  <a:txBody>
                    <a:bodyPr/>
                    <a:lstStyle/>
                    <a:p>
                      <a:r>
                        <a:rPr sz="1100"/>
                        <a:t>—</a:t>
                      </a:r>
                    </a:p>
                  </a:txBody>
                  <a:tcPr/>
                </a:tc>
              </a:tr>
              <a:tr h="386791">
                <a:tc>
                  <a:txBody>
                    <a:bodyPr/>
                    <a:lstStyle/>
                    <a:p>
                      <a:r>
                        <a:rPr sz="1100"/>
                        <a:t>Category mapping</a:t>
                      </a:r>
                    </a:p>
                  </a:txBody>
                  <a:tcPr/>
                </a:tc>
                <a:tc>
                  <a:txBody>
                    <a:bodyPr/>
                    <a:lstStyle/>
                    <a:p>
                      <a:r>
                        <a:rPr sz="1100"/>
                        <a:t>12</a:t>
                      </a:r>
                    </a:p>
                  </a:txBody>
                  <a:tcPr/>
                </a:tc>
                <a:tc>
                  <a:txBody>
                    <a:bodyPr/>
                    <a:lstStyle/>
                    <a:p>
                      <a:r>
                        <a:rPr sz="1100"/>
                        <a:t>10.5</a:t>
                      </a:r>
                    </a:p>
                  </a:txBody>
                  <a:tcPr/>
                </a:tc>
                <a:tc>
                  <a:txBody>
                    <a:bodyPr/>
                    <a:lstStyle/>
                    <a:p>
                      <a:r>
                        <a:rPr sz="1100"/>
                        <a:t>5.5</a:t>
                      </a:r>
                    </a:p>
                  </a:txBody>
                  <a:tcPr/>
                </a:tc>
                <a:tc>
                  <a:txBody>
                    <a:bodyPr/>
                    <a:lstStyle/>
                    <a:p>
                      <a:r>
                        <a:rPr sz="1100"/>
                        <a:t>5.0</a:t>
                      </a:r>
                    </a:p>
                  </a:txBody>
                  <a:tcPr/>
                </a:tc>
              </a:tr>
              <a:tr h="386791">
                <a:tc>
                  <a:txBody>
                    <a:bodyPr/>
                    <a:lstStyle/>
                    <a:p>
                      <a:r>
                        <a:rPr sz="1100"/>
                        <a:t>Client calls and monthly catch-ups</a:t>
                      </a:r>
                    </a:p>
                  </a:txBody>
                  <a:tcPr/>
                </a:tc>
                <a:tc>
                  <a:txBody>
                    <a:bodyPr/>
                    <a:lstStyle/>
                    <a:p>
                      <a:r>
                        <a:rPr sz="1100"/>
                        <a:t>19</a:t>
                      </a:r>
                    </a:p>
                  </a:txBody>
                  <a:tcPr/>
                </a:tc>
                <a:tc>
                  <a:txBody>
                    <a:bodyPr/>
                    <a:lstStyle/>
                    <a:p>
                      <a:r>
                        <a:rPr sz="1100"/>
                        <a:t>9.75</a:t>
                      </a:r>
                    </a:p>
                  </a:txBody>
                  <a:tcPr/>
                </a:tc>
                <a:tc>
                  <a:txBody>
                    <a:bodyPr/>
                    <a:lstStyle/>
                    <a:p>
                      <a:r>
                        <a:rPr sz="1100"/>
                        <a:t>7.75</a:t>
                      </a:r>
                    </a:p>
                  </a:txBody>
                  <a:tcPr/>
                </a:tc>
                <a:tc>
                  <a:txBody>
                    <a:bodyPr/>
                    <a:lstStyle/>
                    <a:p>
                      <a:r>
                        <a:rPr sz="1100"/>
                        <a:t>2.0</a:t>
                      </a:r>
                    </a:p>
                  </a:txBody>
                  <a:tcPr/>
                </a:tc>
              </a:tr>
              <a:tr h="386791">
                <a:tc>
                  <a:txBody>
                    <a:bodyPr/>
                    <a:lstStyle/>
                    <a:p>
                      <a:r>
                        <a:rPr sz="1100"/>
                        <a:t>Everything, 357 tasks</a:t>
                      </a:r>
                    </a:p>
                  </a:txBody>
                  <a:tcPr/>
                </a:tc>
                <a:tc>
                  <a:txBody>
                    <a:bodyPr/>
                    <a:lstStyle/>
                    <a:p>
                      <a:r>
                        <a:rPr sz="1100"/>
                        <a:t>357</a:t>
                      </a:r>
                    </a:p>
                  </a:txBody>
                  <a:tcPr/>
                </a:tc>
                <a:tc>
                  <a:txBody>
                    <a:bodyPr/>
                    <a:lstStyle/>
                    <a:p>
                      <a:r>
                        <a:rPr sz="1100"/>
                        <a:t>437.5</a:t>
                      </a:r>
                    </a:p>
                  </a:txBody>
                  <a:tcPr/>
                </a:tc>
                <a:tc>
                  <a:txBody>
                    <a:bodyPr/>
                    <a:lstStyle/>
                    <a:p>
                      <a:r>
                        <a:rPr sz="1100"/>
                        <a:t>260.0</a:t>
                      </a:r>
                    </a:p>
                  </a:txBody>
                  <a:tcPr/>
                </a:tc>
                <a:tc>
                  <a:txBody>
                    <a:bodyPr/>
                    <a:lstStyle/>
                    <a:p>
                      <a:r>
                        <a:rPr sz="1100"/>
                        <a:t>177.5</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430"/>
              <a:t>260 hours charged, 437.5 delivered. The 24-hour monthly retainer gives an allowance of 288 hours over the year; 260 of those were used. The other 177.5 hours were absorbed — 41% of everything delivered. Optimisation accounts for 57.9% of the total, account management 20.1%, feature builds (overlays, labels) 14.8%, and technical work 2.6%.</a:t>
            </a:r>
          </a:p>
        </p:txBody>
      </p:sp>
      <p:sp>
        <p:nvSpPr>
          <p:cNvPr id="3" name="Text Placeholder 2"/>
          <p:cNvSpPr>
            <a:spLocks noGrp="1"/>
          </p:cNvSpPr>
          <p:nvPr>
            <p:ph type="body" idx="11"/>
          </p:nvPr>
        </p:nvSpPr>
        <p:spPr/>
        <p:txBody>
          <a:bodyPr wrap="square"/>
          <a:lstStyle/>
          <a:p>
            <a:r>
              <a:t>Look-back period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Look-back period (cont.)</a:t>
            </a:r>
          </a:p>
        </p:txBody>
      </p:sp>
      <p:sp>
        <p:nvSpPr>
          <p:cNvPr id="4" name="Text Placeholder 3"/>
          <p:cNvSpPr>
            <a:spLocks noGrp="1"/>
          </p:cNvSpPr>
          <p:nvPr>
            <p:ph type="body" idx="1"/>
          </p:nvPr>
        </p:nvSpPr>
        <p:spPr/>
        <p:txBody>
          <a:bodyPr wrap="square"/>
          <a:lstStyle/>
          <a:p>
            <a:r>
              <a:t>24,464</a:t>
            </a:r>
          </a:p>
        </p:txBody>
      </p:sp>
      <p:sp>
        <p:nvSpPr>
          <p:cNvPr id="5" name="Text Placeholder 4"/>
          <p:cNvSpPr>
            <a:spLocks noGrp="1"/>
          </p:cNvSpPr>
          <p:nvPr>
            <p:ph type="body" idx="2"/>
          </p:nvPr>
        </p:nvSpPr>
        <p:spPr/>
        <p:txBody>
          <a:bodyPr wrap="square"/>
          <a:lstStyle/>
          <a:p>
            <a:r>
              <a:t>Live SKUs</a:t>
            </a:r>
          </a:p>
        </p:txBody>
      </p:sp>
      <p:sp>
        <p:nvSpPr>
          <p:cNvPr id="6" name="Text Placeholder 5"/>
          <p:cNvSpPr>
            <a:spLocks noGrp="1"/>
          </p:cNvSpPr>
          <p:nvPr>
            <p:ph type="body" idx="3"/>
          </p:nvPr>
        </p:nvSpPr>
        <p:spPr/>
        <p:txBody>
          <a:bodyPr wrap="square"/>
          <a:lstStyle/>
          <a:p>
            <a:r>
              <a:t>571</a:t>
            </a:r>
          </a:p>
        </p:txBody>
      </p:sp>
      <p:sp>
        <p:nvSpPr>
          <p:cNvPr id="7" name="Text Placeholder 6"/>
          <p:cNvSpPr>
            <a:spLocks noGrp="1"/>
          </p:cNvSpPr>
          <p:nvPr>
            <p:ph type="body" idx="4"/>
          </p:nvPr>
        </p:nvSpPr>
        <p:spPr/>
        <p:txBody>
          <a:bodyPr wrap="square"/>
          <a:lstStyle/>
          <a:p>
            <a:r>
              <a:t>New per month</a:t>
            </a:r>
          </a:p>
        </p:txBody>
      </p:sp>
      <p:sp>
        <p:nvSpPr>
          <p:cNvPr id="8" name="Text Placeholder 7"/>
          <p:cNvSpPr>
            <a:spLocks noGrp="1"/>
          </p:cNvSpPr>
          <p:nvPr>
            <p:ph type="body" idx="5"/>
          </p:nvPr>
        </p:nvSpPr>
        <p:spPr/>
        <p:txBody>
          <a:bodyPr wrap="square"/>
          <a:lstStyle/>
          <a:p>
            <a:r>
              <a:t>1,712</a:t>
            </a:r>
          </a:p>
        </p:txBody>
      </p:sp>
      <p:sp>
        <p:nvSpPr>
          <p:cNvPr id="9" name="Text Placeholder 8"/>
          <p:cNvSpPr>
            <a:spLocks noGrp="1"/>
          </p:cNvSpPr>
          <p:nvPr>
            <p:ph type="body" idx="6"/>
          </p:nvPr>
        </p:nvSpPr>
        <p:spPr/>
        <p:txBody>
          <a:bodyPr wrap="square"/>
          <a:lstStyle/>
          <a:p>
            <a:r>
              <a:t>New per quarter</a:t>
            </a:r>
          </a:p>
        </p:txBody>
      </p:sp>
      <p:sp>
        <p:nvSpPr>
          <p:cNvPr id="10" name="Text Placeholder 9"/>
          <p:cNvSpPr>
            <a:spLocks noGrp="1"/>
          </p:cNvSpPr>
          <p:nvPr>
            <p:ph type="body" idx="7"/>
          </p:nvPr>
        </p:nvSpPr>
        <p:spPr/>
        <p:txBody>
          <a:bodyPr wrap="square"/>
          <a:lstStyle/>
          <a:p>
            <a:r>
              <a:t>6,848</a:t>
            </a:r>
          </a:p>
        </p:txBody>
      </p:sp>
      <p:sp>
        <p:nvSpPr>
          <p:cNvPr id="11" name="Text Placeholder 10"/>
          <p:cNvSpPr>
            <a:spLocks noGrp="1"/>
          </p:cNvSpPr>
          <p:nvPr>
            <p:ph type="body" idx="8"/>
          </p:nvPr>
        </p:nvSpPr>
        <p:spPr/>
        <p:txBody>
          <a:bodyPr wrap="square"/>
          <a:lstStyle/>
          <a:p>
            <a:r>
              <a:t>New per year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New products by first-seen month</a:t>
            </a:r>
          </a:p>
        </p:txBody>
      </p:sp>
      <p:graphicFrame>
        <p:nvGraphicFramePr>
          <p:cNvPr id="5" name="Chart 4"/>
          <p:cNvGraphicFramePr>
            <a:graphicFrameLocks noGrp="1"/>
          </p:cNvGraphicFramePr>
          <p:nvPr/>
        </p:nvGraphicFramePr>
        <p:xfrm>
          <a:off x="612648" y="1389888"/>
          <a:ext cx="10972800" cy="4251960"/>
        </p:xfrm>
        <a:graphic>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050"/>
              <a:t>How this is counted. Every product in the feed carries the date its ID first appeared, so arrivals are read off the feed itself rather than from when monitoring started — the record runs back to October 2014, 144 months. The figures above are the twelve complete months to August 2026 divided by twelve, which averages the seasonality out; the three-month run-rate is higher at 713 a month because July and August were the two heaviest months of the year. Only products still live today are counted, so older months are a floor.</a:t>
            </a:r>
          </a:p>
        </p:txBody>
      </p:sp>
      <p:sp>
        <p:nvSpPr>
          <p:cNvPr id="3" name="Text Placeholder 2"/>
          <p:cNvSpPr>
            <a:spLocks noGrp="1"/>
          </p:cNvSpPr>
          <p:nvPr>
            <p:ph type="body" idx="11"/>
          </p:nvPr>
        </p:nvSpPr>
        <p:spPr/>
        <p:txBody>
          <a:bodyPr wrap="square"/>
          <a:lstStyle/>
          <a:p>
            <a:r>
              <a:t>Look-back period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four</a:t>
            </a:r>
          </a:p>
        </p:txBody>
      </p:sp>
      <p:sp>
        <p:nvSpPr>
          <p:cNvPr id="3" name="Title 2"/>
          <p:cNvSpPr>
            <a:spLocks noGrp="1"/>
          </p:cNvSpPr>
          <p:nvPr>
            <p:ph type="title"/>
          </p:nvPr>
        </p:nvSpPr>
        <p:spPr/>
        <p:txBody>
          <a:bodyPr wrap="square"/>
          <a:lstStyle/>
          <a:p>
            <a:r>
              <a:t>Number of wins / results</a:t>
            </a:r>
          </a:p>
        </p:txBody>
      </p:sp>
      <p:sp>
        <p:nvSpPr>
          <p:cNvPr id="4" name="Text Placeholder 3"/>
          <p:cNvSpPr>
            <a:spLocks noGrp="1"/>
          </p:cNvSpPr>
          <p:nvPr>
            <p:ph type="body" idx="1"/>
          </p:nvPr>
        </p:nvSpPr>
        <p:spPr/>
        <p:txBody>
          <a:bodyPr wrap="square"/>
          <a:lstStyle/>
          <a:p>
            <a:r>
              <a:t>Ten measured tests in the archive. Four of the five controlled A/B tests won — and the two that lost were measured straight through the post-Christmas collapse.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a:t>
            </a:r>
          </a:p>
        </p:txBody>
      </p:sp>
      <p:sp>
        <p:nvSpPr>
          <p:cNvPr id="3" name="Text Placeholder 2"/>
          <p:cNvSpPr>
            <a:spLocks noGrp="1"/>
          </p:cNvSpPr>
          <p:nvPr>
            <p:ph type="body" idx="11"/>
          </p:nvPr>
        </p:nvSpPr>
        <p:spPr/>
        <p:txBody>
          <a:bodyPr wrap="square"/>
          <a:lstStyle/>
          <a:p>
            <a:r>
              <a:t>Impressions uplift per test · Hobbycraft UK, Jul 2025 – Jan 2026</a:t>
            </a:r>
          </a:p>
        </p:txBody>
      </p:sp>
      <p:graphicFrame>
        <p:nvGraphicFramePr>
          <p:cNvPr id="5" name="Chart 4"/>
          <p:cNvGraphicFramePr>
            <a:graphicFrameLocks noGrp="1"/>
          </p:cNvGraphicFramePr>
          <p:nvPr/>
        </p:nvGraphicFramePr>
        <p:xfrm>
          <a:off x="612648" y="1847088"/>
          <a:ext cx="10972800" cy="3794760"/>
        </p:xfrm>
        <a:graphic>
          <a:graphicData uri="http://schemas.openxmlformats.org/drawingml/2006/chart">
            <c:chart xmlns:c="http://schemas.openxmlformats.org/drawingml/2006/chart" r:id="rId2"/>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graphicFrame>
        <p:nvGraphicFramePr>
          <p:cNvPr id="5" name="Table 4"/>
          <p:cNvGraphicFramePr>
            <a:graphicFrameLocks noGrp="1"/>
          </p:cNvGraphicFramePr>
          <p:nvPr/>
        </p:nvGraphicFramePr>
        <p:xfrm>
          <a:off x="612648" y="1389888"/>
          <a:ext cx="10972798" cy="4251958"/>
        </p:xfrm>
        <a:graphic>
          <a:graphicData uri="http://schemas.openxmlformats.org/drawingml/2006/table">
            <a:tbl>
              <a:tblPr firstRow="1" bandRow="1">
                <a:tableStyleId>{5C22544A-7EE6-4342-B048-85BDC9FD1C3A}</a:tableStyleId>
              </a:tblPr>
              <a:tblGrid>
                <a:gridCol w="4702628"/>
                <a:gridCol w="2351314"/>
                <a:gridCol w="940525"/>
                <a:gridCol w="1724297"/>
                <a:gridCol w="1254034"/>
              </a:tblGrid>
              <a:tr h="384048">
                <a:tc>
                  <a:txBody>
                    <a:bodyPr/>
                    <a:lstStyle/>
                    <a:p>
                      <a:r>
                        <a:rPr sz="1300" b="1">
                          <a:solidFill>
                            <a:srgbClr val="FFFFFF"/>
                          </a:solidFill>
                        </a:rPr>
                        <a:t>Test</a:t>
                      </a:r>
                    </a:p>
                  </a:txBody>
                  <a:tcPr/>
                </a:tc>
                <a:tc>
                  <a:txBody>
                    <a:bodyPr/>
                    <a:lstStyle/>
                    <a:p>
                      <a:r>
                        <a:rPr sz="1300" b="1">
                          <a:solidFill>
                            <a:srgbClr val="FFFFFF"/>
                          </a:solidFill>
                        </a:rPr>
                        <a:t>Method</a:t>
                      </a:r>
                    </a:p>
                  </a:txBody>
                  <a:tcPr/>
                </a:tc>
                <a:tc>
                  <a:txBody>
                    <a:bodyPr/>
                    <a:lstStyle/>
                    <a:p>
                      <a:r>
                        <a:rPr sz="1300" b="1">
                          <a:solidFill>
                            <a:srgbClr val="FFFFFF"/>
                          </a:solidFill>
                        </a:rPr>
                        <a:t>Batch</a:t>
                      </a:r>
                    </a:p>
                  </a:txBody>
                  <a:tcPr/>
                </a:tc>
                <a:tc>
                  <a:txBody>
                    <a:bodyPr/>
                    <a:lstStyle/>
                    <a:p>
                      <a:r>
                        <a:rPr sz="1300" b="1">
                          <a:solidFill>
                            <a:srgbClr val="FFFFFF"/>
                          </a:solidFill>
                        </a:rPr>
                        <a:t>Impressions</a:t>
                      </a:r>
                    </a:p>
                  </a:txBody>
                  <a:tcPr/>
                </a:tc>
                <a:tc>
                  <a:txBody>
                    <a:bodyPr/>
                    <a:lstStyle/>
                    <a:p>
                      <a:r>
                        <a:rPr sz="1300" b="1">
                          <a:solidFill>
                            <a:srgbClr val="FFFFFF"/>
                          </a:solidFill>
                        </a:rPr>
                        <a:t>Clicks</a:t>
                      </a:r>
                    </a:p>
                  </a:txBody>
                  <a:tcPr/>
                </a:tc>
              </a:tr>
              <a:tr h="386791">
                <a:tc>
                  <a:txBody>
                    <a:bodyPr/>
                    <a:lstStyle/>
                    <a:p>
                      <a:r>
                        <a:rPr sz="1100"/>
                        <a:t>July I — keyword optimisation</a:t>
                      </a:r>
                    </a:p>
                  </a:txBody>
                  <a:tcPr/>
                </a:tc>
                <a:tc>
                  <a:txBody>
                    <a:bodyPr/>
                    <a:lstStyle/>
                    <a:p>
                      <a:r>
                        <a:rPr sz="1100"/>
                        <a:t>A/B, controlled</a:t>
                      </a:r>
                    </a:p>
                  </a:txBody>
                  <a:tcPr/>
                </a:tc>
                <a:tc>
                  <a:txBody>
                    <a:bodyPr/>
                    <a:lstStyle/>
                    <a:p>
                      <a:r>
                        <a:rPr sz="1100"/>
                        <a:t>500</a:t>
                      </a:r>
                    </a:p>
                  </a:txBody>
                  <a:tcPr/>
                </a:tc>
                <a:tc>
                  <a:txBody>
                    <a:bodyPr/>
                    <a:lstStyle/>
                    <a:p>
                      <a:r>
                        <a:rPr sz="1100"/>
                        <a:t>+8.51%</a:t>
                      </a:r>
                    </a:p>
                  </a:txBody>
                  <a:tcPr/>
                </a:tc>
                <a:tc>
                  <a:txBody>
                    <a:bodyPr/>
                    <a:lstStyle/>
                    <a:p>
                      <a:r>
                        <a:rPr sz="1100"/>
                        <a:t>+15.25%</a:t>
                      </a:r>
                    </a:p>
                  </a:txBody>
                  <a:tcPr/>
                </a:tc>
              </a:tr>
              <a:tr h="386791">
                <a:tc>
                  <a:txBody>
                    <a:bodyPr/>
                    <a:lstStyle/>
                    <a:p>
                      <a:r>
                        <a:rPr sz="1100"/>
                        <a:t>July II — keyword optimisation</a:t>
                      </a:r>
                    </a:p>
                  </a:txBody>
                  <a:tcPr/>
                </a:tc>
                <a:tc>
                  <a:txBody>
                    <a:bodyPr/>
                    <a:lstStyle/>
                    <a:p>
                      <a:r>
                        <a:rPr sz="1100"/>
                        <a:t>A/B, controlled</a:t>
                      </a:r>
                    </a:p>
                  </a:txBody>
                  <a:tcPr/>
                </a:tc>
                <a:tc>
                  <a:txBody>
                    <a:bodyPr/>
                    <a:lstStyle/>
                    <a:p>
                      <a:r>
                        <a:rPr sz="1100"/>
                        <a:t>500</a:t>
                      </a:r>
                    </a:p>
                  </a:txBody>
                  <a:tcPr/>
                </a:tc>
                <a:tc>
                  <a:txBody>
                    <a:bodyPr/>
                    <a:lstStyle/>
                    <a:p>
                      <a:r>
                        <a:rPr sz="1100"/>
                        <a:t>+7.27%</a:t>
                      </a:r>
                    </a:p>
                  </a:txBody>
                  <a:tcPr/>
                </a:tc>
                <a:tc>
                  <a:txBody>
                    <a:bodyPr/>
                    <a:lstStyle/>
                    <a:p>
                      <a:r>
                        <a:rPr sz="1100"/>
                        <a:t>+5.06%</a:t>
                      </a:r>
                    </a:p>
                  </a:txBody>
                  <a:tcPr/>
                </a:tc>
              </a:tr>
              <a:tr h="386791">
                <a:tc>
                  <a:txBody>
                    <a:bodyPr/>
                    <a:lstStyle/>
                    <a:p>
                      <a:r>
                        <a:rPr sz="1100"/>
                        <a:t>Aug I — keyword optimisation</a:t>
                      </a:r>
                    </a:p>
                  </a:txBody>
                  <a:tcPr/>
                </a:tc>
                <a:tc>
                  <a:txBody>
                    <a:bodyPr/>
                    <a:lstStyle/>
                    <a:p>
                      <a:r>
                        <a:rPr sz="1100"/>
                        <a:t>A/B, controlled</a:t>
                      </a:r>
                    </a:p>
                  </a:txBody>
                  <a:tcPr/>
                </a:tc>
                <a:tc>
                  <a:txBody>
                    <a:bodyPr/>
                    <a:lstStyle/>
                    <a:p>
                      <a:r>
                        <a:rPr sz="1100"/>
                        <a:t>500</a:t>
                      </a:r>
                    </a:p>
                  </a:txBody>
                  <a:tcPr/>
                </a:tc>
                <a:tc>
                  <a:txBody>
                    <a:bodyPr/>
                    <a:lstStyle/>
                    <a:p>
                      <a:r>
                        <a:rPr sz="1100"/>
                        <a:t>−5.63%</a:t>
                      </a:r>
                    </a:p>
                  </a:txBody>
                  <a:tcPr/>
                </a:tc>
                <a:tc>
                  <a:txBody>
                    <a:bodyPr/>
                    <a:lstStyle/>
                    <a:p>
                      <a:r>
                        <a:rPr sz="1100"/>
                        <a:t>−10.85%</a:t>
                      </a:r>
                    </a:p>
                  </a:txBody>
                  <a:tcPr/>
                </a:tc>
              </a:tr>
              <a:tr h="386791">
                <a:tc>
                  <a:txBody>
                    <a:bodyPr/>
                    <a:lstStyle/>
                    <a:p>
                      <a:r>
                        <a:rPr sz="1100"/>
                        <a:t>Sep I — keyword optimisation</a:t>
                      </a:r>
                    </a:p>
                  </a:txBody>
                  <a:tcPr/>
                </a:tc>
                <a:tc>
                  <a:txBody>
                    <a:bodyPr/>
                    <a:lstStyle/>
                    <a:p>
                      <a:r>
                        <a:rPr sz="1100"/>
                        <a:t>A/B, controlled</a:t>
                      </a:r>
                    </a:p>
                  </a:txBody>
                  <a:tcPr/>
                </a:tc>
                <a:tc>
                  <a:txBody>
                    <a:bodyPr/>
                    <a:lstStyle/>
                    <a:p>
                      <a:r>
                        <a:rPr sz="1100"/>
                        <a:t>500</a:t>
                      </a:r>
                    </a:p>
                  </a:txBody>
                  <a:tcPr/>
                </a:tc>
                <a:tc>
                  <a:txBody>
                    <a:bodyPr/>
                    <a:lstStyle/>
                    <a:p>
                      <a:r>
                        <a:rPr sz="1100"/>
                        <a:t>+5.32%</a:t>
                      </a:r>
                    </a:p>
                  </a:txBody>
                  <a:tcPr/>
                </a:tc>
                <a:tc>
                  <a:txBody>
                    <a:bodyPr/>
                    <a:lstStyle/>
                    <a:p>
                      <a:r>
                        <a:rPr sz="1100"/>
                        <a:t>+13.46%</a:t>
                      </a:r>
                    </a:p>
                  </a:txBody>
                  <a:tcPr/>
                </a:tc>
              </a:tr>
              <a:tr h="386791">
                <a:tc>
                  <a:txBody>
                    <a:bodyPr/>
                    <a:lstStyle/>
                    <a:p>
                      <a:r>
                        <a:rPr sz="1100"/>
                        <a:t>Titles — [Brand] on machines</a:t>
                      </a:r>
                    </a:p>
                  </a:txBody>
                  <a:tcPr/>
                </a:tc>
                <a:tc>
                  <a:txBody>
                    <a:bodyPr/>
                    <a:lstStyle/>
                    <a:p>
                      <a:r>
                        <a:rPr sz="1100"/>
                        <a:t>A/B, controlled</a:t>
                      </a:r>
                    </a:p>
                  </a:txBody>
                  <a:tcPr/>
                </a:tc>
                <a:tc>
                  <a:txBody>
                    <a:bodyPr/>
                    <a:lstStyle/>
                    <a:p>
                      <a:r>
                        <a:rPr sz="1100"/>
                        <a:t>40</a:t>
                      </a:r>
                    </a:p>
                  </a:txBody>
                  <a:tcPr/>
                </a:tc>
                <a:tc>
                  <a:txBody>
                    <a:bodyPr/>
                    <a:lstStyle/>
                    <a:p>
                      <a:r>
                        <a:rPr sz="1100"/>
                        <a:t>+38.69%</a:t>
                      </a:r>
                    </a:p>
                  </a:txBody>
                  <a:tcPr/>
                </a:tc>
                <a:tc>
                  <a:txBody>
                    <a:bodyPr/>
                    <a:lstStyle/>
                    <a:p>
                      <a:r>
                        <a:rPr sz="1100"/>
                        <a:t>+63.63%</a:t>
                      </a:r>
                    </a:p>
                  </a:txBody>
                  <a:tcPr/>
                </a:tc>
              </a:tr>
              <a:tr h="386791">
                <a:tc>
                  <a:txBody>
                    <a:bodyPr/>
                    <a:lstStyle/>
                    <a:p>
                      <a:r>
                        <a:rPr sz="1100"/>
                        <a:t>Back to School — keywords</a:t>
                      </a:r>
                    </a:p>
                  </a:txBody>
                  <a:tcPr/>
                </a:tc>
                <a:tc>
                  <a:txBody>
                    <a:bodyPr/>
                    <a:lstStyle/>
                    <a:p>
                      <a:r>
                        <a:rPr sz="1100"/>
                        <a:t>Single group</a:t>
                      </a:r>
                    </a:p>
                  </a:txBody>
                  <a:tcPr/>
                </a:tc>
                <a:tc>
                  <a:txBody>
                    <a:bodyPr/>
                    <a:lstStyle/>
                    <a:p>
                      <a:r>
                        <a:rPr sz="1100"/>
                        <a:t>1,516</a:t>
                      </a:r>
                    </a:p>
                  </a:txBody>
                  <a:tcPr/>
                </a:tc>
                <a:tc>
                  <a:txBody>
                    <a:bodyPr/>
                    <a:lstStyle/>
                    <a:p>
                      <a:r>
                        <a:rPr sz="1100"/>
                        <a:t>+50.52%</a:t>
                      </a:r>
                    </a:p>
                  </a:txBody>
                  <a:tcPr/>
                </a:tc>
                <a:tc>
                  <a:txBody>
                    <a:bodyPr/>
                    <a:lstStyle/>
                    <a:p>
                      <a:r>
                        <a:rPr sz="1100"/>
                        <a:t>+44.63%</a:t>
                      </a:r>
                    </a:p>
                  </a:txBody>
                  <a:tcPr/>
                </a:tc>
              </a:tr>
              <a:tr h="386791">
                <a:tc>
                  <a:txBody>
                    <a:bodyPr/>
                    <a:lstStyle/>
                    <a:p>
                      <a:r>
                        <a:rPr sz="1100"/>
                        <a:t>Halloween — keywords</a:t>
                      </a:r>
                    </a:p>
                  </a:txBody>
                  <a:tcPr/>
                </a:tc>
                <a:tc>
                  <a:txBody>
                    <a:bodyPr/>
                    <a:lstStyle/>
                    <a:p>
                      <a:r>
                        <a:rPr sz="1100"/>
                        <a:t>Single group</a:t>
                      </a:r>
                    </a:p>
                  </a:txBody>
                  <a:tcPr/>
                </a:tc>
                <a:tc>
                  <a:txBody>
                    <a:bodyPr/>
                    <a:lstStyle/>
                    <a:p>
                      <a:r>
                        <a:rPr sz="1100"/>
                        <a:t>361</a:t>
                      </a:r>
                    </a:p>
                  </a:txBody>
                  <a:tcPr/>
                </a:tc>
                <a:tc>
                  <a:txBody>
                    <a:bodyPr/>
                    <a:lstStyle/>
                    <a:p>
                      <a:r>
                        <a:rPr sz="1100"/>
                        <a:t>+9.46%</a:t>
                      </a:r>
                    </a:p>
                  </a:txBody>
                  <a:tcPr/>
                </a:tc>
                <a:tc>
                  <a:txBody>
                    <a:bodyPr/>
                    <a:lstStyle/>
                    <a:p>
                      <a:r>
                        <a:rPr sz="1100"/>
                        <a:t>+22.39%</a:t>
                      </a:r>
                    </a:p>
                  </a:txBody>
                  <a:tcPr/>
                </a:tc>
              </a:tr>
              <a:tr h="386791">
                <a:tc>
                  <a:txBody>
                    <a:bodyPr/>
                    <a:lstStyle/>
                    <a:p>
                      <a:r>
                        <a:rPr sz="1100"/>
                        <a:t>Black Friday — keywords</a:t>
                      </a:r>
                    </a:p>
                  </a:txBody>
                  <a:tcPr/>
                </a:tc>
                <a:tc>
                  <a:txBody>
                    <a:bodyPr/>
                    <a:lstStyle/>
                    <a:p>
                      <a:r>
                        <a:rPr sz="1100"/>
                        <a:t>Single group</a:t>
                      </a:r>
                    </a:p>
                  </a:txBody>
                  <a:tcPr/>
                </a:tc>
                <a:tc>
                  <a:txBody>
                    <a:bodyPr/>
                    <a:lstStyle/>
                    <a:p>
                      <a:r>
                        <a:rPr sz="1100"/>
                        <a:t>2,147</a:t>
                      </a:r>
                    </a:p>
                  </a:txBody>
                  <a:tcPr/>
                </a:tc>
                <a:tc>
                  <a:txBody>
                    <a:bodyPr/>
                    <a:lstStyle/>
                    <a:p>
                      <a:r>
                        <a:rPr sz="1100"/>
                        <a:t>+139.77%</a:t>
                      </a:r>
                    </a:p>
                  </a:txBody>
                  <a:tcPr/>
                </a:tc>
                <a:tc>
                  <a:txBody>
                    <a:bodyPr/>
                    <a:lstStyle/>
                    <a:p>
                      <a:r>
                        <a:rPr sz="1100"/>
                        <a:t>+176.48%</a:t>
                      </a:r>
                    </a:p>
                  </a:txBody>
                  <a:tcPr/>
                </a:tc>
              </a:tr>
              <a:tr h="386791">
                <a:tc>
                  <a:txBody>
                    <a:bodyPr/>
                    <a:lstStyle/>
                    <a:p>
                      <a:r>
                        <a:rPr sz="1100"/>
                        <a:t>Christmas I — keywords</a:t>
                      </a:r>
                    </a:p>
                  </a:txBody>
                  <a:tcPr/>
                </a:tc>
                <a:tc>
                  <a:txBody>
                    <a:bodyPr/>
                    <a:lstStyle/>
                    <a:p>
                      <a:r>
                        <a:rPr sz="1100"/>
                        <a:t>Single group</a:t>
                      </a:r>
                    </a:p>
                  </a:txBody>
                  <a:tcPr/>
                </a:tc>
                <a:tc>
                  <a:txBody>
                    <a:bodyPr/>
                    <a:lstStyle/>
                    <a:p>
                      <a:r>
                        <a:rPr sz="1100"/>
                        <a:t>2,450</a:t>
                      </a:r>
                    </a:p>
                  </a:txBody>
                  <a:tcPr/>
                </a:tc>
                <a:tc>
                  <a:txBody>
                    <a:bodyPr/>
                    <a:lstStyle/>
                    <a:p>
                      <a:r>
                        <a:rPr sz="1100"/>
                        <a:t>−46.73%</a:t>
                      </a:r>
                    </a:p>
                  </a:txBody>
                  <a:tcPr/>
                </a:tc>
                <a:tc>
                  <a:txBody>
                    <a:bodyPr/>
                    <a:lstStyle/>
                    <a:p>
                      <a:r>
                        <a:rPr sz="1100"/>
                        <a:t>−38.28%</a:t>
                      </a:r>
                    </a:p>
                  </a:txBody>
                  <a:tcPr/>
                </a:tc>
              </a:tr>
              <a:tr h="386791">
                <a:tc>
                  <a:txBody>
                    <a:bodyPr/>
                    <a:lstStyle/>
                    <a:p>
                      <a:r>
                        <a:rPr sz="1100"/>
                        <a:t>Christmas II — keywords</a:t>
                      </a:r>
                    </a:p>
                  </a:txBody>
                  <a:tcPr/>
                </a:tc>
                <a:tc>
                  <a:txBody>
                    <a:bodyPr/>
                    <a:lstStyle/>
                    <a:p>
                      <a:r>
                        <a:rPr sz="1100"/>
                        <a:t>Single group</a:t>
                      </a:r>
                    </a:p>
                  </a:txBody>
                  <a:tcPr/>
                </a:tc>
                <a:tc>
                  <a:txBody>
                    <a:bodyPr/>
                    <a:lstStyle/>
                    <a:p>
                      <a:r>
                        <a:rPr sz="1100"/>
                        <a:t>4,069</a:t>
                      </a:r>
                    </a:p>
                  </a:txBody>
                  <a:tcPr/>
                </a:tc>
                <a:tc>
                  <a:txBody>
                    <a:bodyPr/>
                    <a:lstStyle/>
                    <a:p>
                      <a:r>
                        <a:rPr sz="1100"/>
                        <a:t>−46.33%</a:t>
                      </a:r>
                    </a:p>
                  </a:txBody>
                  <a:tcPr/>
                </a:tc>
                <a:tc>
                  <a:txBody>
                    <a:bodyPr/>
                    <a:lstStyle/>
                    <a:p>
                      <a:r>
                        <a:rPr sz="1100"/>
                        <a:t>−40.10%</a:t>
                      </a:r>
                    </a:p>
                  </a:txBody>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sp>
        <p:nvSpPr>
          <p:cNvPr id="4" name="Text Placeholder 3"/>
          <p:cNvSpPr>
            <a:spLocks noGrp="1"/>
          </p:cNvSpPr>
          <p:nvPr>
            <p:ph type="body" idx="1"/>
          </p:nvPr>
        </p:nvSpPr>
        <p:spPr/>
        <p:txBody>
          <a:bodyPr wrap="square"/>
          <a:lstStyle/>
          <a:p>
            <a:r>
              <a:t>Keywords: the proven lever</a:t>
            </a:r>
          </a:p>
        </p:txBody>
      </p:sp>
      <p:sp>
        <p:nvSpPr>
          <p:cNvPr id="5" name="Text Placeholder 4"/>
          <p:cNvSpPr>
            <a:spLocks noGrp="1"/>
          </p:cNvSpPr>
          <p:nvPr>
            <p:ph type="body" idx="2"/>
          </p:nvPr>
        </p:nvSpPr>
        <p:spPr/>
        <p:txBody>
          <a:bodyPr wrap="square"/>
          <a:lstStyle/>
          <a:p>
            <a:r>
              <a:t>Three of the four controlled keyword tests won. Plan against the median: +6.3% impressions and +9.3% clicks, not the single-group headlines.</a:t>
            </a:r>
          </a:p>
          <a:p>
            <a:r>
              <a:t>In both of the wider wins clicks moved further than impressions — the terms are not only adding reach, they are matching intent.</a:t>
            </a:r>
          </a:p>
        </p:txBody>
      </p:sp>
      <p:sp>
        <p:nvSpPr>
          <p:cNvPr id="6" name="Text Placeholder 5"/>
          <p:cNvSpPr>
            <a:spLocks noGrp="1"/>
          </p:cNvSpPr>
          <p:nvPr>
            <p:ph type="body" idx="3"/>
          </p:nvPr>
        </p:nvSpPr>
        <p:spPr/>
        <p:txBody>
          <a:bodyPr wrap="square"/>
          <a:lstStyle/>
          <a:p>
            <a:r>
              <a:t>The title question, finally answered</a:t>
            </a:r>
          </a:p>
        </p:txBody>
      </p:sp>
      <p:sp>
        <p:nvSpPr>
          <p:cNvPr id="7" name="Text Placeholder 6"/>
          <p:cNvSpPr>
            <a:spLocks noGrp="1"/>
          </p:cNvSpPr>
          <p:nvPr>
            <p:ph type="body" idx="4"/>
          </p:nvPr>
        </p:nvSpPr>
        <p:spPr/>
        <p:txBody>
          <a:bodyPr wrap="square"/>
          <a:lstStyle/>
          <a:p>
            <a:r>
              <a:t>2020's brand-placement test came back inconclusive and the rule stayed "keep [Brand] front". In 2024 brand was removed from Shopping titles; in Sept 2025 it was put back on machines only — +38.69% impressions, +63.63% clicks.</a:t>
            </a:r>
          </a:p>
          <a:p>
            <a:r>
              <a:t>On 40 products, so treat the size of the number with care. The direction is not in doubt, and the live feed now leads with the brand on 94.9% of SKUs.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sp>
        <p:nvSpPr>
          <p:cNvPr id="4" name="Text Placeholder 3"/>
          <p:cNvSpPr>
            <a:spLocks noGrp="1"/>
          </p:cNvSpPr>
          <p:nvPr>
            <p:ph type="body" idx="1"/>
          </p:nvPr>
        </p:nvSpPr>
        <p:spPr/>
        <p:txBody>
          <a:bodyPr wrap="square"/>
          <a:lstStyle/>
          <a:p>
            <a:r>
              <a:t>Christmas measured the season, not the keywords</a:t>
            </a:r>
          </a:p>
          <a:p>
            <a:r>
              <a:t>Both Christmas batches read −46% impressions. Both were single-group tests running 12 Dec to 22 Jan — a window whose second half is the steepest demand drop in the retail year.</a:t>
            </a:r>
          </a:p>
          <a:p>
            <a:r>
              <a:t>With no control group there is nothing to separate the intervention from the calendar. Seasonal ranges need a control, or a window that ends before the season does.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050"/>
              <a:t>The archive is longer than the current cycle. Eight further results are recorded in the plan from 2020 to 2023, seven of them positive: Valentine's +35%, Digital Cutting +31%, Cricut +22%, Wedding decoration and planning +16%, Sewing +14%, Wedding +7%, Digital Cutting +5% and one early competitor-keyword batch at −8%. Median across those eight: +15%. Six years of testing and the answer has not moved — category-specific keyword work returns high single to low double digits, reliably, and the exceptions are events.</a:t>
            </a:r>
          </a:p>
        </p:txBody>
      </p:sp>
      <p:sp>
        <p:nvSpPr>
          <p:cNvPr id="3" name="Text Placeholder 2"/>
          <p:cNvSpPr>
            <a:spLocks noGrp="1"/>
          </p:cNvSpPr>
          <p:nvPr>
            <p:ph type="body" idx="11"/>
          </p:nvPr>
        </p:nvSpPr>
        <p:spPr/>
        <p:txBody>
          <a:bodyPr wrap="square"/>
          <a:lstStyle/>
          <a:p>
            <a:r>
              <a:t>Number of wins / results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five</a:t>
            </a:r>
          </a:p>
        </p:txBody>
      </p:sp>
      <p:sp>
        <p:nvSpPr>
          <p:cNvPr id="3" name="Title 2"/>
          <p:cNvSpPr>
            <a:spLocks noGrp="1"/>
          </p:cNvSpPr>
          <p:nvPr>
            <p:ph type="title"/>
          </p:nvPr>
        </p:nvSpPr>
        <p:spPr/>
        <p:txBody>
          <a:bodyPr wrap="square"/>
          <a:lstStyle/>
          <a:p>
            <a:r>
              <a:t>Feed optimisation score</a:t>
            </a:r>
          </a:p>
        </p:txBody>
      </p:sp>
      <p:sp>
        <p:nvSpPr>
          <p:cNvPr id="4" name="Text Placeholder 3"/>
          <p:cNvSpPr>
            <a:spLocks noGrp="1"/>
          </p:cNvSpPr>
          <p:nvPr>
            <p:ph type="body" idx="1"/>
          </p:nvPr>
        </p:nvSpPr>
        <p:spPr/>
        <p:txBody>
          <a:bodyPr wrap="square"/>
          <a:lstStyle/>
          <a:p>
            <a:r>
              <a:t>73 out of 100. Every required attribute is complete; keyword coverage, product highlights and title length carry almost all of the remaining gap.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Where a completed task and the live feed disagree, the feed number is the headline.</a:t>
            </a:r>
          </a:p>
        </p:txBody>
      </p:sp>
      <p:sp>
        <p:nvSpPr>
          <p:cNvPr id="3" name="Text Placeholder 2"/>
          <p:cNvSpPr>
            <a:spLocks noGrp="1"/>
          </p:cNvSpPr>
          <p:nvPr>
            <p:ph type="body" idx="11"/>
          </p:nvPr>
        </p:nvSpPr>
        <p:spPr/>
        <p:txBody>
          <a:bodyPr wrap="square"/>
          <a:lstStyle/>
          <a:p>
            <a:r>
              <a:t>Feed optimisation score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t>100%  Required attributes</a:t>
            </a:r>
          </a:p>
        </p:txBody>
      </p:sp>
      <p:sp>
        <p:nvSpPr>
          <p:cNvPr id="5" name="Text Placeholder 4"/>
          <p:cNvSpPr>
            <a:spLocks noGrp="1"/>
          </p:cNvSpPr>
          <p:nvPr>
            <p:ph type="body" idx="2"/>
          </p:nvPr>
        </p:nvSpPr>
        <p:spPr/>
        <p:txBody>
          <a:bodyPr wrap="square"/>
          <a:lstStyle/>
          <a:p>
            <a:r>
              <a:t>ID, title, link, image, availability, price, GTIN, identifier_exists, condition and item_group_id are all at 100% on 24,464 SKUs. Description 99.76%.</a:t>
            </a:r>
          </a:p>
          <a:p>
            <a:r>
              <a:t>Target: 99.9% — met, and the reason there are no policy disapprovals of substance</a:t>
            </a:r>
          </a:p>
        </p:txBody>
      </p:sp>
      <p:sp>
        <p:nvSpPr>
          <p:cNvPr id="6" name="Text Placeholder 5"/>
          <p:cNvSpPr>
            <a:spLocks noGrp="1"/>
          </p:cNvSpPr>
          <p:nvPr>
            <p:ph type="body" idx="3"/>
          </p:nvPr>
        </p:nvSpPr>
        <p:spPr/>
        <p:txBody>
          <a:bodyPr wrap="square"/>
          <a:lstStyle/>
          <a:p>
            <a:r>
              <a:t>50.1%  Keyword coverage</a:t>
            </a:r>
          </a:p>
        </p:txBody>
      </p:sp>
      <p:sp>
        <p:nvSpPr>
          <p:cNvPr id="7" name="Text Placeholder 6"/>
          <p:cNvSpPr>
            <a:spLocks noGrp="1"/>
          </p:cNvSpPr>
          <p:nvPr>
            <p:ph type="body" idx="4"/>
          </p:nvPr>
        </p:nvSpPr>
        <p:spPr/>
        <p:txBody>
          <a:bodyPr wrap="square"/>
          <a:lstStyle/>
          <a:p>
            <a:r>
              <a:t>12,266 of 24,464 SKUs carry a readable keyword string alongside their category path. The other 11,942 carry only a reference code.</a:t>
            </a:r>
          </a:p>
          <a:p>
            <a:r>
              <a:t>Half the catalogue has never been through a keyword batch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t>45.7%  Product highlights</a:t>
            </a:r>
          </a:p>
        </p:txBody>
      </p:sp>
      <p:sp>
        <p:nvSpPr>
          <p:cNvPr id="5" name="Text Placeholder 4"/>
          <p:cNvSpPr>
            <a:spLocks noGrp="1"/>
          </p:cNvSpPr>
          <p:nvPr>
            <p:ph type="body" idx="2"/>
          </p:nvPr>
        </p:nvSpPr>
        <p:spPr/>
        <p:txBody>
          <a:bodyPr wrap="square"/>
          <a:lstStyle/>
          <a:p>
            <a:r>
              <a:t>11,186 SKUs carry highlights and where they exist they are excellent — 6,370 carry six, 3,562 carry five. 13,278 carry none at all.</a:t>
            </a:r>
          </a:p>
          <a:p>
            <a:r>
              <a:t>P0 gap — highlights are the sentences AI surfaces quote back</a:t>
            </a:r>
          </a:p>
        </p:txBody>
      </p:sp>
      <p:sp>
        <p:nvSpPr>
          <p:cNvPr id="6" name="Text Placeholder 5"/>
          <p:cNvSpPr>
            <a:spLocks noGrp="1"/>
          </p:cNvSpPr>
          <p:nvPr>
            <p:ph type="body" idx="3"/>
          </p:nvPr>
        </p:nvSpPr>
        <p:spPr/>
        <p:txBody>
          <a:bodyPr wrap="square"/>
          <a:lstStyle/>
          <a:p>
            <a:r>
              <a:t>1.2%  Titles in the MASK band</a:t>
            </a:r>
          </a:p>
        </p:txBody>
      </p:sp>
      <p:sp>
        <p:nvSpPr>
          <p:cNvPr id="7" name="Text Placeholder 6"/>
          <p:cNvSpPr>
            <a:spLocks noGrp="1"/>
          </p:cNvSpPr>
          <p:nvPr>
            <p:ph type="body" idx="4"/>
          </p:nvPr>
        </p:nvSpPr>
        <p:spPr/>
        <p:txBody>
          <a:bodyPr wrap="square"/>
          <a:lstStyle/>
          <a:p>
            <a:r>
              <a:t>299 of 24,464 titles land in the 80–120 character band. Mean length is 47.8; 1,236 titles are under 30 characters.</a:t>
            </a:r>
          </a:p>
          <a:p>
            <a:r>
              <a:t>Titles are clean and brand-led — they are about half the AI-ready length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t>4.18  GPC depth (avg. levels)</a:t>
            </a:r>
          </a:p>
        </p:txBody>
      </p:sp>
      <p:sp>
        <p:nvSpPr>
          <p:cNvPr id="5" name="Text Placeholder 4"/>
          <p:cNvSpPr>
            <a:spLocks noGrp="1"/>
          </p:cNvSpPr>
          <p:nvPr>
            <p:ph type="body" idx="2"/>
          </p:nvPr>
        </p:nvSpPr>
        <p:spPr/>
        <p:txBody>
          <a:bodyPr wrap="square"/>
          <a:lstStyle/>
          <a:p>
            <a:r>
              <a:t>Google's category is on 100% of SKUs at an average of 4.18 levels — 32.6% sit at five levels or deeper. 88.9% of the range is Arts &amp; Entertainment.</a:t>
            </a:r>
          </a:p>
          <a:p>
            <a:r>
              <a:t>Among the deepest category mappings in the FeedSpark portfolio</a:t>
            </a:r>
          </a:p>
        </p:txBody>
      </p:sp>
      <p:sp>
        <p:nvSpPr>
          <p:cNvPr id="6" name="Text Placeholder 5"/>
          <p:cNvSpPr>
            <a:spLocks noGrp="1"/>
          </p:cNvSpPr>
          <p:nvPr>
            <p:ph type="body" idx="3"/>
          </p:nvPr>
        </p:nvSpPr>
        <p:spPr/>
        <p:txBody>
          <a:bodyPr wrap="square"/>
          <a:lstStyle/>
          <a:p>
            <a:r>
              <a:t>3.08  product_type depth (avg.)</a:t>
            </a:r>
          </a:p>
        </p:txBody>
      </p:sp>
      <p:sp>
        <p:nvSpPr>
          <p:cNvPr id="7" name="Text Placeholder 6"/>
          <p:cNvSpPr>
            <a:spLocks noGrp="1"/>
          </p:cNvSpPr>
          <p:nvPr>
            <p:ph type="body" idx="4"/>
          </p:nvPr>
        </p:nvSpPr>
        <p:spPr/>
        <p:txBody>
          <a:bodyPr wrap="square"/>
          <a:lstStyle/>
          <a:p>
            <a:r>
              <a:t>1,087 distinct paths, 66.8% at three levels and 21.4% at four. Nothing reaches five, and 2,876 SKUs sit at one or two levels.</a:t>
            </a:r>
          </a:p>
          <a:p>
            <a:r>
              <a:t>The industry standard is 30–40% of volume at five levels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rPr sz="1400"/>
              <a:t>Three numbers for keyword coverage, and all three are right</a:t>
            </a:r>
          </a:p>
        </p:txBody>
      </p:sp>
      <p:sp>
        <p:nvSpPr>
          <p:cNvPr id="5" name="Text Placeholder 4"/>
          <p:cNvSpPr>
            <a:spLocks noGrp="1"/>
          </p:cNvSpPr>
          <p:nvPr>
            <p:ph type="body" idx="2"/>
          </p:nvPr>
        </p:nvSpPr>
        <p:spPr/>
        <p:txBody>
          <a:bodyPr wrap="square"/>
          <a:lstStyle/>
          <a:p>
            <a:r>
              <a:rPr sz="1500"/>
              <a:t>The live feed shows a readable keyword string on 50.1% of SKUs. FeedHero's own audit, run this morning against the product database, flags 14,151 products (52%) with no keywords attached — the same answer from a different direction. The feed's process flag reads 26.0%.</a:t>
            </a:r>
          </a:p>
          <a:p>
            <a:r>
              <a:rPr sz="1500"/>
              <a:t>The flag counts products touched by a keyword batch; the other two count products that actually carry terms today, including from the category rules. Two independent sources agreeing at roughly half the catalogue is the number to plan against.</a:t>
            </a:r>
          </a:p>
        </p:txBody>
      </p:sp>
      <p:sp>
        <p:nvSpPr>
          <p:cNvPr id="6" name="Text Placeholder 5"/>
          <p:cNvSpPr>
            <a:spLocks noGrp="1"/>
          </p:cNvSpPr>
          <p:nvPr>
            <p:ph type="body" idx="3"/>
          </p:nvPr>
        </p:nvSpPr>
        <p:spPr/>
        <p:txBody>
          <a:bodyPr wrap="square"/>
          <a:lstStyle/>
          <a:p>
            <a:r>
              <a:rPr sz="1400"/>
              <a:t>Two custom label slots are carrying 2018 and 2020 data</a:t>
            </a:r>
          </a:p>
        </p:txBody>
      </p:sp>
      <p:sp>
        <p:nvSpPr>
          <p:cNvPr id="7" name="Text Placeholder 6"/>
          <p:cNvSpPr>
            <a:spLocks noGrp="1"/>
          </p:cNvSpPr>
          <p:nvPr>
            <p:ph type="body" idx="4"/>
          </p:nvPr>
        </p:nvSpPr>
        <p:spPr/>
        <p:txBody>
          <a:bodyPr wrap="square"/>
          <a:lstStyle/>
          <a:p>
            <a:r>
              <a:rPr sz="1310"/>
              <a:t>The rule-driven labels are perfect: custom_label_1 (Full Price / On Offer) and custom_label_3 (stock status) are both on 100% of the catalogue. The two that depend on a human upload are not.</a:t>
            </a:r>
          </a:p>
          <a:p>
            <a:r>
              <a:rPr sz="1310"/>
              <a:t>custom_label_2 — Best Seller, manual — reaches 0.5% of SKUs, and its values are Bestsellers_Jul20, ChristmasAd_Peak_Oct20, HighBounceRate_Baking_Sept20.</a:t>
            </a:r>
          </a:p>
          <a:p>
            <a:r>
              <a:rPr sz="1310"/>
              <a:t>custom_label_4 reaches 3.5%, carrying 2018 Priority Lines and BFCM 2018.</a:t>
            </a:r>
          </a:p>
          <a:p>
            <a:r>
              <a:rPr sz="1310"/>
              <a:t>This is not neglect, it is a dependency: the bestseller threshold needs GA access to extract, and that request has been open in the plan since May. Chapter 08 makes it ask number 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1860"/>
              <a:t>Where the keywords actually live. Optimised keywords on this account are written as additional product_type values, not into the numbered product_type2..10 slots — those read 0% across the whole feed. So a naive saturation check reports zero on a catalogue that is half keyworded. 12,266 SKUs carry a readable second or third value ("simplicity sewing pattern &gt; shop sewing pattern uk", "pink Embroidery Thread &gt; pink Thread"); 11,942 carry only a 32-character reference code. Both readings are correct; they describe different fields.</a:t>
            </a:r>
          </a:p>
        </p:txBody>
      </p:sp>
      <p:sp>
        <p:nvSpPr>
          <p:cNvPr id="3" name="Text Placeholder 2"/>
          <p:cNvSpPr>
            <a:spLocks noGrp="1"/>
          </p:cNvSpPr>
          <p:nvPr>
            <p:ph type="body" idx="11"/>
          </p:nvPr>
        </p:nvSpPr>
        <p:spPr/>
        <p:txBody>
          <a:bodyPr wrap="square"/>
          <a:lstStyle/>
          <a:p>
            <a:r>
              <a:t>Feed optimisation score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six</a:t>
            </a:r>
          </a:p>
        </p:txBody>
      </p:sp>
      <p:sp>
        <p:nvSpPr>
          <p:cNvPr id="3" name="Title 2"/>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A Golden Record score of 90.9 — and a hard ceiling at 79.3, because none of Google's six conversational attributes is in the feed.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Legacy</a:t>
            </a:r>
          </a:p>
        </p:txBody>
      </p:sp>
      <p:sp>
        <p:nvSpPr>
          <p:cNvPr id="5" name="Text Placeholder 4"/>
          <p:cNvSpPr>
            <a:spLocks noGrp="1"/>
          </p:cNvSpPr>
          <p:nvPr>
            <p:ph type="body" idx="2"/>
          </p:nvPr>
        </p:nvSpPr>
        <p:spPr/>
        <p:txBody>
          <a:bodyPr wrap="square"/>
          <a:lstStyle/>
          <a:p>
            <a:r>
              <a:t>The starting point</a:t>
            </a:r>
          </a:p>
          <a:p>
            <a:r>
              <a:t>Feed meets minimum spec</a:t>
            </a:r>
          </a:p>
          <a:p>
            <a:r>
              <a:t>Source titles passed through unchanged</a:t>
            </a:r>
          </a:p>
          <a:p>
            <a:r>
              <a:t>Invisible to AI surfaces</a:t>
            </a:r>
          </a:p>
        </p:txBody>
      </p:sp>
      <p:sp>
        <p:nvSpPr>
          <p:cNvPr id="6" name="Text Placeholder 5"/>
          <p:cNvSpPr>
            <a:spLocks noGrp="1"/>
          </p:cNvSpPr>
          <p:nvPr>
            <p:ph type="body" idx="3"/>
          </p:nvPr>
        </p:nvSpPr>
        <p:spPr/>
        <p:txBody>
          <a:bodyPr wrap="square"/>
          <a:lstStyle/>
          <a:p>
            <a:r>
              <a:t>Titles &amp; data fields</a:t>
            </a:r>
          </a:p>
        </p:txBody>
      </p:sp>
      <p:sp>
        <p:nvSpPr>
          <p:cNvPr id="7" name="Text Placeholder 6"/>
          <p:cNvSpPr>
            <a:spLocks noGrp="1"/>
          </p:cNvSpPr>
          <p:nvPr>
            <p:ph type="body" idx="4"/>
          </p:nvPr>
        </p:nvSpPr>
        <p:spPr/>
        <p:txBody>
          <a:bodyPr wrap="square"/>
          <a:lstStyle/>
          <a:p>
            <a:r>
              <a:t>The foundation</a:t>
            </a:r>
          </a:p>
          <a:p>
            <a:r>
              <a:t>Required attributes at 100%</a:t>
            </a:r>
          </a:p>
          <a:p>
            <a:r>
              <a:t>GPC on 100% at 4.18 levels</a:t>
            </a:r>
          </a:p>
          <a:p>
            <a:r>
              <a:t>Brand leads the title on 94.9%</a:t>
            </a:r>
          </a:p>
          <a:p>
            <a:r>
              <a:t>Descriptions averaging 811 characters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 (cont.)</a:t>
            </a:r>
          </a:p>
        </p:txBody>
      </p:sp>
      <p:sp>
        <p:nvSpPr>
          <p:cNvPr id="4" name="Text Placeholder 3"/>
          <p:cNvSpPr>
            <a:spLocks noGrp="1"/>
          </p:cNvSpPr>
          <p:nvPr>
            <p:ph type="body" idx="1"/>
          </p:nvPr>
        </p:nvSpPr>
        <p:spPr/>
        <p:txBody>
          <a:bodyPr wrap="square"/>
          <a:lstStyle/>
          <a:p>
            <a:r>
              <a:t>Descriptions &amp; answers</a:t>
            </a:r>
          </a:p>
        </p:txBody>
      </p:sp>
      <p:sp>
        <p:nvSpPr>
          <p:cNvPr id="5" name="Text Placeholder 4"/>
          <p:cNvSpPr>
            <a:spLocks noGrp="1"/>
          </p:cNvSpPr>
          <p:nvPr>
            <p:ph type="body" idx="2"/>
          </p:nvPr>
        </p:nvSpPr>
        <p:spPr/>
        <p:txBody>
          <a:bodyPr wrap="square"/>
          <a:lstStyle/>
          <a:p>
            <a:r>
              <a:t>The meaning layer</a:t>
            </a:r>
          </a:p>
          <a:p>
            <a:r>
              <a:t>item_group_title — not in the feed</a:t>
            </a:r>
          </a:p>
          <a:p>
            <a:r>
              <a:t>variant_option — not in the feed</a:t>
            </a:r>
          </a:p>
          <a:p>
            <a:r>
              <a:t>question_and_answer — not in the feed</a:t>
            </a:r>
          </a:p>
          <a:p>
            <a:r>
              <a:t>16,720 variant families ready to carry them</a:t>
            </a:r>
          </a:p>
        </p:txBody>
      </p:sp>
      <p:sp>
        <p:nvSpPr>
          <p:cNvPr id="6" name="Text Placeholder 5"/>
          <p:cNvSpPr>
            <a:spLocks noGrp="1"/>
          </p:cNvSpPr>
          <p:nvPr>
            <p:ph type="body" idx="3"/>
          </p:nvPr>
        </p:nvSpPr>
        <p:spPr/>
        <p:txBody>
          <a:bodyPr wrap="square"/>
          <a:lstStyle/>
          <a:p>
            <a:r>
              <a:t>Image analysis</a:t>
            </a:r>
          </a:p>
        </p:txBody>
      </p:sp>
      <p:sp>
        <p:nvSpPr>
          <p:cNvPr id="7" name="Text Placeholder 6"/>
          <p:cNvSpPr>
            <a:spLocks noGrp="1"/>
          </p:cNvSpPr>
          <p:nvPr>
            <p:ph type="body" idx="4"/>
          </p:nvPr>
        </p:nvSpPr>
        <p:spPr/>
        <p:txBody>
          <a:bodyPr wrap="square"/>
          <a:lstStyle/>
          <a:p>
            <a:r>
              <a:t>The differentiator</a:t>
            </a:r>
          </a:p>
          <a:p>
            <a:r>
              <a:t>Tachyon vision models read product imagery</a:t>
            </a:r>
          </a:p>
          <a:p>
            <a:r>
              <a:t>79.7% of SKUs already carry 2+ images</a:t>
            </a:r>
          </a:p>
          <a:p>
            <a:r>
              <a:t>Feeds material and pattern where Google asks for them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 (cont.)</a:t>
            </a:r>
          </a:p>
        </p:txBody>
      </p:sp>
      <p:sp>
        <p:nvSpPr>
          <p:cNvPr id="4" name="Text Placeholder 3"/>
          <p:cNvSpPr>
            <a:spLocks noGrp="1"/>
          </p:cNvSpPr>
          <p:nvPr>
            <p:ph type="body" idx="1"/>
          </p:nvPr>
        </p:nvSpPr>
        <p:spPr/>
        <p:txBody>
          <a:bodyPr wrap="square"/>
          <a:lstStyle/>
          <a:p>
            <a:r>
              <a:t>The foundation is genuinely strong</a:t>
            </a:r>
          </a:p>
        </p:txBody>
      </p:sp>
      <p:sp>
        <p:nvSpPr>
          <p:cNvPr id="5" name="Text Placeholder 4"/>
          <p:cNvSpPr>
            <a:spLocks noGrp="1"/>
          </p:cNvSpPr>
          <p:nvPr>
            <p:ph type="body" idx="2"/>
          </p:nvPr>
        </p:nvSpPr>
        <p:spPr/>
        <p:txBody>
          <a:bodyPr wrap="square"/>
          <a:lstStyle/>
          <a:p>
            <a:r>
              <a:t>Golden Record completeness reads 90.9 against a 99.9% target — and that figure is measured the strict way, scoring each attribute only over the products Google actually asks for it. Material at 47.8% and pattern at 43.8% look thin until you notice there are two clothing products in 24,413, so Google does not ask for either across the range.</a:t>
            </a:r>
          </a:p>
          <a:p>
            <a:r>
              <a:t>Scored the loose way, over every product, the same feed reads 82.7. The 90.9 is the honest one, and it is the higher number for once.</a:t>
            </a:r>
          </a:p>
        </p:txBody>
      </p:sp>
      <p:sp>
        <p:nvSpPr>
          <p:cNvPr id="6" name="Text Placeholder 5"/>
          <p:cNvSpPr>
            <a:spLocks noGrp="1"/>
          </p:cNvSpPr>
          <p:nvPr>
            <p:ph type="body" idx="3"/>
          </p:nvPr>
        </p:nvSpPr>
        <p:spPr/>
        <p:txBody>
          <a:bodyPr wrap="square"/>
          <a:lstStyle/>
          <a:p>
            <a:r>
              <a:t>The ceiling, and why it is a ceiling</a:t>
            </a:r>
          </a:p>
        </p:txBody>
      </p:sp>
      <p:sp>
        <p:nvSpPr>
          <p:cNvPr id="7" name="Text Placeholder 6"/>
          <p:cNvSpPr>
            <a:spLocks noGrp="1"/>
          </p:cNvSpPr>
          <p:nvPr>
            <p:ph type="body" idx="4"/>
          </p:nvPr>
        </p:nvSpPr>
        <p:spPr/>
        <p:txBody>
          <a:bodyPr wrap="square"/>
          <a:lstStyle/>
          <a:p>
            <a:r>
              <a:rPr sz="1500"/>
              <a:t>Google's six conversational attributes are the only fields in the spec whose stated purpose is AI comprehension. None is present in the Hobbycraft feed — confirmed from the schema, not inferred. A feed carrying none of them cannot score above 79.3 on AI readiness however good everything else is.</a:t>
            </a:r>
          </a:p>
          <a:p>
            <a:r>
              <a:rPr sz="1500"/>
              <a:t>So the gap is not "some work to do". It is specifically: 0 of 6 conversational attributes, 13,278 SKUs with no highlight, 299 titles in the AI-ready band, and nothing in the category tree reaching five levels.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Craft is the category where this matters most. A shopper buying a sewing pattern, a yarn weight or a Cricut blade is asking a question, not naming a product — will this fit my machine, is this enough for a queen-size quilt, what weight is this yarn. Those answers exist on Hobbycraft's product pages and in the 811-character descriptions already in the feed. What is missing is the structure that lets an assistant quote them rather than guess.</a:t>
            </a:r>
          </a:p>
        </p:txBody>
      </p:sp>
      <p:sp>
        <p:nvSpPr>
          <p:cNvPr id="3" name="Text Placeholder 2"/>
          <p:cNvSpPr>
            <a:spLocks noGrp="1"/>
          </p:cNvSpPr>
          <p:nvPr>
            <p:ph type="body" idx="11"/>
          </p:nvPr>
        </p:nvSpPr>
        <p:spPr/>
        <p:txBody>
          <a:bodyPr wrap="square"/>
          <a:lstStyle/>
          <a:p>
            <a:r>
              <a:t>AI readiness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seven</a:t>
            </a:r>
          </a:p>
        </p:txBody>
      </p:sp>
      <p:sp>
        <p:nvSpPr>
          <p:cNvPr id="3" name="Title 2"/>
          <p:cNvSpPr>
            <a:spLocks noGrp="1"/>
          </p:cNvSpPr>
          <p:nvPr>
            <p:ph type="title"/>
          </p:nvPr>
        </p:nvSpPr>
        <p:spPr/>
        <p:txBody>
          <a:bodyPr wrap="square"/>
          <a:lstStyle/>
          <a:p>
            <a:r>
              <a:t>Case studies / test wins</a:t>
            </a:r>
          </a:p>
        </p:txBody>
      </p:sp>
      <p:sp>
        <p:nvSpPr>
          <p:cNvPr id="4" name="Text Placeholder 3"/>
          <p:cNvSpPr>
            <a:spLocks noGrp="1"/>
          </p:cNvSpPr>
          <p:nvPr>
            <p:ph type="body" idx="1"/>
          </p:nvPr>
        </p:nvSpPr>
        <p:spPr/>
        <p:txBody>
          <a:bodyPr wrap="square"/>
          <a:lstStyle/>
          <a:p>
            <a:r>
              <a:t>What the same interventions returned on comparable FeedSpark accounts, and which of them apply 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Chapter 04 is Hobbycraft's own quantified record — read alongside it, these say which levers Hobbycraft has not tested yet.</a:t>
            </a:r>
          </a:p>
        </p:txBody>
      </p:sp>
      <p:sp>
        <p:nvSpPr>
          <p:cNvPr id="3" name="Text Placeholder 2"/>
          <p:cNvSpPr>
            <a:spLocks noGrp="1"/>
          </p:cNvSpPr>
          <p:nvPr>
            <p:ph type="body" idx="11"/>
          </p:nvPr>
        </p:nvSpPr>
        <p:spPr/>
        <p:txBody>
          <a:bodyPr wrap="square"/>
          <a:lstStyle/>
          <a:p>
            <a:r>
              <a:t>Case studies / test wins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Occasion and seasonal language</a:t>
            </a:r>
          </a:p>
        </p:txBody>
      </p:sp>
      <p:sp>
        <p:nvSpPr>
          <p:cNvPr id="5" name="Text Placeholder 4"/>
          <p:cNvSpPr>
            <a:spLocks noGrp="1"/>
          </p:cNvSpPr>
          <p:nvPr>
            <p:ph type="body" idx="2"/>
          </p:nvPr>
        </p:nvSpPr>
        <p:spPr/>
        <p:txBody>
          <a:bodyPr wrap="square"/>
          <a:lstStyle/>
          <a:p>
            <a:r>
              <a:t>+86% and +61% — Monsoon, on seasonal and category keyword sets. The largest returns on that account came from occasion terms, not brand terms.</a:t>
            </a:r>
          </a:p>
          <a:p>
            <a:r>
              <a:t>Applies directly, and this is the closest match in the portfolio: Hobbycraft's own trading calendar is a list of occasions — Easter, Halloween, Christmas, Black Friday, gifting, weddings, back to school.</a:t>
            </a:r>
          </a:p>
        </p:txBody>
      </p:sp>
      <p:sp>
        <p:nvSpPr>
          <p:cNvPr id="6" name="Text Placeholder 5"/>
          <p:cNvSpPr>
            <a:spLocks noGrp="1"/>
          </p:cNvSpPr>
          <p:nvPr>
            <p:ph type="body" idx="3"/>
          </p:nvPr>
        </p:nvSpPr>
        <p:spPr/>
        <p:txBody>
          <a:bodyPr wrap="square"/>
          <a:lstStyle/>
          <a:p>
            <a:r>
              <a:rPr sz="1639"/>
              <a:t>Naming the category term the shopper types</a:t>
            </a:r>
          </a:p>
        </p:txBody>
      </p:sp>
      <p:sp>
        <p:nvSpPr>
          <p:cNvPr id="7" name="Text Placeholder 6"/>
          <p:cNvSpPr>
            <a:spLocks noGrp="1"/>
          </p:cNvSpPr>
          <p:nvPr>
            <p:ph type="body" idx="4"/>
          </p:nvPr>
        </p:nvSpPr>
        <p:spPr/>
        <p:txBody>
          <a:bodyPr wrap="square"/>
          <a:lstStyle/>
          <a:p>
            <a:r>
              <a:t>+126.62% — YuMOVE, on the single term "Multivitamins". Adding the plain category noun a buyer actually searches, rather than the brand's own product name.</a:t>
            </a:r>
          </a:p>
          <a:p>
            <a:r>
              <a:t>Applies with force here: 1,236 Hobbycraft titles are under 30 characters and many name the product without naming what it is for — "Clay Beads 68g" is not how a shopper searches for bracelet-making supplies.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Benefit-led copy beat feature-led copy</a:t>
            </a:r>
          </a:p>
          <a:p>
            <a:r>
              <a:t>+24.7% — YuMOVE, pet supplements. Rewriting titles and descriptions around what the product does for the buyer rather than what it is.</a:t>
            </a:r>
          </a:p>
          <a:p>
            <a:r>
              <a:t>Applies to the 13,278 SKUs with no highlights: where highlights do exist here they are already benefit-led ("Easy to thread", "Ideal for bracelet making"), which is why extending them is a coverage job, not a copy project.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The pattern across all three</a:t>
            </a:r>
          </a:p>
        </p:txBody>
      </p:sp>
      <p:sp>
        <p:nvSpPr>
          <p:cNvPr id="5" name="Text Placeholder 4"/>
          <p:cNvSpPr>
            <a:spLocks noGrp="1"/>
          </p:cNvSpPr>
          <p:nvPr>
            <p:ph type="body" idx="2"/>
          </p:nvPr>
        </p:nvSpPr>
        <p:spPr/>
        <p:txBody>
          <a:bodyPr wrap="square"/>
          <a:lstStyle/>
          <a:p>
            <a:r>
              <a:t>Every one came from putting more specific, more decomposable language into the product data — the occasion, the benefit, the category noun the shopper types. None came from bidding, budget or campaign structure.</a:t>
            </a:r>
          </a:p>
          <a:p>
            <a:r>
              <a:t>That is what makes them portable: they are feed-side changes, and Hobbycraft's attribute foundation is already stronger than either account these results came from.</a:t>
            </a:r>
          </a:p>
        </p:txBody>
      </p:sp>
      <p:sp>
        <p:nvSpPr>
          <p:cNvPr id="6" name="Text Placeholder 5"/>
          <p:cNvSpPr>
            <a:spLocks noGrp="1"/>
          </p:cNvSpPr>
          <p:nvPr>
            <p:ph type="body" idx="3"/>
          </p:nvPr>
        </p:nvSpPr>
        <p:spPr/>
        <p:txBody>
          <a:bodyPr wrap="square"/>
          <a:lstStyle/>
          <a:p>
            <a:r>
              <a:rPr sz="1639"/>
              <a:t>What does not transfer, and why that matters</a:t>
            </a:r>
          </a:p>
        </p:txBody>
      </p:sp>
      <p:sp>
        <p:nvSpPr>
          <p:cNvPr id="7" name="Text Placeholder 6"/>
          <p:cNvSpPr>
            <a:spLocks noGrp="1"/>
          </p:cNvSpPr>
          <p:nvPr>
            <p:ph type="body" idx="4"/>
          </p:nvPr>
        </p:nvSpPr>
        <p:spPr/>
        <p:txBody>
          <a:bodyPr wrap="square"/>
          <a:lstStyle/>
          <a:p>
            <a:r>
              <a:t>Both accounts started from weaker attribute coverage than Hobbycraft has, and both are far smaller catalogues. Part of their gain came from fixing gaps that do not exist here — identifiers, categories and stock labelling are already complete.</a:t>
            </a:r>
          </a:p>
          <a:p>
            <a:r>
              <a:t>So these figures point at which lever, not at the size of the return. Hobbycraft's own controlled median in chapter 04 — +6.3% impressions per keyword batch — is the number to plan against.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eight</a:t>
            </a:r>
          </a:p>
        </p:txBody>
      </p:sp>
      <p:sp>
        <p:nvSpPr>
          <p:cNvPr id="3" name="Title 2"/>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Sequenced against Hobbycraft's own trading calendar — Christmas in October, Black Friday in November, gifting in December.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1</a:t>
            </a:r>
          </a:p>
        </p:txBody>
      </p:sp>
      <p:sp>
        <p:nvSpPr>
          <p:cNvPr id="5" name="Text Placeholder 4"/>
          <p:cNvSpPr>
            <a:spLocks noGrp="1"/>
          </p:cNvSpPr>
          <p:nvPr>
            <p:ph type="body" idx="2"/>
          </p:nvPr>
        </p:nvSpPr>
        <p:spPr/>
        <p:txBody>
          <a:bodyPr wrap="square"/>
          <a:lstStyle/>
          <a:p>
            <a:r>
              <a:t>Christmas · Halloween</a:t>
            </a:r>
          </a:p>
        </p:txBody>
      </p:sp>
      <p:sp>
        <p:nvSpPr>
          <p:cNvPr id="6" name="Text Placeholder 5"/>
          <p:cNvSpPr>
            <a:spLocks noGrp="1"/>
          </p:cNvSpPr>
          <p:nvPr>
            <p:ph type="body" idx="3"/>
          </p:nvPr>
        </p:nvSpPr>
        <p:spPr/>
        <p:txBody>
          <a:bodyPr wrap="square"/>
          <a:lstStyle/>
          <a:p>
            <a:r>
              <a:rPr sz="1230"/>
              <a:t>Oct 2026</a:t>
            </a:r>
          </a:p>
          <a:p>
            <a:r>
              <a:rPr sz="1230"/>
              <a:t>Christmas keyword batch — with a control group this time</a:t>
            </a:r>
          </a:p>
          <a:p>
            <a:r>
              <a:rPr sz="1230"/>
              <a:t>Highlights rule check — the 13,278 with none</a:t>
            </a:r>
          </a:p>
          <a:p>
            <a:r>
              <a:rPr sz="1230"/>
              <a:t>GA access — unblock bestseller automation</a:t>
            </a:r>
          </a:p>
          <a:p>
            <a:r>
              <a:rPr sz="1230"/>
              <a:t>Overlay set — % off frames refreshed for Peak</a:t>
            </a:r>
          </a:p>
        </p:txBody>
      </p:sp>
      <p:sp>
        <p:nvSpPr>
          <p:cNvPr id="7" name="Text Placeholder 6"/>
          <p:cNvSpPr>
            <a:spLocks noGrp="1"/>
          </p:cNvSpPr>
          <p:nvPr>
            <p:ph type="body" idx="4"/>
          </p:nvPr>
        </p:nvSpPr>
        <p:spPr/>
        <p:txBody>
          <a:bodyPr wrap="square"/>
          <a:lstStyle/>
          <a:p>
            <a:r>
              <a:t>2</a:t>
            </a:r>
          </a:p>
        </p:txBody>
      </p:sp>
      <p:sp>
        <p:nvSpPr>
          <p:cNvPr id="8" name="Text Placeholder 7"/>
          <p:cNvSpPr>
            <a:spLocks noGrp="1"/>
          </p:cNvSpPr>
          <p:nvPr>
            <p:ph type="body" idx="5"/>
          </p:nvPr>
        </p:nvSpPr>
        <p:spPr/>
        <p:txBody>
          <a:bodyPr wrap="square"/>
          <a:lstStyle/>
          <a:p>
            <a:r>
              <a:t>Black Friday · Christmas</a:t>
            </a:r>
          </a:p>
        </p:txBody>
      </p:sp>
      <p:sp>
        <p:nvSpPr>
          <p:cNvPr id="9" name="Text Placeholder 8"/>
          <p:cNvSpPr>
            <a:spLocks noGrp="1"/>
          </p:cNvSpPr>
          <p:nvPr>
            <p:ph type="body" idx="6"/>
          </p:nvPr>
        </p:nvSpPr>
        <p:spPr/>
        <p:txBody>
          <a:bodyPr wrap="square"/>
          <a:lstStyle/>
          <a:p>
            <a:r>
              <a:rPr sz="1320"/>
              <a:t>Nov 2026</a:t>
            </a:r>
          </a:p>
          <a:p>
            <a:r>
              <a:rPr sz="1320"/>
              <a:t>Black Friday linelist — keywords and labels</a:t>
            </a:r>
          </a:p>
          <a:p>
            <a:r>
              <a:rPr sz="1320"/>
              <a:t>No architecture changes once the month opens</a:t>
            </a:r>
          </a:p>
          <a:p>
            <a:r>
              <a:rPr sz="1320"/>
              <a:t>Disapproval sweeps across all seven feeds</a:t>
            </a:r>
          </a:p>
          <a:p>
            <a:r>
              <a:rPr sz="1320"/>
              <a:t>Stock labelling holds through the sale</a:t>
            </a:r>
          </a:p>
        </p:txBody>
      </p:sp>
      <p:sp>
        <p:nvSpPr>
          <p:cNvPr id="10" name="Text Placeholder 9"/>
          <p:cNvSpPr>
            <a:spLocks noGrp="1"/>
          </p:cNvSpPr>
          <p:nvPr>
            <p:ph type="body" idx="7"/>
          </p:nvPr>
        </p:nvSpPr>
        <p:spPr/>
        <p:txBody>
          <a:bodyPr wrap="square"/>
          <a:lstStyle/>
          <a:p>
            <a:r>
              <a:t>3</a:t>
            </a:r>
          </a:p>
        </p:txBody>
      </p:sp>
      <p:sp>
        <p:nvSpPr>
          <p:cNvPr id="11" name="Text Placeholder 10"/>
          <p:cNvSpPr>
            <a:spLocks noGrp="1"/>
          </p:cNvSpPr>
          <p:nvPr>
            <p:ph type="body" idx="8"/>
          </p:nvPr>
        </p:nvSpPr>
        <p:spPr/>
        <p:txBody>
          <a:bodyPr wrap="square"/>
          <a:lstStyle/>
          <a:p>
            <a:r>
              <a:t>Gifting, then the AI layer</a:t>
            </a:r>
          </a:p>
        </p:txBody>
      </p:sp>
      <p:sp>
        <p:nvSpPr>
          <p:cNvPr id="12" name="Text Placeholder 11"/>
          <p:cNvSpPr>
            <a:spLocks noGrp="1"/>
          </p:cNvSpPr>
          <p:nvPr>
            <p:ph type="body" idx="9"/>
          </p:nvPr>
        </p:nvSpPr>
        <p:spPr/>
        <p:txBody>
          <a:bodyPr wrap="square"/>
          <a:lstStyle/>
          <a:p>
            <a:r>
              <a:rPr sz="1410"/>
              <a:t>Dec 2026 – Jan 2027</a:t>
            </a:r>
          </a:p>
          <a:p>
            <a:r>
              <a:rPr sz="1410"/>
              <a:t>Gifting keywords — under £10, under £20</a:t>
            </a:r>
          </a:p>
          <a:p>
            <a:r>
              <a:rPr sz="1410"/>
              <a:t>Conversational attributes — the first two</a:t>
            </a:r>
          </a:p>
          <a:p>
            <a:r>
              <a:rPr sz="1410"/>
              <a:t>Title length toward the 80–120 band</a:t>
            </a:r>
          </a:p>
          <a:p>
            <a:r>
              <a:rPr sz="1410"/>
              <a:t>Custom label restructure goes live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 (cont.)</a:t>
            </a:r>
          </a:p>
        </p:txBody>
      </p:sp>
      <p:graphicFrame>
        <p:nvGraphicFramePr>
          <p:cNvPr id="5" name="Table 4"/>
          <p:cNvGraphicFramePr>
            <a:graphicFrameLocks noGrp="1"/>
          </p:cNvGraphicFramePr>
          <p:nvPr/>
        </p:nvGraphicFramePr>
        <p:xfrm>
          <a:off x="612648" y="1389888"/>
          <a:ext cx="10972798" cy="4251960"/>
        </p:xfrm>
        <a:graphic>
          <a:graphicData uri="http://schemas.openxmlformats.org/drawingml/2006/table">
            <a:tbl>
              <a:tblPr firstRow="1" bandRow="1">
                <a:tableStyleId>{5C22544A-7EE6-4342-B048-85BDC9FD1C3A}</a:tableStyleId>
              </a:tblPr>
              <a:tblGrid>
                <a:gridCol w="772622"/>
                <a:gridCol w="2809536"/>
                <a:gridCol w="5619072"/>
                <a:gridCol w="998946"/>
                <a:gridCol w="772622"/>
              </a:tblGrid>
              <a:tr h="384048">
                <a:tc>
                  <a:txBody>
                    <a:bodyPr/>
                    <a:lstStyle/>
                    <a:p>
                      <a:r>
                        <a:rPr sz="1300" b="1">
                          <a:solidFill>
                            <a:srgbClr val="FFFFFF"/>
                          </a:solidFill>
                        </a:rPr>
                        <a:t>#</a:t>
                      </a:r>
                    </a:p>
                  </a:txBody>
                  <a:tcPr/>
                </a:tc>
                <a:tc>
                  <a:txBody>
                    <a:bodyPr/>
                    <a:lstStyle/>
                    <a:p>
                      <a:r>
                        <a:rPr sz="1300" b="1">
                          <a:solidFill>
                            <a:srgbClr val="FFFFFF"/>
                          </a:solidFill>
                        </a:rPr>
                        <a:t>Workstream</a:t>
                      </a:r>
                    </a:p>
                  </a:txBody>
                  <a:tcPr/>
                </a:tc>
                <a:tc>
                  <a:txBody>
                    <a:bodyPr/>
                    <a:lstStyle/>
                    <a:p>
                      <a:r>
                        <a:rPr sz="1300" b="1">
                          <a:solidFill>
                            <a:srgbClr val="FFFFFF"/>
                          </a:solidFill>
                        </a:rPr>
                        <a:t>What it needs</a:t>
                      </a:r>
                    </a:p>
                  </a:txBody>
                  <a:tcPr/>
                </a:tc>
                <a:tc>
                  <a:txBody>
                    <a:bodyPr/>
                    <a:lstStyle/>
                    <a:p>
                      <a:r>
                        <a:rPr sz="1300" b="1">
                          <a:solidFill>
                            <a:srgbClr val="FFFFFF"/>
                          </a:solidFill>
                        </a:rPr>
                        <a:t>Owner</a:t>
                      </a:r>
                    </a:p>
                  </a:txBody>
                  <a:tcPr/>
                </a:tc>
                <a:tc>
                  <a:txBody>
                    <a:bodyPr/>
                    <a:lstStyle/>
                    <a:p>
                      <a:r>
                        <a:rPr sz="1300" b="1">
                          <a:solidFill>
                            <a:srgbClr val="FFFFFF"/>
                          </a:solidFill>
                        </a:rPr>
                        <a:t>Priority</a:t>
                      </a:r>
                    </a:p>
                  </a:txBody>
                  <a:tcPr/>
                </a:tc>
              </a:tr>
              <a:tr h="429768">
                <a:tc>
                  <a:txBody>
                    <a:bodyPr/>
                    <a:lstStyle/>
                    <a:p>
                      <a:r>
                        <a:rPr sz="1100"/>
                        <a:t>W1</a:t>
                      </a:r>
                    </a:p>
                  </a:txBody>
                  <a:tcPr/>
                </a:tc>
                <a:tc>
                  <a:txBody>
                    <a:bodyPr/>
                    <a:lstStyle/>
                    <a:p>
                      <a:r>
                        <a:rPr sz="1100"/>
                        <a:t>Keyword coverage past half the catalogue</a:t>
                      </a:r>
                    </a:p>
                  </a:txBody>
                  <a:tcPr/>
                </a:tc>
                <a:tc>
                  <a:txBody>
                    <a:bodyPr/>
                    <a:lstStyle/>
                    <a:p>
                      <a:r>
                        <a:rPr sz="1100"/>
                        <a:t>Nothing external — 12,198 SKUs carry no readable terms today, and the controlled median return is +6.3% impressions per batch</a:t>
                      </a:r>
                    </a:p>
                  </a:txBody>
                  <a:tcPr/>
                </a:tc>
                <a:tc>
                  <a:txBody>
                    <a:bodyPr/>
                    <a:lstStyle/>
                    <a:p>
                      <a:r>
                        <a:rPr sz="1100"/>
                        <a:t>Ezgi / Ray</a:t>
                      </a:r>
                    </a:p>
                  </a:txBody>
                  <a:tcPr/>
                </a:tc>
                <a:tc>
                  <a:txBody>
                    <a:bodyPr/>
                    <a:lstStyle/>
                    <a:p>
                      <a:r>
                        <a:rPr sz="1100" b="1">
                          <a:solidFill>
                            <a:srgbClr val="2E7D32"/>
                          </a:solidFill>
                        </a:rPr>
                        <a:t>High</a:t>
                      </a:r>
                    </a:p>
                  </a:txBody>
                  <a:tcPr/>
                </a:tc>
              </a:tr>
              <a:tr h="429768">
                <a:tc>
                  <a:txBody>
                    <a:bodyPr/>
                    <a:lstStyle/>
                    <a:p>
                      <a:r>
                        <a:rPr sz="1100"/>
                        <a:t>W2</a:t>
                      </a:r>
                    </a:p>
                  </a:txBody>
                  <a:tcPr/>
                </a:tc>
                <a:tc>
                  <a:txBody>
                    <a:bodyPr/>
                    <a:lstStyle/>
                    <a:p>
                      <a:r>
                        <a:rPr sz="1100"/>
                        <a:t>Product highlights on the whole range</a:t>
                      </a:r>
                    </a:p>
                  </a:txBody>
                  <a:tcPr/>
                </a:tc>
                <a:tc>
                  <a:txBody>
                    <a:bodyPr/>
                    <a:lstStyle/>
                    <a:p>
                      <a:r>
                        <a:rPr sz="1100"/>
                        <a:t>One feed-rule check first — the scrape may already hold what the feed is not emitting on 13,278 SKUs</a:t>
                      </a:r>
                    </a:p>
                  </a:txBody>
                  <a:tcPr/>
                </a:tc>
                <a:tc>
                  <a:txBody>
                    <a:bodyPr/>
                    <a:lstStyle/>
                    <a:p>
                      <a:r>
                        <a:rPr sz="1100"/>
                        <a:t>Ray / Ezgi</a:t>
                      </a:r>
                    </a:p>
                  </a:txBody>
                  <a:tcPr/>
                </a:tc>
                <a:tc>
                  <a:txBody>
                    <a:bodyPr/>
                    <a:lstStyle/>
                    <a:p>
                      <a:r>
                        <a:rPr sz="1100" b="1">
                          <a:solidFill>
                            <a:srgbClr val="2E7D32"/>
                          </a:solidFill>
                        </a:rPr>
                        <a:t>High</a:t>
                      </a:r>
                    </a:p>
                  </a:txBody>
                  <a:tcPr/>
                </a:tc>
              </a:tr>
              <a:tr h="429768">
                <a:tc>
                  <a:txBody>
                    <a:bodyPr/>
                    <a:lstStyle/>
                    <a:p>
                      <a:r>
                        <a:rPr sz="1100"/>
                        <a:t>W3</a:t>
                      </a:r>
                    </a:p>
                  </a:txBody>
                  <a:tcPr/>
                </a:tc>
                <a:tc>
                  <a:txBody>
                    <a:bodyPr/>
                    <a:lstStyle/>
                    <a:p>
                      <a:r>
                        <a:rPr sz="1100"/>
                        <a:t>Bestseller automation — custom_label_2</a:t>
                      </a:r>
                    </a:p>
                  </a:txBody>
                  <a:tcPr/>
                </a:tc>
                <a:tc>
                  <a:txBody>
                    <a:bodyPr/>
                    <a:lstStyle/>
                    <a:p>
                      <a:r>
                        <a:rPr sz="1100"/>
                        <a:t>GA access to extract the category threshold. Open in the plan since May; the slot currently carries July 2020 values on 0.5% of SKUs</a:t>
                      </a:r>
                    </a:p>
                  </a:txBody>
                  <a:tcPr/>
                </a:tc>
                <a:tc>
                  <a:txBody>
                    <a:bodyPr/>
                    <a:lstStyle/>
                    <a:p>
                      <a:r>
                        <a:rPr sz="1100"/>
                        <a:t>Hobbycraft → Ray</a:t>
                      </a:r>
                    </a:p>
                  </a:txBody>
                  <a:tcPr/>
                </a:tc>
                <a:tc>
                  <a:txBody>
                    <a:bodyPr/>
                    <a:lstStyle/>
                    <a:p>
                      <a:r>
                        <a:rPr sz="1100" b="1">
                          <a:solidFill>
                            <a:srgbClr val="2E7D32"/>
                          </a:solidFill>
                        </a:rPr>
                        <a:t>High</a:t>
                      </a:r>
                    </a:p>
                  </a:txBody>
                  <a:tcPr/>
                </a:tc>
              </a:tr>
              <a:tr h="429768">
                <a:tc>
                  <a:txBody>
                    <a:bodyPr/>
                    <a:lstStyle/>
                    <a:p>
                      <a:r>
                        <a:rPr sz="1100"/>
                        <a:t>W4</a:t>
                      </a:r>
                    </a:p>
                  </a:txBody>
                  <a:tcPr/>
                </a:tc>
                <a:tc>
                  <a:txBody>
                    <a:bodyPr/>
                    <a:lstStyle/>
                    <a:p>
                      <a:r>
                        <a:rPr sz="1100"/>
                        <a:t>Title length toward the MASK band</a:t>
                      </a:r>
                    </a:p>
                  </a:txBody>
                  <a:tcPr/>
                </a:tc>
                <a:tc>
                  <a:txBody>
                    <a:bodyPr/>
                    <a:lstStyle/>
                    <a:p>
                      <a:r>
                        <a:rPr sz="1100"/>
                        <a:t>A rule change — 1.2% in band at a 47.8-character mean, and the machines test already proved the direction</a:t>
                      </a:r>
                    </a:p>
                  </a:txBody>
                  <a:tcPr/>
                </a:tc>
                <a:tc>
                  <a:txBody>
                    <a:bodyPr/>
                    <a:lstStyle/>
                    <a:p>
                      <a:r>
                        <a:rPr sz="1100"/>
                        <a:t>Ray / Ezgi</a:t>
                      </a:r>
                    </a:p>
                  </a:txBody>
                  <a:tcPr/>
                </a:tc>
                <a:tc>
                  <a:txBody>
                    <a:bodyPr/>
                    <a:lstStyle/>
                    <a:p>
                      <a:r>
                        <a:rPr sz="1100" b="1">
                          <a:solidFill>
                            <a:srgbClr val="2E7D32"/>
                          </a:solidFill>
                        </a:rPr>
                        <a:t>High</a:t>
                      </a:r>
                    </a:p>
                  </a:txBody>
                  <a:tcPr/>
                </a:tc>
              </a:tr>
              <a:tr h="429768">
                <a:tc>
                  <a:txBody>
                    <a:bodyPr/>
                    <a:lstStyle/>
                    <a:p>
                      <a:r>
                        <a:rPr sz="1100"/>
                        <a:t>W5</a:t>
                      </a:r>
                    </a:p>
                  </a:txBody>
                  <a:tcPr/>
                </a:tc>
                <a:tc>
                  <a:txBody>
                    <a:bodyPr/>
                    <a:lstStyle/>
                    <a:p>
                      <a:r>
                        <a:rPr sz="1100"/>
                        <a:t>Zombie labelling to match the real population</a:t>
                      </a:r>
                    </a:p>
                  </a:txBody>
                  <a:tcPr/>
                </a:tc>
                <a:tc>
                  <a:txBody>
                    <a:bodyPr/>
                    <a:lstStyle/>
                    <a:p>
                      <a:r>
                        <a:rPr sz="1100"/>
                        <a:t>The rule labels 198 SKUs; Google Ads reports 12.7% of the catalogue as zombie and 8,139 products under 100 impressions in 30 days</a:t>
                      </a:r>
                    </a:p>
                  </a:txBody>
                  <a:tcPr/>
                </a:tc>
                <a:tc>
                  <a:txBody>
                    <a:bodyPr/>
                    <a:lstStyle/>
                    <a:p>
                      <a:r>
                        <a:rPr sz="1100"/>
                        <a:t>Ray</a:t>
                      </a:r>
                    </a:p>
                  </a:txBody>
                  <a:tcPr/>
                </a:tc>
                <a:tc>
                  <a:txBody>
                    <a:bodyPr/>
                    <a:lstStyle/>
                    <a:p>
                      <a:r>
                        <a:rPr sz="1100" b="1">
                          <a:solidFill>
                            <a:srgbClr val="ED6F0B"/>
                          </a:solidFill>
                        </a:rPr>
                        <a:t>Medium</a:t>
                      </a:r>
                    </a:p>
                  </a:txBody>
                  <a:tcPr/>
                </a:tc>
              </a:tr>
              <a:tr h="429768">
                <a:tc>
                  <a:txBody>
                    <a:bodyPr/>
                    <a:lstStyle/>
                    <a:p>
                      <a:r>
                        <a:rPr sz="1100"/>
                        <a:t>W6</a:t>
                      </a:r>
                    </a:p>
                  </a:txBody>
                  <a:tcPr/>
                </a:tc>
                <a:tc>
                  <a:txBody>
                    <a:bodyPr/>
                    <a:lstStyle/>
                    <a:p>
                      <a:r>
                        <a:rPr sz="1100"/>
                        <a:t>First two conversational attributes</a:t>
                      </a:r>
                    </a:p>
                  </a:txBody>
                  <a:tcPr/>
                </a:tc>
                <a:tc>
                  <a:txBody>
                    <a:bodyPr/>
                    <a:lstStyle/>
                    <a:p>
                      <a:r>
                        <a:rPr sz="1100"/>
                        <a:t>item_group_title and variant_option — structural, no copy sign-off, and 16,720 variant families are already resolved in the feed</a:t>
                      </a:r>
                    </a:p>
                  </a:txBody>
                  <a:tcPr/>
                </a:tc>
                <a:tc>
                  <a:txBody>
                    <a:bodyPr/>
                    <a:lstStyle/>
                    <a:p>
                      <a:r>
                        <a:rPr sz="1100"/>
                        <a:t>Ray / Steven</a:t>
                      </a:r>
                    </a:p>
                  </a:txBody>
                  <a:tcPr/>
                </a:tc>
                <a:tc>
                  <a:txBody>
                    <a:bodyPr/>
                    <a:lstStyle/>
                    <a:p>
                      <a:r>
                        <a:rPr sz="1100" b="1">
                          <a:solidFill>
                            <a:srgbClr val="ED6F0B"/>
                          </a:solidFill>
                        </a:rPr>
                        <a:t>Medium</a:t>
                      </a:r>
                    </a:p>
                  </a:txBody>
                  <a:tcPr/>
                </a:tc>
              </a:tr>
              <a:tr h="429768">
                <a:tc>
                  <a:txBody>
                    <a:bodyPr/>
                    <a:lstStyle/>
                    <a:p>
                      <a:r>
                        <a:rPr sz="1100"/>
                        <a:t>W7</a:t>
                      </a:r>
                    </a:p>
                  </a:txBody>
                  <a:tcPr/>
                </a:tc>
                <a:tc>
                  <a:txBody>
                    <a:bodyPr/>
                    <a:lstStyle/>
                    <a:p>
                      <a:r>
                        <a:rPr sz="1100"/>
                        <a:t>Category depth beyond four levels</a:t>
                      </a:r>
                    </a:p>
                  </a:txBody>
                  <a:tcPr/>
                </a:tc>
                <a:tc>
                  <a:txBody>
                    <a:bodyPr/>
                    <a:lstStyle/>
                    <a:p>
                      <a:r>
                        <a:rPr sz="1100"/>
                        <a:t>The website breadcrumb scrape is live; nothing in the tree reaches five levels against a 30–40% industry standard</a:t>
                      </a:r>
                    </a:p>
                  </a:txBody>
                  <a:tcPr/>
                </a:tc>
                <a:tc>
                  <a:txBody>
                    <a:bodyPr/>
                    <a:lstStyle/>
                    <a:p>
                      <a:r>
                        <a:rPr sz="1100"/>
                        <a:t>Ray + SEO</a:t>
                      </a:r>
                    </a:p>
                  </a:txBody>
                  <a:tcPr/>
                </a:tc>
                <a:tc>
                  <a:txBody>
                    <a:bodyPr/>
                    <a:lstStyle/>
                    <a:p>
                      <a:r>
                        <a:rPr sz="1100" b="1">
                          <a:solidFill>
                            <a:srgbClr val="ED6F0B"/>
                          </a:solidFill>
                        </a:rPr>
                        <a:t>Medium</a:t>
                      </a:r>
                    </a:p>
                  </a:txBody>
                  <a:tcPr/>
                </a:tc>
              </a:tr>
              <a:tr h="429768">
                <a:tc>
                  <a:txBody>
                    <a:bodyPr/>
                    <a:lstStyle/>
                    <a:p>
                      <a:r>
                        <a:rPr sz="1100"/>
                        <a:t>W8</a:t>
                      </a:r>
                    </a:p>
                  </a:txBody>
                  <a:tcPr/>
                </a:tc>
                <a:tc>
                  <a:txBody>
                    <a:bodyPr/>
                    <a:lstStyle/>
                    <a:p>
                      <a:r>
                        <a:rPr sz="1100"/>
                        <a:t>Size where Google requires it</a:t>
                      </a:r>
                    </a:p>
                  </a:txBody>
                  <a:tcPr/>
                </a:tc>
                <a:tc>
                  <a:txBody>
                    <a:bodyPr/>
                    <a:lstStyle/>
                    <a:p>
                      <a:r>
                        <a:rPr sz="1100"/>
                        <a:t>8,489 products are missing size where Google requires it; separately, 5,603 carry a size in the title but not in the size field — a mapping job, not new data</a:t>
                      </a:r>
                    </a:p>
                  </a:txBody>
                  <a:tcPr/>
                </a:tc>
                <a:tc>
                  <a:txBody>
                    <a:bodyPr/>
                    <a:lstStyle/>
                    <a:p>
                      <a:r>
                        <a:rPr sz="1100"/>
                        <a:t>Ezgi</a:t>
                      </a:r>
                    </a:p>
                  </a:txBody>
                  <a:tcPr/>
                </a:tc>
                <a:tc>
                  <a:txBody>
                    <a:bodyPr/>
                    <a:lstStyle/>
                    <a:p>
                      <a:r>
                        <a:rPr sz="1100" b="1">
                          <a:solidFill>
                            <a:srgbClr val="ED6F0B"/>
                          </a:solidFill>
                        </a:rPr>
                        <a:t>Medium</a:t>
                      </a:r>
                    </a:p>
                  </a:txBody>
                  <a:tcPr/>
                </a:tc>
              </a:tr>
              <a:tr h="429768">
                <a:tc>
                  <a:txBody>
                    <a:bodyPr/>
                    <a:lstStyle/>
                    <a:p>
                      <a:r>
                        <a:rPr sz="1100"/>
                        <a:t>W9</a:t>
                      </a:r>
                    </a:p>
                  </a:txBody>
                  <a:tcPr/>
                </a:tc>
                <a:tc>
                  <a:txBody>
                    <a:bodyPr/>
                    <a:lstStyle/>
                    <a:p>
                      <a:r>
                        <a:rPr sz="1100"/>
                        <a:t>Put a control group on seasonal tests</a:t>
                      </a:r>
                    </a:p>
                  </a:txBody>
                  <a:tcPr/>
                </a:tc>
                <a:tc>
                  <a:txBody>
                    <a:bodyPr/>
                    <a:lstStyle/>
                    <a:p>
                      <a:r>
                        <a:rPr sz="1100"/>
                        <a:t>Both Christmas batches read −46% because they were measured to 22 January with nothing to compare against</a:t>
                      </a:r>
                    </a:p>
                  </a:txBody>
                  <a:tcPr/>
                </a:tc>
                <a:tc>
                  <a:txBody>
                    <a:bodyPr/>
                    <a:lstStyle/>
                    <a:p>
                      <a:r>
                        <a:rPr sz="1100"/>
                        <a:t>Ray</a:t>
                      </a:r>
                    </a:p>
                  </a:txBody>
                  <a:tcPr/>
                </a:tc>
                <a:tc>
                  <a:txBody>
                    <a:bodyPr/>
                    <a:lstStyle/>
                    <a:p>
                      <a:r>
                        <a:rPr sz="1100" b="1">
                          <a:solidFill>
                            <a:srgbClr val="767676"/>
                          </a:solidFill>
                        </a:rPr>
                        <a:t>Low</a:t>
                      </a:r>
                    </a:p>
                  </a:txBody>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 (cont.)</a:t>
            </a:r>
          </a:p>
        </p:txBody>
      </p:sp>
      <p:sp>
        <p:nvSpPr>
          <p:cNvPr id="4" name="Text Placeholder 3"/>
          <p:cNvSpPr>
            <a:spLocks noGrp="1"/>
          </p:cNvSpPr>
          <p:nvPr>
            <p:ph type="body" idx="1"/>
          </p:nvPr>
        </p:nvSpPr>
        <p:spPr/>
        <p:txBody>
          <a:bodyPr wrap="square"/>
          <a:lstStyle/>
          <a:p>
            <a:r>
              <a:t>Three things we need from Hobbycraft</a:t>
            </a:r>
          </a:p>
        </p:txBody>
      </p:sp>
      <p:sp>
        <p:nvSpPr>
          <p:cNvPr id="5" name="Text Placeholder 4"/>
          <p:cNvSpPr>
            <a:spLocks noGrp="1"/>
          </p:cNvSpPr>
          <p:nvPr>
            <p:ph type="body" idx="2"/>
          </p:nvPr>
        </p:nvSpPr>
        <p:spPr/>
        <p:txBody>
          <a:bodyPr wrap="square"/>
          <a:lstStyle/>
          <a:p>
            <a:r>
              <a:rPr sz="1500"/>
              <a:t>Each unblocks work that is already scoped and waiting — none needs new budget.</a:t>
            </a:r>
          </a:p>
          <a:p>
            <a:r>
              <a:rPr sz="1500"/>
              <a:t>1. GA access to extract the bestseller threshold. Open since May. It unblocks custom_label_2, which has carried 2020 values ever since.</a:t>
            </a:r>
          </a:p>
          <a:p>
            <a:r>
              <a:rPr sz="1500"/>
              <a:t>2. The 2027 trading calendar. Keyword batches need three weeks' lead; the calendar is what lets us be early rather than in-month.</a:t>
            </a:r>
          </a:p>
          <a:p>
            <a:r>
              <a:rPr sz="1500"/>
              <a:t>3. An introduction to the new SEO manager. Category depth and the PLP project are the same conversation, and W7 waits on it.</a:t>
            </a:r>
          </a:p>
        </p:txBody>
      </p:sp>
      <p:sp>
        <p:nvSpPr>
          <p:cNvPr id="6" name="Text Placeholder 5"/>
          <p:cNvSpPr>
            <a:spLocks noGrp="1"/>
          </p:cNvSpPr>
          <p:nvPr>
            <p:ph type="body" idx="3"/>
          </p:nvPr>
        </p:nvSpPr>
        <p:spPr/>
        <p:txBody>
          <a:bodyPr wrap="square"/>
          <a:lstStyle/>
          <a:p>
            <a:r>
              <a:t>Sequencing logic</a:t>
            </a:r>
          </a:p>
        </p:txBody>
      </p:sp>
      <p:sp>
        <p:nvSpPr>
          <p:cNvPr id="7" name="Text Placeholder 6"/>
          <p:cNvSpPr>
            <a:spLocks noGrp="1"/>
          </p:cNvSpPr>
          <p:nvPr>
            <p:ph type="body" idx="4"/>
          </p:nvPr>
        </p:nvSpPr>
        <p:spPr/>
        <p:txBody>
          <a:bodyPr wrap="square"/>
          <a:lstStyle/>
          <a:p>
            <a:r>
              <a:t>W1, W2 and W4 come first because none is blocked on anybody: the keyword pass, the highlight rule and the title engine all run on part of the catalogue already. They are deployment, not development.</a:t>
            </a:r>
          </a:p>
          <a:p>
            <a:r>
              <a:t>W3 and W7 are chased in parallel as client-side dependencies. Everything structural lands in October — once Black Friday opens, nothing architectural moves until January.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nine</a:t>
            </a:r>
          </a:p>
        </p:txBody>
      </p:sp>
      <p:sp>
        <p:nvSpPr>
          <p:cNvPr id="3" name="Title 2"/>
          <p:cNvSpPr>
            <a:spLocks noGrp="1"/>
          </p:cNvSpPr>
          <p:nvPr>
            <p:ph type="title"/>
          </p:nvPr>
        </p:nvSpPr>
        <p:spPr/>
        <p:txBody>
          <a:bodyPr wrap="square"/>
          <a:lstStyle/>
          <a:p>
            <a:r>
              <a:t>Google conversational attributes</a:t>
            </a:r>
          </a:p>
        </p:txBody>
      </p:sp>
      <p:sp>
        <p:nvSpPr>
          <p:cNvPr id="4" name="Text Placeholder 3"/>
          <p:cNvSpPr>
            <a:spLocks noGrp="1"/>
          </p:cNvSpPr>
          <p:nvPr>
            <p:ph type="body" idx="1"/>
          </p:nvPr>
        </p:nvSpPr>
        <p:spPr/>
        <p:txBody>
          <a:bodyPr wrap="square"/>
          <a:lstStyle/>
          <a:p>
            <a:r>
              <a:t>Six attributes built for AI assistants. None is in the Hobbycraft feed today — and two of them need no new content at all.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Submission status is read from the live feed — present means the field carries real values on real products, not that the column exists.</a:t>
            </a:r>
          </a:p>
        </p:txBody>
      </p:sp>
      <p:sp>
        <p:nvSpPr>
          <p:cNvPr id="3" name="Text Placeholder 2"/>
          <p:cNvSpPr>
            <a:spLocks noGrp="1"/>
          </p:cNvSpPr>
          <p:nvPr>
            <p:ph type="body" idx="11"/>
          </p:nvPr>
        </p:nvSpPr>
        <p:spPr/>
        <p:txBody>
          <a:bodyPr wrap="square"/>
          <a:lstStyle/>
          <a:p>
            <a:r>
              <a:t>Google conversational attributes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 Hobbycraft customer asks an AI assistant…</a:t>
            </a:r>
          </a:p>
        </p:txBody>
      </p:sp>
      <p:graphicFrame>
        <p:nvGraphicFramePr>
          <p:cNvPr id="5" name="Table 4"/>
          <p:cNvGraphicFramePr>
            <a:graphicFrameLocks noGrp="1"/>
          </p:cNvGraphicFramePr>
          <p:nvPr/>
        </p:nvGraphicFramePr>
        <p:xfrm>
          <a:off x="612648" y="1389888"/>
          <a:ext cx="10972798" cy="4251960"/>
        </p:xfrm>
        <a:graphic>
          <a:graphicData uri="http://schemas.openxmlformats.org/drawingml/2006/table">
            <a:tbl>
              <a:tblPr firstRow="1" bandRow="1">
                <a:tableStyleId>{5C22544A-7EE6-4342-B048-85BDC9FD1C3A}</a:tableStyleId>
              </a:tblPr>
              <a:tblGrid>
                <a:gridCol w="1555844"/>
                <a:gridCol w="900752"/>
                <a:gridCol w="1146411"/>
                <a:gridCol w="7369791"/>
              </a:tblGrid>
              <a:tr h="384048">
                <a:tc>
                  <a:txBody>
                    <a:bodyPr/>
                    <a:lstStyle/>
                    <a:p>
                      <a:r>
                        <a:rPr sz="1300" b="1">
                          <a:solidFill>
                            <a:srgbClr val="FFFFFF"/>
                          </a:solidFill>
                        </a:rPr>
                        <a:t>Attribute</a:t>
                      </a:r>
                    </a:p>
                  </a:txBody>
                  <a:tcPr/>
                </a:tc>
                <a:tc>
                  <a:txBody>
                    <a:bodyPr/>
                    <a:lstStyle/>
                    <a:p>
                      <a:r>
                        <a:rPr sz="1300" b="1">
                          <a:solidFill>
                            <a:srgbClr val="FFFFFF"/>
                          </a:solidFill>
                        </a:rPr>
                        <a:t>In the feed</a:t>
                      </a:r>
                    </a:p>
                  </a:txBody>
                  <a:tcPr/>
                </a:tc>
                <a:tc>
                  <a:txBody>
                    <a:bodyPr/>
                    <a:lstStyle/>
                    <a:p>
                      <a:r>
                        <a:rPr sz="1300" b="1">
                          <a:solidFill>
                            <a:srgbClr val="FFFFFF"/>
                          </a:solidFill>
                        </a:rPr>
                        <a:t>Content needed</a:t>
                      </a:r>
                    </a:p>
                  </a:txBody>
                  <a:tcPr/>
                </a:tc>
                <a:tc>
                  <a:txBody>
                    <a:bodyPr/>
                    <a:lstStyle/>
                    <a:p>
                      <a:r>
                        <a:rPr sz="1300" b="1">
                          <a:solidFill>
                            <a:srgbClr val="FFFFFF"/>
                          </a:solidFill>
                        </a:rPr>
                        <a:t>Status</a:t>
                      </a:r>
                    </a:p>
                  </a:txBody>
                  <a:tcPr/>
                </a:tc>
              </a:tr>
              <a:tr h="644652">
                <a:tc>
                  <a:txBody>
                    <a:bodyPr/>
                    <a:lstStyle/>
                    <a:p>
                      <a:r>
                        <a:rPr sz="1100"/>
                        <a:t>item_group_title</a:t>
                      </a:r>
                    </a:p>
                  </a:txBody>
                  <a:tcPr/>
                </a:tc>
                <a:tc>
                  <a:txBody>
                    <a:bodyPr/>
                    <a:lstStyle/>
                    <a:p>
                      <a:r>
                        <a:rPr sz="1100"/>
                        <a:t>—</a:t>
                      </a:r>
                    </a:p>
                  </a:txBody>
                  <a:tcPr/>
                </a:tc>
                <a:tc>
                  <a:txBody>
                    <a:bodyPr/>
                    <a:lstStyle/>
                    <a:p>
                      <a:r>
                        <a:rPr sz="1100"/>
                        <a:t>None — derived</a:t>
                      </a:r>
                    </a:p>
                  </a:txBody>
                  <a:tcPr/>
                </a:tc>
                <a:tc>
                  <a:txBody>
                    <a:bodyPr/>
                    <a:lstStyle/>
                    <a:p>
                      <a:r>
                        <a:rPr sz="1100"/>
                        <a:t>Not submitted. 16,720 variant families already resolved; this names each one cleanly. The cheapest of the six</a:t>
                      </a:r>
                    </a:p>
                  </a:txBody>
                  <a:tcPr/>
                </a:tc>
              </a:tr>
              <a:tr h="644652">
                <a:tc>
                  <a:txBody>
                    <a:bodyPr/>
                    <a:lstStyle/>
                    <a:p>
                      <a:r>
                        <a:rPr sz="1100"/>
                        <a:t>variant_option</a:t>
                      </a:r>
                    </a:p>
                  </a:txBody>
                  <a:tcPr/>
                </a:tc>
                <a:tc>
                  <a:txBody>
                    <a:bodyPr/>
                    <a:lstStyle/>
                    <a:p>
                      <a:r>
                        <a:rPr sz="1100"/>
                        <a:t>—</a:t>
                      </a:r>
                    </a:p>
                  </a:txBody>
                  <a:tcPr/>
                </a:tc>
                <a:tc>
                  <a:txBody>
                    <a:bodyPr/>
                    <a:lstStyle/>
                    <a:p>
                      <a:r>
                        <a:rPr sz="1100"/>
                        <a:t>None — derived</a:t>
                      </a:r>
                    </a:p>
                  </a:txBody>
                  <a:tcPr/>
                </a:tc>
                <a:tc>
                  <a:txBody>
                    <a:bodyPr/>
                    <a:lstStyle/>
                    <a:p>
                      <a:r>
                        <a:rPr sz="1100"/>
                        <a:t>Not submitted. Colour is on 85.8% and size on 62.7% of SKUs; this restructures what is there as name/value pairs</a:t>
                      </a:r>
                    </a:p>
                  </a:txBody>
                  <a:tcPr/>
                </a:tc>
              </a:tr>
              <a:tr h="644652">
                <a:tc>
                  <a:txBody>
                    <a:bodyPr/>
                    <a:lstStyle/>
                    <a:p>
                      <a:r>
                        <a:rPr sz="1100"/>
                        <a:t>popularity_rank</a:t>
                      </a:r>
                    </a:p>
                  </a:txBody>
                  <a:tcPr/>
                </a:tc>
                <a:tc>
                  <a:txBody>
                    <a:bodyPr/>
                    <a:lstStyle/>
                    <a:p>
                      <a:r>
                        <a:rPr sz="1100"/>
                        <a:t>—</a:t>
                      </a:r>
                    </a:p>
                  </a:txBody>
                  <a:tcPr/>
                </a:tc>
                <a:tc>
                  <a:txBody>
                    <a:bodyPr/>
                    <a:lstStyle/>
                    <a:p>
                      <a:r>
                        <a:rPr sz="1100"/>
                        <a:t>GA / Ads data</a:t>
                      </a:r>
                    </a:p>
                  </a:txBody>
                  <a:tcPr/>
                </a:tc>
                <a:tc>
                  <a:txBody>
                    <a:bodyPr/>
                    <a:lstStyle/>
                    <a:p>
                      <a:r>
                        <a:rPr sz="1100"/>
                        <a:t>Not submitted. Computable from Hobbycraft's own performance data — the same extract W3 needs</a:t>
                      </a:r>
                    </a:p>
                  </a:txBody>
                  <a:tcPr/>
                </a:tc>
              </a:tr>
              <a:tr h="644652">
                <a:tc>
                  <a:txBody>
                    <a:bodyPr/>
                    <a:lstStyle/>
                    <a:p>
                      <a:r>
                        <a:rPr sz="1100"/>
                        <a:t>related_product</a:t>
                      </a:r>
                    </a:p>
                  </a:txBody>
                  <a:tcPr/>
                </a:tc>
                <a:tc>
                  <a:txBody>
                    <a:bodyPr/>
                    <a:lstStyle/>
                    <a:p>
                      <a:r>
                        <a:rPr sz="1100"/>
                        <a:t>—</a:t>
                      </a:r>
                    </a:p>
                  </a:txBody>
                  <a:tcPr/>
                </a:tc>
                <a:tc>
                  <a:txBody>
                    <a:bodyPr/>
                    <a:lstStyle/>
                    <a:p>
                      <a:r>
                        <a:rPr sz="1100"/>
                        <a:t>Relationships</a:t>
                      </a:r>
                    </a:p>
                  </a:txBody>
                  <a:tcPr/>
                </a:tc>
                <a:tc>
                  <a:txBody>
                    <a:bodyPr/>
                    <a:lstStyle/>
                    <a:p>
                      <a:r>
                        <a:rPr sz="1100"/>
                        <a:t>Not submitted. The mechanism for the kit-and-consumable pairing that defines craft retail</a:t>
                      </a:r>
                    </a:p>
                  </a:txBody>
                  <a:tcPr/>
                </a:tc>
              </a:tr>
              <a:tr h="644652">
                <a:tc>
                  <a:txBody>
                    <a:bodyPr/>
                    <a:lstStyle/>
                    <a:p>
                      <a:r>
                        <a:rPr sz="1100"/>
                        <a:t>document_link</a:t>
                      </a:r>
                    </a:p>
                  </a:txBody>
                  <a:tcPr/>
                </a:tc>
                <a:tc>
                  <a:txBody>
                    <a:bodyPr/>
                    <a:lstStyle/>
                    <a:p>
                      <a:r>
                        <a:rPr sz="1100"/>
                        <a:t>—</a:t>
                      </a:r>
                    </a:p>
                  </a:txBody>
                  <a:tcPr/>
                </a:tc>
                <a:tc>
                  <a:txBody>
                    <a:bodyPr/>
                    <a:lstStyle/>
                    <a:p>
                      <a:r>
                        <a:rPr sz="1100"/>
                        <a:t>Stable URLs</a:t>
                      </a:r>
                    </a:p>
                  </a:txBody>
                  <a:tcPr/>
                </a:tc>
                <a:tc>
                  <a:txBody>
                    <a:bodyPr/>
                    <a:lstStyle/>
                    <a:p>
                      <a:r>
                        <a:rPr sz="1100"/>
                        <a:t>Not submitted. Patterns, instructions and material lists where permanent URLs already exist on site</a:t>
                      </a:r>
                    </a:p>
                  </a:txBody>
                  <a:tcPr/>
                </a:tc>
              </a:tr>
              <a:tr h="644652">
                <a:tc>
                  <a:txBody>
                    <a:bodyPr/>
                    <a:lstStyle/>
                    <a:p>
                      <a:r>
                        <a:rPr sz="1100"/>
                        <a:t>question_and_answer</a:t>
                      </a:r>
                    </a:p>
                  </a:txBody>
                  <a:tcPr/>
                </a:tc>
                <a:tc>
                  <a:txBody>
                    <a:bodyPr/>
                    <a:lstStyle/>
                    <a:p>
                      <a:r>
                        <a:rPr sz="1100"/>
                        <a:t>—</a:t>
                      </a:r>
                    </a:p>
                  </a:txBody>
                  <a:tcPr/>
                </a:tc>
                <a:tc>
                  <a:txBody>
                    <a:bodyPr/>
                    <a:lstStyle/>
                    <a:p>
                      <a:r>
                        <a:rPr sz="1100" b="1">
                          <a:solidFill>
                            <a:srgbClr val="2E7D32"/>
                          </a:solidFill>
                        </a:rPr>
                        <a:t>Approved copy</a:t>
                      </a:r>
                    </a:p>
                  </a:txBody>
                  <a:tcPr/>
                </a:tc>
                <a:tc>
                  <a:txBody>
                    <a:bodyPr/>
                    <a:lstStyle/>
                    <a:p>
                      <a:r>
                        <a:rPr sz="1100"/>
                        <a:t>Not submitted. Highest value and the only one carrying real governance risk — compatibility and quantity answers</a:t>
                      </a:r>
                    </a:p>
                  </a:txBody>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Google conversational attributes (cont.)</a:t>
            </a:r>
          </a:p>
        </p:txBody>
      </p:sp>
      <p:sp>
        <p:nvSpPr>
          <p:cNvPr id="4" name="Text Placeholder 3"/>
          <p:cNvSpPr>
            <a:spLocks noGrp="1"/>
          </p:cNvSpPr>
          <p:nvPr>
            <p:ph type="body" idx="1"/>
          </p:nvPr>
        </p:nvSpPr>
        <p:spPr/>
        <p:txBody>
          <a:bodyPr wrap="square"/>
          <a:lstStyle/>
          <a:p>
            <a:r>
              <a:t>Start with the two that need no content</a:t>
            </a:r>
          </a:p>
        </p:txBody>
      </p:sp>
      <p:sp>
        <p:nvSpPr>
          <p:cNvPr id="5" name="Text Placeholder 4"/>
          <p:cNvSpPr>
            <a:spLocks noGrp="1"/>
          </p:cNvSpPr>
          <p:nvPr>
            <p:ph type="body" idx="2"/>
          </p:nvPr>
        </p:nvSpPr>
        <p:spPr/>
        <p:txBody>
          <a:bodyPr wrap="square"/>
          <a:lstStyle/>
          <a:p>
            <a:r>
              <a:t>item_group_title and variant_option are structural: they describe the catalogue rather than make a claim about a product, so neither needs copy sign-off and neither can be wrong in a way that costs anything.</a:t>
            </a:r>
          </a:p>
          <a:p>
            <a:r>
              <a:t>Both are built from fields already in the feed. With 16,720 variant families and deep colour and size coverage, this is a configuration change on a build that is proven in production elsewhere in the portfolio.</a:t>
            </a:r>
          </a:p>
        </p:txBody>
      </p:sp>
      <p:sp>
        <p:nvSpPr>
          <p:cNvPr id="6" name="Text Placeholder 5"/>
          <p:cNvSpPr>
            <a:spLocks noGrp="1"/>
          </p:cNvSpPr>
          <p:nvPr>
            <p:ph type="body" idx="3"/>
          </p:nvPr>
        </p:nvSpPr>
        <p:spPr/>
        <p:txBody>
          <a:bodyPr wrap="square"/>
          <a:lstStyle/>
          <a:p>
            <a:r>
              <a:t>The governance flag — Q&amp;A copy</a:t>
            </a:r>
          </a:p>
        </p:txBody>
      </p:sp>
      <p:sp>
        <p:nvSpPr>
          <p:cNvPr id="7" name="Text Placeholder 6"/>
          <p:cNvSpPr>
            <a:spLocks noGrp="1"/>
          </p:cNvSpPr>
          <p:nvPr>
            <p:ph type="body" idx="4"/>
          </p:nvPr>
        </p:nvSpPr>
        <p:spPr/>
        <p:txBody>
          <a:bodyPr wrap="square"/>
          <a:lstStyle/>
          <a:p>
            <a:r>
              <a:t>question_and_answer is the highest-value attribute and the highest-risk one for a craft retailer. "Will this fit my machine?" and "is this enough for a queen-size quilt?" are the two most-asked questions in the category, and a wrong answer at feed scale drives returns.</a:t>
            </a:r>
          </a:p>
          <a:p>
            <a:r>
              <a:t>Proposal: draft from approved product-page copy only, nothing live without Hobbycraft's sign-off. The roadmap deliberately keeps structural attributes and claims attributes on separate tracks.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ten</a:t>
            </a:r>
          </a:p>
        </p:txBody>
      </p:sp>
      <p:sp>
        <p:nvSpPr>
          <p:cNvPr id="3" name="Title 2"/>
          <p:cNvSpPr>
            <a:spLocks noGrp="1"/>
          </p:cNvSpPr>
          <p:nvPr>
            <p:ph type="title"/>
          </p:nvPr>
        </p:nvSpPr>
        <p:spPr/>
        <p:txBody>
          <a:bodyPr wrap="square"/>
          <a:lstStyle/>
          <a:p>
            <a:r>
              <a:t>Value delivered</a:t>
            </a:r>
          </a:p>
        </p:txBody>
      </p:sp>
      <p:sp>
        <p:nvSpPr>
          <p:cNvPr id="4" name="Text Placeholder 3"/>
          <p:cNvSpPr>
            <a:spLocks noGrp="1"/>
          </p:cNvSpPr>
          <p:nvPr>
            <p:ph type="body" idx="1"/>
          </p:nvPr>
        </p:nvSpPr>
        <p:spPr/>
        <p:txBody>
          <a:bodyPr wrap="square"/>
          <a:lstStyle/>
          <a:p>
            <a:r>
              <a:t>Seven feeds, 24,464 live products, 153 rules — and 437.5 hours delivered against a 288-hour allowance.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Value delivered</a:t>
            </a:r>
          </a:p>
        </p:txBody>
      </p:sp>
      <p:sp>
        <p:nvSpPr>
          <p:cNvPr id="4" name="Text Placeholder 3"/>
          <p:cNvSpPr>
            <a:spLocks noGrp="1"/>
          </p:cNvSpPr>
          <p:nvPr>
            <p:ph type="body" idx="1"/>
          </p:nvPr>
        </p:nvSpPr>
        <p:spPr/>
        <p:txBody>
          <a:bodyPr wrap="square"/>
          <a:lstStyle/>
          <a:p>
            <a:r>
              <a:t>437.5</a:t>
            </a:r>
          </a:p>
        </p:txBody>
      </p:sp>
      <p:sp>
        <p:nvSpPr>
          <p:cNvPr id="5" name="Text Placeholder 4"/>
          <p:cNvSpPr>
            <a:spLocks noGrp="1"/>
          </p:cNvSpPr>
          <p:nvPr>
            <p:ph type="body" idx="2"/>
          </p:nvPr>
        </p:nvSpPr>
        <p:spPr/>
        <p:txBody>
          <a:bodyPr wrap="square"/>
          <a:lstStyle/>
          <a:p>
            <a:r>
              <a:t>Hours delivered in twelve months</a:t>
            </a:r>
          </a:p>
        </p:txBody>
      </p:sp>
      <p:sp>
        <p:nvSpPr>
          <p:cNvPr id="6" name="Text Placeholder 5"/>
          <p:cNvSpPr>
            <a:spLocks noGrp="1"/>
          </p:cNvSpPr>
          <p:nvPr>
            <p:ph type="body" idx="3"/>
          </p:nvPr>
        </p:nvSpPr>
        <p:spPr/>
        <p:txBody>
          <a:bodyPr wrap="square"/>
          <a:lstStyle/>
          <a:p>
            <a:r>
              <a:t>177.5</a:t>
            </a:r>
          </a:p>
        </p:txBody>
      </p:sp>
      <p:sp>
        <p:nvSpPr>
          <p:cNvPr id="7" name="Text Placeholder 6"/>
          <p:cNvSpPr>
            <a:spLocks noGrp="1"/>
          </p:cNvSpPr>
          <p:nvPr>
            <p:ph type="body" idx="4"/>
          </p:nvPr>
        </p:nvSpPr>
        <p:spPr/>
        <p:txBody>
          <a:bodyPr wrap="square"/>
          <a:lstStyle/>
          <a:p>
            <a:r>
              <a:t>Of those, absorbed and not charged</a:t>
            </a:r>
          </a:p>
        </p:txBody>
      </p:sp>
      <p:sp>
        <p:nvSpPr>
          <p:cNvPr id="8" name="Text Placeholder 7"/>
          <p:cNvSpPr>
            <a:spLocks noGrp="1"/>
          </p:cNvSpPr>
          <p:nvPr>
            <p:ph type="body" idx="5"/>
          </p:nvPr>
        </p:nvSpPr>
        <p:spPr/>
        <p:txBody>
          <a:bodyPr wrap="square"/>
          <a:lstStyle/>
          <a:p>
            <a:r>
              <a:t>153</a:t>
            </a:r>
          </a:p>
        </p:txBody>
      </p:sp>
      <p:sp>
        <p:nvSpPr>
          <p:cNvPr id="9" name="Text Placeholder 8"/>
          <p:cNvSpPr>
            <a:spLocks noGrp="1"/>
          </p:cNvSpPr>
          <p:nvPr>
            <p:ph type="body" idx="6"/>
          </p:nvPr>
        </p:nvSpPr>
        <p:spPr/>
        <p:txBody>
          <a:bodyPr wrap="square"/>
          <a:lstStyle/>
          <a:p>
            <a:r>
              <a:t>Live rules holding the catalogue</a:t>
            </a:r>
          </a:p>
        </p:txBody>
      </p:sp>
      <p:sp>
        <p:nvSpPr>
          <p:cNvPr id="10" name="Text Placeholder 9"/>
          <p:cNvSpPr>
            <a:spLocks noGrp="1"/>
          </p:cNvSpPr>
          <p:nvPr>
            <p:ph type="body" idx="7"/>
          </p:nvPr>
        </p:nvSpPr>
        <p:spPr/>
        <p:txBody>
          <a:bodyPr wrap="square"/>
          <a:lstStyle/>
          <a:p>
            <a:r>
              <a:t>381</a:t>
            </a:r>
          </a:p>
        </p:txBody>
      </p:sp>
      <p:sp>
        <p:nvSpPr>
          <p:cNvPr id="11" name="Text Placeholder 10"/>
          <p:cNvSpPr>
            <a:spLocks noGrp="1"/>
          </p:cNvSpPr>
          <p:nvPr>
            <p:ph type="body" idx="8"/>
          </p:nvPr>
        </p:nvSpPr>
        <p:spPr/>
        <p:txBody>
          <a:bodyPr wrap="square"/>
          <a:lstStyle/>
          <a:p>
            <a:r>
              <a:t>Brands normalised in one feed</a:t>
            </a:r>
          </a:p>
        </p:txBody>
      </p:sp>
      <p:sp>
        <p:nvSpPr>
          <p:cNvPr id="12" name="Text Placeholder 11"/>
          <p:cNvSpPr>
            <a:spLocks noGrp="1"/>
          </p:cNvSpPr>
          <p:nvPr>
            <p:ph type="body" idx="9"/>
          </p:nvPr>
        </p:nvSpPr>
        <p:spPr/>
        <p:txBody>
          <a:bodyPr wrap="square"/>
          <a:lstStyle/>
          <a:p>
            <a:r>
              <a:t>571</a:t>
            </a:r>
          </a:p>
        </p:txBody>
      </p:sp>
      <p:sp>
        <p:nvSpPr>
          <p:cNvPr id="13" name="Text Placeholder 12"/>
          <p:cNvSpPr>
            <a:spLocks noGrp="1"/>
          </p:cNvSpPr>
          <p:nvPr>
            <p:ph type="body" idx="10"/>
          </p:nvPr>
        </p:nvSpPr>
        <p:spPr/>
        <p:txBody>
          <a:bodyPr wrap="square"/>
          <a:lstStyle/>
          <a:p>
            <a:r>
              <a:t>New products absorbed per month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Value delivered (cont.)</a:t>
            </a:r>
          </a:p>
        </p:txBody>
      </p:sp>
      <p:sp>
        <p:nvSpPr>
          <p:cNvPr id="4" name="Text Placeholder 3"/>
          <p:cNvSpPr>
            <a:spLocks noGrp="1"/>
          </p:cNvSpPr>
          <p:nvPr>
            <p:ph type="body" idx="1"/>
          </p:nvPr>
        </p:nvSpPr>
        <p:spPr/>
        <p:txBody>
          <a:bodyPr wrap="square"/>
          <a:lstStyle/>
          <a:p>
            <a:r>
              <a:t>The work that compounds</a:t>
            </a:r>
          </a:p>
        </p:txBody>
      </p:sp>
      <p:sp>
        <p:nvSpPr>
          <p:cNvPr id="5" name="Text Placeholder 4"/>
          <p:cNvSpPr>
            <a:spLocks noGrp="1"/>
          </p:cNvSpPr>
          <p:nvPr>
            <p:ph type="body" idx="2"/>
          </p:nvPr>
        </p:nvSpPr>
        <p:spPr/>
        <p:txBody>
          <a:bodyPr wrap="square"/>
          <a:lstStyle/>
          <a:p>
            <a:r>
              <a:t>Almost every mechanic on this account is a rule, not a one-off edit. A product arriving tomorrow gets a brand-led title, a category path 4.18 levels deep, a price band, a stock label and a promotional label without anyone touching it.</a:t>
            </a:r>
          </a:p>
          <a:p>
            <a:r>
              <a:t>That is what absorbs 571 new products a month, across seven feeds, without the retainer moving — and it is why the coverage gaps in chapter 05 are all batch work, never the automated layer.</a:t>
            </a:r>
          </a:p>
        </p:txBody>
      </p:sp>
      <p:sp>
        <p:nvSpPr>
          <p:cNvPr id="6" name="Text Placeholder 5"/>
          <p:cNvSpPr>
            <a:spLocks noGrp="1"/>
          </p:cNvSpPr>
          <p:nvPr>
            <p:ph type="body" idx="3"/>
          </p:nvPr>
        </p:nvSpPr>
        <p:spPr/>
        <p:txBody>
          <a:bodyPr wrap="square"/>
          <a:lstStyle/>
          <a:p>
            <a:r>
              <a:t>The work that never appears as a win</a:t>
            </a:r>
          </a:p>
        </p:txBody>
      </p:sp>
      <p:sp>
        <p:nvSpPr>
          <p:cNvPr id="7" name="Text Placeholder 6"/>
          <p:cNvSpPr>
            <a:spLocks noGrp="1"/>
          </p:cNvSpPr>
          <p:nvPr>
            <p:ph type="body" idx="4"/>
          </p:nvPr>
        </p:nvSpPr>
        <p:spPr/>
        <p:txBody>
          <a:bodyPr wrap="square"/>
          <a:lstStyle/>
          <a:p>
            <a:r>
              <a:rPr sz="1500"/>
              <a:t>A meaningful share of any feed retainer goes on keeping things from breaking, and none of it produces an uplift number:</a:t>
            </a:r>
          </a:p>
          <a:p>
            <a:r>
              <a:rPr sz="1500"/>
              <a:t>Twelve disapproval tasks, twelve category-mapping tasks and nineteen client calls in the last twelve months — the housekeeping that keeps 24,464 products approved.</a:t>
            </a:r>
          </a:p>
          <a:p>
            <a:r>
              <a:rPr sz="1500"/>
              <a:t>GMC disapproval sweeps</a:t>
            </a:r>
          </a:p>
          <a:p>
            <a:r>
              <a:rPr sz="1500"/>
              <a:t>Seven feeds kept in sync</a:t>
            </a:r>
          </a:p>
          <a:p>
            <a:r>
              <a:rPr sz="1500"/>
              <a:t>Four scrapes topping up the feed</a:t>
            </a:r>
          </a:p>
          <a:p>
            <a:r>
              <a:rPr sz="1500"/>
              <a:t>381 brands of naming variance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What the feed is carrying commercially. In the last thirty days the Shopping catalogue returned £1,375,637 in conversion value on £127,674 of spend — a ROAS of 1,077% at a £1.54 cost per acquisition, off 53.2 million impressions and 1.08 million clicks. Over the last year the account has spent £1.36 million through the same feeds. Every one of the gaps in chapter 05 sits on top of that base, not instead of it.</a:t>
            </a:r>
          </a:p>
        </p:txBody>
      </p:sp>
      <p:sp>
        <p:nvSpPr>
          <p:cNvPr id="3" name="Text Placeholder 2"/>
          <p:cNvSpPr>
            <a:spLocks noGrp="1"/>
          </p:cNvSpPr>
          <p:nvPr>
            <p:ph type="body" idx="11"/>
          </p:nvPr>
        </p:nvSpPr>
        <p:spPr/>
        <p:txBody>
          <a:bodyPr wrap="square"/>
          <a:lstStyle/>
          <a:p>
            <a:r>
              <a:t>Value delivered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eleven</a:t>
            </a:r>
          </a:p>
        </p:txBody>
      </p:sp>
      <p:sp>
        <p:nvSpPr>
          <p:cNvPr id="3" name="Title 2"/>
          <p:cNvSpPr>
            <a:spLocks noGrp="1"/>
          </p:cNvSpPr>
          <p:nvPr>
            <p:ph type="title"/>
          </p:nvPr>
        </p:nvSpPr>
        <p:spPr/>
        <p:txBody>
          <a:bodyPr wrap="square"/>
          <a:lstStyle/>
          <a:p>
            <a:r>
              <a:t>Spark AI engine (Tachyon)</a:t>
            </a:r>
          </a:p>
        </p:txBody>
      </p:sp>
      <p:sp>
        <p:nvSpPr>
          <p:cNvPr id="4" name="Text Placeholder 3"/>
          <p:cNvSpPr>
            <a:spLocks noGrp="1"/>
          </p:cNvSpPr>
          <p:nvPr>
            <p:ph type="body" idx="1"/>
          </p:nvPr>
        </p:nvSpPr>
        <p:spPr/>
        <p:txBody>
          <a:bodyPr wrap="square"/>
          <a:lstStyle/>
          <a:p>
            <a:r>
              <a:t>Intent generation, description enrichment and visual attribute harvest — run against 811-character descriptions and a category tree four levels deep.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Spark AI engine (Tachyon)</a:t>
            </a:r>
          </a:p>
        </p:txBody>
      </p:sp>
      <p:sp>
        <p:nvSpPr>
          <p:cNvPr id="4" name="Text Placeholder 3"/>
          <p:cNvSpPr>
            <a:spLocks noGrp="1"/>
          </p:cNvSpPr>
          <p:nvPr>
            <p:ph type="body" idx="1"/>
          </p:nvPr>
        </p:nvSpPr>
        <p:spPr/>
        <p:txBody>
          <a:bodyPr wrap="square"/>
          <a:lstStyle/>
          <a:p>
            <a:r>
              <a:t>Feed extraction</a:t>
            </a:r>
          </a:p>
        </p:txBody>
      </p:sp>
      <p:sp>
        <p:nvSpPr>
          <p:cNvPr id="5" name="Text Placeholder 4"/>
          <p:cNvSpPr>
            <a:spLocks noGrp="1"/>
          </p:cNvSpPr>
          <p:nvPr>
            <p:ph type="body" idx="2"/>
          </p:nvPr>
        </p:nvSpPr>
        <p:spPr/>
        <p:txBody>
          <a:bodyPr wrap="square"/>
          <a:lstStyle/>
          <a:p>
            <a:r>
              <a:t>Tachyon reads live Hobbycraft product data — title, the 811-character description, colour, size, brand, category, price.</a:t>
            </a:r>
          </a:p>
        </p:txBody>
      </p:sp>
      <p:sp>
        <p:nvSpPr>
          <p:cNvPr id="6" name="Text Placeholder 5"/>
          <p:cNvSpPr>
            <a:spLocks noGrp="1"/>
          </p:cNvSpPr>
          <p:nvPr>
            <p:ph type="body" idx="3"/>
          </p:nvPr>
        </p:nvSpPr>
        <p:spPr/>
        <p:txBody>
          <a:bodyPr wrap="square"/>
          <a:lstStyle/>
          <a:p>
            <a:r>
              <a:t>Intent generation</a:t>
            </a:r>
          </a:p>
        </p:txBody>
      </p:sp>
      <p:sp>
        <p:nvSpPr>
          <p:cNvPr id="7" name="Text Placeholder 6"/>
          <p:cNvSpPr>
            <a:spLocks noGrp="1"/>
          </p:cNvSpPr>
          <p:nvPr>
            <p:ph type="body" idx="4"/>
          </p:nvPr>
        </p:nvSpPr>
        <p:spPr/>
        <p:txBody>
          <a:bodyPr wrap="square"/>
          <a:lstStyle/>
          <a:p>
            <a:r>
              <a:t>20–40 long-tail intent phrases per SKU, generated from attributes already in the feed.</a:t>
            </a:r>
          </a:p>
        </p:txBody>
      </p:sp>
      <p:sp>
        <p:nvSpPr>
          <p:cNvPr id="8" name="Text Placeholder 7"/>
          <p:cNvSpPr>
            <a:spLocks noGrp="1"/>
          </p:cNvSpPr>
          <p:nvPr>
            <p:ph type="body" idx="5"/>
          </p:nvPr>
        </p:nvSpPr>
        <p:spPr/>
        <p:txBody>
          <a:bodyPr wrap="square"/>
          <a:lstStyle/>
          <a:p>
            <a:r>
              <a:t>Scoring &amp; validation</a:t>
            </a:r>
          </a:p>
        </p:txBody>
      </p:sp>
      <p:sp>
        <p:nvSpPr>
          <p:cNvPr id="9" name="Text Placeholder 8"/>
          <p:cNvSpPr>
            <a:spLocks noGrp="1"/>
          </p:cNvSpPr>
          <p:nvPr>
            <p:ph type="body" idx="6"/>
          </p:nvPr>
        </p:nvSpPr>
        <p:spPr/>
        <p:txBody>
          <a:bodyPr wrap="square"/>
          <a:lstStyle/>
          <a:p>
            <a:r>
              <a:t>Terms scored against search-term reports; winners selected per SKU.</a:t>
            </a:r>
          </a:p>
        </p:txBody>
      </p:sp>
      <p:sp>
        <p:nvSpPr>
          <p:cNvPr id="10" name="Text Placeholder 9"/>
          <p:cNvSpPr>
            <a:spLocks noGrp="1"/>
          </p:cNvSpPr>
          <p:nvPr>
            <p:ph type="body" idx="7"/>
          </p:nvPr>
        </p:nvSpPr>
        <p:spPr/>
        <p:txBody>
          <a:bodyPr wrap="square"/>
          <a:lstStyle/>
          <a:p>
            <a:r>
              <a:t>Feed injection</a:t>
            </a:r>
          </a:p>
        </p:txBody>
      </p:sp>
      <p:sp>
        <p:nvSpPr>
          <p:cNvPr id="11" name="Text Placeholder 10"/>
          <p:cNvSpPr>
            <a:spLocks noGrp="1"/>
          </p:cNvSpPr>
          <p:nvPr>
            <p:ph type="body" idx="8"/>
          </p:nvPr>
        </p:nvSpPr>
        <p:spPr/>
        <p:txBody>
          <a:bodyPr wrap="square"/>
          <a:lstStyle/>
          <a:p>
            <a:r>
              <a:t>Winning terms embedded in title, description and product highlights — starting with the 13,278 SKUs that carry none.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Spark AI engine (Tachyon) (cont.)</a:t>
            </a:r>
          </a:p>
        </p:txBody>
      </p:sp>
      <p:sp>
        <p:nvSpPr>
          <p:cNvPr id="4" name="Text Placeholder 3"/>
          <p:cNvSpPr>
            <a:spLocks noGrp="1"/>
          </p:cNvSpPr>
          <p:nvPr>
            <p:ph type="body" idx="1"/>
          </p:nvPr>
        </p:nvSpPr>
        <p:spPr/>
        <p:txBody>
          <a:bodyPr wrap="square"/>
          <a:lstStyle/>
          <a:p>
            <a:r>
              <a:rPr sz="1520"/>
              <a:t>Hobbycraft example — Pink and Gold Clay Beads</a:t>
            </a:r>
          </a:p>
        </p:txBody>
      </p:sp>
      <p:sp>
        <p:nvSpPr>
          <p:cNvPr id="5" name="Text Placeholder 4"/>
          <p:cNvSpPr>
            <a:spLocks noGrp="1"/>
          </p:cNvSpPr>
          <p:nvPr>
            <p:ph type="body" idx="2"/>
          </p:nvPr>
        </p:nvSpPr>
        <p:spPr/>
        <p:txBody>
          <a:bodyPr wrap="square"/>
          <a:lstStyle/>
          <a:p>
            <a:r>
              <a:rPr sz="1310"/>
              <a:t>A real SKU from today's feed. Input: Pink · 68g · Jewellery Making &gt; Beads · £5.00 · six highlights, no keywords</a:t>
            </a:r>
          </a:p>
          <a:p>
            <a:r>
              <a:rPr sz="1310"/>
              <a:t>Title today (39 characters):</a:t>
            </a:r>
          </a:p>
          <a:p>
            <a:r>
              <a:rPr sz="1310"/>
              <a:t>"Hobbycraft Pink and Gold Clay Beads 68g"</a:t>
            </a:r>
          </a:p>
          <a:p>
            <a:r>
              <a:rPr sz="1310"/>
              <a:t>Intent terms Tachyon would generate:</a:t>
            </a:r>
          </a:p>
          <a:p>
            <a:r>
              <a:rPr sz="1310"/>
              <a:t>"clay beads for bracelet making" · "pink and gold polymer clay beads 68g" · "letter bead bracelet kit supplies" · "friendship bracelet beads for kids"</a:t>
            </a:r>
          </a:p>
          <a:p>
            <a:r>
              <a:rPr sz="1310"/>
              <a:t>20–40 generated per SKU, top 4–6 used. Note what the existing highlights already say — "Ideal for bracelet making", "Combine with letter beads, charms and more". The occasion and use-case language is on the product page; it is simply not in the title.</a:t>
            </a:r>
          </a:p>
        </p:txBody>
      </p:sp>
      <p:sp>
        <p:nvSpPr>
          <p:cNvPr id="6" name="Text Placeholder 5"/>
          <p:cNvSpPr>
            <a:spLocks noGrp="1"/>
          </p:cNvSpPr>
          <p:nvPr>
            <p:ph type="body" idx="3"/>
          </p:nvPr>
        </p:nvSpPr>
        <p:spPr/>
        <p:txBody>
          <a:bodyPr wrap="square"/>
          <a:lstStyle/>
          <a:p>
            <a:r>
              <a:t>Why the visual harvest matters here</a:t>
            </a:r>
          </a:p>
        </p:txBody>
      </p:sp>
      <p:sp>
        <p:nvSpPr>
          <p:cNvPr id="7" name="Text Placeholder 6"/>
          <p:cNvSpPr>
            <a:spLocks noGrp="1"/>
          </p:cNvSpPr>
          <p:nvPr>
            <p:ph type="body" idx="4"/>
          </p:nvPr>
        </p:nvSpPr>
        <p:spPr/>
        <p:txBody>
          <a:bodyPr wrap="square"/>
          <a:lstStyle/>
          <a:p>
            <a:r>
              <a:rPr sz="1220"/>
              <a:t>Craft is a visual category where the feed's own words run out fast. 79.7% of SKUs already carry two or more images and 25.9% carry five or more — the raw material for vision models is largely in place.</a:t>
            </a:r>
          </a:p>
          <a:p>
            <a:r>
              <a:rPr sz="1220"/>
              <a:t>Vision models read those images for what a craft shopper actually needs: colour accuracy on a 1,000-shade thread range, pattern and finish on fabric, scale on a pack shot. 4,970 SKUs carry only one image, which is where the harvest has least to work with and where the alt-image gap in the audit sits.</a:t>
            </a:r>
          </a:p>
          <a:p>
            <a:r>
              <a:rPr sz="1220"/>
              <a:t>The highlight scrape has already shown what enrichment does here: where it has run, SKUs carry five or six well-formed benefit statements. Tachyon extends the same pattern to the half of the catalogue it has not reached.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Every structural win on this account — required attributes at 100%, a category tree deeper than most retailers manage, seven feeds off one master, six years of rules still applying — is one pattern: fuller, more decomposable data, applied as a rule not a task. Keyword coverage, highlights and the conversational attributes are the next three steps on that same line.</a:t>
            </a:r>
          </a:p>
        </p:txBody>
      </p:sp>
      <p:sp>
        <p:nvSpPr>
          <p:cNvPr id="3" name="Text Placeholder 2"/>
          <p:cNvSpPr>
            <a:spLocks noGrp="1"/>
          </p:cNvSpPr>
          <p:nvPr>
            <p:ph type="body" idx="11"/>
          </p:nvPr>
        </p:nvSpPr>
        <p:spPr/>
        <p:txBody>
          <a:bodyPr wrap="square"/>
          <a:lstStyle/>
          <a:p>
            <a:r>
              <a:t>The through-line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Also on the account</a:t>
            </a:r>
          </a:p>
        </p:txBody>
      </p:sp>
      <p:sp>
        <p:nvSpPr>
          <p:cNvPr id="7" name="Text Placeholder 6"/>
          <p:cNvSpPr>
            <a:spLocks noGrp="1"/>
          </p:cNvSpPr>
          <p:nvPr>
            <p:ph type="body" idx="4"/>
          </p:nvPr>
        </p:nvSpPr>
        <p:spPr/>
        <p:txBody>
          <a:bodyPr wrap="square"/>
          <a:lstStyle/>
          <a:p>
            <a:r>
              <a:t>Steven Opuni — steven@feedspark.com</a:t>
            </a:r>
          </a:p>
          <a:p>
            <a:r>
              <a:t>FeedSpark support — support@feedspark.com</a:t>
            </a:r>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4449</Words>
  <Application>Microsoft Office PowerPoint</Application>
  <PresentationFormat>Widescreen</PresentationFormat>
  <Paragraphs>523</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Inter</vt:lpstr>
      <vt:lpstr>Office Theme</vt:lpstr>
      <vt:lpstr>Superdry × FeedSpark</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Four layers, live on the account today</vt:lpstr>
      <vt:lpstr>Review &amp; project recap</vt:lpstr>
      <vt:lpstr>Where the plan stands</vt:lpstr>
      <vt:lpstr>Action by action — what’s closed</vt:lpstr>
      <vt:lpstr>Action by action — open and parked</vt:lpstr>
      <vt:lpstr>The look-back period</vt:lpstr>
      <vt:lpstr>Sustained delivery, Jul 2024 → Jul 2026</vt:lpstr>
      <vt:lpstr>By activity type</vt:lpstr>
      <vt:lpstr>The task families behind the hours</vt:lpstr>
      <vt:lpstr>The value delivered</vt:lpstr>
      <vt:lpstr>Two years delivered, a third given</vt:lpstr>
      <vt:lpstr>The invested-hours story</vt:lpstr>
      <vt:lpstr>The protection work, quantified</vt:lpstr>
      <vt:lpstr>Automation &amp; readiness</vt:lpstr>
      <vt:lpstr>What runs on rules</vt:lpstr>
      <vt:lpstr>What still needs a hand</vt:lpstr>
      <vt:lpstr>The A/B test archive</vt:lpstr>
      <vt:lpstr>36 tests, read straight</vt:lpstr>
      <vt:lpstr>The archive by test type</vt:lpstr>
      <vt:lpstr>Reading the average straight</vt:lpstr>
      <vt:lpstr>Keyword tests — the results that moved</vt:lpstr>
      <vt:lpstr>Brand in the title — it depends</vt:lpstr>
      <vt:lpstr>External benchmark — retail feeds</vt:lpstr>
      <vt:lpstr>Four launches that woke dormant stock</vt:lpstr>
      <vt:lpstr>Team &amp; ways of working</vt:lpstr>
      <vt:lpstr>One manager, one pod, one cadence</vt:lpstr>
      <vt:lpstr>How work moves</vt:lpstr>
      <vt:lpstr>Feed optimisation score</vt:lpstr>
      <vt:lpstr>Superdry feed optimisation — 70 / 100</vt:lpstr>
      <vt:lpstr>The GB feed, scored — 22,527 SKUs</vt:lpstr>
      <vt:lpstr>Where plan and feed agree — and don’t</vt:lpstr>
      <vt:lpstr>A second internal signal worth flagging</vt:lpstr>
      <vt:lpstr>AI readiness</vt:lpstr>
      <vt:lpstr>Where Superdry sits on the climb</vt:lpstr>
      <vt:lpstr>AI-readiness audit — Superdry GB</vt:lpstr>
      <vt:lpstr>PowerPoint Presentation</vt:lpstr>
      <vt:lpstr>Roadmap — next quarter</vt:lpstr>
      <vt:lpstr>What comes next</vt:lpstr>
      <vt:lpstr>The tests queued for the coming quarter</vt:lpstr>
      <vt:lpstr>The testing queue — medium and low</vt:lpstr>
      <vt:lpstr>PowerPoint Presentation</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1</cp:revision>
  <dcterms:modified xsi:type="dcterms:W3CDTF">2026-08-04T13:18:53Z</dcterms:modified>
</cp:coreProperties>
</file>