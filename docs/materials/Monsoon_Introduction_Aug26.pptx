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Monsoon</a:t>
            </a:r>
          </a:p>
        </p:txBody>
      </p:sp>
      <p:sp>
        <p:nvSpPr>
          <p:cNvPr id="3" name="Subtitle 2"/>
          <p:cNvSpPr>
            <a:spLocks noGrp="1"/>
          </p:cNvSpPr>
          <p:nvPr>
            <p:ph type="subTitle" idx="1"/>
          </p:nvPr>
        </p:nvSpPr>
        <p:spPr/>
        <p:txBody>
          <a:bodyPr wrap="square"/>
          <a:lstStyle/>
          <a:p>
            <a:r>
              <a:t>Introduction · August 2026</a:t>
            </a:r>
          </a:p>
        </p:txBody>
      </p:sp>
      <p:sp>
        <p:nvSpPr>
          <p:cNvPr id="4" name="Text Placeholder 3"/>
          <p:cNvSpPr>
            <a:spLocks noGrp="1"/>
          </p:cNvSpPr>
          <p:nvPr>
            <p:ph type="body" idx="11"/>
          </p:nvPr>
        </p:nvSpPr>
        <p:spPr/>
        <p:txBody>
          <a:bodyPr wrap="square"/>
          <a:lstStyle/>
          <a:p>
            <a:r>
              <a:rPr sz="1150"/>
              <a:t>Client Monsoon · Monsoon Accessorize  ·  Markets UK live · US live · IE, FR, DE in discussion  ·  Cycle Look-back: Feb – Jul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Ten chapters, two sources.</a:t>
            </a:r>
          </a:p>
        </p:txBody>
      </p:sp>
      <p:sp>
        <p:nvSpPr>
          <p:cNvPr id="4" name="Text Placeholder 3"/>
          <p:cNvSpPr>
            <a:spLocks noGrp="1"/>
          </p:cNvSpPr>
          <p:nvPr>
            <p:ph type="body" idx="1"/>
          </p:nvPr>
        </p:nvSpPr>
        <p:spPr/>
        <p:txBody>
          <a:bodyPr wrap="square"/>
          <a:lstStyle/>
          <a:p>
            <a:r>
              <a:t>01  Service scope &amp; scale — 1 group, 2 brands · UK live, US live · 8,948 in-stock GB SKUs</a:t>
            </a:r>
          </a:p>
          <a:p>
            <a:r>
              <a:t>02  Channel coverage — Shopping, PMax, Meta, LIA, Rakuten — and what is not switched on yet</a:t>
            </a:r>
          </a:p>
          <a:p>
            <a:r>
              <a:t>03  Unit / tech stack — FeedHero rules, labels and A/B · Tachyon AI · scrapers and supplemental feeds</a:t>
            </a:r>
          </a:p>
          <a:p>
            <a:r>
              <a:t>04  Team &amp; ways of working — Who runs what, and how a request becomes a live feed change</a:t>
            </a:r>
          </a:p>
          <a:p>
            <a:r>
              <a:t>05  Tech fit — Where the stack already reaches, and the four gaps the live feed shows</a:t>
            </a:r>
          </a:p>
        </p:txBody>
      </p:sp>
      <p:sp>
        <p:nvSpPr>
          <p:cNvPr id="5" name="Text Placeholder 4"/>
          <p:cNvSpPr>
            <a:spLocks noGrp="1"/>
          </p:cNvSpPr>
          <p:nvPr>
            <p:ph type="body" idx="2"/>
          </p:nvPr>
        </p:nvSpPr>
        <p:spPr/>
        <p:txBody>
          <a:bodyPr wrap="square"/>
          <a:lstStyle/>
          <a:p>
            <a:r>
              <a:t>06  Case studies / test wins — 14 quantified keyword and title wins on this account</a:t>
            </a:r>
          </a:p>
          <a:p>
            <a:r>
              <a:t>07  Review &amp; project recap — Feb–Jul 2026, action by action</a:t>
            </a:r>
          </a:p>
          <a:p>
            <a:r>
              <a:t>08  Value delivered — Retainer scope, throughput and the protection work</a:t>
            </a:r>
          </a:p>
          <a:p>
            <a:r>
              <a:t>09  Number of wins / results — The uplift table, honestly scored — including the one that contradicts</a:t>
            </a:r>
          </a:p>
          <a:p>
            <a:r>
              <a:t>10  Roadmap / next quarter — Open priorities and the testing schedule into Peak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One group, two brands, five channels — and a GB catalogue of 8,948 live in-stock SKUs, read from today's feed.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8,948</a:t>
            </a:r>
          </a:p>
        </p:txBody>
      </p:sp>
      <p:sp>
        <p:nvSpPr>
          <p:cNvPr id="5" name="Text Placeholder 4"/>
          <p:cNvSpPr>
            <a:spLocks noGrp="1"/>
          </p:cNvSpPr>
          <p:nvPr>
            <p:ph type="body" idx="2"/>
          </p:nvPr>
        </p:nvSpPr>
        <p:spPr/>
        <p:txBody>
          <a:bodyPr wrap="square"/>
          <a:lstStyle/>
          <a:p>
            <a:r>
              <a:t>Live in-stock GB SKUs, full census — no sampling</a:t>
            </a:r>
          </a:p>
        </p:txBody>
      </p:sp>
      <p:sp>
        <p:nvSpPr>
          <p:cNvPr id="6" name="Text Placeholder 5"/>
          <p:cNvSpPr>
            <a:spLocks noGrp="1"/>
          </p:cNvSpPr>
          <p:nvPr>
            <p:ph type="body" idx="3"/>
          </p:nvPr>
        </p:nvSpPr>
        <p:spPr/>
        <p:txBody>
          <a:bodyPr wrap="square"/>
          <a:lstStyle/>
          <a:p>
            <a:r>
              <a:t>5</a:t>
            </a:r>
          </a:p>
        </p:txBody>
      </p:sp>
      <p:sp>
        <p:nvSpPr>
          <p:cNvPr id="7" name="Text Placeholder 6"/>
          <p:cNvSpPr>
            <a:spLocks noGrp="1"/>
          </p:cNvSpPr>
          <p:nvPr>
            <p:ph type="body" idx="4"/>
          </p:nvPr>
        </p:nvSpPr>
        <p:spPr/>
        <p:txBody>
          <a:bodyPr wrap="square"/>
          <a:lstStyle/>
          <a:p>
            <a:r>
              <a:t>Channels live — Shopping, PMax, Meta, LIA, Rakuten</a:t>
            </a:r>
          </a:p>
        </p:txBody>
      </p:sp>
      <p:sp>
        <p:nvSpPr>
          <p:cNvPr id="8" name="Text Placeholder 7"/>
          <p:cNvSpPr>
            <a:spLocks noGrp="1"/>
          </p:cNvSpPr>
          <p:nvPr>
            <p:ph type="body" idx="5"/>
          </p:nvPr>
        </p:nvSpPr>
        <p:spPr/>
        <p:txBody>
          <a:bodyPr wrap="square"/>
          <a:lstStyle/>
          <a:p>
            <a:r>
              <a:t>32.0</a:t>
            </a:r>
          </a:p>
        </p:txBody>
      </p:sp>
      <p:sp>
        <p:nvSpPr>
          <p:cNvPr id="9" name="Text Placeholder 8"/>
          <p:cNvSpPr>
            <a:spLocks noGrp="1"/>
          </p:cNvSpPr>
          <p:nvPr>
            <p:ph type="body" idx="6"/>
          </p:nvPr>
        </p:nvSpPr>
        <p:spPr/>
        <p:txBody>
          <a:bodyPr wrap="square"/>
          <a:lstStyle/>
          <a:p>
            <a:r>
              <a:t>Scheduled hrs / month, Monsoon retainer</a:t>
            </a:r>
          </a:p>
        </p:txBody>
      </p:sp>
      <p:sp>
        <p:nvSpPr>
          <p:cNvPr id="10" name="Text Placeholder 9"/>
          <p:cNvSpPr>
            <a:spLocks noGrp="1"/>
          </p:cNvSpPr>
          <p:nvPr>
            <p:ph type="body" idx="7"/>
          </p:nvPr>
        </p:nvSpPr>
        <p:spPr/>
        <p:txBody>
          <a:bodyPr wrap="square"/>
          <a:lstStyle/>
          <a:p>
            <a:r>
              <a:t>389</a:t>
            </a:r>
          </a:p>
        </p:txBody>
      </p:sp>
      <p:sp>
        <p:nvSpPr>
          <p:cNvPr id="11" name="Text Placeholder 10"/>
          <p:cNvSpPr>
            <a:spLocks noGrp="1"/>
          </p:cNvSpPr>
          <p:nvPr>
            <p:ph type="body" idx="8"/>
          </p:nvPr>
        </p:nvSpPr>
        <p:spPr/>
        <p:txBody>
          <a:bodyPr wrap="square"/>
          <a:lstStyle/>
          <a:p>
            <a:r>
              <a:t>Tracked initiatives in the project plan</a:t>
            </a:r>
          </a:p>
        </p:txBody>
      </p:sp>
      <p:sp>
        <p:nvSpPr>
          <p:cNvPr id="12" name="Text Placeholder 11"/>
          <p:cNvSpPr>
            <a:spLocks noGrp="1"/>
          </p:cNvSpPr>
          <p:nvPr>
            <p:ph type="body" idx="9"/>
          </p:nvPr>
        </p:nvSpPr>
        <p:spPr/>
        <p:txBody>
          <a:bodyPr wrap="square"/>
          <a:lstStyle/>
          <a:p>
            <a:r>
              <a:t>68/100</a:t>
            </a:r>
          </a:p>
        </p:txBody>
      </p:sp>
      <p:sp>
        <p:nvSpPr>
          <p:cNvPr id="13" name="Text Placeholder 12"/>
          <p:cNvSpPr>
            <a:spLocks noGrp="1"/>
          </p:cNvSpPr>
          <p:nvPr>
            <p:ph type="body" idx="10"/>
          </p:nvPr>
        </p:nvSpPr>
        <p:spPr/>
        <p:txBody>
          <a:bodyPr wrap="square"/>
          <a:lstStyle/>
          <a:p>
            <a:r>
              <a:t>Feed-optimisation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Service scope &amp; scale (cont.)</a:t>
            </a:r>
          </a:p>
        </p:txBody>
      </p:sp>
      <p:sp>
        <p:nvSpPr>
          <p:cNvPr id="4" name="Text Placeholder 3"/>
          <p:cNvSpPr>
            <a:spLocks noGrp="1"/>
          </p:cNvSpPr>
          <p:nvPr>
            <p:ph type="body" idx="1"/>
          </p:nvPr>
        </p:nvSpPr>
        <p:spPr/>
        <p:txBody>
          <a:bodyPr wrap="square"/>
          <a:lstStyle/>
          <a:p>
            <a:r>
              <a:t>Two brands, one team — every mechanic built once</a:t>
            </a:r>
          </a:p>
          <a:p>
            <a:r>
              <a:t>Monsoon and Accessorize run under one account with one team. Work is scoped per brand but almost every mechanic is built once and applied twice: the New In scrape, the PPC and social overlays, and the margin-matrix labelling all appear in the plan as "MON &amp; ACC" items.</a:t>
            </a:r>
          </a:p>
          <a:p>
            <a:r>
              <a:t>Monsoon carries a 32 hrs/month27 hrs/monthRay to confirm before this goes to the agency.</a:t>
            </a:r>
          </a:p>
        </p:txBody>
      </p:sp>
      <p:sp>
        <p:nvSpPr>
          <p:cNvPr id="5" name="Text Placeholder 4"/>
          <p:cNvSpPr>
            <a:spLocks noGrp="1"/>
          </p:cNvSpPr>
          <p:nvPr>
            <p:ph type="body" idx="14"/>
          </p:nvPr>
        </p:nvSpPr>
        <p:spPr/>
        <p:txBody>
          <a:bodyPr wrap="square"/>
          <a:lstStyle/>
          <a:p>
            <a:r>
              <a:t>Why this deck says 8,948 SKUs and the account record says 12,314. They measure different populations, not different facts.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Channel coverage</a:t>
            </a:r>
          </a:p>
        </p:txBody>
      </p:sp>
      <p:sp>
        <p:nvSpPr>
          <p:cNvPr id="4" name="Text Placeholder 3"/>
          <p:cNvSpPr>
            <a:spLocks noGrp="1"/>
          </p:cNvSpPr>
          <p:nvPr>
            <p:ph type="body" idx="1"/>
          </p:nvPr>
        </p:nvSpPr>
        <p:spPr/>
        <p:txBody>
          <a:bodyPr wrap="square"/>
          <a:lstStyle/>
          <a:p>
            <a:r>
              <a:t>Five channels live, one half-landed, and six that have never been switched on — the expansion map in one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a:t>
            </a:r>
          </a:p>
        </p:txBody>
      </p:sp>
      <p:sp>
        <p:nvSpPr>
          <p:cNvPr id="3" name="Text Placeholder 2"/>
          <p:cNvSpPr>
            <a:spLocks noGrp="1"/>
          </p:cNvSpPr>
          <p:nvPr>
            <p:ph type="body" idx="11"/>
          </p:nvPr>
        </p:nvSpPr>
        <p:spPr/>
        <p:txBody>
          <a:bodyPr wrap="square"/>
          <a:lstStyle/>
          <a:p>
            <a:r>
              <a:rPr sz="1600"/>
              <a:t>Status below is evidenced from the project plan and, where the channel has its own feed, from that feed directly.</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1632857"/>
                <a:gridCol w="1959428"/>
                <a:gridCol w="1502228"/>
                <a:gridCol w="5878285"/>
              </a:tblGrid>
              <a:tr h="384048">
                <a:tc>
                  <a:txBody>
                    <a:bodyPr/>
                    <a:lstStyle/>
                    <a:p>
                      <a:r>
                        <a:rPr sz="1300" b="1">
                          <a:solidFill>
                            <a:srgbClr val="FFFFFF"/>
                          </a:solidFill>
                        </a:rPr>
                        <a:t>Channel</a:t>
                      </a:r>
                    </a:p>
                  </a:txBody>
                  <a:tcPr/>
                </a:tc>
                <a:tc>
                  <a:txBody>
                    <a:bodyPr/>
                    <a:lstStyle/>
                    <a:p>
                      <a:r>
                        <a:rPr sz="1300" b="1">
                          <a:solidFill>
                            <a:srgbClr val="FFFFFF"/>
                          </a:solidFill>
                        </a:rPr>
                        <a:t>State</a:t>
                      </a:r>
                    </a:p>
                  </a:txBody>
                  <a:tcPr/>
                </a:tc>
                <a:tc>
                  <a:txBody>
                    <a:bodyPr/>
                    <a:lstStyle/>
                    <a:p>
                      <a:r>
                        <a:rPr sz="1300" b="1">
                          <a:solidFill>
                            <a:srgbClr val="FFFFFF"/>
                          </a:solidFill>
                        </a:rPr>
                        <a:t>Coverage</a:t>
                      </a:r>
                    </a:p>
                  </a:txBody>
                  <a:tcPr/>
                </a:tc>
                <a:tc>
                  <a:txBody>
                    <a:bodyPr/>
                    <a:lstStyle/>
                    <a:p>
                      <a:r>
                        <a:rPr sz="1300" b="1">
                          <a:solidFill>
                            <a:srgbClr val="FFFFFF"/>
                          </a:solidFill>
                        </a:rPr>
                        <a:t>What the evidence says</a:t>
                      </a:r>
                    </a:p>
                  </a:txBody>
                  <a:tcPr/>
                </a:tc>
              </a:tr>
              <a:tr h="426339">
                <a:tc>
                  <a:txBody>
                    <a:bodyPr/>
                    <a:lstStyle/>
                    <a:p>
                      <a:r>
                        <a:rPr sz="1100"/>
                        <a:t>Google Shopping</a:t>
                      </a:r>
                    </a:p>
                  </a:txBody>
                  <a:tcPr/>
                </a:tc>
                <a:tc>
                  <a:txBody>
                    <a:bodyPr/>
                    <a:lstStyle/>
                    <a:p>
                      <a:r>
                        <a:rPr sz="1100"/>
                        <a:t>Optimised</a:t>
                      </a:r>
                    </a:p>
                  </a:txBody>
                  <a:tcPr/>
                </a:tc>
                <a:tc>
                  <a:txBody>
                    <a:bodyPr/>
                    <a:lstStyle/>
                    <a:p>
                      <a:r>
                        <a:rPr sz="1100"/>
                        <a:t>8,948 GB SKUs</a:t>
                      </a:r>
                    </a:p>
                  </a:txBody>
                  <a:tcPr/>
                </a:tc>
                <a:tc>
                  <a:txBody>
                    <a:bodyPr/>
                    <a:lstStyle/>
                    <a:p>
                      <a:r>
                        <a:rPr sz="1100"/>
                        <a:t>The core feed. Titles 100% routed through the auto-optimised-title rule; custom labels, promotions and product types all live on it</a:t>
                      </a:r>
                    </a:p>
                  </a:txBody>
                  <a:tcPr/>
                </a:tc>
              </a:tr>
              <a:tr h="426339">
                <a:tc>
                  <a:txBody>
                    <a:bodyPr/>
                    <a:lstStyle/>
                    <a:p>
                      <a:r>
                        <a:rPr sz="1100"/>
                        <a:t>Performance Max</a:t>
                      </a:r>
                    </a:p>
                  </a:txBody>
                  <a:tcPr/>
                </a:tc>
                <a:tc>
                  <a:txBody>
                    <a:bodyPr/>
                    <a:lstStyle/>
                    <a:p>
                      <a:r>
                        <a:rPr sz="1100" b="1">
                          <a:solidFill>
                            <a:srgbClr val="2E7D32"/>
                          </a:solidFill>
                        </a:rPr>
                        <a:t>Live</a:t>
                      </a:r>
                    </a:p>
                  </a:txBody>
                  <a:tcPr/>
                </a:tc>
                <a:tc>
                  <a:txBody>
                    <a:bodyPr/>
                    <a:lstStyle/>
                    <a:p>
                      <a:r>
                        <a:rPr sz="1100"/>
                        <a:t>Same catalogue</a:t>
                      </a:r>
                    </a:p>
                  </a:txBody>
                  <a:tcPr/>
                </a:tc>
                <a:tc>
                  <a:txBody>
                    <a:bodyPr/>
                    <a:lstStyle/>
                    <a:p>
                      <a:r>
                        <a:rPr sz="1100"/>
                        <a:t>Restructure completed on Accessorize; a PMax-specific short-title rule strips brand and non-fashion size. A PMax vs. traditional-campaign read on Ladies Dresses is in the plan</a:t>
                      </a:r>
                    </a:p>
                  </a:txBody>
                  <a:tcPr/>
                </a:tc>
              </a:tr>
              <a:tr h="426339">
                <a:tc>
                  <a:txBody>
                    <a:bodyPr/>
                    <a:lstStyle/>
                    <a:p>
                      <a:r>
                        <a:rPr sz="1100"/>
                        <a:t>Meta / Commerce Manager</a:t>
                      </a:r>
                    </a:p>
                  </a:txBody>
                  <a:tcPr/>
                </a:tc>
                <a:tc>
                  <a:txBody>
                    <a:bodyPr/>
                    <a:lstStyle/>
                    <a:p>
                      <a:r>
                        <a:rPr sz="1100"/>
                        <a:t>Optimised</a:t>
                      </a:r>
                    </a:p>
                  </a:txBody>
                  <a:tcPr/>
                </a:tc>
                <a:tc>
                  <a:txBody>
                    <a:bodyPr/>
                    <a:lstStyle/>
                    <a:p>
                      <a:r>
                        <a:rPr sz="1100"/>
                        <a:t>Separate catalogue feed</a:t>
                      </a:r>
                    </a:p>
                  </a:txBody>
                  <a:tcPr/>
                </a:tc>
                <a:tc>
                  <a:txBody>
                    <a:bodyPr/>
                    <a:lstStyle/>
                    <a:p>
                      <a:r>
                        <a:rPr sz="1100"/>
                        <a:t>Its own social titles cropped to 65 characters, refresh confirmed at every 2 hours, sale overlay and image cycling built, CL2 carried across for margin labelling</a:t>
                      </a:r>
                    </a:p>
                  </a:txBody>
                  <a:tcPr/>
                </a:tc>
              </a:tr>
              <a:tr h="426339">
                <a:tc>
                  <a:txBody>
                    <a:bodyPr/>
                    <a:lstStyle/>
                    <a:p>
                      <a:r>
                        <a:rPr sz="1100"/>
                        <a:t>LIA — Click &amp; Collect</a:t>
                      </a:r>
                    </a:p>
                  </a:txBody>
                  <a:tcPr/>
                </a:tc>
                <a:tc>
                  <a:txBody>
                    <a:bodyPr/>
                    <a:lstStyle/>
                    <a:p>
                      <a:r>
                        <a:rPr sz="1100"/>
                        <a:t>Accessorize done, Monsoon open</a:t>
                      </a:r>
                    </a:p>
                  </a:txBody>
                  <a:tcPr/>
                </a:tc>
                <a:tc>
                  <a:txBody>
                    <a:bodyPr/>
                    <a:lstStyle/>
                    <a:p>
                      <a:r>
                        <a:rPr sz="1100"/>
                        <a:t>1 brand of 2</a:t>
                      </a:r>
                    </a:p>
                  </a:txBody>
                  <a:tcPr/>
                </a:tc>
                <a:tc>
                  <a:txBody>
                    <a:bodyPr/>
                    <a:lstStyle/>
                    <a:p>
                      <a:r>
                        <a:rPr sz="1100"/>
                        <a:t>Launched in the Accessorize feed. Monsoon needs a nominated store and an inventory check before it can follow — a single unblock, not a build</a:t>
                      </a:r>
                    </a:p>
                  </a:txBody>
                  <a:tcPr/>
                </a:tc>
              </a:tr>
              <a:tr h="426339">
                <a:tc>
                  <a:txBody>
                    <a:bodyPr/>
                    <a:lstStyle/>
                    <a:p>
                      <a:r>
                        <a:rPr sz="1100"/>
                        <a:t>Rakuten (affiliate)</a:t>
                      </a:r>
                    </a:p>
                  </a:txBody>
                  <a:tcPr/>
                </a:tc>
                <a:tc>
                  <a:txBody>
                    <a:bodyPr/>
                    <a:lstStyle/>
                    <a:p>
                      <a:r>
                        <a:rPr sz="1100" b="1">
                          <a:solidFill>
                            <a:srgbClr val="2E7D32"/>
                          </a:solidFill>
                        </a:rPr>
                        <a:t>Live</a:t>
                      </a:r>
                    </a:p>
                  </a:txBody>
                  <a:tcPr/>
                </a:tc>
                <a:tc>
                  <a:txBody>
                    <a:bodyPr/>
                    <a:lstStyle/>
                    <a:p>
                      <a:r>
                        <a:rPr sz="1100"/>
                        <a:t>Shares the social title</a:t>
                      </a:r>
                    </a:p>
                  </a:txBody>
                  <a:tcPr/>
                </a:tc>
                <a:tc>
                  <a:txBody>
                    <a:bodyPr/>
                    <a:lstStyle/>
                    <a:p>
                      <a:r>
                        <a:rPr sz="1100"/>
                        <a:t>Consumes the same 65-character cropped title built for Facebook</a:t>
                      </a:r>
                    </a:p>
                  </a:txBody>
                  <a:tcPr/>
                </a:tc>
              </a:tr>
              <a:tr h="426339">
                <a:tc>
                  <a:txBody>
                    <a:bodyPr/>
                    <a:lstStyle/>
                    <a:p>
                      <a:r>
                        <a:rPr sz="1100"/>
                        <a:t>Microsoft / Bing Shopping</a:t>
                      </a:r>
                    </a:p>
                  </a:txBody>
                  <a:tcPr/>
                </a:tc>
                <a:tc>
                  <a:txBody>
                    <a:bodyPr/>
                    <a:lstStyle/>
                    <a:p>
                      <a:r>
                        <a:rPr sz="1100"/>
                        <a:t>Not in scope</a:t>
                      </a:r>
                    </a:p>
                  </a:txBody>
                  <a:tcPr/>
                </a:tc>
                <a:tc>
                  <a:txBody>
                    <a:bodyPr/>
                    <a:lstStyle/>
                    <a:p>
                      <a:r>
                        <a:rPr sz="1100"/>
                        <a:t>—</a:t>
                      </a:r>
                    </a:p>
                  </a:txBody>
                  <a:tcPr/>
                </a:tc>
                <a:tc>
                  <a:txBody>
                    <a:bodyPr/>
                    <a:lstStyle/>
                    <a:p>
                      <a:r>
                        <a:rPr sz="1100"/>
                        <a:t>No task, feed or reference anywhere in the project plan</a:t>
                      </a:r>
                    </a:p>
                  </a:txBody>
                  <a:tcPr/>
                </a:tc>
              </a:tr>
              <a:tr h="426339">
                <a:tc>
                  <a:txBody>
                    <a:bodyPr/>
                    <a:lstStyle/>
                    <a:p>
                      <a:r>
                        <a:rPr sz="1100"/>
                        <a:t>Pinterest</a:t>
                      </a:r>
                    </a:p>
                  </a:txBody>
                  <a:tcPr/>
                </a:tc>
                <a:tc>
                  <a:txBody>
                    <a:bodyPr/>
                    <a:lstStyle/>
                    <a:p>
                      <a:r>
                        <a:rPr sz="1100"/>
                        <a:t>Not in scope</a:t>
                      </a:r>
                    </a:p>
                  </a:txBody>
                  <a:tcPr/>
                </a:tc>
                <a:tc>
                  <a:txBody>
                    <a:bodyPr/>
                    <a:lstStyle/>
                    <a:p>
                      <a:r>
                        <a:rPr sz="1100"/>
                        <a:t>—</a:t>
                      </a:r>
                    </a:p>
                  </a:txBody>
                  <a:tcPr/>
                </a:tc>
                <a:tc>
                  <a:txBody>
                    <a:bodyPr/>
                    <a:lstStyle/>
                    <a:p>
                      <a:r>
                        <a:rPr sz="1100"/>
                        <a:t>No task, feed or reference anywhere in the project plan</a:t>
                      </a:r>
                    </a:p>
                  </a:txBody>
                  <a:tcPr/>
                </a:tc>
              </a:tr>
              <a:tr h="426339">
                <a:tc>
                  <a:txBody>
                    <a:bodyPr/>
                    <a:lstStyle/>
                    <a:p>
                      <a:r>
                        <a:rPr sz="1100"/>
                        <a:t>TikTok Shop</a:t>
                      </a:r>
                    </a:p>
                  </a:txBody>
                  <a:tcPr/>
                </a:tc>
                <a:tc>
                  <a:txBody>
                    <a:bodyPr/>
                    <a:lstStyle/>
                    <a:p>
                      <a:r>
                        <a:rPr sz="1100"/>
                        <a:t>Not in scope</a:t>
                      </a:r>
                    </a:p>
                  </a:txBody>
                  <a:tcPr/>
                </a:tc>
                <a:tc>
                  <a:txBody>
                    <a:bodyPr/>
                    <a:lstStyle/>
                    <a:p>
                      <a:r>
                        <a:rPr sz="1100"/>
                        <a:t>—</a:t>
                      </a:r>
                    </a:p>
                  </a:txBody>
                  <a:tcPr/>
                </a:tc>
                <a:tc>
                  <a:txBody>
                    <a:bodyPr/>
                    <a:lstStyle/>
                    <a:p>
                      <a:r>
                        <a:rPr sz="1100"/>
                        <a:t>No task, feed or reference anywhere in the project plan</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graphicFrame>
        <p:nvGraphicFramePr>
          <p:cNvPr id="5" name="Table 4"/>
          <p:cNvGraphicFramePr>
            <a:graphicFrameLocks noGrp="1"/>
          </p:cNvGraphicFramePr>
          <p:nvPr/>
        </p:nvGraphicFramePr>
        <p:xfrm>
          <a:off x="612648" y="1847088"/>
          <a:ext cx="10972797" cy="1755648"/>
        </p:xfrm>
        <a:graphic>
          <a:graphicData uri="http://schemas.openxmlformats.org/drawingml/2006/table">
            <a:tbl>
              <a:tblPr firstRow="1" bandRow="1">
                <a:tableStyleId>{5C22544A-7EE6-4342-B048-85BDC9FD1C3A}</a:tableStyleId>
              </a:tblPr>
              <a:tblGrid>
                <a:gridCol w="1564241"/>
                <a:gridCol w="2204158"/>
                <a:gridCol w="805228"/>
                <a:gridCol w="6399170"/>
              </a:tblGrid>
              <a:tr h="384048">
                <a:tc>
                  <a:txBody>
                    <a:bodyPr/>
                    <a:lstStyle/>
                    <a:p>
                      <a:r>
                        <a:rPr sz="1300" b="1">
                          <a:solidFill>
                            <a:srgbClr val="FFFFFF"/>
                          </a:solidFill>
                        </a:rPr>
                        <a:t>Channel</a:t>
                      </a:r>
                    </a:p>
                  </a:txBody>
                  <a:tcPr/>
                </a:tc>
                <a:tc>
                  <a:txBody>
                    <a:bodyPr/>
                    <a:lstStyle/>
                    <a:p>
                      <a:r>
                        <a:rPr sz="1300" b="1">
                          <a:solidFill>
                            <a:srgbClr val="FFFFFF"/>
                          </a:solidFill>
                        </a:rPr>
                        <a:t>State</a:t>
                      </a:r>
                    </a:p>
                  </a:txBody>
                  <a:tcPr/>
                </a:tc>
                <a:tc>
                  <a:txBody>
                    <a:bodyPr/>
                    <a:lstStyle/>
                    <a:p>
                      <a:r>
                        <a:rPr sz="1300" b="1">
                          <a:solidFill>
                            <a:srgbClr val="FFFFFF"/>
                          </a:solidFill>
                        </a:rPr>
                        <a:t>Coverage</a:t>
                      </a:r>
                    </a:p>
                  </a:txBody>
                  <a:tcPr/>
                </a:tc>
                <a:tc>
                  <a:txBody>
                    <a:bodyPr/>
                    <a:lstStyle/>
                    <a:p>
                      <a:r>
                        <a:rPr sz="1300" b="1">
                          <a:solidFill>
                            <a:srgbClr val="FFFFFF"/>
                          </a:solidFill>
                        </a:rPr>
                        <a:t>What the evidence says</a:t>
                      </a:r>
                    </a:p>
                  </a:txBody>
                  <a:tcPr/>
                </a:tc>
              </a:tr>
              <a:tr h="685800">
                <a:tc>
                  <a:txBody>
                    <a:bodyPr/>
                    <a:lstStyle/>
                    <a:p>
                      <a:r>
                        <a:rPr sz="1100"/>
                        <a:t>Partnerize / AWIN</a:t>
                      </a:r>
                    </a:p>
                  </a:txBody>
                  <a:tcPr/>
                </a:tc>
                <a:tc>
                  <a:txBody>
                    <a:bodyPr/>
                    <a:lstStyle/>
                    <a:p>
                      <a:r>
                        <a:rPr sz="1100"/>
                        <a:t>Not in scope</a:t>
                      </a:r>
                    </a:p>
                  </a:txBody>
                  <a:tcPr/>
                </a:tc>
                <a:tc>
                  <a:txBody>
                    <a:bodyPr/>
                    <a:lstStyle/>
                    <a:p>
                      <a:r>
                        <a:rPr sz="1100"/>
                        <a:t>—</a:t>
                      </a:r>
                    </a:p>
                  </a:txBody>
                  <a:tcPr/>
                </a:tc>
                <a:tc>
                  <a:txBody>
                    <a:bodyPr/>
                    <a:lstStyle/>
                    <a:p>
                      <a:r>
                        <a:rPr sz="1100"/>
                        <a:t>Rakuten is the only affiliate network evidenced</a:t>
                      </a:r>
                    </a:p>
                  </a:txBody>
                  <a:tcPr/>
                </a:tc>
              </a:tr>
              <a:tr h="685800">
                <a:tc>
                  <a:txBody>
                    <a:bodyPr/>
                    <a:lstStyle/>
                    <a:p>
                      <a:r>
                        <a:rPr sz="1100"/>
                        <a:t>ChatGPT / agentic feed</a:t>
                      </a:r>
                    </a:p>
                  </a:txBody>
                  <a:tcPr/>
                </a:tc>
                <a:tc>
                  <a:txBody>
                    <a:bodyPr/>
                    <a:lstStyle/>
                    <a:p>
                      <a:r>
                        <a:rPr sz="1100"/>
                        <a:t>Proposed, awaiting confirmation</a:t>
                      </a:r>
                    </a:p>
                  </a:txBody>
                  <a:tcPr/>
                </a:tc>
                <a:tc>
                  <a:txBody>
                    <a:bodyPr/>
                    <a:lstStyle/>
                    <a:p>
                      <a:r>
                        <a:rPr sz="1100"/>
                        <a:t>—</a:t>
                      </a:r>
                    </a:p>
                  </a:txBody>
                  <a:tcPr/>
                </a:tc>
                <a:tc>
                  <a:txBody>
                    <a:bodyPr/>
                    <a:lstStyle/>
                    <a:p>
                      <a:r>
                        <a:rPr sz="1100"/>
                        <a:t>"FS to confirm ChatGPT feed package" is open in the plan, and a US short-description A/B test for generative surfaces is scoped</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Channel coverage (cont.)</a:t>
            </a:r>
          </a:p>
        </p:txBody>
      </p:sp>
      <p:sp>
        <p:nvSpPr>
          <p:cNvPr id="4" name="Text Placeholder 3"/>
          <p:cNvSpPr>
            <a:spLocks noGrp="1"/>
          </p:cNvSpPr>
          <p:nvPr>
            <p:ph type="body" idx="1"/>
          </p:nvPr>
        </p:nvSpPr>
        <p:spPr/>
        <p:txBody>
          <a:bodyPr wrap="square"/>
          <a:lstStyle/>
          <a:p>
            <a:r>
              <a:t>One unblock takes LIA to both brands</a:t>
            </a:r>
          </a:p>
        </p:txBody>
      </p:sp>
      <p:sp>
        <p:nvSpPr>
          <p:cNvPr id="5" name="Text Placeholder 4"/>
          <p:cNvSpPr>
            <a:spLocks noGrp="1"/>
          </p:cNvSpPr>
          <p:nvPr>
            <p:ph type="body" idx="2"/>
          </p:nvPr>
        </p:nvSpPr>
        <p:spPr/>
        <p:txBody>
          <a:bodyPr wrap="square"/>
          <a:lstStyle/>
          <a:p>
            <a:r>
              <a:t>LIA is already proven on this account — it is live in the Accessorize feed. Monsoon is not blocked on a build; it is blocked on a nominated store and an inventory check. That makes it the cheapest channel expansion available, and it is sitting open in the plan today.</a:t>
            </a:r>
          </a:p>
        </p:txBody>
      </p:sp>
      <p:sp>
        <p:nvSpPr>
          <p:cNvPr id="6" name="Text Placeholder 5"/>
          <p:cNvSpPr>
            <a:spLocks noGrp="1"/>
          </p:cNvSpPr>
          <p:nvPr>
            <p:ph type="body" idx="3"/>
          </p:nvPr>
        </p:nvSpPr>
        <p:spPr/>
        <p:txBody>
          <a:bodyPr wrap="square"/>
          <a:lstStyle/>
          <a:p>
            <a:r>
              <a:rPr sz="1639"/>
              <a:t>The six unlit channels are a scoping question</a:t>
            </a:r>
          </a:p>
        </p:txBody>
      </p:sp>
      <p:sp>
        <p:nvSpPr>
          <p:cNvPr id="7" name="Text Placeholder 6"/>
          <p:cNvSpPr>
            <a:spLocks noGrp="1"/>
          </p:cNvSpPr>
          <p:nvPr>
            <p:ph type="body" idx="4"/>
          </p:nvPr>
        </p:nvSpPr>
        <p:spPr/>
        <p:txBody>
          <a:bodyPr wrap="square"/>
          <a:lstStyle/>
          <a:p>
            <a:r>
              <a:t>Bing, Pinterest, TikTok, Partnerize and AWIN return zero hits across the whole project plan and no feed exists for any of them. Marked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Unit / tech stack</a:t>
            </a:r>
          </a:p>
        </p:txBody>
      </p:sp>
      <p:sp>
        <p:nvSpPr>
          <p:cNvPr id="4" name="Text Placeholder 3"/>
          <p:cNvSpPr>
            <a:spLocks noGrp="1"/>
          </p:cNvSpPr>
          <p:nvPr>
            <p:ph type="body" idx="1"/>
          </p:nvPr>
        </p:nvSpPr>
        <p:spPr/>
        <p:txBody>
          <a:bodyPr wrap="square"/>
          <a:lstStyle/>
          <a:p>
            <a:r>
              <a:t>Four layers, and exactly how much of each is switched on for Monsoon — measured on the feed, not described from the brochure.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Unit / tech stack</a:t>
            </a:r>
          </a:p>
        </p:txBody>
      </p:sp>
      <p:sp>
        <p:nvSpPr>
          <p:cNvPr id="3" name="Text Placeholder 2"/>
          <p:cNvSpPr>
            <a:spLocks noGrp="1"/>
          </p:cNvSpPr>
          <p:nvPr>
            <p:ph type="body" idx="13"/>
          </p:nvPr>
        </p:nvSpPr>
        <p:spPr/>
        <p:txBody>
          <a:bodyPr wrap="square"/>
          <a:lstStyle/>
          <a:p>
            <a:r>
              <a:t>Every percentage on this page is read from today's live GB feed.</a:t>
            </a:r>
          </a:p>
        </p:txBody>
      </p:sp>
      <p:sp>
        <p:nvSpPr>
          <p:cNvPr id="4" name="Text Placeholder 3"/>
          <p:cNvSpPr>
            <a:spLocks noGrp="1"/>
          </p:cNvSpPr>
          <p:nvPr>
            <p:ph type="body" idx="1"/>
          </p:nvPr>
        </p:nvSpPr>
        <p:spPr/>
        <p:txBody>
          <a:bodyPr wrap="square"/>
          <a:lstStyle/>
          <a:p>
            <a:r>
              <a:rPr sz="1880"/>
              <a:t>FeedHero — rules &amp; auto-optimised titles</a:t>
            </a:r>
          </a:p>
        </p:txBody>
      </p:sp>
      <p:sp>
        <p:nvSpPr>
          <p:cNvPr id="5" name="Text Placeholder 4"/>
          <p:cNvSpPr>
            <a:spLocks noGrp="1"/>
          </p:cNvSpPr>
          <p:nvPr>
            <p:ph type="body" idx="2"/>
          </p:nvPr>
        </p:nvSpPr>
        <p:spPr/>
        <p:txBody>
          <a:bodyPr wrap="square"/>
          <a:lstStyle/>
          <a:p>
            <a:r>
              <a:t>Every SKU in the feed carries a rule-generated title: 8,947 of 8,948 have a populated auto_optimised_title, and FeedHero's own title flag reads 100% processed across the catalogue.</a:t>
            </a:r>
          </a:p>
          <a:p>
            <a:r>
              <a:t>Reach is not the constraint here. Chapter 05 shows what those titles actually measure at.</a:t>
            </a:r>
          </a:p>
        </p:txBody>
      </p:sp>
      <p:sp>
        <p:nvSpPr>
          <p:cNvPr id="6" name="Text Placeholder 5"/>
          <p:cNvSpPr>
            <a:spLocks noGrp="1"/>
          </p:cNvSpPr>
          <p:nvPr>
            <p:ph type="body" idx="3"/>
          </p:nvPr>
        </p:nvSpPr>
        <p:spPr/>
        <p:txBody>
          <a:bodyPr wrap="square"/>
          <a:lstStyle/>
          <a:p>
            <a:r>
              <a:t>Custom labels — one slot left empty</a:t>
            </a:r>
          </a:p>
        </p:txBody>
      </p:sp>
      <p:sp>
        <p:nvSpPr>
          <p:cNvPr id="7" name="Text Placeholder 6"/>
          <p:cNvSpPr>
            <a:spLocks noGrp="1"/>
          </p:cNvSpPr>
          <p:nvPr>
            <p:ph type="body" idx="4"/>
          </p:nvPr>
        </p:nvSpPr>
        <p:spPr/>
        <p:txBody>
          <a:bodyPr wrap="square"/>
          <a:lstStyle/>
          <a:p>
            <a:r>
              <a:rPr sz="1500"/>
              <a:t>Four of five label slots carry real values: CL0 New In (48.9%, 4,380 SKUs), CL2 price status (99.3% — Full Price, Clearance, Promo, Sale), CL3 performance flags (37.7% — Low Performing and Zombie, split Kids/Ladies), CL4 occasion (27.6% — Kids and Ladies Occasion Wear, BTS).</a:t>
            </a:r>
          </a:p>
          <a:p>
            <a:r>
              <a:rPr sz="1500"/>
              <a:t>CL1 is 0% populated — and that matches the plan exactly: the open task "Margin data — review matrix for High/Low ROAS vs. Margin — MON CL1" is the slot waiting to be filled. An empty label here is a queued workstream, not an oversight.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Unit / tech stack (cont.)</a:t>
            </a:r>
          </a:p>
        </p:txBody>
      </p:sp>
      <p:sp>
        <p:nvSpPr>
          <p:cNvPr id="4" name="Text Placeholder 3"/>
          <p:cNvSpPr>
            <a:spLocks noGrp="1"/>
          </p:cNvSpPr>
          <p:nvPr>
            <p:ph type="body" idx="1"/>
          </p:nvPr>
        </p:nvSpPr>
        <p:spPr/>
        <p:txBody>
          <a:bodyPr wrap="square"/>
          <a:lstStyle/>
          <a:p>
            <a:r>
              <a:t>Tachyon AI — proven, barely deployed</a:t>
            </a:r>
          </a:p>
        </p:txBody>
      </p:sp>
      <p:sp>
        <p:nvSpPr>
          <p:cNvPr id="5" name="Text Placeholder 4"/>
          <p:cNvSpPr>
            <a:spLocks noGrp="1"/>
          </p:cNvSpPr>
          <p:nvPr>
            <p:ph type="body" idx="2"/>
          </p:nvPr>
        </p:nvSpPr>
        <p:spPr/>
        <p:txBody>
          <a:bodyPr wrap="square"/>
          <a:lstStyle/>
          <a:p>
            <a:r>
              <a:rPr sz="1500"/>
              <a:t>FeedHero's own flags say how far each AI lane has reached across the live catalogue: keyword enrichment on 410 SKUs (4.6%), description enrichment on 360 (4.0%), image work on 110 (1.2%), and category enrichment on 0.</a:t>
            </a:r>
          </a:p>
          <a:p>
            <a:r>
              <a:rPr sz="1500"/>
              <a:t>AI-enriched fields (highlights and details) were signed off as complete in April, and two AI A/B tests are live right now — Monsoon Dresses and Accessorize Bags, full-price only. The engine works; the catalogue has not been run through it yet.</a:t>
            </a:r>
          </a:p>
        </p:txBody>
      </p:sp>
      <p:sp>
        <p:nvSpPr>
          <p:cNvPr id="6" name="Text Placeholder 5"/>
          <p:cNvSpPr>
            <a:spLocks noGrp="1"/>
          </p:cNvSpPr>
          <p:nvPr>
            <p:ph type="body" idx="3"/>
          </p:nvPr>
        </p:nvSpPr>
        <p:spPr/>
        <p:txBody>
          <a:bodyPr wrap="square"/>
          <a:lstStyle/>
          <a:p>
            <a:r>
              <a:t>Scrapers &amp; supplemental feeds</a:t>
            </a:r>
          </a:p>
        </p:txBody>
      </p:sp>
      <p:sp>
        <p:nvSpPr>
          <p:cNvPr id="7" name="Text Placeholder 6"/>
          <p:cNvSpPr>
            <a:spLocks noGrp="1"/>
          </p:cNvSpPr>
          <p:nvPr>
            <p:ph type="body" idx="4"/>
          </p:nvPr>
        </p:nvSpPr>
        <p:spPr/>
        <p:txBody>
          <a:bodyPr wrap="square"/>
          <a:lstStyle/>
          <a:p>
            <a:r>
              <a:t>Where Monsoon's ecommerce platform does not expose a field, FeedSpark scrapes it. The New In flag behind CL0 is scraped from Monsoon and Accessorize PLPs; a second scrape populates CL4 for social and PPC.</a:t>
            </a:r>
          </a:p>
          <a:p>
            <a:r>
              <a:t>A duplicate feed carrying overlaid imagery runs alongside the main one on the same content_id values, so creative can change without touching the primary catalogue.</a:t>
            </a:r>
          </a:p>
        </p:txBody>
      </p:sp>
      <p:sp>
        <p:nvSpPr>
          <p:cNvPr id="8" name="Text Placeholder 7"/>
          <p:cNvSpPr>
            <a:spLocks noGrp="1"/>
          </p:cNvSpPr>
          <p:nvPr>
            <p:ph type="body" idx="14"/>
          </p:nvPr>
        </p:nvSpPr>
        <p:spPr/>
        <p:txBody>
          <a:bodyPr wrap="square"/>
          <a:lstStyle/>
          <a:p>
            <a:r>
              <a:rPr sz="1140"/>
              <a:t>Why keywords read 4.6% here and 4.9% in chapter 05. This page uses FeedHero's own processing flag — SKUs its keyword job has run against (410).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3010"/>
              <a:t>Nothing here is missing. Every layer is built, wired and proven on live SKUs — titles at 100%, labels on four slots, AI enrichment tested. The gap on Monsoon is coverage, not capability — a much cheaper problem than the alternative.</a:t>
            </a:r>
          </a:p>
        </p:txBody>
      </p:sp>
      <p:sp>
        <p:nvSpPr>
          <p:cNvPr id="3" name="Text Placeholder 2"/>
          <p:cNvSpPr>
            <a:spLocks noGrp="1"/>
          </p:cNvSpPr>
          <p:nvPr>
            <p:ph type="body" idx="11"/>
          </p:nvPr>
        </p:nvSpPr>
        <p:spPr/>
        <p:txBody>
          <a:bodyPr wrap="square"/>
          <a:lstStyle/>
          <a:p>
            <a:r>
              <a:t>What the stack tells you about this account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A London account lead, a dedicated content team, and a request path that ends in a live feed change — usually the same week.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Account management sits in London</a:t>
            </a:r>
          </a:p>
        </p:txBody>
      </p:sp>
      <p:sp>
        <p:nvSpPr>
          <p:cNvPr id="5" name="Text Placeholder 4"/>
          <p:cNvSpPr>
            <a:spLocks noGrp="1"/>
          </p:cNvSpPr>
          <p:nvPr>
            <p:ph type="body" idx="2"/>
          </p:nvPr>
        </p:nvSpPr>
        <p:spPr/>
        <p:txBody>
          <a:bodyPr wrap="square"/>
          <a:lstStyle/>
          <a:p>
            <a:r>
              <a:rPr sz="1500"/>
              <a:t>Ray Vũ leads the account and owns the commercial relationship, the roadmap and the weekly cadence. Ezgi runs day-to-day feed execution across both brands — overlays, labels, promotions and the A/B queue. Steven and Matt come in on labelling architecture and AI/visual work respectively.</a:t>
            </a:r>
          </a:p>
          <a:p>
            <a:r>
              <a:rPr sz="1500"/>
              <a:t>Across the last six months of the plan, Ray owns 16 of the 32 most recent task lines and Ezgi 8 — the account is genuinely run by two named people, not a rota.</a:t>
            </a:r>
          </a:p>
        </p:txBody>
      </p:sp>
      <p:sp>
        <p:nvSpPr>
          <p:cNvPr id="6" name="Text Placeholder 5"/>
          <p:cNvSpPr>
            <a:spLocks noGrp="1"/>
          </p:cNvSpPr>
          <p:nvPr>
            <p:ph type="body" idx="3"/>
          </p:nvPr>
        </p:nvSpPr>
        <p:spPr/>
        <p:txBody>
          <a:bodyPr wrap="square"/>
          <a:lstStyle/>
          <a:p>
            <a:r>
              <a:rPr sz="1639"/>
              <a:t>The ASPL content team does the volume work</a:t>
            </a:r>
          </a:p>
        </p:txBody>
      </p:sp>
      <p:sp>
        <p:nvSpPr>
          <p:cNvPr id="7" name="Text Placeholder 6"/>
          <p:cNvSpPr>
            <a:spLocks noGrp="1"/>
          </p:cNvSpPr>
          <p:nvPr>
            <p:ph type="body" idx="4"/>
          </p:nvPr>
        </p:nvSpPr>
        <p:spPr/>
        <p:txBody>
          <a:bodyPr wrap="square"/>
          <a:lstStyle/>
          <a:p>
            <a:r>
              <a:t>Keyword research, competitor lists and title testing run through FeedSpark's ASPL content team — Isa and Dino between them own almost every quantified keyword win in chapter 06, with Daisy, Mike, Tony, May, Adriana, Vlada and Kyriacos on category rollouts and market launches.</a:t>
            </a:r>
          </a:p>
          <a:p>
            <a:r>
              <a:t>That split is why a keyword programme this size is affordable: strategy and client contact stay senior and in London, execution scales through a dedicated team.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Team &amp; ways of working (cont.)</a:t>
            </a:r>
          </a:p>
        </p:txBody>
      </p:sp>
      <p:sp>
        <p:nvSpPr>
          <p:cNvPr id="4" name="Text Placeholder 3"/>
          <p:cNvSpPr>
            <a:spLocks noGrp="1"/>
          </p:cNvSpPr>
          <p:nvPr>
            <p:ph type="body" idx="14"/>
          </p:nvPr>
        </p:nvSpPr>
        <p:spPr/>
        <p:txBody>
          <a:bodyPr wrap="square"/>
          <a:lstStyle/>
          <a:p>
            <a:r>
              <a:rPr sz="1140"/>
              <a:t>Contacts named in the plan — Henry (trading calendar, low performers), Liam (margin, return rates), Marie (stores, site restructure), and the Precis team.</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1936376"/>
                <a:gridCol w="1775011"/>
                <a:gridCol w="7261411"/>
              </a:tblGrid>
              <a:tr h="384048">
                <a:tc>
                  <a:txBody>
                    <a:bodyPr/>
                    <a:lstStyle/>
                    <a:p>
                      <a:r>
                        <a:rPr sz="1300" b="1">
                          <a:solidFill>
                            <a:srgbClr val="FFFFFF"/>
                          </a:solidFill>
                        </a:rPr>
                        <a:t>Stage</a:t>
                      </a:r>
                    </a:p>
                  </a:txBody>
                  <a:tcPr/>
                </a:tc>
                <a:tc>
                  <a:txBody>
                    <a:bodyPr/>
                    <a:lstStyle/>
                    <a:p>
                      <a:r>
                        <a:rPr sz="1300" b="1">
                          <a:solidFill>
                            <a:srgbClr val="FFFFFF"/>
                          </a:solidFill>
                        </a:rPr>
                        <a:t>Who</a:t>
                      </a:r>
                    </a:p>
                  </a:txBody>
                  <a:tcPr/>
                </a:tc>
                <a:tc>
                  <a:txBody>
                    <a:bodyPr/>
                    <a:lstStyle/>
                    <a:p>
                      <a:r>
                        <a:rPr sz="1300" b="1">
                          <a:solidFill>
                            <a:srgbClr val="FFFFFF"/>
                          </a:solidFill>
                        </a:rPr>
                        <a:t>What happens</a:t>
                      </a:r>
                    </a:p>
                  </a:txBody>
                  <a:tcPr/>
                </a:tc>
              </a:tr>
              <a:tr h="568452">
                <a:tc>
                  <a:txBody>
                    <a:bodyPr/>
                    <a:lstStyle/>
                    <a:p>
                      <a:r>
                        <a:rPr sz="1100"/>
                        <a:t>1 · Request lands</a:t>
                      </a:r>
                    </a:p>
                  </a:txBody>
                  <a:tcPr/>
                </a:tc>
                <a:tc>
                  <a:txBody>
                    <a:bodyPr/>
                    <a:lstStyle/>
                    <a:p>
                      <a:r>
                        <a:rPr sz="1100"/>
                        <a:t>Client or agency → Ray</a:t>
                      </a:r>
                    </a:p>
                  </a:txBody>
                  <a:tcPr/>
                </a:tc>
                <a:tc>
                  <a:txBody>
                    <a:bodyPr/>
                    <a:lstStyle/>
                    <a:p>
                      <a:r>
                        <a:rPr sz="1100"/>
                        <a:t>Anything from a trading-calendar promotion to a new market. Logged as a numbered line in the shared project plan, with an owner and a status</a:t>
                      </a:r>
                    </a:p>
                  </a:txBody>
                  <a:tcPr/>
                </a:tc>
              </a:tr>
              <a:tr h="568452">
                <a:tc>
                  <a:txBody>
                    <a:bodyPr/>
                    <a:lstStyle/>
                    <a:p>
                      <a:r>
                        <a:rPr sz="1100"/>
                        <a:t>2 · Scoped &amp; sequenced</a:t>
                      </a:r>
                    </a:p>
                  </a:txBody>
                  <a:tcPr/>
                </a:tc>
                <a:tc>
                  <a:txBody>
                    <a:bodyPr/>
                    <a:lstStyle/>
                    <a:p>
                      <a:r>
                        <a:rPr sz="1100"/>
                        <a:t>Ray</a:t>
                      </a:r>
                    </a:p>
                  </a:txBody>
                  <a:tcPr/>
                </a:tc>
                <a:tc>
                  <a:txBody>
                    <a:bodyPr/>
                    <a:lstStyle/>
                    <a:p>
                      <a:r>
                        <a:rPr sz="1100"/>
                        <a:t>Sized against the retainer, placed in the roadmap, and flagged if it needs client data (margin file, store list, trading calendar) before it can start</a:t>
                      </a:r>
                    </a:p>
                  </a:txBody>
                  <a:tcPr/>
                </a:tc>
              </a:tr>
              <a:tr h="568452">
                <a:tc>
                  <a:txBody>
                    <a:bodyPr/>
                    <a:lstStyle/>
                    <a:p>
                      <a:r>
                        <a:rPr sz="1100"/>
                        <a:t>3 · Built in FeedHero</a:t>
                      </a:r>
                    </a:p>
                  </a:txBody>
                  <a:tcPr/>
                </a:tc>
                <a:tc>
                  <a:txBody>
                    <a:bodyPr/>
                    <a:lstStyle/>
                    <a:p>
                      <a:r>
                        <a:rPr sz="1100"/>
                        <a:t>Ezgi / Steven</a:t>
                      </a:r>
                    </a:p>
                  </a:txBody>
                  <a:tcPr/>
                </a:tc>
                <a:tc>
                  <a:txBody>
                    <a:bodyPr/>
                    <a:lstStyle/>
                    <a:p>
                      <a:r>
                        <a:rPr sz="1100"/>
                        <a:t>Rule, label or overlay built against the live feed. Nothing is hand-edited per SKU — every change is a rule that keeps applying</a:t>
                      </a:r>
                    </a:p>
                  </a:txBody>
                  <a:tcPr/>
                </a:tc>
              </a:tr>
              <a:tr h="568452">
                <a:tc>
                  <a:txBody>
                    <a:bodyPr/>
                    <a:lstStyle/>
                    <a:p>
                      <a:r>
                        <a:rPr sz="1100"/>
                        <a:t>4 · Researched &amp; written</a:t>
                      </a:r>
                    </a:p>
                  </a:txBody>
                  <a:tcPr/>
                </a:tc>
                <a:tc>
                  <a:txBody>
                    <a:bodyPr/>
                    <a:lstStyle/>
                    <a:p>
                      <a:r>
                        <a:rPr sz="1100"/>
                        <a:t>ASPL content team</a:t>
                      </a:r>
                    </a:p>
                  </a:txBody>
                  <a:tcPr/>
                </a:tc>
                <a:tc>
                  <a:txBody>
                    <a:bodyPr/>
                    <a:lstStyle/>
                    <a:p>
                      <a:r>
                        <a:rPr sz="1100"/>
                        <a:t>Where the change needs language — keywords, competitor terms, titles — the content team researches and drafts it</a:t>
                      </a:r>
                    </a:p>
                  </a:txBody>
                  <a:tcPr/>
                </a:tc>
              </a:tr>
              <a:tr h="568452">
                <a:tc>
                  <a:txBody>
                    <a:bodyPr/>
                    <a:lstStyle/>
                    <a:p>
                      <a:r>
                        <a:rPr sz="1100"/>
                        <a:t>5 · Tested, then rolled</a:t>
                      </a:r>
                    </a:p>
                  </a:txBody>
                  <a:tcPr/>
                </a:tc>
                <a:tc>
                  <a:txBody>
                    <a:bodyPr/>
                    <a:lstStyle/>
                    <a:p>
                      <a:r>
                        <a:rPr sz="1100"/>
                        <a:t>Ezgi / Ray</a:t>
                      </a:r>
                    </a:p>
                  </a:txBody>
                  <a:tcPr/>
                </a:tc>
                <a:tc>
                  <a:txBody>
                    <a:bodyPr/>
                    <a:lstStyle/>
                    <a:p>
                      <a:r>
                        <a:rPr sz="1100"/>
                        <a:t>Material changes go out as an A/B pair before they become BAU. Chapter 09 is the archive of those reads</a:t>
                      </a:r>
                    </a:p>
                  </a:txBody>
                  <a:tcPr/>
                </a:tc>
              </a:tr>
              <a:tr h="568452">
                <a:tc>
                  <a:txBody>
                    <a:bodyPr/>
                    <a:lstStyle/>
                    <a:p>
                      <a:r>
                        <a:rPr sz="1100"/>
                        <a:t>6 · Reported back</a:t>
                      </a:r>
                    </a:p>
                  </a:txBody>
                  <a:tcPr/>
                </a:tc>
                <a:tc>
                  <a:txBody>
                    <a:bodyPr/>
                    <a:lstStyle/>
                    <a:p>
                      <a:r>
                        <a:rPr sz="1100"/>
                        <a:t>Ray</a:t>
                      </a:r>
                    </a:p>
                  </a:txBody>
                  <a:tcPr/>
                </a:tc>
                <a:tc>
                  <a:txBody>
                    <a:bodyPr/>
                    <a:lstStyle/>
                    <a:p>
                      <a:r>
                        <a:rPr sz="1100"/>
                        <a:t>Status returns to the same plan line the request came in on, so the client's own document stays the record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Tech fit</a:t>
            </a:r>
          </a:p>
        </p:txBody>
      </p:sp>
      <p:sp>
        <p:nvSpPr>
          <p:cNvPr id="4" name="Text Placeholder 3"/>
          <p:cNvSpPr>
            <a:spLocks noGrp="1"/>
          </p:cNvSpPr>
          <p:nvPr>
            <p:ph type="body" idx="1"/>
          </p:nvPr>
        </p:nvSpPr>
        <p:spPr/>
        <p:txBody>
          <a:bodyPr wrap="square"/>
          <a:lstStyle/>
          <a:p>
            <a:r>
              <a:t>The foundations are genuinely strong. Four specific gaps are what stand between this feed and an AI-ready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Tech fit</a:t>
            </a:r>
          </a:p>
        </p:txBody>
      </p:sp>
      <p:sp>
        <p:nvSpPr>
          <p:cNvPr id="3" name="Text Placeholder 2"/>
          <p:cNvSpPr>
            <a:spLocks noGrp="1"/>
          </p:cNvSpPr>
          <p:nvPr>
            <p:ph type="body" idx="13"/>
          </p:nvPr>
        </p:nvSpPr>
        <p:spPr/>
        <p:txBody>
          <a:bodyPr wrap="square"/>
          <a:lstStyle/>
          <a:p>
            <a:r>
              <a:t>Read straight off today's live GB feed — 8,948 in-stock SKUs, no sampling.</a:t>
            </a:r>
          </a:p>
        </p:txBody>
      </p:sp>
      <p:sp>
        <p:nvSpPr>
          <p:cNvPr id="4" name="Text Placeholder 3"/>
          <p:cNvSpPr>
            <a:spLocks noGrp="1"/>
          </p:cNvSpPr>
          <p:nvPr>
            <p:ph type="body" idx="1"/>
          </p:nvPr>
        </p:nvSpPr>
        <p:spPr/>
        <p:txBody>
          <a:bodyPr wrap="square"/>
          <a:lstStyle/>
          <a:p>
            <a:r>
              <a:t>6.6%  Titles inside the MASK band</a:t>
            </a:r>
          </a:p>
        </p:txBody>
      </p:sp>
      <p:sp>
        <p:nvSpPr>
          <p:cNvPr id="5" name="Text Placeholder 4"/>
          <p:cNvSpPr>
            <a:spLocks noGrp="1"/>
          </p:cNvSpPr>
          <p:nvPr>
            <p:ph type="body" idx="2"/>
          </p:nvPr>
        </p:nvSpPr>
        <p:spPr/>
        <p:txBody>
          <a:bodyPr wrap="square"/>
          <a:lstStyle/>
          <a:p>
            <a:r>
              <a:t>590 of 8,948 titles land in the 80–120 character range. Mean length is 63 characters, max 107 — nothing is over-long, most is simply short.</a:t>
            </a:r>
          </a:p>
          <a:p>
            <a:r>
              <a:t>FeedHero's own title flag reads 100% processed — two different bars</a:t>
            </a:r>
          </a:p>
        </p:txBody>
      </p:sp>
      <p:sp>
        <p:nvSpPr>
          <p:cNvPr id="6" name="Text Placeholder 5"/>
          <p:cNvSpPr>
            <a:spLocks noGrp="1"/>
          </p:cNvSpPr>
          <p:nvPr>
            <p:ph type="body" idx="3"/>
          </p:nvPr>
        </p:nvSpPr>
        <p:spPr/>
        <p:txBody>
          <a:bodyPr wrap="square"/>
          <a:lstStyle/>
          <a:p>
            <a:r>
              <a:rPr sz="1880"/>
              <a:t>99.2%  Golden Record — core attributes</a:t>
            </a:r>
          </a:p>
        </p:txBody>
      </p:sp>
      <p:sp>
        <p:nvSpPr>
          <p:cNvPr id="7" name="Text Placeholder 6"/>
          <p:cNvSpPr>
            <a:spLocks noGrp="1"/>
          </p:cNvSpPr>
          <p:nvPr>
            <p:ph type="body" idx="4"/>
          </p:nvPr>
        </p:nvSpPr>
        <p:spPr/>
        <p:txBody>
          <a:bodyPr wrap="square"/>
          <a:lstStyle/>
          <a:p>
            <a:r>
              <a:t>GTIN, MPN, identifier, condition, item group ID, price and description all 100%. Colour 99.5%, gender and age group 99.6%, pattern 98.6%, size 96.3%.</a:t>
            </a:r>
          </a:p>
          <a:p>
            <a:r>
              <a:t>Target: 99.9% — material at 75.8% is the one real gap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Tech fit (cont.)</a:t>
            </a:r>
          </a:p>
        </p:txBody>
      </p:sp>
      <p:sp>
        <p:nvSpPr>
          <p:cNvPr id="4" name="Text Placeholder 3"/>
          <p:cNvSpPr>
            <a:spLocks noGrp="1"/>
          </p:cNvSpPr>
          <p:nvPr>
            <p:ph type="body" idx="1"/>
          </p:nvPr>
        </p:nvSpPr>
        <p:spPr/>
        <p:txBody>
          <a:bodyPr wrap="square"/>
          <a:lstStyle/>
          <a:p>
            <a:r>
              <a:t>3.68  Product type depth (avg. nodes)</a:t>
            </a:r>
          </a:p>
        </p:txBody>
      </p:sp>
      <p:sp>
        <p:nvSpPr>
          <p:cNvPr id="5" name="Text Placeholder 4"/>
          <p:cNvSpPr>
            <a:spLocks noGrp="1"/>
          </p:cNvSpPr>
          <p:nvPr>
            <p:ph type="body" idx="2"/>
          </p:nvPr>
        </p:nvSpPr>
        <p:spPr/>
        <p:txBody>
          <a:bodyPr wrap="square"/>
          <a:lstStyle/>
          <a:p>
            <a:r>
              <a:t>100% of SKUs carry a product type, and 6,507 of them run four levels deep. GPC is 100% populated at an average depth of 3.02.</a:t>
            </a:r>
          </a:p>
          <a:p>
            <a:r>
              <a:t>Target: 3+ nodes — comfortably met</a:t>
            </a:r>
          </a:p>
        </p:txBody>
      </p:sp>
      <p:sp>
        <p:nvSpPr>
          <p:cNvPr id="6" name="Text Placeholder 5"/>
          <p:cNvSpPr>
            <a:spLocks noGrp="1"/>
          </p:cNvSpPr>
          <p:nvPr>
            <p:ph type="body" idx="3"/>
          </p:nvPr>
        </p:nvSpPr>
        <p:spPr/>
        <p:txBody>
          <a:bodyPr wrap="square"/>
          <a:lstStyle/>
          <a:p>
            <a:r>
              <a:t>4.9%  Keyword saturation</a:t>
            </a:r>
          </a:p>
        </p:txBody>
      </p:sp>
      <p:sp>
        <p:nvSpPr>
          <p:cNvPr id="7" name="Text Placeholder 6"/>
          <p:cNvSpPr>
            <a:spLocks noGrp="1"/>
          </p:cNvSpPr>
          <p:nvPr>
            <p:ph type="body" idx="4"/>
          </p:nvPr>
        </p:nvSpPr>
        <p:spPr/>
        <p:txBody>
          <a:bodyPr wrap="square"/>
          <a:lstStyle/>
          <a:p>
            <a:r>
              <a:t>442 of 8,948 SKUs carry any optimised keyword in the numbered product-type slots. 8,506 carry none at all.</a:t>
            </a:r>
          </a:p>
          <a:p>
            <a:r>
              <a:t>P0 gap — and the lane with this account's best proven returns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Tech fit (cont.)</a:t>
            </a:r>
          </a:p>
        </p:txBody>
      </p:sp>
      <p:sp>
        <p:nvSpPr>
          <p:cNvPr id="4" name="Text Placeholder 3"/>
          <p:cNvSpPr>
            <a:spLocks noGrp="1"/>
          </p:cNvSpPr>
          <p:nvPr>
            <p:ph type="body" idx="1"/>
          </p:nvPr>
        </p:nvSpPr>
        <p:spPr/>
        <p:txBody>
          <a:bodyPr wrap="square"/>
          <a:lstStyle/>
          <a:p>
            <a:r>
              <a:t>0%  Conversational attributes</a:t>
            </a:r>
          </a:p>
        </p:txBody>
      </p:sp>
      <p:sp>
        <p:nvSpPr>
          <p:cNvPr id="5" name="Text Placeholder 4"/>
          <p:cNvSpPr>
            <a:spLocks noGrp="1"/>
          </p:cNvSpPr>
          <p:nvPr>
            <p:ph type="body" idx="2"/>
          </p:nvPr>
        </p:nvSpPr>
        <p:spPr/>
        <p:txBody>
          <a:bodyPr wrap="square"/>
          <a:lstStyle/>
          <a:p>
            <a:r>
              <a:t>None of Google's six conversational attributes exist as columns in the feed at all — confirmed from the schema, not inferred from empty values.</a:t>
            </a:r>
          </a:p>
          <a:p>
            <a:r>
              <a:t>question_and_answer, item_group_title, variant_option, popularity_rank, related_product, document_link</a:t>
            </a:r>
          </a:p>
        </p:txBody>
      </p:sp>
      <p:sp>
        <p:nvSpPr>
          <p:cNvPr id="6" name="Text Placeholder 5"/>
          <p:cNvSpPr>
            <a:spLocks noGrp="1"/>
          </p:cNvSpPr>
          <p:nvPr>
            <p:ph type="body" idx="3"/>
          </p:nvPr>
        </p:nvSpPr>
        <p:spPr/>
        <p:txBody>
          <a:bodyPr wrap="square"/>
          <a:lstStyle/>
          <a:p>
            <a:r>
              <a:t>100%  Imagery coverage</a:t>
            </a:r>
          </a:p>
        </p:txBody>
      </p:sp>
      <p:sp>
        <p:nvSpPr>
          <p:cNvPr id="7" name="Text Placeholder 6"/>
          <p:cNvSpPr>
            <a:spLocks noGrp="1"/>
          </p:cNvSpPr>
          <p:nvPr>
            <p:ph type="body" idx="4"/>
          </p:nvPr>
        </p:nvSpPr>
        <p:spPr/>
        <p:txBody>
          <a:bodyPr wrap="square"/>
          <a:lstStyle/>
          <a:p>
            <a:r>
              <a:t>Every SKU has a main image and an average of 4.07 images in total. 65.7% carry Google's recommended 4–10 product highlights; none carry zero.</a:t>
            </a:r>
          </a:p>
          <a:p>
            <a:r>
              <a:t>Raw material for Tachyon's visual harvest is already there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Tech fit (cont.)</a:t>
            </a:r>
          </a:p>
        </p:txBody>
      </p:sp>
      <p:sp>
        <p:nvSpPr>
          <p:cNvPr id="4" name="Text Placeholder 3"/>
          <p:cNvSpPr>
            <a:spLocks noGrp="1"/>
          </p:cNvSpPr>
          <p:nvPr>
            <p:ph type="body" idx="1"/>
          </p:nvPr>
        </p:nvSpPr>
        <p:spPr/>
        <p:txBody>
          <a:bodyPr wrap="square"/>
          <a:lstStyle/>
          <a:p>
            <a:r>
              <a:rPr sz="1639"/>
              <a:t>Foundations better than most feeds this size</a:t>
            </a:r>
          </a:p>
        </p:txBody>
      </p:sp>
      <p:sp>
        <p:nvSpPr>
          <p:cNvPr id="5" name="Text Placeholder 4"/>
          <p:cNvSpPr>
            <a:spLocks noGrp="1"/>
          </p:cNvSpPr>
          <p:nvPr>
            <p:ph type="body" idx="2"/>
          </p:nvPr>
        </p:nvSpPr>
        <p:spPr/>
        <p:txBody>
          <a:bodyPr wrap="square"/>
          <a:lstStyle/>
          <a:p>
            <a:r>
              <a:t>100% identifier coverage, 100% taxonomy coverage at nearly four nodes deep, 100% imagery, descriptions on every SKU. This is not a feed that needs rebuilding — the structural work has been done and it holds.</a:t>
            </a:r>
          </a:p>
        </p:txBody>
      </p:sp>
      <p:sp>
        <p:nvSpPr>
          <p:cNvPr id="6" name="Text Placeholder 5"/>
          <p:cNvSpPr>
            <a:spLocks noGrp="1"/>
          </p:cNvSpPr>
          <p:nvPr>
            <p:ph type="body" idx="3"/>
          </p:nvPr>
        </p:nvSpPr>
        <p:spPr/>
        <p:txBody>
          <a:bodyPr wrap="square"/>
          <a:lstStyle/>
          <a:p>
            <a:r>
              <a:rPr sz="1639"/>
              <a:t>Titles pass the tool's check and miss the AI bar</a:t>
            </a:r>
          </a:p>
        </p:txBody>
      </p:sp>
      <p:sp>
        <p:nvSpPr>
          <p:cNvPr id="7" name="Text Placeholder 6"/>
          <p:cNvSpPr>
            <a:spLocks noGrp="1"/>
          </p:cNvSpPr>
          <p:nvPr>
            <p:ph type="body" idx="4"/>
          </p:nvPr>
        </p:nvSpPr>
        <p:spPr/>
        <p:txBody>
          <a:bodyPr wrap="square"/>
          <a:lstStyle/>
          <a:p>
            <a:r>
              <a:t>FeedHero's title flag reads 100% pass across all 8,948 SKUs. Against FeedSpark's own 80–120 character MASK range, only 6.6% land inside it — mean length 63 characters. Passing a processing check and being AI-ready length are two different bars.</a:t>
            </a:r>
          </a:p>
        </p:txBody>
      </p:sp>
      <p:sp>
        <p:nvSpPr>
          <p:cNvPr id="8" name="Text Placeholder 7"/>
          <p:cNvSpPr>
            <a:spLocks noGrp="1"/>
          </p:cNvSpPr>
          <p:nvPr>
            <p:ph type="body" idx="14"/>
          </p:nvPr>
        </p:nvSpPr>
        <p:spPr/>
        <p:txBody>
          <a:bodyPr wrap="square"/>
          <a:lstStyle/>
          <a:p>
            <a:r>
              <a:t>The same pattern, three times over. Titles processed 100% but 6.6% at target.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Case studies / test wins</a:t>
            </a:r>
          </a:p>
        </p:txBody>
      </p:sp>
      <p:sp>
        <p:nvSpPr>
          <p:cNvPr id="4" name="Text Placeholder 3"/>
          <p:cNvSpPr>
            <a:spLocks noGrp="1"/>
          </p:cNvSpPr>
          <p:nvPr>
            <p:ph type="body" idx="1"/>
          </p:nvPr>
        </p:nvSpPr>
        <p:spPr/>
        <p:txBody>
          <a:bodyPr wrap="square"/>
          <a:lstStyle/>
          <a:p>
            <a:r>
              <a:t>Fourteen quantified wins on this account, and one consistent explanation for all of them.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a:t>
            </a:r>
          </a:p>
        </p:txBody>
      </p:sp>
      <p:sp>
        <p:nvSpPr>
          <p:cNvPr id="3" name="Text Placeholder 2"/>
          <p:cNvSpPr>
            <a:spLocks noGrp="1"/>
          </p:cNvSpPr>
          <p:nvPr>
            <p:ph type="body" idx="13"/>
          </p:nvPr>
        </p:nvSpPr>
        <p:spPr/>
        <p:txBody>
          <a:bodyPr wrap="square"/>
          <a:lstStyle/>
          <a:p>
            <a:r>
              <a:rPr sz="1500"/>
              <a:t>Monsoon's own results, from the project plan's completed test lines — not case studies borrowed from a comparable retailer.</a:t>
            </a:r>
          </a:p>
        </p:txBody>
      </p:sp>
      <p:sp>
        <p:nvSpPr>
          <p:cNvPr id="4" name="Text Placeholder 3"/>
          <p:cNvSpPr>
            <a:spLocks noGrp="1"/>
          </p:cNvSpPr>
          <p:nvPr>
            <p:ph type="body" idx="1"/>
          </p:nvPr>
        </p:nvSpPr>
        <p:spPr/>
        <p:txBody>
          <a:bodyPr wrap="square"/>
          <a:lstStyle/>
          <a:p>
            <a:r>
              <a:rPr sz="1880"/>
              <a:t>Occasion language moves this catalogue</a:t>
            </a:r>
          </a:p>
        </p:txBody>
      </p:sp>
      <p:sp>
        <p:nvSpPr>
          <p:cNvPr id="5" name="Text Placeholder 4"/>
          <p:cNvSpPr>
            <a:spLocks noGrp="1"/>
          </p:cNvSpPr>
          <p:nvPr>
            <p:ph type="body" idx="2"/>
          </p:nvPr>
        </p:nvSpPr>
        <p:spPr/>
        <p:txBody>
          <a:bodyPr wrap="square"/>
          <a:lstStyle/>
          <a:p>
            <a:r>
              <a:t>Ramadan researched keywords returned +86%, Dresses for ladies and kids +61%, Beachwear and Swimwear +27%, Wedding products +24%, Bridal competitor terms +20%.</a:t>
            </a:r>
          </a:p>
          <a:p>
            <a:r>
              <a:t>Monsoon sells occasion. The feed's own CL4 label agrees — 2,126 SKUs tagged Kids Occasion Wear and 301 Ladies Occasion Wear.</a:t>
            </a:r>
          </a:p>
        </p:txBody>
      </p:sp>
      <p:sp>
        <p:nvSpPr>
          <p:cNvPr id="6" name="Text Placeholder 5"/>
          <p:cNvSpPr>
            <a:spLocks noGrp="1"/>
          </p:cNvSpPr>
          <p:nvPr>
            <p:ph type="body" idx="3"/>
          </p:nvPr>
        </p:nvSpPr>
        <p:spPr/>
        <p:txBody>
          <a:bodyPr wrap="square"/>
          <a:lstStyle/>
          <a:p>
            <a:r>
              <a:rPr sz="1639"/>
              <a:t>Competitor research beats generic expansion</a:t>
            </a:r>
          </a:p>
        </p:txBody>
      </p:sp>
      <p:sp>
        <p:nvSpPr>
          <p:cNvPr id="7" name="Text Placeholder 6"/>
          <p:cNvSpPr>
            <a:spLocks noGrp="1"/>
          </p:cNvSpPr>
          <p:nvPr>
            <p:ph type="body" idx="4"/>
          </p:nvPr>
        </p:nvSpPr>
        <p:spPr/>
        <p:txBody>
          <a:bodyPr wrap="square"/>
          <a:lstStyle/>
          <a:p>
            <a:r>
              <a:t>Womenswear competitor keywords returned +39%. The same method on Kids returned +4%. The gap is instructive: the technique is sound, but the return depends heavily on how contested the category already is.</a:t>
            </a:r>
          </a:p>
          <a:p>
            <a:r>
              <a:t>Reported as a range, not an average, because averaging a +39% and a +4% would flatter both.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Steady returns across the everyday categories</a:t>
            </a:r>
          </a:p>
          <a:p>
            <a:r>
              <a:t>Shoes +16%, Kid Outerwear +12%, Ladies Outerwear +11%, Ladies Occasion +9%, Denim +8%, Kid Partywear +4%.</a:t>
            </a:r>
          </a:p>
          <a:p>
            <a:r>
              <a:t>Smaller than the seasonal wins, and consistently positive. No completed keyword test on this account has returned a negative read.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Case studies / test wins (cont.)</a:t>
            </a:r>
          </a:p>
        </p:txBody>
      </p:sp>
      <p:sp>
        <p:nvSpPr>
          <p:cNvPr id="4" name="Text Placeholder 3"/>
          <p:cNvSpPr>
            <a:spLocks noGrp="1"/>
          </p:cNvSpPr>
          <p:nvPr>
            <p:ph type="body" idx="1"/>
          </p:nvPr>
        </p:nvSpPr>
        <p:spPr/>
        <p:txBody>
          <a:bodyPr wrap="square"/>
          <a:lstStyle/>
          <a:p>
            <a:r>
              <a:t>The pattern behind all fourteen</a:t>
            </a:r>
          </a:p>
        </p:txBody>
      </p:sp>
      <p:sp>
        <p:nvSpPr>
          <p:cNvPr id="5" name="Text Placeholder 4"/>
          <p:cNvSpPr>
            <a:spLocks noGrp="1"/>
          </p:cNvSpPr>
          <p:nvPr>
            <p:ph type="body" idx="2"/>
          </p:nvPr>
        </p:nvSpPr>
        <p:spPr/>
        <p:txBody>
          <a:bodyPr wrap="square"/>
          <a:lstStyle/>
          <a:p>
            <a:r>
              <a:t>Every win came from putting more specific, more decomposable language into the product data — the occasion, the competitor's term, the category noun the shopper actually types. None came from bidding, budget or campaign structure.</a:t>
            </a:r>
          </a:p>
          <a:p>
            <a:r>
              <a:t>That matters for the agency conversation: these are feed-side wins, achieved without touching media spend, and they compound with whatever the media team does on top.</a:t>
            </a:r>
          </a:p>
        </p:txBody>
      </p:sp>
      <p:sp>
        <p:nvSpPr>
          <p:cNvPr id="6" name="Text Placeholder 5"/>
          <p:cNvSpPr>
            <a:spLocks noGrp="1"/>
          </p:cNvSpPr>
          <p:nvPr>
            <p:ph type="body" idx="3"/>
          </p:nvPr>
        </p:nvSpPr>
        <p:spPr/>
        <p:txBody>
          <a:bodyPr wrap="square"/>
          <a:lstStyle/>
          <a:p>
            <a:r>
              <a:t>The same pattern on another account</a:t>
            </a:r>
          </a:p>
        </p:txBody>
      </p:sp>
      <p:sp>
        <p:nvSpPr>
          <p:cNvPr id="7" name="Text Placeholder 6"/>
          <p:cNvSpPr>
            <a:spLocks noGrp="1"/>
          </p:cNvSpPr>
          <p:nvPr>
            <p:ph type="body" idx="4"/>
          </p:nvPr>
        </p:nvSpPr>
        <p:spPr/>
        <p:txBody>
          <a:bodyPr wrap="square"/>
          <a:lstStyle/>
          <a:p>
            <a:r>
              <a:t>YuMOVE (pet supplements, UK) ran the same method on a completely different catalogue:</a:t>
            </a:r>
          </a:p>
          <a:p>
            <a:r>
              <a:t>Different category, different price point, same underlying finding: naming the thing the shopper is actually looking for outperforms describing the product.</a:t>
            </a:r>
          </a:p>
          <a:p>
            <a:r>
              <a:t>+126.62% "Multivitamins" term</a:t>
            </a:r>
          </a:p>
          <a:p>
            <a:r>
              <a:t>+30% Health-condition terms</a:t>
            </a:r>
          </a:p>
          <a:p>
            <a:r>
              <a:t>+24.7% Benefit-led copy</a:t>
            </a:r>
          </a:p>
          <a:p>
            <a:r>
              <a:t>Brand-in-title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February to July 2026, action by action — what closed, what is moving, and what is waiting on somebody.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17</a:t>
            </a:r>
          </a:p>
        </p:txBody>
      </p:sp>
      <p:sp>
        <p:nvSpPr>
          <p:cNvPr id="5" name="Text Placeholder 4"/>
          <p:cNvSpPr>
            <a:spLocks noGrp="1"/>
          </p:cNvSpPr>
          <p:nvPr>
            <p:ph type="body" idx="2"/>
          </p:nvPr>
        </p:nvSpPr>
        <p:spPr/>
        <p:txBody>
          <a:bodyPr wrap="square"/>
          <a:lstStyle/>
          <a:p>
            <a:r>
              <a:t>Done in window</a:t>
            </a:r>
          </a:p>
        </p:txBody>
      </p:sp>
      <p:sp>
        <p:nvSpPr>
          <p:cNvPr id="6" name="Text Placeholder 5"/>
          <p:cNvSpPr>
            <a:spLocks noGrp="1"/>
          </p:cNvSpPr>
          <p:nvPr>
            <p:ph type="body" idx="3"/>
          </p:nvPr>
        </p:nvSpPr>
        <p:spPr/>
        <p:txBody>
          <a:bodyPr wrap="square"/>
          <a:lstStyle/>
          <a:p>
            <a:r>
              <a:t>3</a:t>
            </a:r>
          </a:p>
        </p:txBody>
      </p:sp>
      <p:sp>
        <p:nvSpPr>
          <p:cNvPr id="7" name="Text Placeholder 6"/>
          <p:cNvSpPr>
            <a:spLocks noGrp="1"/>
          </p:cNvSpPr>
          <p:nvPr>
            <p:ph type="body" idx="4"/>
          </p:nvPr>
        </p:nvSpPr>
        <p:spPr/>
        <p:txBody>
          <a:bodyPr wrap="square"/>
          <a:lstStyle/>
          <a:p>
            <a:r>
              <a:t>In progress</a:t>
            </a:r>
          </a:p>
        </p:txBody>
      </p:sp>
      <p:sp>
        <p:nvSpPr>
          <p:cNvPr id="8" name="Text Placeholder 7"/>
          <p:cNvSpPr>
            <a:spLocks noGrp="1"/>
          </p:cNvSpPr>
          <p:nvPr>
            <p:ph type="body" idx="5"/>
          </p:nvPr>
        </p:nvSpPr>
        <p:spPr/>
        <p:txBody>
          <a:bodyPr wrap="square"/>
          <a:lstStyle/>
          <a:p>
            <a:r>
              <a:t>11</a:t>
            </a:r>
          </a:p>
        </p:txBody>
      </p:sp>
      <p:sp>
        <p:nvSpPr>
          <p:cNvPr id="9" name="Text Placeholder 8"/>
          <p:cNvSpPr>
            <a:spLocks noGrp="1"/>
          </p:cNvSpPr>
          <p:nvPr>
            <p:ph type="body" idx="6"/>
          </p:nvPr>
        </p:nvSpPr>
        <p:spPr/>
        <p:txBody>
          <a:bodyPr wrap="square"/>
          <a:lstStyle/>
          <a:p>
            <a:r>
              <a:t>Open</a:t>
            </a:r>
          </a:p>
        </p:txBody>
      </p:sp>
      <p:sp>
        <p:nvSpPr>
          <p:cNvPr id="10" name="Text Placeholder 9"/>
          <p:cNvSpPr>
            <a:spLocks noGrp="1"/>
          </p:cNvSpPr>
          <p:nvPr>
            <p:ph type="body" idx="7"/>
          </p:nvPr>
        </p:nvSpPr>
        <p:spPr/>
        <p:txBody>
          <a:bodyPr wrap="square"/>
          <a:lstStyle/>
          <a:p>
            <a:r>
              <a:t>1</a:t>
            </a:r>
          </a:p>
        </p:txBody>
      </p:sp>
      <p:sp>
        <p:nvSpPr>
          <p:cNvPr id="11" name="Text Placeholder 10"/>
          <p:cNvSpPr>
            <a:spLocks noGrp="1"/>
          </p:cNvSpPr>
          <p:nvPr>
            <p:ph type="body" idx="8"/>
          </p:nvPr>
        </p:nvSpPr>
        <p:spPr/>
        <p:txBody>
          <a:bodyPr wrap="square"/>
          <a:lstStyle/>
          <a:p>
            <a:r>
              <a:t>On hold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sp>
        <p:nvSpPr>
          <p:cNvPr id="4" name="Text Placeholder 3"/>
          <p:cNvSpPr>
            <a:spLocks noGrp="1"/>
          </p:cNvSpPr>
          <p:nvPr>
            <p:ph type="body" idx="14"/>
          </p:nvPr>
        </p:nvSpPr>
        <p:spPr/>
        <p:txBody>
          <a:bodyPr wrap="square"/>
          <a:lstStyle/>
          <a:p>
            <a:r>
              <a:t>Two counts of "how much work happened", and they are not in conflict.</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4427178"/>
                <a:gridCol w="854367"/>
                <a:gridCol w="798057"/>
                <a:gridCol w="4893196"/>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26339">
                <a:tc>
                  <a:txBody>
                    <a:bodyPr/>
                    <a:lstStyle/>
                    <a:p>
                      <a:r>
                        <a:rPr sz="1100"/>
                        <a:t>Wrap up AI-enriched fields (highlights &amp; details)</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Highlights now on 100% of SKUs; 65.7% sit in Google's 4–10 band</a:t>
                      </a:r>
                    </a:p>
                  </a:txBody>
                  <a:tcPr/>
                </a:tc>
              </a:tr>
              <a:tr h="426339">
                <a:tc>
                  <a:txBody>
                    <a:bodyPr/>
                    <a:lstStyle/>
                    <a:p>
                      <a:r>
                        <a:rPr sz="1100"/>
                        <a:t>CL0: New In — scrape site PLPs for both MON &amp; ACC</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Live on 4,380 SKUs (48.9%) in today's feed</a:t>
                      </a:r>
                    </a:p>
                  </a:txBody>
                  <a:tcPr/>
                </a:tc>
              </a:tr>
              <a:tr h="426339">
                <a:tc>
                  <a:txBody>
                    <a:bodyPr/>
                    <a:lstStyle/>
                    <a:p>
                      <a:r>
                        <a:rPr sz="1100"/>
                        <a:t>New In &lt; 30 days — CL0 [New In]</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Recency rule feeding the label above</a:t>
                      </a:r>
                    </a:p>
                  </a:txBody>
                  <a:tcPr/>
                </a:tc>
              </a:tr>
              <a:tr h="426339">
                <a:tc>
                  <a:txBody>
                    <a:bodyPr/>
                    <a:lstStyle/>
                    <a:p>
                      <a:r>
                        <a:rPr sz="1100"/>
                        <a:t>Occasion season — holidaywear, resort, beachwear, wedding</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Underpins CL4; 2,427 SKUs now carry an occasion tag</a:t>
                      </a:r>
                    </a:p>
                  </a:txBody>
                  <a:tcPr/>
                </a:tc>
              </a:tr>
              <a:tr h="426339">
                <a:tc>
                  <a:txBody>
                    <a:bodyPr/>
                    <a:lstStyle/>
                    <a:p>
                      <a:r>
                        <a:rPr sz="1100"/>
                        <a:t>Google Merchant promotion — SS26 15% off on GMC</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Ran off Henry's trading calendar</a:t>
                      </a:r>
                    </a:p>
                  </a:txBody>
                  <a:tcPr/>
                </a:tc>
              </a:tr>
              <a:tr h="426339">
                <a:tc>
                  <a:txBody>
                    <a:bodyPr/>
                    <a:lstStyle/>
                    <a:p>
                      <a:r>
                        <a:rPr sz="1100"/>
                        <a:t>Final PPC/social overlay for MON &amp; ACC</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Sale overlay with strike-through pricing shipped to both brands</a:t>
                      </a:r>
                    </a:p>
                  </a:txBody>
                  <a:tcPr/>
                </a:tc>
              </a:tr>
              <a:tr h="426339">
                <a:tc>
                  <a:txBody>
                    <a:bodyPr/>
                    <a:lstStyle/>
                    <a:p>
                      <a:r>
                        <a:rPr sz="1100"/>
                        <a:t>[Sale Features] A/B pair — with vs. without</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With [Sale Feature] wins; rollout to titles now open</a:t>
                      </a:r>
                    </a:p>
                  </a:txBody>
                  <a:tcPr/>
                </a:tc>
              </a:tr>
              <a:tr h="426339">
                <a:tc>
                  <a:txBody>
                    <a:bodyPr/>
                    <a:lstStyle/>
                    <a:p>
                      <a:r>
                        <a:rPr sz="1100"/>
                        <a:t>East brand back into the Monsoon BAU feed</a:t>
                      </a:r>
                    </a:p>
                  </a:txBody>
                  <a:tcPr/>
                </a:tc>
                <a:tc>
                  <a:txBody>
                    <a:bodyPr/>
                    <a:lstStyle/>
                    <a:p>
                      <a:r>
                        <a:rPr sz="1100"/>
                        <a:t>Henry / Ray</a:t>
                      </a:r>
                    </a:p>
                  </a:txBody>
                  <a:tcPr/>
                </a:tc>
                <a:tc>
                  <a:txBody>
                    <a:bodyPr/>
                    <a:lstStyle/>
                    <a:p>
                      <a:r>
                        <a:rPr sz="1100" b="1">
                          <a:solidFill>
                            <a:srgbClr val="2E7D32"/>
                          </a:solidFill>
                        </a:rPr>
                        <a:t>Done</a:t>
                      </a:r>
                    </a:p>
                  </a:txBody>
                  <a:tcPr/>
                </a:tc>
                <a:tc>
                  <a:txBody>
                    <a:bodyPr/>
                    <a:lstStyle/>
                    <a:p>
                      <a:r>
                        <a:rPr sz="1100"/>
                        <a:t>Sub-brand reintegrated under the main catalogue</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sp>
        <p:nvSpPr>
          <p:cNvPr id="4" name="Text Placeholder 3"/>
          <p:cNvSpPr>
            <a:spLocks noGrp="1"/>
          </p:cNvSpPr>
          <p:nvPr>
            <p:ph type="body" idx="14"/>
          </p:nvPr>
        </p:nvSpPr>
        <p:spPr/>
        <p:txBody>
          <a:bodyPr wrap="square"/>
          <a:lstStyle/>
          <a:p>
            <a:r>
              <a:t>Two counts of "how much work happened", and they are not in conflict.</a:t>
            </a:r>
          </a:p>
        </p:txBody>
      </p:sp>
      <p:graphicFrame>
        <p:nvGraphicFramePr>
          <p:cNvPr id="5" name="Table 4"/>
          <p:cNvGraphicFramePr>
            <a:graphicFrameLocks noGrp="1"/>
          </p:cNvGraphicFramePr>
          <p:nvPr/>
        </p:nvGraphicFramePr>
        <p:xfrm>
          <a:off x="612648" y="1847088"/>
          <a:ext cx="10972797" cy="3794756"/>
        </p:xfrm>
        <a:graphic>
          <a:graphicData uri="http://schemas.openxmlformats.org/drawingml/2006/table">
            <a:tbl>
              <a:tblPr firstRow="1" bandRow="1">
                <a:tableStyleId>{5C22544A-7EE6-4342-B048-85BDC9FD1C3A}</a:tableStyleId>
              </a:tblPr>
              <a:tblGrid>
                <a:gridCol w="3944470"/>
                <a:gridCol w="860611"/>
                <a:gridCol w="1075764"/>
                <a:gridCol w="5091952"/>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87244">
                <a:tc>
                  <a:txBody>
                    <a:bodyPr/>
                    <a:lstStyle/>
                    <a:p>
                      <a:r>
                        <a:rPr sz="1100"/>
                        <a:t>AI visual extraction to work with SEO</a:t>
                      </a:r>
                    </a:p>
                  </a:txBody>
                  <a:tcPr/>
                </a:tc>
                <a:tc>
                  <a:txBody>
                    <a:bodyPr/>
                    <a:lstStyle/>
                    <a:p>
                      <a:r>
                        <a:rPr sz="1100"/>
                        <a:t>Ray / Matt</a:t>
                      </a:r>
                    </a:p>
                  </a:txBody>
                  <a:tcPr/>
                </a:tc>
                <a:tc>
                  <a:txBody>
                    <a:bodyPr/>
                    <a:lstStyle/>
                    <a:p>
                      <a:r>
                        <a:rPr sz="1100" b="1">
                          <a:solidFill>
                            <a:srgbClr val="ED6F0B"/>
                          </a:solidFill>
                        </a:rPr>
                        <a:t>In progress</a:t>
                      </a:r>
                    </a:p>
                  </a:txBody>
                  <a:tcPr/>
                </a:tc>
                <a:tc>
                  <a:txBody>
                    <a:bodyPr/>
                    <a:lstStyle/>
                    <a:p>
                      <a:r>
                        <a:rPr sz="1100"/>
                        <a:t>Image lane sits at 1.2% of the catalogue today</a:t>
                      </a:r>
                    </a:p>
                  </a:txBody>
                  <a:tcPr/>
                </a:tc>
              </a:tr>
              <a:tr h="487244">
                <a:tc>
                  <a:txBody>
                    <a:bodyPr/>
                    <a:lstStyle/>
                    <a:p>
                      <a:r>
                        <a:rPr sz="1100"/>
                        <a:t>Duplicated feed with overlaid images, same content_ids</a:t>
                      </a:r>
                    </a:p>
                  </a:txBody>
                  <a:tcPr/>
                </a:tc>
                <a:tc>
                  <a:txBody>
                    <a:bodyPr/>
                    <a:lstStyle/>
                    <a:p>
                      <a:r>
                        <a:rPr sz="1100"/>
                        <a:t>Ezgi</a:t>
                      </a:r>
                    </a:p>
                  </a:txBody>
                  <a:tcPr/>
                </a:tc>
                <a:tc>
                  <a:txBody>
                    <a:bodyPr/>
                    <a:lstStyle/>
                    <a:p>
                      <a:r>
                        <a:rPr sz="1100" b="1">
                          <a:solidFill>
                            <a:srgbClr val="ED6F0B"/>
                          </a:solidFill>
                        </a:rPr>
                        <a:t>In progress</a:t>
                      </a:r>
                    </a:p>
                  </a:txBody>
                  <a:tcPr/>
                </a:tc>
                <a:tc>
                  <a:txBody>
                    <a:bodyPr/>
                    <a:lstStyle/>
                    <a:p>
                      <a:r>
                        <a:rPr sz="1100"/>
                        <a:t>Design approved; lets creative change without touching the primary feed</a:t>
                      </a:r>
                    </a:p>
                  </a:txBody>
                  <a:tcPr/>
                </a:tc>
              </a:tr>
              <a:tr h="487244">
                <a:tc>
                  <a:txBody>
                    <a:bodyPr/>
                    <a:lstStyle/>
                    <a:p>
                      <a:r>
                        <a:rPr sz="1100"/>
                        <a:t>Margin change, clearance flags and return-rate data</a:t>
                      </a:r>
                    </a:p>
                  </a:txBody>
                  <a:tcPr/>
                </a:tc>
                <a:tc>
                  <a:txBody>
                    <a:bodyPr/>
                    <a:lstStyle/>
                    <a:p>
                      <a:r>
                        <a:rPr sz="1100"/>
                        <a:t>Liam</a:t>
                      </a:r>
                    </a:p>
                  </a:txBody>
                  <a:tcPr/>
                </a:tc>
                <a:tc>
                  <a:txBody>
                    <a:bodyPr/>
                    <a:lstStyle/>
                    <a:p>
                      <a:r>
                        <a:rPr sz="1100" b="1">
                          <a:solidFill>
                            <a:srgbClr val="ED6F0B"/>
                          </a:solidFill>
                        </a:rPr>
                        <a:t>Awaiting client</a:t>
                      </a:r>
                    </a:p>
                  </a:txBody>
                  <a:tcPr/>
                </a:tc>
                <a:tc>
                  <a:txBody>
                    <a:bodyPr/>
                    <a:lstStyle/>
                    <a:p>
                      <a:r>
                        <a:rPr sz="1100"/>
                        <a:t>Blocks the CL1 margin matrix — the empty label slot in chapter 03</a:t>
                      </a:r>
                    </a:p>
                  </a:txBody>
                  <a:tcPr/>
                </a:tc>
              </a:tr>
              <a:tr h="487244">
                <a:tc>
                  <a:txBody>
                    <a:bodyPr/>
                    <a:lstStyle/>
                    <a:p>
                      <a:r>
                        <a:rPr sz="1100"/>
                        <a:t>Low-performer list → excluded_destination setup</a:t>
                      </a:r>
                    </a:p>
                  </a:txBody>
                  <a:tcPr/>
                </a:tc>
                <a:tc>
                  <a:txBody>
                    <a:bodyPr/>
                    <a:lstStyle/>
                    <a:p>
                      <a:r>
                        <a:rPr sz="1100"/>
                        <a:t>Henry / Ray</a:t>
                      </a:r>
                    </a:p>
                  </a:txBody>
                  <a:tcPr/>
                </a:tc>
                <a:tc>
                  <a:txBody>
                    <a:bodyPr/>
                    <a:lstStyle/>
                    <a:p>
                      <a:r>
                        <a:rPr sz="1100" b="1">
                          <a:solidFill>
                            <a:srgbClr val="ED6F0B"/>
                          </a:solidFill>
                        </a:rPr>
                        <a:t>Awaiting client</a:t>
                      </a:r>
                    </a:p>
                  </a:txBody>
                  <a:tcPr/>
                </a:tc>
                <a:tc>
                  <a:txBody>
                    <a:bodyPr/>
                    <a:lstStyle/>
                    <a:p>
                      <a:r>
                        <a:rPr sz="1100"/>
                        <a:t>CL3 already flags 3,374 SKUs as Low Performing or Zombie</a:t>
                      </a:r>
                    </a:p>
                  </a:txBody>
                  <a:tcPr/>
                </a:tc>
              </a:tr>
              <a:tr h="487244">
                <a:tc>
                  <a:txBody>
                    <a:bodyPr/>
                    <a:lstStyle/>
                    <a:p>
                      <a:r>
                        <a:rPr sz="1100"/>
                        <a:t>Low-performance identifier and include/exclude workflow</a:t>
                      </a:r>
                    </a:p>
                  </a:txBody>
                  <a:tcPr/>
                </a:tc>
                <a:tc>
                  <a:txBody>
                    <a:bodyPr/>
                    <a:lstStyle/>
                    <a:p>
                      <a:r>
                        <a:rPr sz="1100"/>
                        <a:t>Ray + agency</a:t>
                      </a:r>
                    </a:p>
                  </a:txBody>
                  <a:tcPr/>
                </a:tc>
                <a:tc>
                  <a:txBody>
                    <a:bodyPr/>
                    <a:lstStyle/>
                    <a:p>
                      <a:r>
                        <a:rPr sz="1100" b="1">
                          <a:solidFill>
                            <a:srgbClr val="767676"/>
                          </a:solidFill>
                        </a:rPr>
                        <a:t>Open</a:t>
                      </a:r>
                    </a:p>
                  </a:txBody>
                  <a:tcPr/>
                </a:tc>
                <a:tc>
                  <a:txBody>
                    <a:bodyPr/>
                    <a:lstStyle/>
                    <a:p>
                      <a:r>
                        <a:rPr sz="1100"/>
                        <a:t>The workflow that would act on those CL3 flags</a:t>
                      </a:r>
                    </a:p>
                  </a:txBody>
                  <a:tcPr/>
                </a:tc>
              </a:tr>
              <a:tr h="487244">
                <a:tc>
                  <a:txBody>
                    <a:bodyPr/>
                    <a:lstStyle/>
                    <a:p>
                      <a:r>
                        <a:rPr sz="1100"/>
                        <a:t>ChatGPT feed package</a:t>
                      </a:r>
                    </a:p>
                  </a:txBody>
                  <a:tcPr/>
                </a:tc>
                <a:tc>
                  <a:txBody>
                    <a:bodyPr/>
                    <a:lstStyle/>
                    <a:p>
                      <a:r>
                        <a:rPr sz="1100"/>
                        <a:t>Ray</a:t>
                      </a:r>
                    </a:p>
                  </a:txBody>
                  <a:tcPr/>
                </a:tc>
                <a:tc>
                  <a:txBody>
                    <a:bodyPr/>
                    <a:lstStyle/>
                    <a:p>
                      <a:r>
                        <a:rPr sz="1100" b="1">
                          <a:solidFill>
                            <a:srgbClr val="767676"/>
                          </a:solidFill>
                        </a:rPr>
                        <a:t>Open</a:t>
                      </a:r>
                    </a:p>
                  </a:txBody>
                  <a:tcPr/>
                </a:tc>
                <a:tc>
                  <a:txBody>
                    <a:bodyPr/>
                    <a:lstStyle/>
                    <a:p>
                      <a:r>
                        <a:rPr sz="1100"/>
                        <a:t>Scope and commercials to confirm</a:t>
                      </a:r>
                    </a:p>
                  </a:txBody>
                  <a:tcPr/>
                </a:tc>
              </a:tr>
              <a:tr h="487244">
                <a:tc>
                  <a:txBody>
                    <a:bodyPr/>
                    <a:lstStyle/>
                    <a:p>
                      <a:r>
                        <a:rPr sz="1100"/>
                        <a:t>Occasionwear AI-generated batch (100 SKUs)</a:t>
                      </a:r>
                    </a:p>
                  </a:txBody>
                  <a:tcPr/>
                </a:tc>
                <a:tc>
                  <a:txBody>
                    <a:bodyPr/>
                    <a:lstStyle/>
                    <a:p>
                      <a:r>
                        <a:rPr sz="1100"/>
                        <a:t>Ray</a:t>
                      </a:r>
                    </a:p>
                  </a:txBody>
                  <a:tcPr/>
                </a:tc>
                <a:tc>
                  <a:txBody>
                    <a:bodyPr/>
                    <a:lstStyle/>
                    <a:p>
                      <a:r>
                        <a:rPr sz="1100" b="1">
                          <a:solidFill>
                            <a:srgbClr val="ED6F0B"/>
                          </a:solidFill>
                        </a:rPr>
                        <a:t>On hold</a:t>
                      </a:r>
                    </a:p>
                  </a:txBody>
                  <a:tcPr/>
                </a:tc>
                <a:tc>
                  <a:txBody>
                    <a:bodyPr/>
                    <a:lstStyle/>
                    <a:p>
                      <a:r>
                        <a:rPr sz="1100" b="1">
                          <a:solidFill>
                            <a:srgbClr val="ED6F0B"/>
                          </a:solidFill>
                        </a:rPr>
                        <a:t>Parked since April</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What the retainer bought over six months — and the protection work that never shows up as a win.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a:t>
            </a:r>
          </a:p>
        </p:txBody>
      </p:sp>
      <p:sp>
        <p:nvSpPr>
          <p:cNvPr id="4" name="Text Placeholder 3"/>
          <p:cNvSpPr>
            <a:spLocks noGrp="1"/>
          </p:cNvSpPr>
          <p:nvPr>
            <p:ph type="body" idx="1"/>
          </p:nvPr>
        </p:nvSpPr>
        <p:spPr/>
        <p:txBody>
          <a:bodyPr wrap="square"/>
          <a:lstStyle/>
          <a:p>
            <a:r>
              <a:t>192</a:t>
            </a:r>
          </a:p>
        </p:txBody>
      </p:sp>
      <p:sp>
        <p:nvSpPr>
          <p:cNvPr id="5" name="Text Placeholder 4"/>
          <p:cNvSpPr>
            <a:spLocks noGrp="1"/>
          </p:cNvSpPr>
          <p:nvPr>
            <p:ph type="body" idx="2"/>
          </p:nvPr>
        </p:nvSpPr>
        <p:spPr/>
        <p:txBody>
          <a:bodyPr wrap="square"/>
          <a:lstStyle/>
          <a:p>
            <a:r>
              <a:t>Scheduled hrs, Feb–Jul (32/mo × 6)</a:t>
            </a:r>
          </a:p>
        </p:txBody>
      </p:sp>
      <p:sp>
        <p:nvSpPr>
          <p:cNvPr id="6" name="Text Placeholder 5"/>
          <p:cNvSpPr>
            <a:spLocks noGrp="1"/>
          </p:cNvSpPr>
          <p:nvPr>
            <p:ph type="body" idx="3"/>
          </p:nvPr>
        </p:nvSpPr>
        <p:spPr/>
        <p:txBody>
          <a:bodyPr wrap="square"/>
          <a:lstStyle/>
          <a:p>
            <a:r>
              <a:t>32</a:t>
            </a:r>
          </a:p>
        </p:txBody>
      </p:sp>
      <p:sp>
        <p:nvSpPr>
          <p:cNvPr id="7" name="Text Placeholder 6"/>
          <p:cNvSpPr>
            <a:spLocks noGrp="1"/>
          </p:cNvSpPr>
          <p:nvPr>
            <p:ph type="body" idx="4"/>
          </p:nvPr>
        </p:nvSpPr>
        <p:spPr/>
        <p:txBody>
          <a:bodyPr wrap="square"/>
          <a:lstStyle/>
          <a:p>
            <a:r>
              <a:t>Dated task lines in the window</a:t>
            </a:r>
          </a:p>
        </p:txBody>
      </p:sp>
      <p:sp>
        <p:nvSpPr>
          <p:cNvPr id="8" name="Text Placeholder 7"/>
          <p:cNvSpPr>
            <a:spLocks noGrp="1"/>
          </p:cNvSpPr>
          <p:nvPr>
            <p:ph type="body" idx="5"/>
          </p:nvPr>
        </p:nvSpPr>
        <p:spPr/>
        <p:txBody>
          <a:bodyPr wrap="square"/>
          <a:lstStyle/>
          <a:p>
            <a:r>
              <a:t>14</a:t>
            </a:r>
          </a:p>
        </p:txBody>
      </p:sp>
      <p:sp>
        <p:nvSpPr>
          <p:cNvPr id="9" name="Text Placeholder 8"/>
          <p:cNvSpPr>
            <a:spLocks noGrp="1"/>
          </p:cNvSpPr>
          <p:nvPr>
            <p:ph type="body" idx="6"/>
          </p:nvPr>
        </p:nvSpPr>
        <p:spPr/>
        <p:txBody>
          <a:bodyPr wrap="square"/>
          <a:lstStyle/>
          <a:p>
            <a:r>
              <a:t>Quantified test wins on the account</a:t>
            </a:r>
          </a:p>
        </p:txBody>
      </p:sp>
      <p:sp>
        <p:nvSpPr>
          <p:cNvPr id="10" name="Text Placeholder 9"/>
          <p:cNvSpPr>
            <a:spLocks noGrp="1"/>
          </p:cNvSpPr>
          <p:nvPr>
            <p:ph type="body" idx="7"/>
          </p:nvPr>
        </p:nvSpPr>
        <p:spPr/>
        <p:txBody>
          <a:bodyPr wrap="square"/>
          <a:lstStyle/>
          <a:p>
            <a:r>
              <a:t>5</a:t>
            </a:r>
          </a:p>
        </p:txBody>
      </p:sp>
      <p:sp>
        <p:nvSpPr>
          <p:cNvPr id="11" name="Text Placeholder 10"/>
          <p:cNvSpPr>
            <a:spLocks noGrp="1"/>
          </p:cNvSpPr>
          <p:nvPr>
            <p:ph type="body" idx="8"/>
          </p:nvPr>
        </p:nvSpPr>
        <p:spPr/>
        <p:txBody>
          <a:bodyPr wrap="square"/>
          <a:lstStyle/>
          <a:p>
            <a:r>
              <a:t>Channels kept live and compliant</a:t>
            </a:r>
          </a:p>
        </p:txBody>
      </p:sp>
      <p:sp>
        <p:nvSpPr>
          <p:cNvPr id="12" name="Text Placeholder 11"/>
          <p:cNvSpPr>
            <a:spLocks noGrp="1"/>
          </p:cNvSpPr>
          <p:nvPr>
            <p:ph type="body" idx="9"/>
          </p:nvPr>
        </p:nvSpPr>
        <p:spPr/>
        <p:txBody>
          <a:bodyPr wrap="square"/>
          <a:lstStyle/>
          <a:p>
            <a:r>
              <a:t>2</a:t>
            </a:r>
          </a:p>
        </p:txBody>
      </p:sp>
      <p:sp>
        <p:nvSpPr>
          <p:cNvPr id="13" name="Text Placeholder 12"/>
          <p:cNvSpPr>
            <a:spLocks noGrp="1"/>
          </p:cNvSpPr>
          <p:nvPr>
            <p:ph type="body" idx="10"/>
          </p:nvPr>
        </p:nvSpPr>
        <p:spPr/>
        <p:txBody>
          <a:bodyPr wrap="square"/>
          <a:lstStyle/>
          <a:p>
            <a:r>
              <a:t>Brands run off one retainer team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Value delivered (cont.)</a:t>
            </a:r>
          </a:p>
        </p:txBody>
      </p:sp>
      <p:sp>
        <p:nvSpPr>
          <p:cNvPr id="4" name="Text Placeholder 3"/>
          <p:cNvSpPr>
            <a:spLocks noGrp="1"/>
          </p:cNvSpPr>
          <p:nvPr>
            <p:ph type="body" idx="1"/>
          </p:nvPr>
        </p:nvSpPr>
        <p:spPr/>
        <p:txBody>
          <a:bodyPr wrap="square"/>
          <a:lstStyle/>
          <a:p>
            <a:r>
              <a:rPr sz="1760"/>
              <a:t>Scheduled time, not a delivered-hours claim</a:t>
            </a:r>
          </a:p>
        </p:txBody>
      </p:sp>
      <p:sp>
        <p:nvSpPr>
          <p:cNvPr id="5" name="Text Placeholder 4"/>
          <p:cNvSpPr>
            <a:spLocks noGrp="1"/>
          </p:cNvSpPr>
          <p:nvPr>
            <p:ph type="body" idx="2"/>
          </p:nvPr>
        </p:nvSpPr>
        <p:spPr/>
        <p:txBody>
          <a:bodyPr wrap="square"/>
          <a:lstStyle/>
          <a:p>
            <a:r>
              <a:rPr sz="1500"/>
              <a:t>The 192-hour figure above is scheduled retainer time — 32 hrs/month across six months. It is what the account is contracted to receive, not a measured record of hours delivered, and this deck deliberately does not present it as one.</a:t>
            </a:r>
          </a:p>
          <a:p>
            <a:r>
              <a:rPr sz="1500"/>
              <a:t>A per-ticket time log would let this section show the billable / non-billable split, which is where the unbilled protection work below actually becomes visible. That log sits outside the project plan and is the one number worth adding to the next version of this deck.</a:t>
            </a:r>
          </a:p>
        </p:txBody>
      </p:sp>
      <p:sp>
        <p:nvSpPr>
          <p:cNvPr id="6" name="Text Placeholder 5"/>
          <p:cNvSpPr>
            <a:spLocks noGrp="1"/>
          </p:cNvSpPr>
          <p:nvPr>
            <p:ph type="body" idx="3"/>
          </p:nvPr>
        </p:nvSpPr>
        <p:spPr/>
        <p:txBody>
          <a:bodyPr wrap="square"/>
          <a:lstStyle/>
          <a:p>
            <a:r>
              <a:t>The work that never appears as a win</a:t>
            </a:r>
          </a:p>
        </p:txBody>
      </p:sp>
      <p:sp>
        <p:nvSpPr>
          <p:cNvPr id="7" name="Text Placeholder 6"/>
          <p:cNvSpPr>
            <a:spLocks noGrp="1"/>
          </p:cNvSpPr>
          <p:nvPr>
            <p:ph type="body" idx="4"/>
          </p:nvPr>
        </p:nvSpPr>
        <p:spPr/>
        <p:txBody>
          <a:bodyPr wrap="square"/>
          <a:lstStyle/>
          <a:p>
            <a:r>
              <a:t>A meaningful share of any feed retainer goes on keeping things from breaking, and none of it produces an uplift number:</a:t>
            </a:r>
          </a:p>
          <a:p>
            <a:r>
              <a:t>Monsoon is mid-way through a sale/clearance URL restructure; FeedSpark monitors product changes through it so the feed does not silently drop lines.</a:t>
            </a:r>
          </a:p>
          <a:p>
            <a:r>
              <a:t>GMC disapproval sweeps</a:t>
            </a:r>
          </a:p>
          <a:p>
            <a:r>
              <a:t>US availability discrepancy</a:t>
            </a:r>
          </a:p>
          <a:p>
            <a:r>
              <a:t>Site restructure monitoring</a:t>
            </a:r>
          </a:p>
          <a:p>
            <a:r>
              <a:t>Range completion thresholds</a:t>
            </a:r>
          </a:p>
        </p:txBody>
      </p:sp>
      <p:sp>
        <p:nvSpPr>
          <p:cNvPr id="8" name="Text Placeholder 7"/>
          <p:cNvSpPr>
            <a:spLocks noGrp="1"/>
          </p:cNvSpPr>
          <p:nvPr>
            <p:ph type="body" idx="14"/>
          </p:nvPr>
        </p:nvSpPr>
        <p:spPr/>
        <p:txBody>
          <a:bodyPr wrap="square"/>
          <a:lstStyle/>
          <a:p>
            <a:r>
              <a:t>The compounding argument.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nine</a:t>
            </a:r>
          </a:p>
        </p:txBody>
      </p:sp>
      <p:sp>
        <p:nvSpPr>
          <p:cNvPr id="3" name="Title 2"/>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Fourteen completed tests with a hard number, one test pair that contradicts itself, and no losers.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14</a:t>
            </a:r>
          </a:p>
        </p:txBody>
      </p:sp>
      <p:sp>
        <p:nvSpPr>
          <p:cNvPr id="5" name="Text Placeholder 4"/>
          <p:cNvSpPr>
            <a:spLocks noGrp="1"/>
          </p:cNvSpPr>
          <p:nvPr>
            <p:ph type="body" idx="2"/>
          </p:nvPr>
        </p:nvSpPr>
        <p:spPr/>
        <p:txBody>
          <a:bodyPr wrap="square"/>
          <a:lstStyle/>
          <a:p>
            <a:r>
              <a:t>Completed tests with a quantified result</a:t>
            </a:r>
          </a:p>
        </p:txBody>
      </p:sp>
      <p:sp>
        <p:nvSpPr>
          <p:cNvPr id="6" name="Text Placeholder 5"/>
          <p:cNvSpPr>
            <a:spLocks noGrp="1"/>
          </p:cNvSpPr>
          <p:nvPr>
            <p:ph type="body" idx="3"/>
          </p:nvPr>
        </p:nvSpPr>
        <p:spPr/>
        <p:txBody>
          <a:bodyPr wrap="square"/>
          <a:lstStyle/>
          <a:p>
            <a:r>
              <a:t>+24.9%</a:t>
            </a:r>
          </a:p>
        </p:txBody>
      </p:sp>
      <p:sp>
        <p:nvSpPr>
          <p:cNvPr id="7" name="Text Placeholder 6"/>
          <p:cNvSpPr>
            <a:spLocks noGrp="1"/>
          </p:cNvSpPr>
          <p:nvPr>
            <p:ph type="body" idx="4"/>
          </p:nvPr>
        </p:nvSpPr>
        <p:spPr/>
        <p:txBody>
          <a:bodyPr wrap="square"/>
          <a:lstStyle/>
          <a:p>
            <a:r>
              <a:t>Mean uplift across all fourteen</a:t>
            </a:r>
          </a:p>
        </p:txBody>
      </p:sp>
      <p:sp>
        <p:nvSpPr>
          <p:cNvPr id="8" name="Text Placeholder 7"/>
          <p:cNvSpPr>
            <a:spLocks noGrp="1"/>
          </p:cNvSpPr>
          <p:nvPr>
            <p:ph type="body" idx="5"/>
          </p:nvPr>
        </p:nvSpPr>
        <p:spPr/>
        <p:txBody>
          <a:bodyPr wrap="square"/>
          <a:lstStyle/>
          <a:p>
            <a:r>
              <a:t>+14%</a:t>
            </a:r>
          </a:p>
        </p:txBody>
      </p:sp>
      <p:sp>
        <p:nvSpPr>
          <p:cNvPr id="9" name="Text Placeholder 8"/>
          <p:cNvSpPr>
            <a:spLocks noGrp="1"/>
          </p:cNvSpPr>
          <p:nvPr>
            <p:ph type="body" idx="6"/>
          </p:nvPr>
        </p:nvSpPr>
        <p:spPr/>
        <p:txBody>
          <a:bodyPr wrap="square"/>
          <a:lstStyle/>
          <a:p>
            <a:r>
              <a:t>Median uplift — the typical result</a:t>
            </a:r>
          </a:p>
        </p:txBody>
      </p:sp>
      <p:sp>
        <p:nvSpPr>
          <p:cNvPr id="10" name="Text Placeholder 9"/>
          <p:cNvSpPr>
            <a:spLocks noGrp="1"/>
          </p:cNvSpPr>
          <p:nvPr>
            <p:ph type="body" idx="7"/>
          </p:nvPr>
        </p:nvSpPr>
        <p:spPr/>
        <p:txBody>
          <a:bodyPr wrap="square"/>
          <a:lstStyle/>
          <a:p>
            <a:r>
              <a:t>+86%</a:t>
            </a:r>
          </a:p>
        </p:txBody>
      </p:sp>
      <p:sp>
        <p:nvSpPr>
          <p:cNvPr id="11" name="Text Placeholder 10"/>
          <p:cNvSpPr>
            <a:spLocks noGrp="1"/>
          </p:cNvSpPr>
          <p:nvPr>
            <p:ph type="body" idx="8"/>
          </p:nvPr>
        </p:nvSpPr>
        <p:spPr/>
        <p:txBody>
          <a:bodyPr wrap="square"/>
          <a:lstStyle/>
          <a:p>
            <a:r>
              <a:t>Best single read — Ramadan keywords</a:t>
            </a:r>
          </a:p>
        </p:txBody>
      </p:sp>
      <p:sp>
        <p:nvSpPr>
          <p:cNvPr id="12" name="Text Placeholder 11"/>
          <p:cNvSpPr>
            <a:spLocks noGrp="1"/>
          </p:cNvSpPr>
          <p:nvPr>
            <p:ph type="body" idx="9"/>
          </p:nvPr>
        </p:nvSpPr>
        <p:spPr/>
        <p:txBody>
          <a:bodyPr wrap="square"/>
          <a:lstStyle/>
          <a:p>
            <a:r>
              <a:t>0</a:t>
            </a:r>
          </a:p>
        </p:txBody>
      </p:sp>
      <p:sp>
        <p:nvSpPr>
          <p:cNvPr id="13" name="Text Placeholder 12"/>
          <p:cNvSpPr>
            <a:spLocks noGrp="1"/>
          </p:cNvSpPr>
          <p:nvPr>
            <p:ph type="body" idx="10"/>
          </p:nvPr>
        </p:nvSpPr>
        <p:spPr/>
        <p:txBody>
          <a:bodyPr wrap="square"/>
          <a:lstStyle/>
          <a:p>
            <a:r>
              <a:t>Completed tests returning negative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Uplift by completed test</a:t>
            </a:r>
          </a:p>
        </p:txBody>
      </p:sp>
      <p:graphicFrame>
        <p:nvGraphicFramePr>
          <p:cNvPr id="5" name="Table 4"/>
          <p:cNvGraphicFramePr>
            <a:graphicFrameLocks noGrp="1"/>
          </p:cNvGraphicFramePr>
          <p:nvPr/>
        </p:nvGraphicFramePr>
        <p:xfrm>
          <a:off x="612648" y="1847088"/>
          <a:ext cx="10972800" cy="3794760"/>
        </p:xfrm>
        <a:graphic>
          <a:graphicData uri="http://schemas.openxmlformats.org/drawingml/2006/table">
            <a:tbl>
              <a:tblPr firstRow="0" bandRow="1">
                <a:tableStyleId>{5C22544A-7EE6-4342-B048-85BDC9FD1C3A}</a:tableStyleId>
              </a:tblPr>
              <a:tblGrid>
                <a:gridCol w="9326880"/>
                <a:gridCol w="1645920"/>
              </a:tblGrid>
              <a:tr h="474345">
                <a:tc>
                  <a:txBody>
                    <a:bodyPr/>
                    <a:lstStyle/>
                    <a:p>
                      <a:r>
                        <a:rPr sz="1100"/>
                        <a:t>Ramadan researched keywords</a:t>
                      </a:r>
                    </a:p>
                  </a:txBody>
                  <a:tcPr/>
                </a:tc>
                <a:tc>
                  <a:txBody>
                    <a:bodyPr/>
                    <a:lstStyle/>
                    <a:p>
                      <a:r>
                        <a:rPr sz="1100"/>
                        <a:t>+86%</a:t>
                      </a:r>
                    </a:p>
                  </a:txBody>
                  <a:tcPr/>
                </a:tc>
              </a:tr>
              <a:tr h="474345">
                <a:tc>
                  <a:txBody>
                    <a:bodyPr/>
                    <a:lstStyle/>
                    <a:p>
                      <a:r>
                        <a:rPr sz="1100"/>
                        <a:t>Keywords — Dresses (ladies &amp; kids)</a:t>
                      </a:r>
                    </a:p>
                  </a:txBody>
                  <a:tcPr/>
                </a:tc>
                <a:tc>
                  <a:txBody>
                    <a:bodyPr/>
                    <a:lstStyle/>
                    <a:p>
                      <a:r>
                        <a:rPr sz="1100"/>
                        <a:t>+61%</a:t>
                      </a:r>
                    </a:p>
                  </a:txBody>
                  <a:tcPr/>
                </a:tc>
              </a:tr>
              <a:tr h="474345">
                <a:tc>
                  <a:txBody>
                    <a:bodyPr/>
                    <a:lstStyle/>
                    <a:p>
                      <a:r>
                        <a:rPr sz="1100"/>
                        <a:t>Competitor keywords — Womenswear</a:t>
                      </a:r>
                    </a:p>
                  </a:txBody>
                  <a:tcPr/>
                </a:tc>
                <a:tc>
                  <a:txBody>
                    <a:bodyPr/>
                    <a:lstStyle/>
                    <a:p>
                      <a:r>
                        <a:rPr sz="1100"/>
                        <a:t>+39%</a:t>
                      </a:r>
                    </a:p>
                  </a:txBody>
                  <a:tcPr/>
                </a:tc>
              </a:tr>
              <a:tr h="474345">
                <a:tc>
                  <a:txBody>
                    <a:bodyPr/>
                    <a:lstStyle/>
                    <a:p>
                      <a:r>
                        <a:rPr sz="1100"/>
                        <a:t>Title test — [Ladies] vs [Women]</a:t>
                      </a:r>
                    </a:p>
                  </a:txBody>
                  <a:tcPr/>
                </a:tc>
                <a:tc>
                  <a:txBody>
                    <a:bodyPr/>
                    <a:lstStyle/>
                    <a:p>
                      <a:r>
                        <a:rPr sz="1100"/>
                        <a:t>+28%</a:t>
                      </a:r>
                    </a:p>
                  </a:txBody>
                  <a:tcPr/>
                </a:tc>
              </a:tr>
              <a:tr h="474345">
                <a:tc>
                  <a:txBody>
                    <a:bodyPr/>
                    <a:lstStyle/>
                    <a:p>
                      <a:r>
                        <a:rPr sz="1100"/>
                        <a:t>Keywords — Beachwear &amp; Swimwear</a:t>
                      </a:r>
                    </a:p>
                  </a:txBody>
                  <a:tcPr/>
                </a:tc>
                <a:tc>
                  <a:txBody>
                    <a:bodyPr/>
                    <a:lstStyle/>
                    <a:p>
                      <a:r>
                        <a:rPr sz="1100"/>
                        <a:t>+27%</a:t>
                      </a:r>
                    </a:p>
                  </a:txBody>
                  <a:tcPr/>
                </a:tc>
              </a:tr>
              <a:tr h="474345">
                <a:tc>
                  <a:txBody>
                    <a:bodyPr/>
                    <a:lstStyle/>
                    <a:p>
                      <a:r>
                        <a:rPr sz="1100"/>
                        <a:t>Keywords — Wedding products</a:t>
                      </a:r>
                    </a:p>
                  </a:txBody>
                  <a:tcPr/>
                </a:tc>
                <a:tc>
                  <a:txBody>
                    <a:bodyPr/>
                    <a:lstStyle/>
                    <a:p>
                      <a:r>
                        <a:rPr sz="1100"/>
                        <a:t>+24%</a:t>
                      </a:r>
                    </a:p>
                  </a:txBody>
                  <a:tcPr/>
                </a:tc>
              </a:tr>
              <a:tr h="474345">
                <a:tc>
                  <a:txBody>
                    <a:bodyPr/>
                    <a:lstStyle/>
                    <a:p>
                      <a:r>
                        <a:rPr sz="1100"/>
                        <a:t>Competitor keywords — Bridal</a:t>
                      </a:r>
                    </a:p>
                  </a:txBody>
                  <a:tcPr/>
                </a:tc>
                <a:tc>
                  <a:txBody>
                    <a:bodyPr/>
                    <a:lstStyle/>
                    <a:p>
                      <a:r>
                        <a:rPr sz="1100"/>
                        <a:t>+20%</a:t>
                      </a:r>
                    </a:p>
                  </a:txBody>
                  <a:tcPr/>
                </a:tc>
              </a:tr>
              <a:tr h="474345">
                <a:tc>
                  <a:txBody>
                    <a:bodyPr/>
                    <a:lstStyle/>
                    <a:p>
                      <a:r>
                        <a:rPr sz="1100"/>
                        <a:t>Keywords — Shoes</a:t>
                      </a:r>
                    </a:p>
                  </a:txBody>
                  <a:tcPr/>
                </a:tc>
                <a:tc>
                  <a:txBody>
                    <a:bodyPr/>
                    <a:lstStyle/>
                    <a:p>
                      <a:r>
                        <a:rPr sz="1100"/>
                        <a:t>+16%</a:t>
                      </a:r>
                    </a:p>
                  </a:txBody>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0" bandRow="1">
                <a:tableStyleId>{5C22544A-7EE6-4342-B048-85BDC9FD1C3A}</a:tableStyleId>
              </a:tblPr>
              <a:tblGrid>
                <a:gridCol w="8977745"/>
                <a:gridCol w="1995054"/>
              </a:tblGrid>
              <a:tr h="632460">
                <a:tc>
                  <a:txBody>
                    <a:bodyPr/>
                    <a:lstStyle/>
                    <a:p>
                      <a:r>
                        <a:rPr sz="1100"/>
                        <a:t>Keywords — Kid Outerwear</a:t>
                      </a:r>
                    </a:p>
                  </a:txBody>
                  <a:tcPr/>
                </a:tc>
                <a:tc>
                  <a:txBody>
                    <a:bodyPr/>
                    <a:lstStyle/>
                    <a:p>
                      <a:r>
                        <a:rPr sz="1100"/>
                        <a:t>+12%</a:t>
                      </a:r>
                    </a:p>
                  </a:txBody>
                  <a:tcPr/>
                </a:tc>
              </a:tr>
              <a:tr h="632460">
                <a:tc>
                  <a:txBody>
                    <a:bodyPr/>
                    <a:lstStyle/>
                    <a:p>
                      <a:r>
                        <a:rPr sz="1100"/>
                        <a:t>Keywords — Ladies Outerwear</a:t>
                      </a:r>
                    </a:p>
                  </a:txBody>
                  <a:tcPr/>
                </a:tc>
                <a:tc>
                  <a:txBody>
                    <a:bodyPr/>
                    <a:lstStyle/>
                    <a:p>
                      <a:r>
                        <a:rPr sz="1100"/>
                        <a:t>+11%</a:t>
                      </a:r>
                    </a:p>
                  </a:txBody>
                  <a:tcPr/>
                </a:tc>
              </a:tr>
              <a:tr h="632460">
                <a:tc>
                  <a:txBody>
                    <a:bodyPr/>
                    <a:lstStyle/>
                    <a:p>
                      <a:r>
                        <a:rPr sz="1100"/>
                        <a:t>Keywords — Ladies Occasion</a:t>
                      </a:r>
                    </a:p>
                  </a:txBody>
                  <a:tcPr/>
                </a:tc>
                <a:tc>
                  <a:txBody>
                    <a:bodyPr/>
                    <a:lstStyle/>
                    <a:p>
                      <a:r>
                        <a:rPr sz="1100"/>
                        <a:t>+9%</a:t>
                      </a:r>
                    </a:p>
                  </a:txBody>
                  <a:tcPr/>
                </a:tc>
              </a:tr>
              <a:tr h="632460">
                <a:tc>
                  <a:txBody>
                    <a:bodyPr/>
                    <a:lstStyle/>
                    <a:p>
                      <a:r>
                        <a:rPr sz="1100"/>
                        <a:t>Keywords — Denim</a:t>
                      </a:r>
                    </a:p>
                  </a:txBody>
                  <a:tcPr/>
                </a:tc>
                <a:tc>
                  <a:txBody>
                    <a:bodyPr/>
                    <a:lstStyle/>
                    <a:p>
                      <a:r>
                        <a:rPr sz="1100"/>
                        <a:t>+8%</a:t>
                      </a:r>
                    </a:p>
                  </a:txBody>
                  <a:tcPr/>
                </a:tc>
              </a:tr>
              <a:tr h="632460">
                <a:tc>
                  <a:txBody>
                    <a:bodyPr/>
                    <a:lstStyle/>
                    <a:p>
                      <a:r>
                        <a:rPr sz="1100"/>
                        <a:t>Competitor keywords — Kids</a:t>
                      </a:r>
                    </a:p>
                  </a:txBody>
                  <a:tcPr/>
                </a:tc>
                <a:tc>
                  <a:txBody>
                    <a:bodyPr/>
                    <a:lstStyle/>
                    <a:p>
                      <a:r>
                        <a:rPr sz="1100"/>
                        <a:t>+4%</a:t>
                      </a:r>
                    </a:p>
                  </a:txBody>
                  <a:tcPr/>
                </a:tc>
              </a:tr>
              <a:tr h="632460">
                <a:tc>
                  <a:txBody>
                    <a:bodyPr/>
                    <a:lstStyle/>
                    <a:p>
                      <a:r>
                        <a:rPr sz="1100"/>
                        <a:t>Keywords — Kid Partywear</a:t>
                      </a:r>
                    </a:p>
                  </a:txBody>
                  <a:tcPr/>
                </a:tc>
                <a:tc>
                  <a:txBody>
                    <a:bodyPr/>
                    <a:lstStyle/>
                    <a:p>
                      <a:r>
                        <a:rPr sz="1100"/>
                        <a:t>+4%</a:t>
                      </a:r>
                    </a:p>
                  </a:txBody>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rPr sz="1639"/>
              <a:t>Two title tests reached opposite conclusions</a:t>
            </a:r>
          </a:p>
        </p:txBody>
      </p:sp>
      <p:sp>
        <p:nvSpPr>
          <p:cNvPr id="5" name="Text Placeholder 4"/>
          <p:cNvSpPr>
            <a:spLocks noGrp="1"/>
          </p:cNvSpPr>
          <p:nvPr>
            <p:ph type="body" idx="2"/>
          </p:nvPr>
        </p:nvSpPr>
        <p:spPr/>
        <p:txBody>
          <a:bodyPr wrap="square"/>
          <a:lstStyle/>
          <a:p>
            <a:r>
              <a:t>The plan carries both: line 13.8, "Run title tests (ladies vs women) — agreed by client → Ladies wins +28% uplift", and line 5, "A/B Title Test [Womens] vs. [Ladies] → Women's wins". Both are marked Done. Only one carries a number.</a:t>
            </a:r>
          </a:p>
          <a:p>
            <a:r>
              <a:t>Stated rather than resolved, because resolving it by picking the one with a percentage attached would be a guess. Most likely they ran in different categories or windows — Ray to confirm which is current before either is treated as settled.</a:t>
            </a:r>
          </a:p>
        </p:txBody>
      </p:sp>
      <p:sp>
        <p:nvSpPr>
          <p:cNvPr id="6" name="Text Placeholder 5"/>
          <p:cNvSpPr>
            <a:spLocks noGrp="1"/>
          </p:cNvSpPr>
          <p:nvPr>
            <p:ph type="body" idx="3"/>
          </p:nvPr>
        </p:nvSpPr>
        <p:spPr/>
        <p:txBody>
          <a:bodyPr wrap="square"/>
          <a:lstStyle/>
          <a:p>
            <a:r>
              <a:t>Reading the archive honestly</a:t>
            </a:r>
          </a:p>
        </p:txBody>
      </p:sp>
      <p:sp>
        <p:nvSpPr>
          <p:cNvPr id="7" name="Text Placeholder 6"/>
          <p:cNvSpPr>
            <a:spLocks noGrp="1"/>
          </p:cNvSpPr>
          <p:nvPr>
            <p:ph type="body" idx="4"/>
          </p:nvPr>
        </p:nvSpPr>
        <p:spPr/>
        <p:txBody>
          <a:bodyPr wrap="square"/>
          <a:lstStyle/>
          <a:p>
            <a:r>
              <a:t>No completed keyword test on this account has returned a negative read, which is unusual and worth saying plainly rather than glossing: it more likely reflects which tests got written up than a method that never fails.</a:t>
            </a:r>
          </a:p>
          <a:p>
            <a:r>
              <a:t>The median (+14%) is the number to plan against, not the mean (+24.9%) — two large seasonal reads pull the average well above the typical result.</a:t>
            </a:r>
          </a:p>
        </p:txBody>
      </p:sp>
      <p:sp>
        <p:nvSpPr>
          <p:cNvPr id="8" name="Text Placeholder 7"/>
          <p:cNvSpPr>
            <a:spLocks noGrp="1"/>
          </p:cNvSpPr>
          <p:nvPr>
            <p:ph type="body" idx="14"/>
          </p:nvPr>
        </p:nvSpPr>
        <p:spPr/>
        <p:txBody>
          <a:bodyPr wrap="square"/>
          <a:lstStyle/>
          <a:p>
            <a:r>
              <a:t>Live right now: two AI-generated A/B tests are reading — Monsoon Dresses and Accessorize Bags, full-price SKUs only.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ten</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Three things blocked on client data, one rollout that pays for itself, and a testing schedule that has to land before Peak.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t>Clear what is waiting on data</a:t>
            </a:r>
          </a:p>
        </p:txBody>
      </p:sp>
      <p:sp>
        <p:nvSpPr>
          <p:cNvPr id="6" name="Text Placeholder 5"/>
          <p:cNvSpPr>
            <a:spLocks noGrp="1"/>
          </p:cNvSpPr>
          <p:nvPr>
            <p:ph type="body" idx="3"/>
          </p:nvPr>
        </p:nvSpPr>
        <p:spPr/>
        <p:txBody>
          <a:bodyPr wrap="square"/>
          <a:lstStyle/>
          <a:p>
            <a:r>
              <a:t>Aug – Sep 2026</a:t>
            </a:r>
          </a:p>
          <a:p>
            <a:r>
              <a:t>Margin &amp; return-rate file — Liam</a:t>
            </a:r>
          </a:p>
          <a:p>
            <a:r>
              <a:t>Low-performer business list — Henry</a:t>
            </a:r>
          </a:p>
          <a:p>
            <a:r>
              <a:t>LIA store nomination — Marie</a:t>
            </a:r>
          </a:p>
          <a:p>
            <a:r>
              <a:t>Google Sheet access confirmed</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rPr sz="1580"/>
              <a:t>Take the proven levers to the catalogue</a:t>
            </a:r>
          </a:p>
        </p:txBody>
      </p:sp>
      <p:sp>
        <p:nvSpPr>
          <p:cNvPr id="9" name="Text Placeholder 8"/>
          <p:cNvSpPr>
            <a:spLocks noGrp="1"/>
          </p:cNvSpPr>
          <p:nvPr>
            <p:ph type="body" idx="6"/>
          </p:nvPr>
        </p:nvSpPr>
        <p:spPr/>
        <p:txBody>
          <a:bodyPr wrap="square"/>
          <a:lstStyle/>
          <a:p>
            <a:r>
              <a:t>Sep – Oct 2026</a:t>
            </a:r>
          </a:p>
          <a:p>
            <a:r>
              <a:t>Keyword rollout — 4.9% → full catalogue</a:t>
            </a:r>
          </a:p>
          <a:p>
            <a:r>
              <a:t>[Sale Features] into titles, MON &amp; ACC</a:t>
            </a:r>
          </a:p>
          <a:p>
            <a:r>
              <a:t>CL1 margin matrix once data lands</a:t>
            </a:r>
          </a:p>
          <a:p>
            <a:r>
              <a:t>Title length toward the 80–120 band</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rPr sz="1689"/>
              <a:t>Stable, no architecture changes</a:t>
            </a:r>
          </a:p>
        </p:txBody>
      </p:sp>
      <p:sp>
        <p:nvSpPr>
          <p:cNvPr id="12" name="Text Placeholder 11"/>
          <p:cNvSpPr>
            <a:spLocks noGrp="1"/>
          </p:cNvSpPr>
          <p:nvPr>
            <p:ph type="body" idx="9"/>
          </p:nvPr>
        </p:nvSpPr>
        <p:spPr/>
        <p:txBody>
          <a:bodyPr wrap="square"/>
          <a:lstStyle/>
          <a:p>
            <a:r>
              <a:t>Nov – Dec 2026</a:t>
            </a:r>
          </a:p>
          <a:p>
            <a:r>
              <a:t>Trading calendar promotions on GMC</a:t>
            </a:r>
          </a:p>
          <a:p>
            <a:r>
              <a:t>Overlay creative via the duplicate feed</a:t>
            </a:r>
          </a:p>
          <a:p>
            <a:r>
              <a:t>Disapproval and stock monitoring</a:t>
            </a:r>
          </a:p>
          <a:p>
            <a:r>
              <a:t>Read the two live AI tests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790832"/>
                <a:gridCol w="2718486"/>
                <a:gridCol w="5766486"/>
                <a:gridCol w="906162"/>
                <a:gridCol w="790832"/>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Owner</a:t>
                      </a:r>
                    </a:p>
                  </a:txBody>
                  <a:tcPr/>
                </a:tc>
                <a:tc>
                  <a:txBody>
                    <a:bodyPr/>
                    <a:lstStyle/>
                    <a:p>
                      <a:r>
                        <a:rPr sz="1300" b="1">
                          <a:solidFill>
                            <a:srgbClr val="FFFFFF"/>
                          </a:solidFill>
                        </a:rPr>
                        <a:t>Priority</a:t>
                      </a:r>
                    </a:p>
                  </a:txBody>
                  <a:tcPr/>
                </a:tc>
              </a:tr>
              <a:tr h="426339">
                <a:tc>
                  <a:txBody>
                    <a:bodyPr/>
                    <a:lstStyle/>
                    <a:p>
                      <a:r>
                        <a:rPr sz="1100"/>
                        <a:t>W1</a:t>
                      </a:r>
                    </a:p>
                  </a:txBody>
                  <a:tcPr/>
                </a:tc>
                <a:tc>
                  <a:txBody>
                    <a:bodyPr/>
                    <a:lstStyle/>
                    <a:p>
                      <a:r>
                        <a:rPr sz="1100"/>
                        <a:t>Keyword rollout to full catalogue</a:t>
                      </a:r>
                    </a:p>
                  </a:txBody>
                  <a:tcPr/>
                </a:tc>
                <a:tc>
                  <a:txBody>
                    <a:bodyPr/>
                    <a:lstStyle/>
                    <a:p>
                      <a:r>
                        <a:rPr sz="1100"/>
                        <a:t>Extend the proven keyword method past the current 4.9% of SKUs</a:t>
                      </a:r>
                    </a:p>
                  </a:txBody>
                  <a:tcPr/>
                </a:tc>
                <a:tc>
                  <a:txBody>
                    <a:bodyPr/>
                    <a:lstStyle/>
                    <a:p>
                      <a:r>
                        <a:rPr sz="1100"/>
                        <a:t>ASPL / Ray</a:t>
                      </a:r>
                    </a:p>
                  </a:txBody>
                  <a:tcPr/>
                </a:tc>
                <a:tc>
                  <a:txBody>
                    <a:bodyPr/>
                    <a:lstStyle/>
                    <a:p>
                      <a:r>
                        <a:rPr sz="1100" b="1">
                          <a:solidFill>
                            <a:srgbClr val="2E7D32"/>
                          </a:solidFill>
                        </a:rPr>
                        <a:t>High</a:t>
                      </a:r>
                    </a:p>
                  </a:txBody>
                  <a:tcPr/>
                </a:tc>
              </a:tr>
              <a:tr h="426339">
                <a:tc>
                  <a:txBody>
                    <a:bodyPr/>
                    <a:lstStyle/>
                    <a:p>
                      <a:r>
                        <a:rPr sz="1100"/>
                        <a:t>W2</a:t>
                      </a:r>
                    </a:p>
                  </a:txBody>
                  <a:tcPr/>
                </a:tc>
                <a:tc>
                  <a:txBody>
                    <a:bodyPr/>
                    <a:lstStyle/>
                    <a:p>
                      <a:r>
                        <a:rPr sz="1100"/>
                        <a:t>Margin matrix into CL1</a:t>
                      </a:r>
                    </a:p>
                  </a:txBody>
                  <a:tcPr/>
                </a:tc>
                <a:tc>
                  <a:txBody>
                    <a:bodyPr/>
                    <a:lstStyle/>
                    <a:p>
                      <a:r>
                        <a:rPr sz="1100"/>
                        <a:t>Liam's margin, clearance-flag and return-rate file</a:t>
                      </a:r>
                    </a:p>
                  </a:txBody>
                  <a:tcPr/>
                </a:tc>
                <a:tc>
                  <a:txBody>
                    <a:bodyPr/>
                    <a:lstStyle/>
                    <a:p>
                      <a:r>
                        <a:rPr sz="1100"/>
                        <a:t>Liam → Ray</a:t>
                      </a:r>
                    </a:p>
                  </a:txBody>
                  <a:tcPr/>
                </a:tc>
                <a:tc>
                  <a:txBody>
                    <a:bodyPr/>
                    <a:lstStyle/>
                    <a:p>
                      <a:r>
                        <a:rPr sz="1100" b="1">
                          <a:solidFill>
                            <a:srgbClr val="2E7D32"/>
                          </a:solidFill>
                        </a:rPr>
                        <a:t>High</a:t>
                      </a:r>
                    </a:p>
                  </a:txBody>
                  <a:tcPr/>
                </a:tc>
              </a:tr>
              <a:tr h="426339">
                <a:tc>
                  <a:txBody>
                    <a:bodyPr/>
                    <a:lstStyle/>
                    <a:p>
                      <a:r>
                        <a:rPr sz="1100"/>
                        <a:t>W3</a:t>
                      </a:r>
                    </a:p>
                  </a:txBody>
                  <a:tcPr/>
                </a:tc>
                <a:tc>
                  <a:txBody>
                    <a:bodyPr/>
                    <a:lstStyle/>
                    <a:p>
                      <a:r>
                        <a:rPr sz="1100"/>
                        <a:t>Low-performer exclusion workflow</a:t>
                      </a:r>
                    </a:p>
                  </a:txBody>
                  <a:tcPr/>
                </a:tc>
                <a:tc>
                  <a:txBody>
                    <a:bodyPr/>
                    <a:lstStyle/>
                    <a:p>
                      <a:r>
                        <a:rPr sz="1100"/>
                        <a:t>Henry's business list, then excluded_destination against the CL3 flags</a:t>
                      </a:r>
                    </a:p>
                  </a:txBody>
                  <a:tcPr/>
                </a:tc>
                <a:tc>
                  <a:txBody>
                    <a:bodyPr/>
                    <a:lstStyle/>
                    <a:p>
                      <a:r>
                        <a:rPr sz="1100"/>
                        <a:t>Henry → Ray</a:t>
                      </a:r>
                    </a:p>
                  </a:txBody>
                  <a:tcPr/>
                </a:tc>
                <a:tc>
                  <a:txBody>
                    <a:bodyPr/>
                    <a:lstStyle/>
                    <a:p>
                      <a:r>
                        <a:rPr sz="1100" b="1">
                          <a:solidFill>
                            <a:srgbClr val="2E7D32"/>
                          </a:solidFill>
                        </a:rPr>
                        <a:t>High</a:t>
                      </a:r>
                    </a:p>
                  </a:txBody>
                  <a:tcPr/>
                </a:tc>
              </a:tr>
              <a:tr h="426339">
                <a:tc>
                  <a:txBody>
                    <a:bodyPr/>
                    <a:lstStyle/>
                    <a:p>
                      <a:r>
                        <a:rPr sz="1100"/>
                        <a:t>W4</a:t>
                      </a:r>
                    </a:p>
                  </a:txBody>
                  <a:tcPr/>
                </a:tc>
                <a:tc>
                  <a:txBody>
                    <a:bodyPr/>
                    <a:lstStyle/>
                    <a:p>
                      <a:r>
                        <a:rPr sz="1100"/>
                        <a:t>[Sale Features] rollout to titles</a:t>
                      </a:r>
                    </a:p>
                  </a:txBody>
                  <a:tcPr/>
                </a:tc>
                <a:tc>
                  <a:txBody>
                    <a:bodyPr/>
                    <a:lstStyle/>
                    <a:p>
                      <a:r>
                        <a:rPr sz="1100"/>
                        <a:t>Nothing — the A/B has already been won, this is deployment</a:t>
                      </a:r>
                    </a:p>
                  </a:txBody>
                  <a:tcPr/>
                </a:tc>
                <a:tc>
                  <a:txBody>
                    <a:bodyPr/>
                    <a:lstStyle/>
                    <a:p>
                      <a:r>
                        <a:rPr sz="1100"/>
                        <a:t>Ezgi</a:t>
                      </a:r>
                    </a:p>
                  </a:txBody>
                  <a:tcPr/>
                </a:tc>
                <a:tc>
                  <a:txBody>
                    <a:bodyPr/>
                    <a:lstStyle/>
                    <a:p>
                      <a:r>
                        <a:rPr sz="1100" b="1">
                          <a:solidFill>
                            <a:srgbClr val="2E7D32"/>
                          </a:solidFill>
                        </a:rPr>
                        <a:t>High</a:t>
                      </a:r>
                    </a:p>
                  </a:txBody>
                  <a:tcPr/>
                </a:tc>
              </a:tr>
              <a:tr h="426339">
                <a:tc>
                  <a:txBody>
                    <a:bodyPr/>
                    <a:lstStyle/>
                    <a:p>
                      <a:r>
                        <a:rPr sz="1100"/>
                        <a:t>W5</a:t>
                      </a:r>
                    </a:p>
                  </a:txBody>
                  <a:tcPr/>
                </a:tc>
                <a:tc>
                  <a:txBody>
                    <a:bodyPr/>
                    <a:lstStyle/>
                    <a:p>
                      <a:r>
                        <a:rPr sz="1100"/>
                        <a:t>LIA for Monsoon</a:t>
                      </a:r>
                    </a:p>
                  </a:txBody>
                  <a:tcPr/>
                </a:tc>
                <a:tc>
                  <a:txBody>
                    <a:bodyPr/>
                    <a:lstStyle/>
                    <a:p>
                      <a:r>
                        <a:rPr sz="1100"/>
                        <a:t>One nominated store and an inventory check</a:t>
                      </a:r>
                    </a:p>
                  </a:txBody>
                  <a:tcPr/>
                </a:tc>
                <a:tc>
                  <a:txBody>
                    <a:bodyPr/>
                    <a:lstStyle/>
                    <a:p>
                      <a:r>
                        <a:rPr sz="1100"/>
                        <a:t>Marie / Ray</a:t>
                      </a:r>
                    </a:p>
                  </a:txBody>
                  <a:tcPr/>
                </a:tc>
                <a:tc>
                  <a:txBody>
                    <a:bodyPr/>
                    <a:lstStyle/>
                    <a:p>
                      <a:r>
                        <a:rPr sz="1100" b="1">
                          <a:solidFill>
                            <a:srgbClr val="ED6F0B"/>
                          </a:solidFill>
                        </a:rPr>
                        <a:t>Medium</a:t>
                      </a:r>
                    </a:p>
                  </a:txBody>
                  <a:tcPr/>
                </a:tc>
              </a:tr>
              <a:tr h="426339">
                <a:tc>
                  <a:txBody>
                    <a:bodyPr/>
                    <a:lstStyle/>
                    <a:p>
                      <a:r>
                        <a:rPr sz="1100"/>
                        <a:t>W6</a:t>
                      </a:r>
                    </a:p>
                  </a:txBody>
                  <a:tcPr/>
                </a:tc>
                <a:tc>
                  <a:txBody>
                    <a:bodyPr/>
                    <a:lstStyle/>
                    <a:p>
                      <a:r>
                        <a:rPr sz="1100"/>
                        <a:t>AI visual extraction with SEO</a:t>
                      </a:r>
                    </a:p>
                  </a:txBody>
                  <a:tcPr/>
                </a:tc>
                <a:tc>
                  <a:txBody>
                    <a:bodyPr/>
                    <a:lstStyle/>
                    <a:p>
                      <a:r>
                        <a:rPr sz="1100"/>
                        <a:t>Scope agreed with the SEO team; currently at 1.2% of catalogue</a:t>
                      </a:r>
                    </a:p>
                  </a:txBody>
                  <a:tcPr/>
                </a:tc>
                <a:tc>
                  <a:txBody>
                    <a:bodyPr/>
                    <a:lstStyle/>
                    <a:p>
                      <a:r>
                        <a:rPr sz="1100"/>
                        <a:t>Ray / Matt</a:t>
                      </a:r>
                    </a:p>
                  </a:txBody>
                  <a:tcPr/>
                </a:tc>
                <a:tc>
                  <a:txBody>
                    <a:bodyPr/>
                    <a:lstStyle/>
                    <a:p>
                      <a:r>
                        <a:rPr sz="1100" b="1">
                          <a:solidFill>
                            <a:srgbClr val="ED6F0B"/>
                          </a:solidFill>
                        </a:rPr>
                        <a:t>Medium</a:t>
                      </a:r>
                    </a:p>
                  </a:txBody>
                  <a:tcPr/>
                </a:tc>
              </a:tr>
              <a:tr h="426339">
                <a:tc>
                  <a:txBody>
                    <a:bodyPr/>
                    <a:lstStyle/>
                    <a:p>
                      <a:r>
                        <a:rPr sz="1100"/>
                        <a:t>W7</a:t>
                      </a:r>
                    </a:p>
                  </a:txBody>
                  <a:tcPr/>
                </a:tc>
                <a:tc>
                  <a:txBody>
                    <a:bodyPr/>
                    <a:lstStyle/>
                    <a:p>
                      <a:r>
                        <a:rPr sz="1100"/>
                        <a:t>Title length toward the MASK band</a:t>
                      </a:r>
                    </a:p>
                  </a:txBody>
                  <a:tcPr/>
                </a:tc>
                <a:tc>
                  <a:txBody>
                    <a:bodyPr/>
                    <a:lstStyle/>
                    <a:p>
                      <a:r>
                        <a:rPr sz="1100"/>
                        <a:t>Rule change — mean 63 chars today, 6.6% in the 80–120 band</a:t>
                      </a:r>
                    </a:p>
                  </a:txBody>
                  <a:tcPr/>
                </a:tc>
                <a:tc>
                  <a:txBody>
                    <a:bodyPr/>
                    <a:lstStyle/>
                    <a:p>
                      <a:r>
                        <a:rPr sz="1100"/>
                        <a:t>Ezgi</a:t>
                      </a:r>
                    </a:p>
                  </a:txBody>
                  <a:tcPr/>
                </a:tc>
                <a:tc>
                  <a:txBody>
                    <a:bodyPr/>
                    <a:lstStyle/>
                    <a:p>
                      <a:r>
                        <a:rPr sz="1100" b="1">
                          <a:solidFill>
                            <a:srgbClr val="ED6F0B"/>
                          </a:solidFill>
                        </a:rPr>
                        <a:t>Medium</a:t>
                      </a:r>
                    </a:p>
                  </a:txBody>
                  <a:tcPr/>
                </a:tc>
              </a:tr>
              <a:tr h="426339">
                <a:tc>
                  <a:txBody>
                    <a:bodyPr/>
                    <a:lstStyle/>
                    <a:p>
                      <a:r>
                        <a:rPr sz="1100"/>
                        <a:t>W8</a:t>
                      </a:r>
                    </a:p>
                  </a:txBody>
                  <a:tcPr/>
                </a:tc>
                <a:tc>
                  <a:txBody>
                    <a:bodyPr/>
                    <a:lstStyle/>
                    <a:p>
                      <a:r>
                        <a:rPr sz="1100"/>
                        <a:t>ChatGPT / agentic feed package</a:t>
                      </a:r>
                    </a:p>
                  </a:txBody>
                  <a:tcPr/>
                </a:tc>
                <a:tc>
                  <a:txBody>
                    <a:bodyPr/>
                    <a:lstStyle/>
                    <a:p>
                      <a:r>
                        <a:rPr sz="1100"/>
                        <a:t>Scope and commercials confirmed</a:t>
                      </a:r>
                    </a:p>
                  </a:txBody>
                  <a:tcPr/>
                </a:tc>
                <a:tc>
                  <a:txBody>
                    <a:bodyPr/>
                    <a:lstStyle/>
                    <a:p>
                      <a:r>
                        <a:rPr sz="1100"/>
                        <a:t>Ray</a:t>
                      </a:r>
                    </a:p>
                  </a:txBody>
                  <a:tcPr/>
                </a:tc>
                <a:tc>
                  <a:txBody>
                    <a:bodyPr/>
                    <a:lstStyle/>
                    <a:p>
                      <a:r>
                        <a:rPr sz="1100" b="1">
                          <a:solidFill>
                            <a:srgbClr val="767676"/>
                          </a:solidFill>
                        </a:rPr>
                        <a:t>Low</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graphicFrame>
        <p:nvGraphicFramePr>
          <p:cNvPr id="5" name="Table 4"/>
          <p:cNvGraphicFramePr>
            <a:graphicFrameLocks noGrp="1"/>
          </p:cNvGraphicFramePr>
          <p:nvPr/>
        </p:nvGraphicFramePr>
        <p:xfrm>
          <a:off x="612648" y="1847088"/>
          <a:ext cx="10972798" cy="1069848"/>
        </p:xfrm>
        <a:graphic>
          <a:graphicData uri="http://schemas.openxmlformats.org/drawingml/2006/table">
            <a:tbl>
              <a:tblPr firstRow="1" bandRow="1">
                <a:tableStyleId>{5C22544A-7EE6-4342-B048-85BDC9FD1C3A}</a:tableStyleId>
              </a:tblPr>
              <a:tblGrid>
                <a:gridCol w="786446"/>
                <a:gridCol w="2340614"/>
                <a:gridCol w="6272846"/>
                <a:gridCol w="786446"/>
                <a:gridCol w="786446"/>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Owner</a:t>
                      </a:r>
                    </a:p>
                  </a:txBody>
                  <a:tcPr/>
                </a:tc>
                <a:tc>
                  <a:txBody>
                    <a:bodyPr/>
                    <a:lstStyle/>
                    <a:p>
                      <a:r>
                        <a:rPr sz="1300" b="1">
                          <a:solidFill>
                            <a:srgbClr val="FFFFFF"/>
                          </a:solidFill>
                        </a:rPr>
                        <a:t>Priority</a:t>
                      </a:r>
                    </a:p>
                  </a:txBody>
                  <a:tcPr/>
                </a:tc>
              </a:tr>
              <a:tr h="685800">
                <a:tc>
                  <a:txBody>
                    <a:bodyPr/>
                    <a:lstStyle/>
                    <a:p>
                      <a:r>
                        <a:rPr sz="1100"/>
                        <a:t>W9</a:t>
                      </a:r>
                    </a:p>
                  </a:txBody>
                  <a:tcPr/>
                </a:tc>
                <a:tc>
                  <a:txBody>
                    <a:bodyPr/>
                    <a:lstStyle/>
                    <a:p>
                      <a:r>
                        <a:rPr sz="1100"/>
                        <a:t>Conversational attributes</a:t>
                      </a:r>
                    </a:p>
                  </a:txBody>
                  <a:tcPr/>
                </a:tc>
                <a:tc>
                  <a:txBody>
                    <a:bodyPr/>
                    <a:lstStyle/>
                    <a:p>
                      <a:r>
                        <a:rPr sz="1100"/>
                        <a:t>A build, not a fix — none of the six exist in the feed schema today</a:t>
                      </a:r>
                    </a:p>
                  </a:txBody>
                  <a:tcPr/>
                </a:tc>
                <a:tc>
                  <a:txBody>
                    <a:bodyPr/>
                    <a:lstStyle/>
                    <a:p>
                      <a:r>
                        <a:rPr sz="1100"/>
                        <a:t>Ray</a:t>
                      </a:r>
                    </a:p>
                  </a:txBody>
                  <a:tcPr/>
                </a:tc>
                <a:tc>
                  <a:txBody>
                    <a:bodyPr/>
                    <a:lstStyle/>
                    <a:p>
                      <a:r>
                        <a:rPr sz="1100" b="1">
                          <a:solidFill>
                            <a:srgbClr val="767676"/>
                          </a:solidFill>
                        </a:rPr>
                        <a:t>Low</a:t>
                      </a:r>
                    </a:p>
                  </a:txBody>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 next quarter (cont.)</a:t>
            </a:r>
          </a:p>
        </p:txBody>
      </p:sp>
      <p:sp>
        <p:nvSpPr>
          <p:cNvPr id="4" name="Text Placeholder 3"/>
          <p:cNvSpPr>
            <a:spLocks noGrp="1"/>
          </p:cNvSpPr>
          <p:nvPr>
            <p:ph type="body" idx="1"/>
          </p:nvPr>
        </p:nvSpPr>
        <p:spPr/>
        <p:txBody>
          <a:bodyPr wrap="square"/>
          <a:lstStyle/>
          <a:p>
            <a:r>
              <a:t>Three things we need from Monsoon</a:t>
            </a:r>
          </a:p>
        </p:txBody>
      </p:sp>
      <p:sp>
        <p:nvSpPr>
          <p:cNvPr id="5" name="Text Placeholder 4"/>
          <p:cNvSpPr>
            <a:spLocks noGrp="1"/>
          </p:cNvSpPr>
          <p:nvPr>
            <p:ph type="body" idx="2"/>
          </p:nvPr>
        </p:nvSpPr>
        <p:spPr/>
        <p:txBody>
          <a:bodyPr wrap="square"/>
          <a:lstStyle/>
          <a:p>
            <a:r>
              <a:rPr sz="1500"/>
              <a:t>Each one unblocks a workstream that is already scoped and waiting — none of them needs new budget.</a:t>
            </a:r>
          </a:p>
          <a:p>
            <a:r>
              <a:rPr sz="1500"/>
              <a:t>1. The margin and return-rate file — Liam. Unblocks CL1 and the whole High/Low ROAS-vs-margin matrix.</a:t>
            </a:r>
          </a:p>
          <a:p>
            <a:r>
              <a:rPr sz="1500"/>
              <a:t>2. The low-performer business list — Henry. Unblocks exclusion against 3,374 SKUs already flagged in CL3.</a:t>
            </a:r>
          </a:p>
          <a:p>
            <a:r>
              <a:rPr sz="1500"/>
              <a:t>3. One nominated store — Marie. Unblocks LIA for Monsoon, which is already live on Accessorize.</a:t>
            </a:r>
          </a:p>
        </p:txBody>
      </p:sp>
      <p:sp>
        <p:nvSpPr>
          <p:cNvPr id="6" name="Text Placeholder 5"/>
          <p:cNvSpPr>
            <a:spLocks noGrp="1"/>
          </p:cNvSpPr>
          <p:nvPr>
            <p:ph type="body" idx="3"/>
          </p:nvPr>
        </p:nvSpPr>
        <p:spPr/>
        <p:txBody>
          <a:bodyPr wrap="square"/>
          <a:lstStyle/>
          <a:p>
            <a:r>
              <a:t>Sequencing logic</a:t>
            </a:r>
          </a:p>
        </p:txBody>
      </p:sp>
      <p:sp>
        <p:nvSpPr>
          <p:cNvPr id="7" name="Text Placeholder 6"/>
          <p:cNvSpPr>
            <a:spLocks noGrp="1"/>
          </p:cNvSpPr>
          <p:nvPr>
            <p:ph type="body" idx="4"/>
          </p:nvPr>
        </p:nvSpPr>
        <p:spPr/>
        <p:txBody>
          <a:bodyPr wrap="square"/>
          <a:lstStyle/>
          <a:p>
            <a:r>
              <a:t>W1 and W4 come first because neither is blocked on anybody: the keyword method has fourteen quantified wins behind it and the [Sale Features] A/B has already been decided. Both are pure deployment.</a:t>
            </a:r>
          </a:p>
          <a:p>
            <a:r>
              <a:t>W2, W3 and W5 are chased in parallel because they are client-data dependencies, not effort. Everything structural has to be stable before November — no architecture changes once Peak starts.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Every win on this account came from putting more specific, more decomposable language into the product data. The keyword rollout, the CL1 matrix and the conversational attributes are the next steps on that same line, not a different strategy. The tools are built and proven here; what is left is coverage.</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Ezgi — ezgi@feedspark.com</a:t>
            </a:r>
          </a:p>
          <a:p>
            <a:r>
              <a:t>Steven — steven@feedspark.com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