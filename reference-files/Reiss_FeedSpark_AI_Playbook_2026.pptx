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sldIdLst>
    <p:sldId id="256" r:id="rId3"/>
    <p:sldId id="268" r:id="rId4"/>
    <p:sldId id="269" r:id="rId5"/>
    <p:sldId id="259" r:id="rId6"/>
    <p:sldId id="260" r:id="rId7"/>
    <p:sldId id="261" r:id="rId8"/>
    <p:sldId id="262" r:id="rId9"/>
    <p:sldId id="277" r:id="rId10"/>
    <p:sldId id="264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1" d="100"/>
          <a:sy n="101" d="100"/>
        </p:scale>
        <p:origin x="462" y="1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3072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843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8548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6806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8941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7823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2047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0610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6286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382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721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opLine">
            <a:extLst>
              <a:ext uri="{FF2B5EF4-FFF2-40B4-BE49-F238E27FC236}">
                <a16:creationId xmlns:a16="http://schemas.microsoft.com/office/drawing/2014/main" id="{80F28EFB-C37B-6348-C06F-9E78A0A3A424}"/>
              </a:ext>
            </a:extLst>
          </p:cNvPr>
          <p:cNvSpPr/>
          <p:nvPr userDrawn="1"/>
        </p:nvSpPr>
        <p:spPr>
          <a:xfrm>
            <a:off x="-1" y="893"/>
            <a:ext cx="12188825" cy="36566"/>
          </a:xfrm>
          <a:prstGeom prst="rect">
            <a:avLst/>
          </a:prstGeom>
          <a:gradFill>
            <a:gsLst>
              <a:gs pos="0">
                <a:srgbClr val="F7941E"/>
              </a:gs>
              <a:gs pos="40000">
                <a:srgbClr val="3B82F6"/>
              </a:gs>
              <a:gs pos="70000">
                <a:srgbClr val="8B5CF6"/>
              </a:gs>
              <a:gs pos="100000">
                <a:srgbClr val="EC4899"/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pPr defTabSz="914126"/>
            <a:endParaRPr lang="en-US" sz="1799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opLine">
            <a:extLst>
              <a:ext uri="{FF2B5EF4-FFF2-40B4-BE49-F238E27FC236}">
                <a16:creationId xmlns:a16="http://schemas.microsoft.com/office/drawing/2014/main" id="{C9026212-8107-7BD4-E302-63F4FF28DB2A}"/>
              </a:ext>
            </a:extLst>
          </p:cNvPr>
          <p:cNvSpPr/>
          <p:nvPr userDrawn="1"/>
        </p:nvSpPr>
        <p:spPr>
          <a:xfrm>
            <a:off x="-1" y="893"/>
            <a:ext cx="12188825" cy="36566"/>
          </a:xfrm>
          <a:prstGeom prst="rect">
            <a:avLst/>
          </a:prstGeom>
          <a:gradFill>
            <a:gsLst>
              <a:gs pos="0">
                <a:srgbClr val="F7941E"/>
              </a:gs>
              <a:gs pos="40000">
                <a:srgbClr val="3B82F6"/>
              </a:gs>
              <a:gs pos="70000">
                <a:srgbClr val="8B5CF6"/>
              </a:gs>
              <a:gs pos="100000">
                <a:srgbClr val="EC4899"/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pPr defTabSz="914126"/>
            <a:endParaRPr lang="en-US" sz="1799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042654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.google/products/ads-commerce/agentic-commerce-ai-tools-protocol-retailers-platforms/" TargetMode="Externa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.google/products/ads-commerce/agentic-commerce-ai-tools-protocol-retailers-platforms/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008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 dirty="0">
                <a:solidFill>
                  <a:srgbClr val="FFFFFF"/>
                </a:solidFill>
              </a:rPr>
              <a:t>AI Commerce Readiness 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7315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 dirty="0">
                <a:solidFill>
                  <a:schemeClr val="bg1"/>
                </a:solidFill>
              </a:rPr>
              <a:t>How will product feed optimisation look like from this point onwards?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7941E"/>
                </a:solidFill>
              </a:rPr>
              <a:t>March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4572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chemeClr val="bg1"/>
                </a:solidFill>
              </a:rPr>
              <a:t>Reiss × FeedSpark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FeedSpark  |  Confidential  |  Reiss × AI Playbook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639913" y="1372136"/>
            <a:ext cx="3473815" cy="475364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39913" y="1372136"/>
            <a:ext cx="3473815" cy="50787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453" y="1554968"/>
            <a:ext cx="457081" cy="457081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 i="0">
                <a:solidFill>
                  <a:srgbClr val="64748B"/>
                </a:solidFill>
                <a:latin typeface="Calibri"/>
              </a:defRPr>
            </a:pPr>
            <a:r>
              <a:rPr kumimoji="0" sz="2799" b="1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6994" y="2057757"/>
            <a:ext cx="3016734" cy="319957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 i="0">
                <a:solidFill>
                  <a:srgbClr val="0F172A"/>
                </a:solidFill>
                <a:latin typeface="Calibri"/>
              </a:defRPr>
            </a:pPr>
            <a:r>
              <a:rPr kumimoji="0" sz="1799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LLM Training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453" y="2377714"/>
            <a:ext cx="3016734" cy="274249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0" i="1">
                <a:solidFill>
                  <a:srgbClr val="64748B"/>
                </a:solidFill>
                <a:latin typeface="Calibri"/>
              </a:defRPr>
            </a:pPr>
            <a:r>
              <a:rPr kumimoji="0" sz="1100" b="0" i="1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the model already knows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453" y="2834795"/>
            <a:ext cx="3016734" cy="1645491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0" i="0">
                <a:solidFill>
                  <a:srgbClr val="334155"/>
                </a:solidFill>
                <a:latin typeface="Calibri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AI models learn about products during training on web data. This gives them general knowledge about brands and categories — but it’s static and can be months or years out of date.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453" y="4754535"/>
            <a:ext cx="3016734" cy="109699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577" y="4845951"/>
            <a:ext cx="2742486" cy="274249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 i="0">
                <a:solidFill>
                  <a:srgbClr val="64748B"/>
                </a:solidFill>
                <a:latin typeface="Calibri"/>
              </a:defRPr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Your Control: 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577" y="5165908"/>
            <a:ext cx="2742486" cy="548497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>
                <a:solidFill>
                  <a:srgbClr val="64748B"/>
                </a:solidFill>
                <a:latin typeface="Calibr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You can’t control this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2268" y="1372136"/>
            <a:ext cx="3473815" cy="475364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342268" y="1372136"/>
            <a:ext cx="3473815" cy="50787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0809" y="1554968"/>
            <a:ext cx="457081" cy="457081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 i="0">
                <a:solidFill>
                  <a:srgbClr val="3B82F6"/>
                </a:solidFill>
                <a:latin typeface="Calibri"/>
              </a:defRPr>
            </a:pPr>
            <a:r>
              <a:rPr kumimoji="0" sz="2799" b="1" i="0" u="none" strike="noStrike" kern="1200" cap="none" spc="0" normalizeH="0" baseline="0" noProof="0">
                <a:ln>
                  <a:noFill/>
                </a:ln>
                <a:solidFill>
                  <a:srgbClr val="3B82F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3620" y="2080611"/>
            <a:ext cx="3016734" cy="319957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 i="0">
                <a:solidFill>
                  <a:srgbClr val="0F172A"/>
                </a:solidFill>
                <a:latin typeface="Calibri"/>
              </a:defRPr>
            </a:pPr>
            <a:r>
              <a:rPr kumimoji="0" sz="1799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Web Search &amp; Scraping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0809" y="2377714"/>
            <a:ext cx="3016734" cy="274249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0" i="1">
                <a:solidFill>
                  <a:srgbClr val="64748B"/>
                </a:solidFill>
                <a:latin typeface="Calibri"/>
              </a:defRPr>
            </a:pPr>
            <a:r>
              <a:rPr kumimoji="0" sz="1100" b="0" i="1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the model can find live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0809" y="2834795"/>
            <a:ext cx="3016734" cy="1645491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0" i="0">
                <a:solidFill>
                  <a:srgbClr val="334155"/>
                </a:solidFill>
                <a:latin typeface="Calibri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When asked about products, AI agents can search the web in real-time, pulling from your website, review sites, and structured data (JSON-LD). Google’s Shopping Graph indexes 50 billion+ listings.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0809" y="4754535"/>
            <a:ext cx="3016734" cy="109699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707933" y="4845951"/>
            <a:ext cx="2742486" cy="274249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 i="0">
                <a:solidFill>
                  <a:srgbClr val="3B82F6"/>
                </a:solidFill>
                <a:latin typeface="Calibri"/>
              </a:defRPr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3B82F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Your Control: Medium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7933" y="5165908"/>
            <a:ext cx="2742486" cy="548497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>
                <a:solidFill>
                  <a:srgbClr val="64748B"/>
                </a:solidFill>
                <a:latin typeface="Calibr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You can influence this through SEO &amp; structured data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4624" y="1372136"/>
            <a:ext cx="3473815" cy="475364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044624" y="1372136"/>
            <a:ext cx="3473815" cy="50787"/>
          </a:xfrm>
          <a:prstGeom prst="rect">
            <a:avLst/>
          </a:prstGeom>
          <a:solidFill>
            <a:srgbClr val="F79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73164" y="1554968"/>
            <a:ext cx="457081" cy="457081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 i="0">
                <a:solidFill>
                  <a:srgbClr val="F7941E"/>
                </a:solidFill>
                <a:latin typeface="Calibri"/>
              </a:defRPr>
            </a:pPr>
            <a:r>
              <a:rPr kumimoji="0" sz="2799" b="1" i="0" u="none" strike="noStrike" kern="1200" cap="none" spc="0" normalizeH="0" baseline="0" noProof="0">
                <a:ln>
                  <a:noFill/>
                </a:ln>
                <a:solidFill>
                  <a:srgbClr val="F794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32177" y="2080611"/>
            <a:ext cx="3016734" cy="319957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 i="0">
                <a:solidFill>
                  <a:srgbClr val="0F172A"/>
                </a:solidFill>
                <a:latin typeface="Calibri"/>
              </a:defRPr>
            </a:pPr>
            <a:r>
              <a:rPr kumimoji="0" sz="1799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Direct Feed Integration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3165" y="2377714"/>
            <a:ext cx="3016734" cy="274249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0" i="1">
                <a:solidFill>
                  <a:srgbClr val="64748B"/>
                </a:solidFill>
                <a:latin typeface="Calibri"/>
              </a:defRPr>
            </a:pPr>
            <a:r>
              <a:rPr kumimoji="0" sz="1100" b="0" i="1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you explicitly provide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3165" y="2834795"/>
            <a:ext cx="3016734" cy="1645491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0" i="0">
                <a:solidFill>
                  <a:srgbClr val="334155"/>
                </a:solidFill>
                <a:latin typeface="Calibri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Google Merchant Center feeds power Gemini &amp; AI Mode. ChatGPT accepts direct merchant feeds (CSV/XML/JSON, updated every 15 mins). Perplexity pulls from marketplace feeds. This is the primary data source for AI shopping.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3165" y="4754535"/>
            <a:ext cx="3016734" cy="109699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410289" y="4845951"/>
            <a:ext cx="2742486" cy="274249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 i="0">
                <a:solidFill>
                  <a:srgbClr val="10B981"/>
                </a:solidFill>
                <a:latin typeface="Calibri"/>
              </a:defRPr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Your Control: High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0289" y="5165908"/>
            <a:ext cx="2742486" cy="548497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>
                <a:solidFill>
                  <a:srgbClr val="64748B"/>
                </a:solidFill>
                <a:latin typeface="Calibr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You fully control this — it’s your competitive advantage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9913" y="6400026"/>
            <a:ext cx="3656648" cy="274249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 i="0">
                <a:solidFill>
                  <a:srgbClr val="64748B"/>
                </a:solidFill>
                <a:latin typeface="Calibri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FeedSpark  |  Confidential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06B3F8-E010-09D3-9213-AD489E3BDCBA}"/>
              </a:ext>
            </a:extLst>
          </p:cNvPr>
          <p:cNvSpPr txBox="1"/>
          <p:nvPr/>
        </p:nvSpPr>
        <p:spPr>
          <a:xfrm>
            <a:off x="396635" y="199148"/>
            <a:ext cx="11198484" cy="523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0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799" b="1" i="0" u="none" strike="noStrike" kern="1200" cap="none" spc="0" normalizeH="0" baseline="0" noProof="0" dirty="0">
                <a:ln>
                  <a:noFill/>
                </a:ln>
                <a:solidFill>
                  <a:srgbClr val="F796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Three Ways AI Discovers Your Products</a:t>
            </a:r>
          </a:p>
        </p:txBody>
      </p:sp>
      <p:sp>
        <p:nvSpPr>
          <p:cNvPr id="33" name="Divider">
            <a:extLst>
              <a:ext uri="{FF2B5EF4-FFF2-40B4-BE49-F238E27FC236}">
                <a16:creationId xmlns:a16="http://schemas.microsoft.com/office/drawing/2014/main" id="{F65FA5DF-8E8E-8B24-355D-7AB5852B75C2}"/>
              </a:ext>
            </a:extLst>
          </p:cNvPr>
          <p:cNvSpPr/>
          <p:nvPr/>
        </p:nvSpPr>
        <p:spPr>
          <a:xfrm>
            <a:off x="499282" y="654519"/>
            <a:ext cx="2742486" cy="18283"/>
          </a:xfrm>
          <a:prstGeom prst="rect">
            <a:avLst/>
          </a:prstGeom>
          <a:gradFill>
            <a:gsLst>
              <a:gs pos="0">
                <a:srgbClr val="F7941E"/>
              </a:gs>
              <a:gs pos="100000">
                <a:srgbClr val="F7941E">
                  <a:alpha val="10000"/>
                </a:srgbClr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9913" y="150715"/>
            <a:ext cx="10055781" cy="639913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 i="0">
                <a:solidFill>
                  <a:srgbClr val="0F172A"/>
                </a:solidFill>
                <a:latin typeface="Calibri"/>
              </a:defRPr>
            </a:pPr>
            <a:r>
              <a:rPr kumimoji="0" sz="2999" b="1" i="0" u="none" strike="noStrike" kern="1200" cap="none" spc="0" normalizeH="0" baseline="0" noProof="0" dirty="0">
                <a:ln>
                  <a:noFill/>
                </a:ln>
                <a:solidFill>
                  <a:srgbClr val="F79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Black Box Problem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9913" y="1372136"/>
            <a:ext cx="10878526" cy="1096994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 w="12700">
            <a:solidFill>
              <a:srgbClr val="F79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161" y="1463552"/>
            <a:ext cx="10512862" cy="523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You cannot tell which data source an AI is using for any given request.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query might be answered from training data, a live web crawl, or your Merchant Center feed. The only way to win is to ensure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794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all three pipelines contain rich, accurate, consistent product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9913" y="2834795"/>
            <a:ext cx="3473815" cy="3382399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39913" y="2834795"/>
            <a:ext cx="3473815" cy="50787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453" y="3017627"/>
            <a:ext cx="3016734" cy="365665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>
                <a:solidFill>
                  <a:srgbClr val="3B82F6"/>
                </a:solidFill>
                <a:latin typeface="Calibri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3B82F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Google Gemini / AI Mode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453" y="3474709"/>
            <a:ext cx="3016734" cy="1143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Char char="•"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Pulls from Google Merchant Center feeds</a:t>
            </a:r>
          </a:p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Char char="•"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Shopping Graph (50B+ listings)</a:t>
            </a:r>
          </a:p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Char char="•"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Conversational attributes (new)</a:t>
            </a:r>
          </a:p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Char char="•"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Direct Offers for checkout in AI Mode</a:t>
            </a:r>
          </a:p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Char char="•"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Business Agent for brand voice chat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2268" y="2834795"/>
            <a:ext cx="3473815" cy="3382399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42268" y="2834795"/>
            <a:ext cx="3473815" cy="50787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0809" y="3017627"/>
            <a:ext cx="3016734" cy="365665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>
                <a:solidFill>
                  <a:srgbClr val="10B981"/>
                </a:solidFill>
                <a:latin typeface="Calibri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ChatGPT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0809" y="3474709"/>
            <a:ext cx="3016734" cy="1143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Char char="•"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Direct merchant feed integration</a:t>
            </a:r>
          </a:p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Char char="•"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CSV, TSV, XML, JSON formats</a:t>
            </a:r>
          </a:p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Char char="•"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Updates accepted every 15 minutes</a:t>
            </a:r>
          </a:p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Char char="•"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Instant Checkout via Stripe (US)</a:t>
            </a:r>
          </a:p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Char char="•"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1M+ Shopify merchants in pipeline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4624" y="2834795"/>
            <a:ext cx="3473815" cy="3382399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044624" y="2834795"/>
            <a:ext cx="3473815" cy="50787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73165" y="3017627"/>
            <a:ext cx="3016734" cy="365665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>
                <a:solidFill>
                  <a:srgbClr val="8B5CF6"/>
                </a:solidFill>
                <a:latin typeface="Calibri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8B5CF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Perplexity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3165" y="3474709"/>
            <a:ext cx="3016734" cy="1143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Char char="•"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Aggregates from marketplace feeds</a:t>
            </a:r>
          </a:p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Char char="•"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Shopify, Amazon, BigCommerce</a:t>
            </a:r>
          </a:p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Char char="•"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Merchant program for higher visibility</a:t>
            </a:r>
          </a:p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Char char="•"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Visual cards with pros/cons</a:t>
            </a:r>
          </a:p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Char char="•"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Virtual Try-On for apparel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913" y="6400026"/>
            <a:ext cx="9141619" cy="215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1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Source: </a:t>
            </a:r>
            <a:r>
              <a:rPr kumimoji="0" sz="800" b="0" i="1" u="sng" strike="noStrike" kern="1200" cap="none" spc="0" normalizeH="0" baseline="0" noProof="0">
                <a:ln>
                  <a:noFill/>
                </a:ln>
                <a:solidFill>
                  <a:srgbClr val="3B82F6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2"/>
              </a:rPr>
              <a:t>Google Blog, OpenAI, Perplexity merchant documentation</a:t>
            </a:r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CD44E117-5873-200E-8ACA-807C52282DAE}"/>
              </a:ext>
            </a:extLst>
          </p:cNvPr>
          <p:cNvSpPr/>
          <p:nvPr/>
        </p:nvSpPr>
        <p:spPr>
          <a:xfrm>
            <a:off x="499282" y="654519"/>
            <a:ext cx="2742486" cy="18283"/>
          </a:xfrm>
          <a:prstGeom prst="rect">
            <a:avLst/>
          </a:prstGeom>
          <a:gradFill>
            <a:gsLst>
              <a:gs pos="0">
                <a:srgbClr val="F7941E"/>
              </a:gs>
              <a:gs pos="100000">
                <a:srgbClr val="F7941E">
                  <a:alpha val="10000"/>
                </a:srgbClr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45194" y="673917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64748B"/>
                </a:solidFill>
              </a:rPr>
              <a:t>Every meaningful attribute must be spelled out in full, in a logical order an AI can decompose.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1155680" cy="4114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0024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F7941E"/>
                </a:solidFill>
              </a:rPr>
              <a:t>30+ characters minimum: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30024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</a:rPr>
              <a:t>Google table stakes — aim for 80–120 for AI richness.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59" y="130024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7941E"/>
                </a:solidFill>
              </a:rPr>
              <a:t>Intent matching: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30024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</a:rPr>
              <a:t>Include use-case terms that mirror how people ask questions.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30024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7941E"/>
                </a:solidFill>
              </a:rPr>
              <a:t>Title mask: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30024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</a:rPr>
              <a:t>Brand → Category → Material → Colour → Fit → Size → Use-case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3611880" cy="2743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1856231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4748B"/>
                </a:solidFill>
              </a:rPr>
              <a:t>Midi Dress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21408"/>
            <a:ext cx="3611880" cy="109728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2121408"/>
            <a:ext cx="914400" cy="2560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" y="2139696"/>
            <a:ext cx="804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BEFORE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414016"/>
            <a:ext cx="3383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Dillon Midi Dress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337560"/>
            <a:ext cx="3611880" cy="18745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3337560"/>
            <a:ext cx="1097280" cy="256032"/>
          </a:xfrm>
          <a:prstGeom prst="rect">
            <a:avLst/>
          </a:prstGeom>
          <a:solidFill>
            <a:srgbClr val="F79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" y="3355848"/>
            <a:ext cx="987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F172A"/>
                </a:solidFill>
              </a:rPr>
              <a:t>AI-READY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65760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</a:rPr>
              <a:t>REISS Women's Navy/Ivory Crepe Fitted Midi Dress, Contrast Wave Straps, Waistband, Cut-Out Detail, Back Slit, Concealed Zip, Size: UK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07492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4748B"/>
                </a:solidFill>
              </a:rPr>
              <a:t>reiss.com/style/su906717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1828800"/>
            <a:ext cx="3611880" cy="2743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0" y="1856231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4748B"/>
                </a:solidFill>
              </a:rPr>
              <a:t>Suit Trousers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2121408"/>
            <a:ext cx="3611880" cy="109728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434840" y="2121408"/>
            <a:ext cx="914400" cy="2560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07992" y="2139696"/>
            <a:ext cx="804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BEFORE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2414016"/>
            <a:ext cx="3383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Hope Navy Slim-Fit Trousers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34840" y="3337560"/>
            <a:ext cx="3611880" cy="18745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434840" y="3337560"/>
            <a:ext cx="1097280" cy="256032"/>
          </a:xfrm>
          <a:prstGeom prst="rect">
            <a:avLst/>
          </a:prstGeom>
          <a:solidFill>
            <a:srgbClr val="F79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07992" y="3355848"/>
            <a:ext cx="987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F172A"/>
                </a:solidFill>
              </a:rPr>
              <a:t>AI-READY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365760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</a:rPr>
              <a:t>REISS Men's Navy Slim-Fit Wool-Blend Suit Trousers, Flat Front, Belt Loops, Side Adjusters, Hook &amp; Bar Zip, Size: 32R — office to formal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507492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4748B"/>
                </a:solidFill>
              </a:rPr>
              <a:t>reiss.com/style/su033386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21040" y="1828800"/>
            <a:ext cx="3383280" cy="2743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58200" y="1856231"/>
            <a:ext cx="3169148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4748B"/>
                </a:solidFill>
              </a:rPr>
              <a:t>Merino Jumper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1040" y="2121408"/>
            <a:ext cx="3383280" cy="109728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321040" y="2121408"/>
            <a:ext cx="914400" cy="2560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94192" y="2139696"/>
            <a:ext cx="804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BEFORE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2414016"/>
            <a:ext cx="3383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Earl Jumper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21040" y="3337560"/>
            <a:ext cx="3396954" cy="18745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321040" y="3337560"/>
            <a:ext cx="1097280" cy="256032"/>
          </a:xfrm>
          <a:prstGeom prst="rect">
            <a:avLst/>
          </a:prstGeom>
          <a:solidFill>
            <a:srgbClr val="F79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394192" y="3355848"/>
            <a:ext cx="987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F172A"/>
                </a:solidFill>
              </a:rPr>
              <a:t>AI-READY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365760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</a:rPr>
              <a:t>REISS Men's Dove Blue 100% Merino Wool V-Neck Jumper, Fully-Fashioned Seams, Ribbed Hem &amp; Cuffs, Classic Fit, Size: M — smart casual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507492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4748B"/>
                </a:solidFill>
              </a:rPr>
              <a:t>reiss.com/style/st339265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FeedSpark  |  Confidential  |  Reiss × AI Playbook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3D0AB99-A7B2-8AA3-2FE9-9F337C9743C9}"/>
              </a:ext>
            </a:extLst>
          </p:cNvPr>
          <p:cNvSpPr txBox="1"/>
          <p:nvPr/>
        </p:nvSpPr>
        <p:spPr>
          <a:xfrm>
            <a:off x="639913" y="150715"/>
            <a:ext cx="10055781" cy="639913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 i="0">
                <a:solidFill>
                  <a:srgbClr val="0F172A"/>
                </a:solidFill>
                <a:latin typeface="Calibri"/>
              </a:defRPr>
            </a:pPr>
            <a:r>
              <a:rPr kumimoji="0" lang="en-GB" sz="2999" b="1" i="0" u="none" strike="noStrike" kern="1200" cap="none" spc="0" normalizeH="0" baseline="0" noProof="0" dirty="0">
                <a:ln>
                  <a:noFill/>
                </a:ln>
                <a:solidFill>
                  <a:srgbClr val="F79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Title Optimisation for AI Discovery</a:t>
            </a:r>
            <a:endParaRPr kumimoji="0" sz="2999" b="1" i="0" u="none" strike="noStrike" kern="1200" cap="none" spc="0" normalizeH="0" baseline="0" noProof="0" dirty="0">
              <a:ln>
                <a:noFill/>
              </a:ln>
              <a:solidFill>
                <a:srgbClr val="F79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Divider">
            <a:extLst>
              <a:ext uri="{FF2B5EF4-FFF2-40B4-BE49-F238E27FC236}">
                <a16:creationId xmlns:a16="http://schemas.microsoft.com/office/drawing/2014/main" id="{7FDDD045-EC5A-1203-162C-20F44C2650DE}"/>
              </a:ext>
            </a:extLst>
          </p:cNvPr>
          <p:cNvSpPr/>
          <p:nvPr/>
        </p:nvSpPr>
        <p:spPr>
          <a:xfrm>
            <a:off x="499282" y="654519"/>
            <a:ext cx="2742486" cy="18283"/>
          </a:xfrm>
          <a:prstGeom prst="rect">
            <a:avLst/>
          </a:prstGeom>
          <a:gradFill>
            <a:gsLst>
              <a:gs pos="0">
                <a:srgbClr val="F7941E"/>
              </a:gs>
              <a:gs pos="100000">
                <a:srgbClr val="F7941E">
                  <a:alpha val="10000"/>
                </a:srgbClr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08012" y="717291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 dirty="0">
                <a:solidFill>
                  <a:srgbClr val="64748B"/>
                </a:solidFill>
              </a:rPr>
              <a:t>Short, scannable feature bullets that AI agents use for quick product matching. 4–6 highlights, max 150 characters each.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5715000" cy="43891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5715000" cy="43891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856231"/>
            <a:ext cx="53492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REISS Women's Navy/Ivory Dillon Fitted Midi Dress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86000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Women's Dresses  ·  £195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060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</a:rPr>
              <a:t>Highlights: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5292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</a:rPr>
              <a:t>• Crepe fabrication — sculpted drape that holds its shape for all-day elegance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23697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</a:rPr>
              <a:t>• Contrast wave straps and waistband — distinctive Reiss design signature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62102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</a:rPr>
              <a:t>• Cut-out bodice detail — adds a contemporary edge without compromising formality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00507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</a:rPr>
              <a:t>• Central back slit — ease of movement for city-to-event dressing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3891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</a:rPr>
              <a:t>• Concealed back zip — clean silhouette with no visible hardware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8006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</a:rPr>
              <a:t>Product Details: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074920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</a:rPr>
              <a:t>Fabric: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507492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4155"/>
                </a:solidFill>
              </a:rPr>
              <a:t>Crepe, 100% Polyester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303520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</a:rPr>
              <a:t>Fit: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530352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4155"/>
                </a:solidFill>
              </a:rPr>
              <a:t>Fitted/midi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532120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</a:rPr>
              <a:t>Closure: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553212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4155"/>
                </a:solidFill>
              </a:rPr>
              <a:t>Concealed back zip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5074920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</a:rPr>
              <a:t>Length: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507492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4155"/>
                </a:solidFill>
              </a:rPr>
              <a:t>49.5" / 126cm (size 8)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5303520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</a:rPr>
              <a:t>Occasion: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530352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4155"/>
                </a:solidFill>
              </a:rPr>
              <a:t>Smart casual, occasionwear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5532120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</a:rPr>
              <a:t>GTIN: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553212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4155"/>
                </a:solidFill>
              </a:rPr>
              <a:t>Validated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1828800"/>
            <a:ext cx="5715000" cy="43891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92240" y="1828800"/>
            <a:ext cx="5715000" cy="43891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75120" y="1856231"/>
            <a:ext cx="53492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chemeClr val="tx1">
                    <a:lumMod val="65000"/>
                    <a:lumOff val="35000"/>
                  </a:schemeClr>
                </a:solidFill>
              </a:rPr>
              <a:t>REISS Men's Navy Hope Slim-Fit Wool-Blend Suit Trousers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2286000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Men's Tailoring  ·  £150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26060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</a:rPr>
              <a:t>Highlights: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285292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</a:rPr>
              <a:t>• Wool-blend fabrication — comfortable stretch that retains its structured shape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323697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</a:rPr>
              <a:t>• Slim-fit silhouette — pairs with Hope blazer for a complete tailored look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362102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</a:rPr>
              <a:t>• Side-slip pockets — clean lines maintained throughout the front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400507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</a:rPr>
              <a:t>• Buttoned side adjusters — customisable waist fit without a belt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43891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</a:rPr>
              <a:t>• Hook-and-bar zip fly — polished fastening for a sharp tailored finish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48006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</a:rPr>
              <a:t>Product Details: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5074920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</a:rPr>
              <a:t>Fabric: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09560" y="507492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4155"/>
                </a:solidFill>
              </a:rPr>
              <a:t>Wool blend with stretch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0" y="5303520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</a:rPr>
              <a:t>Fit: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09560" y="530352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4155"/>
                </a:solidFill>
              </a:rPr>
              <a:t>Slim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5532120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</a:rPr>
              <a:t>Closure: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09560" y="553212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4155"/>
                </a:solidFill>
              </a:rPr>
              <a:t>Hook &amp; bar + zip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64040" y="5074920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</a:rPr>
              <a:t>Pockets: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52760" y="507492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4155"/>
                </a:solidFill>
              </a:rPr>
              <a:t>Side-slip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64040" y="5303520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</a:rPr>
              <a:t>Adjusters: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52760" y="530352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4155"/>
                </a:solidFill>
              </a:rPr>
              <a:t>Buttoned side adjusters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64040" y="5532120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</a:rPr>
              <a:t>GTIN: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52760" y="553212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4155"/>
                </a:solidFill>
              </a:rPr>
              <a:t>Validated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FeedSpark  |  Confidential  |  Reiss × AI Playbook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CD3B142-FDB2-F6FB-3BF7-160B43FE89F1}"/>
              </a:ext>
            </a:extLst>
          </p:cNvPr>
          <p:cNvSpPr txBox="1"/>
          <p:nvPr/>
        </p:nvSpPr>
        <p:spPr>
          <a:xfrm>
            <a:off x="639913" y="150715"/>
            <a:ext cx="10055781" cy="639913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 i="0">
                <a:solidFill>
                  <a:srgbClr val="0F172A"/>
                </a:solidFill>
                <a:latin typeface="Calibri"/>
              </a:defRPr>
            </a:pPr>
            <a:r>
              <a:rPr kumimoji="0" lang="en-GB" sz="2999" b="1" i="0" u="none" strike="noStrike" kern="1200" cap="none" spc="0" normalizeH="0" baseline="0" noProof="0" dirty="0">
                <a:ln>
                  <a:noFill/>
                </a:ln>
                <a:solidFill>
                  <a:srgbClr val="F79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Product Highlights &amp; Structured Details</a:t>
            </a:r>
            <a:endParaRPr kumimoji="0" sz="2999" b="1" i="0" u="none" strike="noStrike" kern="1200" cap="none" spc="0" normalizeH="0" baseline="0" noProof="0" dirty="0">
              <a:ln>
                <a:noFill/>
              </a:ln>
              <a:solidFill>
                <a:srgbClr val="F79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Divider">
            <a:extLst>
              <a:ext uri="{FF2B5EF4-FFF2-40B4-BE49-F238E27FC236}">
                <a16:creationId xmlns:a16="http://schemas.microsoft.com/office/drawing/2014/main" id="{41B049E5-4A22-A3C9-B36D-DB87882CD349}"/>
              </a:ext>
            </a:extLst>
          </p:cNvPr>
          <p:cNvSpPr/>
          <p:nvPr/>
        </p:nvSpPr>
        <p:spPr>
          <a:xfrm>
            <a:off x="499282" y="654519"/>
            <a:ext cx="2742486" cy="18283"/>
          </a:xfrm>
          <a:prstGeom prst="rect">
            <a:avLst/>
          </a:prstGeom>
          <a:gradFill>
            <a:gsLst>
              <a:gs pos="0">
                <a:srgbClr val="F7941E"/>
              </a:gs>
              <a:gs pos="100000">
                <a:srgbClr val="F7941E">
                  <a:alpha val="10000"/>
                </a:srgbClr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53312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Perfect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9202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487168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7941E"/>
                </a:solidFill>
              </a:rPr>
              <a:t>Record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291840"/>
            <a:ext cx="3291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chemeClr val="bg1"/>
                </a:solidFill>
              </a:rPr>
              <a:t>Reiss × FeedSpark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611880"/>
            <a:ext cx="329184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chemeClr val="bg1"/>
                </a:solidFill>
              </a:rPr>
              <a:t>What an AI-complete Reiss product looks like — structured for Google Shopping, Meta DPA and conversational AI.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221622"/>
            <a:ext cx="3200400" cy="411480"/>
          </a:xfrm>
          <a:prstGeom prst="rect">
            <a:avLst/>
          </a:prstGeom>
          <a:solidFill>
            <a:srgbClr val="F79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" y="4276486"/>
            <a:ext cx="30632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/>
              <a:t>Example Product: Dillon Midi Dress — Navy/Ivory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697110"/>
            <a:ext cx="329184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chemeClr val="bg1"/>
                </a:solidFill>
              </a:rPr>
              <a:t>SKU: SU906717  ·  Women's Dresses  ·  GBP £195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5117734"/>
            <a:ext cx="914400" cy="25603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" y="5145166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5163454"/>
            <a:ext cx="23317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chemeClr val="bg1"/>
                </a:solidFill>
              </a:rPr>
              <a:t>Attribute layers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442817"/>
            <a:ext cx="914400" cy="25603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4048" y="5470249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5488537"/>
            <a:ext cx="23317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chemeClr val="bg1"/>
                </a:solidFill>
              </a:rPr>
              <a:t>FAQ answers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772001"/>
            <a:ext cx="914400" cy="25603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84048" y="5799433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5817721"/>
            <a:ext cx="23317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chemeClr val="bg1"/>
                </a:solidFill>
              </a:rPr>
              <a:t>AI title formats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5029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1827"/>
                </a:solidFill>
              </a:rPr>
              <a:t>What is a Golden Record?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1024128"/>
            <a:ext cx="7406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111827"/>
                </a:solidFill>
              </a:rPr>
              <a:t>A Golden Record is the most complete, enriched and AI-ready version of a product — combining all data layers that Google Shopping, Meta DPA and AI search engines need to surface, rank and answer queries about your product.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2057400"/>
            <a:ext cx="7406640" cy="74980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89120" y="2057400"/>
            <a:ext cx="502920" cy="749808"/>
          </a:xfrm>
          <a:prstGeom prst="rect">
            <a:avLst/>
          </a:prstGeom>
          <a:solidFill>
            <a:srgbClr val="F79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34840" y="2276856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214884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</a:rPr>
              <a:t>AI-Ready Title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2459736"/>
            <a:ext cx="6583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</a:rPr>
              <a:t>Structured keyword signal with brand, material, colour, fit, size &amp; use-case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0" y="2935224"/>
            <a:ext cx="7406640" cy="74980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389120" y="2935224"/>
            <a:ext cx="502920" cy="7498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34840" y="315468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302666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</a:rPr>
              <a:t>Rich Description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3337560"/>
            <a:ext cx="6583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</a:rPr>
              <a:t>Structured natural language optimised for LLM understanding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89120" y="3813048"/>
            <a:ext cx="7406640" cy="74980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389120" y="3813048"/>
            <a:ext cx="502920" cy="7498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434840" y="403250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3904487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</a:rPr>
              <a:t>Conversational FAQs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4215384"/>
            <a:ext cx="6583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</a:rPr>
              <a:t>Pre-emptive Q&amp;A for voice, chatbot &amp; AI overview surfaces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89120" y="4690872"/>
            <a:ext cx="7406640" cy="74980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389120" y="4690872"/>
            <a:ext cx="502920" cy="7498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434840" y="491032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0" y="478231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</a:rPr>
              <a:t>Keyword Highlights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0" y="5093208"/>
            <a:ext cx="6583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</a:rPr>
              <a:t>Scannable benefit-led bullets for Shopping carousels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89120" y="5568696"/>
            <a:ext cx="7406640" cy="74980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389120" y="5568696"/>
            <a:ext cx="502920" cy="74980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434840" y="578815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05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0" y="5660136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</a:rPr>
              <a:t>Structured Attributes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0" y="5971032"/>
            <a:ext cx="6583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</a:rPr>
              <a:t>Machine-readable specs: material, GTIN, dimensions, closure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71274" y="6632186"/>
            <a:ext cx="1143000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 dirty="0">
                <a:solidFill>
                  <a:schemeClr val="bg1">
                    <a:lumMod val="50000"/>
                  </a:schemeClr>
                </a:solidFill>
              </a:rPr>
              <a:t>FeedSpark  |  Confidential  |  Reiss × AI Playbook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FeedSpark  |  Confidential  |  Reiss × AI Playbook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69848"/>
            <a:ext cx="11338560" cy="31089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115568"/>
            <a:ext cx="228600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dirty="0">
                <a:solidFill>
                  <a:srgbClr val="00B050"/>
                </a:solidFill>
              </a:rPr>
              <a:t>Title (AI-Ready):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115568"/>
            <a:ext cx="8869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34155"/>
                </a:solidFill>
              </a:rPr>
              <a:t>REISS Women's Navy/Ivory Crepe Fitted Midi Dress, Dillon — Contrast Wave Straps &amp; Waistband, Cut-Out Detail, Back Slit, Concealed Zip — UK Sizes 6–18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35608"/>
            <a:ext cx="5532120" cy="4526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1536192"/>
            <a:ext cx="52120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dirty="0">
                <a:solidFill>
                  <a:srgbClr val="00B050"/>
                </a:solidFill>
              </a:rPr>
              <a:t>Description (Structured Natural Language):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82880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334155"/>
                </a:solidFill>
              </a:rPr>
              <a:t>The REISS Dillon is a women's fitted midi dress crafted in polished crepe — the signature fabric of the Reiss tailoring range. Cut to a fitted, knee-to-mid-calf length with a concealed back zip and central slit for ease of movement. The Dillon is defined by its distinctive contrast wave-trim straps and matching waistband — a modern design detail that elevates a formal silhouette. A cut-out bodice panel adds subtle edge. Perfect for office events, weddings and city-to-dinner occasions. Machine washable. True to size — order your usual UK size. Available in Navy/Ivory.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886200"/>
            <a:ext cx="52120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dirty="0">
                <a:solidFill>
                  <a:srgbClr val="00B050"/>
                </a:solidFill>
              </a:rPr>
              <a:t>Conversational FAQs (AI/Voice-ready):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4160520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11827"/>
                </a:solidFill>
              </a:rPr>
              <a:t>"Is the Dillon dress suitable for a wedding?"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4398264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→ Yes — midi length, fitted crepe and contrast details make it ideal for wedding guest dressing.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690872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11827"/>
                </a:solidFill>
              </a:rPr>
              <a:t>"What fabric is it made from?"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4928616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chemeClr val="tx1">
                    <a:lumMod val="75000"/>
                    <a:lumOff val="25000"/>
                  </a:schemeClr>
                </a:solidFill>
              </a:rPr>
              <a:t>→ 100% polyester crepe — a polished, wrinkle-resistant finish ideal for all-day wear.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221224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11827"/>
                </a:solidFill>
              </a:rPr>
              <a:t>"Is it true to size?"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545896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chemeClr val="tx1">
                    <a:lumMod val="75000"/>
                    <a:lumOff val="25000"/>
                  </a:schemeClr>
                </a:solidFill>
              </a:rPr>
              <a:t>→ Yes, the Dillon fits true to size. Available in UK 6–18, including a petite option.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435608"/>
            <a:ext cx="5577840" cy="2240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82512" y="1536192"/>
            <a:ext cx="52120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B050"/>
                </a:solidFill>
              </a:rPr>
              <a:t>Highlights (Shopping carousels):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1801368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</a:rPr>
              <a:t>• Crepe fabrication — polished drape for all-day structured wear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2157984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</a:rPr>
              <a:t>• Contrast wave straps &amp; waistband — distinctive Reiss design signature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2514600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</a:rPr>
              <a:t>• Cut-out bodice detail — contemporary edge for smart occasions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2871215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</a:rPr>
              <a:t>• Central back slit — comfort and movement without compromising silhouette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3227832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</a:rPr>
              <a:t>• Concealed back zip — clean finish, no visible hardware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767328"/>
            <a:ext cx="5577840" cy="21945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82512" y="3858768"/>
            <a:ext cx="52120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dirty="0">
                <a:solidFill>
                  <a:srgbClr val="00B050"/>
                </a:solidFill>
              </a:rPr>
              <a:t>Structured Attributes: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4133087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11827"/>
                </a:solidFill>
              </a:rPr>
              <a:t>Fabric: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4133087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</a:rPr>
              <a:t>100% Polyester (crepe)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442569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11827"/>
                </a:solidFill>
              </a:rPr>
              <a:t>Fit: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442569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</a:rPr>
              <a:t>Fitted / midi length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718303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11827"/>
                </a:solidFill>
              </a:rPr>
              <a:t>Closure: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4718303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</a:rPr>
              <a:t>Concealed back zip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82512" y="501091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11827"/>
                </a:solidFill>
              </a:rPr>
              <a:t>Occasion: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501091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</a:rPr>
              <a:t>Smart casual, wedding guest, occasionwear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2512" y="53035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11827"/>
                </a:solidFill>
              </a:rPr>
              <a:t>GTIN / SKU: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2440" y="530352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</a:rPr>
              <a:t>SU906717 — validated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2512" y="5596127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11827"/>
                </a:solidFill>
              </a:rPr>
              <a:t>Images: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2440" y="5596127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</a:rPr>
              <a:t>Studio (white bg), lifestyle, detail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4F9F809-B0FE-82F7-A6DA-88B750014110}"/>
              </a:ext>
            </a:extLst>
          </p:cNvPr>
          <p:cNvSpPr txBox="1"/>
          <p:nvPr/>
        </p:nvSpPr>
        <p:spPr>
          <a:xfrm>
            <a:off x="499282" y="183726"/>
            <a:ext cx="11840845" cy="548497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GB" sz="3200" b="1" dirty="0">
                <a:solidFill>
                  <a:srgbClr val="F7941E"/>
                </a:solidFill>
              </a:rPr>
              <a:t>REISS Women's Navy/Ivory Dillon Fitted Midi Dress — SU906717</a:t>
            </a:r>
          </a:p>
        </p:txBody>
      </p:sp>
      <p:sp>
        <p:nvSpPr>
          <p:cNvPr id="43" name="Divider">
            <a:extLst>
              <a:ext uri="{FF2B5EF4-FFF2-40B4-BE49-F238E27FC236}">
                <a16:creationId xmlns:a16="http://schemas.microsoft.com/office/drawing/2014/main" id="{B6339FFD-6391-2287-4E63-E6843B7814A4}"/>
              </a:ext>
            </a:extLst>
          </p:cNvPr>
          <p:cNvSpPr/>
          <p:nvPr/>
        </p:nvSpPr>
        <p:spPr>
          <a:xfrm>
            <a:off x="499282" y="713940"/>
            <a:ext cx="2742486" cy="18283"/>
          </a:xfrm>
          <a:prstGeom prst="rect">
            <a:avLst/>
          </a:prstGeom>
          <a:gradFill>
            <a:gsLst>
              <a:gs pos="0">
                <a:srgbClr val="F7941E"/>
              </a:gs>
              <a:gs pos="100000">
                <a:srgbClr val="F7941E">
                  <a:alpha val="10000"/>
                </a:srgbClr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9282" y="183726"/>
            <a:ext cx="10055781" cy="548497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4570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 i="0">
                <a:solidFill>
                  <a:srgbClr val="0F172A"/>
                </a:solidFill>
                <a:latin typeface="Calibri"/>
              </a:defRPr>
            </a:pPr>
            <a:r>
              <a:rPr kumimoji="0" sz="3199" b="1" i="0" u="none" strike="noStrike" kern="1200" cap="none" spc="0" normalizeH="0" baseline="0" noProof="0" dirty="0">
                <a:ln>
                  <a:noFill/>
                </a:ln>
                <a:solidFill>
                  <a:srgbClr val="F79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Why Acting Now Matters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9913" y="1189303"/>
            <a:ext cx="5393555" cy="2285405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0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39913" y="1189303"/>
            <a:ext cx="5393555" cy="50787"/>
          </a:xfrm>
          <a:prstGeom prst="rect">
            <a:avLst/>
          </a:prstGeom>
          <a:solidFill>
            <a:srgbClr val="F79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0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161" y="1372136"/>
            <a:ext cx="4845058" cy="584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0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199" b="1" i="0" u="none" strike="noStrike" kern="1200" cap="none" spc="0" normalizeH="0" baseline="0" noProof="0">
                <a:ln>
                  <a:noFill/>
                </a:ln>
                <a:solidFill>
                  <a:srgbClr val="F794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6-12 months</a:t>
            </a: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to build AI trust scores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161" y="2012049"/>
            <a:ext cx="4845058" cy="1188410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4570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0" i="0">
                <a:solidFill>
                  <a:srgbClr val="334155"/>
                </a:solidFill>
                <a:latin typeface="Calibri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AI recommendation engines build confidence scores over time. Merchants who optimise now accumulate 6-12 months of recommendation history that late entrants can’t replicate quickly.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7716" y="1189303"/>
            <a:ext cx="5393555" cy="2285405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0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307716" y="1189303"/>
            <a:ext cx="5393555" cy="50787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0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81965" y="1372136"/>
            <a:ext cx="4845058" cy="584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0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199" b="1" i="0" u="none" strike="noStrike" kern="1200" cap="none" spc="0" normalizeH="0" baseline="0" noProof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3-5x</a:t>
            </a: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higher cost of delayed 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1965" y="2012049"/>
            <a:ext cx="4845058" cy="1188410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4570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0" i="0">
                <a:solidFill>
                  <a:srgbClr val="334155"/>
                </a:solidFill>
                <a:latin typeface="Calibri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6-month delay in AI feed optimisation costs 3-5x more to implement later. The compounding effect of trust scores, recommendation history, and market position makes catch-up exponentially harder.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9913" y="3748957"/>
            <a:ext cx="5393555" cy="2285405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0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39913" y="3748957"/>
            <a:ext cx="5393555" cy="50787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0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161" y="3931789"/>
            <a:ext cx="4845058" cy="584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0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199" b="1" i="0" u="none" strike="noStrike" kern="1200" cap="none" spc="0" normalizeH="0" baseline="0" noProof="0">
                <a:ln>
                  <a:noFill/>
                </a:ln>
                <a:solidFill>
                  <a:srgbClr val="8B5CF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25%</a:t>
            </a: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decline in traditional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161" y="4571703"/>
            <a:ext cx="4845058" cy="1188410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4570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0" i="0">
                <a:solidFill>
                  <a:srgbClr val="334155"/>
                </a:solidFill>
                <a:latin typeface="Calibri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Gartner predicts traditional search volume could decline by 25% as users shift to AI agents. The traffic you’re optimising for today is actively migrating to AI-mediated discovery.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7716" y="3748957"/>
            <a:ext cx="5393555" cy="2285405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0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307716" y="3748957"/>
            <a:ext cx="5393555" cy="50787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0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81965" y="3931789"/>
            <a:ext cx="4845058" cy="584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0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199" b="1" i="0" u="none" strike="noStrike" kern="1200" cap="none" spc="0" normalizeH="0" baseline="0" noProof="0" dirty="0">
                <a:ln>
                  <a:noFill/>
                </a:ln>
                <a:solidFill>
                  <a:srgbClr val="3B82F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</a:t>
            </a:r>
            <a:r>
              <a:rPr kumimoji="0" lang="en-GB" sz="3199" b="1" i="0" u="none" strike="noStrike" kern="1200" cap="none" spc="0" normalizeH="0" baseline="0" noProof="0" dirty="0">
                <a:ln>
                  <a:noFill/>
                </a:ln>
                <a:solidFill>
                  <a:srgbClr val="3B82F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  <a:r>
              <a:rPr kumimoji="0" sz="3199" b="1" i="0" u="none" strike="noStrike" kern="1200" cap="none" spc="0" normalizeH="0" baseline="0" noProof="0" dirty="0">
                <a:ln>
                  <a:noFill/>
                </a:ln>
                <a:solidFill>
                  <a:srgbClr val="3B82F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2026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is the inflection 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1965" y="4571703"/>
            <a:ext cx="4845058" cy="1188410"/>
          </a:xfrm>
          <a:prstGeom prst="rect">
            <a:avLst/>
          </a:prstGeom>
          <a:noFill/>
        </p:spPr>
        <p:txBody>
          <a:bodyPr wrap="square"/>
          <a:lstStyle/>
          <a:p>
            <a:pPr marL="0" marR="0" lvl="0" indent="0" algn="l" defTabSz="4570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0" i="0">
                <a:solidFill>
                  <a:srgbClr val="334155"/>
                </a:solidFill>
                <a:latin typeface="Calibri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All major platforms have live implementations now. Google’s conversational attributes are rolling out. ChatGPT shopping is expanding globally. This isn’t a 2027 concern — it’s happening right now.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913" y="6400026"/>
            <a:ext cx="9141619" cy="215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0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1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Source: </a:t>
            </a:r>
            <a:r>
              <a:rPr kumimoji="0" sz="800" b="0" i="1" u="sng" strike="noStrike" kern="1200" cap="none" spc="0" normalizeH="0" baseline="0" noProof="0">
                <a:ln>
                  <a:noFill/>
                </a:ln>
                <a:solidFill>
                  <a:srgbClr val="3B82F6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2"/>
              </a:rPr>
              <a:t>Gartner 2026, McKinsey AI Commerce Index</a:t>
            </a:r>
          </a:p>
        </p:txBody>
      </p:sp>
      <p:sp>
        <p:nvSpPr>
          <p:cNvPr id="21" name="Divider">
            <a:extLst>
              <a:ext uri="{FF2B5EF4-FFF2-40B4-BE49-F238E27FC236}">
                <a16:creationId xmlns:a16="http://schemas.microsoft.com/office/drawing/2014/main" id="{A769DADD-7008-D8A5-7E1C-B869D12A2590}"/>
              </a:ext>
            </a:extLst>
          </p:cNvPr>
          <p:cNvSpPr/>
          <p:nvPr/>
        </p:nvSpPr>
        <p:spPr>
          <a:xfrm>
            <a:off x="499282" y="713940"/>
            <a:ext cx="2742486" cy="18283"/>
          </a:xfrm>
          <a:prstGeom prst="rect">
            <a:avLst/>
          </a:prstGeom>
          <a:gradFill>
            <a:gsLst>
              <a:gs pos="0">
                <a:srgbClr val="F7941E"/>
              </a:gs>
              <a:gs pos="100000">
                <a:srgbClr val="F7941E">
                  <a:alpha val="10000"/>
                </a:srgbClr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463040"/>
            <a:ext cx="4206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Let's go 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2926080"/>
            <a:ext cx="59435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chemeClr val="bg1"/>
                </a:solidFill>
              </a:rPr>
              <a:t>Reiss × FeedSpark
AI Commerce Playbook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977639"/>
            <a:ext cx="420624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 dirty="0">
                <a:solidFill>
                  <a:schemeClr val="bg1"/>
                </a:solidFill>
              </a:rPr>
              <a:t>Your feed is your competitive advantage.
Every attribute missing is a signal lost.
FeedSpark is your pipeline.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594360"/>
            <a:ext cx="6400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chemeClr val="accent6"/>
                </a:solidFill>
              </a:rPr>
              <a:t>NEXT ACTIONS FOR REISS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1188720"/>
            <a:ext cx="45720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21808" y="1280160"/>
            <a:ext cx="4206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1225296"/>
            <a:ext cx="5943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10B981"/>
                </a:solidFill>
              </a:rPr>
              <a:t>Enrich titles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14630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</a:rPr>
              <a:t>80–120 chars — Brand + Category + Material + Colour + Fit + Size + Use-case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0" y="2103120"/>
            <a:ext cx="45720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21808" y="2194560"/>
            <a:ext cx="4206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2139696"/>
            <a:ext cx="5943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Rebuild descriptions for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2377439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</a:rPr>
              <a:t>500+ chars — Q&amp;A format, use-case, occasion, sizing guidance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0" y="3017520"/>
            <a:ext cx="45720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21808" y="3108960"/>
            <a:ext cx="4206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3054096"/>
            <a:ext cx="5943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000" b="1" i="0" dirty="0">
                <a:solidFill>
                  <a:srgbClr val="10B981"/>
                </a:solidFill>
              </a:rPr>
              <a:t>Restructure product details from existing product highlights</a:t>
            </a:r>
            <a:endParaRPr sz="1000" b="1" i="0" dirty="0">
              <a:solidFill>
                <a:srgbClr val="10B98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897880" y="3291839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</a:rPr>
              <a:t>4–6 benefit-led bullets per SKU across all core UK categories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03520" y="3974647"/>
            <a:ext cx="45720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321808" y="4066086"/>
            <a:ext cx="4206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300" b="1" dirty="0">
                <a:solidFill>
                  <a:srgbClr val="0F172A"/>
                </a:solidFill>
              </a:rPr>
              <a:t>4</a:t>
            </a:r>
            <a:endParaRPr sz="1300" b="1" i="0" dirty="0">
              <a:solidFill>
                <a:srgbClr val="0F172A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897880" y="4011223"/>
            <a:ext cx="5943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AI enrichment pipeline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97880" y="4248967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</a:rPr>
              <a:t>ChatGPT description + title enrichment — FeedSpark pipeline, Q1 2026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3520" y="4889047"/>
            <a:ext cx="45720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321808" y="4980486"/>
            <a:ext cx="4206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300" b="1" dirty="0">
                <a:solidFill>
                  <a:srgbClr val="0F172A"/>
                </a:solidFill>
              </a:rPr>
              <a:t>5</a:t>
            </a:r>
            <a:endParaRPr sz="1300" b="1" i="0" dirty="0">
              <a:solidFill>
                <a:srgbClr val="0F172A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897880" y="4925623"/>
            <a:ext cx="5943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Expand to all 29 markets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97880" y="5163367"/>
            <a:ext cx="594360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950" b="0" i="0" dirty="0">
                <a:solidFill>
                  <a:srgbClr val="334155"/>
                </a:solidFill>
              </a:rPr>
              <a:t>Supplemental (UK-EN) -&gt; (EN) cross-markets.</a:t>
            </a:r>
            <a:endParaRPr sz="950" b="0" i="0" dirty="0">
              <a:solidFill>
                <a:srgbClr val="334155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FeedSpark  |  Confidential  |  Reiss × AI Playbook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A43C73F-4856-A252-A926-D98CF7F2A809}"/>
              </a:ext>
            </a:extLst>
          </p:cNvPr>
          <p:cNvSpPr/>
          <p:nvPr/>
        </p:nvSpPr>
        <p:spPr>
          <a:xfrm>
            <a:off x="0" y="6662302"/>
            <a:ext cx="5029200" cy="160130"/>
          </a:xfrm>
          <a:prstGeom prst="rect">
            <a:avLst/>
          </a:prstGeom>
          <a:solidFill>
            <a:srgbClr val="E3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9786C03-B04F-4F25-16B3-2B8CA3E2ADC1}"/>
              </a:ext>
            </a:extLst>
          </p:cNvPr>
          <p:cNvSpPr/>
          <p:nvPr/>
        </p:nvSpPr>
        <p:spPr>
          <a:xfrm>
            <a:off x="0" y="6799462"/>
            <a:ext cx="12188952" cy="137160"/>
          </a:xfrm>
          <a:prstGeom prst="rect">
            <a:avLst/>
          </a:prstGeom>
          <a:solidFill>
            <a:srgbClr val="F79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1655</Words>
  <Application>Microsoft Office PowerPoint</Application>
  <PresentationFormat>Custom</PresentationFormat>
  <Paragraphs>212</Paragraphs>
  <Slides>9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Ray Vu</cp:lastModifiedBy>
  <cp:revision>24</cp:revision>
  <dcterms:created xsi:type="dcterms:W3CDTF">2013-01-27T09:14:16Z</dcterms:created>
  <dcterms:modified xsi:type="dcterms:W3CDTF">2026-03-19T14:42:54Z</dcterms:modified>
  <cp:category/>
</cp:coreProperties>
</file>