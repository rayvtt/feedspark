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06"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3" r:id="rId19"/>
    <p:sldId id="274" r:id="rId20"/>
    <p:sldId id="276" r:id="rId21"/>
    <p:sldId id="280" r:id="rId22"/>
    <p:sldId id="281" r:id="rId23"/>
    <p:sldId id="282" r:id="rId24"/>
    <p:sldId id="283" r:id="rId25"/>
    <p:sldId id="284" r:id="rId26"/>
    <p:sldId id="285" r:id="rId27"/>
    <p:sldId id="287" r:id="rId28"/>
    <p:sldId id="288" r:id="rId29"/>
    <p:sldId id="289" r:id="rId30"/>
    <p:sldId id="291" r:id="rId31"/>
    <p:sldId id="292" r:id="rId32"/>
    <p:sldId id="293" r:id="rId33"/>
    <p:sldId id="296" r:id="rId34"/>
    <p:sldId id="297" r:id="rId35"/>
    <p:sldId id="299" r:id="rId36"/>
    <p:sldId id="300" r:id="rId37"/>
    <p:sldId id="315" r:id="rId38"/>
    <p:sldId id="309" r:id="rId39"/>
    <p:sldId id="308" r:id="rId40"/>
    <p:sldId id="312" r:id="rId41"/>
    <p:sldId id="313" r:id="rId42"/>
    <p:sldId id="310" r:id="rId43"/>
    <p:sldId id="311" r:id="rId44"/>
    <p:sldId id="301" r:id="rId45"/>
    <p:sldId id="314" r:id="rId46"/>
    <p:sldId id="305" r:id="rId47"/>
  </p:sldIdLst>
  <p:sldSz cx="12192000" cy="6858000"/>
  <p:notesSz cx="6858000" cy="9144000"/>
  <p:defaultTextStyle>
    <a:defPPr>
      <a:defRPr lang="en-GB"/>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4660"/>
  </p:normalViewPr>
  <p:slideViewPr>
    <p:cSldViewPr snapToGrid="0">
      <p:cViewPr varScale="1">
        <p:scale>
          <a:sx n="101" d="100"/>
          <a:sy n="101" d="100"/>
        </p:scale>
        <p:origin x="91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Series 1</c:v>
                </c:pt>
              </c:strCache>
            </c:strRef>
          </c:tx>
          <c:spPr>
            <a:solidFill>
              <a:srgbClr val="F7941E"/>
            </a:solidFill>
            <a:ln>
              <a:noFill/>
            </a:ln>
          </c:spPr>
          <c:invertIfNegative val="1"/>
          <c:dPt>
            <c:idx val="5"/>
            <c:invertIfNegative val="1"/>
            <c:bubble3D val="0"/>
            <c:spPr>
              <a:solidFill>
                <a:srgbClr val="0F172A"/>
              </a:solidFill>
            </c:spPr>
            <c:extLst>
              <c:ext xmlns:c16="http://schemas.microsoft.com/office/drawing/2014/chart" uri="{C3380CC4-5D6E-409C-BE32-E72D297353CC}">
                <c16:uniqueId val="{00000001-BA4E-4A67-B36E-C308F989080C}"/>
              </c:ext>
            </c:extLst>
          </c:dPt>
          <c:dLbls>
            <c:numFmt formatCode="#,##0" sourceLinked="0"/>
            <c:spPr>
              <a:noFill/>
              <a:ln>
                <a:noFill/>
              </a:ln>
              <a:effectLst/>
            </c:spPr>
            <c:txPr>
              <a:bodyPr/>
              <a:lstStyle/>
              <a:p>
                <a:pPr>
                  <a:defRPr sz="1300" b="1">
                    <a:solidFill>
                      <a:srgbClr val="0F17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NL/BE/DK/SE/ES/PL/IT/NO/FI/CH</c:v>
                </c:pt>
                <c:pt idx="1">
                  <c:v>US &amp; Canada</c:v>
                </c:pt>
                <c:pt idx="2">
                  <c:v>Ireland</c:v>
                </c:pt>
                <c:pt idx="3">
                  <c:v>Germany</c:v>
                </c:pt>
                <c:pt idx="4">
                  <c:v>France</c:v>
                </c:pt>
                <c:pt idx="5">
                  <c:v>GB — anchor market</c:v>
                </c:pt>
              </c:strCache>
            </c:strRef>
          </c:cat>
          <c:val>
            <c:numRef>
              <c:f>Sheet1!$B$2:$B$7</c:f>
              <c:numCache>
                <c:formatCode>General</c:formatCode>
                <c:ptCount val="6"/>
                <c:pt idx="0">
                  <c:v>186</c:v>
                </c:pt>
                <c:pt idx="1">
                  <c:v>46</c:v>
                </c:pt>
                <c:pt idx="2">
                  <c:v>98</c:v>
                </c:pt>
                <c:pt idx="3">
                  <c:v>170</c:v>
                </c:pt>
                <c:pt idx="4">
                  <c:v>202</c:v>
                </c:pt>
                <c:pt idx="5">
                  <c:v>1044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BA4E-4A67-B36E-C308F989080C}"/>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2E8F0"/>
            </a:solidFill>
          </a:ln>
        </c:spPr>
        <c:txPr>
          <a:bodyPr/>
          <a:lstStyle/>
          <a:p>
            <a:pPr>
              <a:defRPr sz="1300">
                <a:solidFill>
                  <a:srgbClr val="0F172A"/>
                </a:solidFill>
              </a:defRPr>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majorGridlines>
          <c:spPr>
            <a:ln w="9525">
              <a:solidFill>
                <a:srgbClr val="E2E8F0"/>
              </a:solidFill>
            </a:ln>
          </c:spPr>
        </c:majorGridlines>
        <c:numFmt formatCode="General" sourceLinked="1"/>
        <c:majorTickMark val="out"/>
        <c:minorTickMark val="none"/>
        <c:tickLblPos val="nextTo"/>
        <c:spPr>
          <a:ln>
            <a:noFill/>
          </a:ln>
        </c:spPr>
        <c:txPr>
          <a:bodyPr/>
          <a:lstStyle/>
          <a:p>
            <a:pPr>
              <a:defRPr sz="1300">
                <a:solidFill>
                  <a:srgbClr val="64748B"/>
                </a:solidFill>
              </a:defRPr>
            </a:pPr>
            <a:endParaRPr lang="en-US"/>
          </a:p>
        </c:txPr>
        <c:crossAx val="-2068027336"/>
        <c:crosses val="autoZero"/>
        <c:crossBetween val="between"/>
      </c:valAx>
    </c:plotArea>
    <c:plotVisOnly val="1"/>
    <c:dispBlanksAs val="gap"/>
    <c:showDLblsOverMax val="1"/>
  </c:chart>
  <c:txPr>
    <a:bodyPr/>
    <a:lstStyle/>
    <a:p>
      <a:pPr>
        <a:defRPr sz="1300">
          <a:solidFill>
            <a:srgbClr val="475569"/>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Series 1</c:v>
                </c:pt>
              </c:strCache>
            </c:strRef>
          </c:tx>
          <c:spPr>
            <a:solidFill>
              <a:srgbClr val="F7941E"/>
            </a:solidFill>
            <a:ln>
              <a:noFill/>
            </a:ln>
          </c:spPr>
          <c:invertIfNegative val="1"/>
          <c:dPt>
            <c:idx val="3"/>
            <c:invertIfNegative val="1"/>
            <c:bubble3D val="0"/>
            <c:spPr>
              <a:solidFill>
                <a:srgbClr val="0F172A"/>
              </a:solidFill>
            </c:spPr>
            <c:extLst>
              <c:ext xmlns:c16="http://schemas.microsoft.com/office/drawing/2014/chart" uri="{C3380CC4-5D6E-409C-BE32-E72D297353CC}">
                <c16:uniqueId val="{00000001-7BDB-4BC6-94F4-ED4EE2BDFA53}"/>
              </c:ext>
            </c:extLst>
          </c:dPt>
          <c:dLbls>
            <c:numFmt formatCode="#,##0" sourceLinked="0"/>
            <c:spPr>
              <a:noFill/>
              <a:ln>
                <a:noFill/>
              </a:ln>
              <a:effectLst/>
            </c:spPr>
            <c:txPr>
              <a:bodyPr/>
              <a:lstStyle/>
              <a:p>
                <a:pPr>
                  <a:defRPr sz="1300" b="1">
                    <a:solidFill>
                      <a:srgbClr val="0F17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2024 Q3</c:v>
                </c:pt>
                <c:pt idx="1">
                  <c:v>2024 Q4</c:v>
                </c:pt>
                <c:pt idx="2">
                  <c:v>2025 Q1</c:v>
                </c:pt>
                <c:pt idx="3">
                  <c:v>2025 Q2</c:v>
                </c:pt>
                <c:pt idx="4">
                  <c:v>2025 Q3</c:v>
                </c:pt>
                <c:pt idx="5">
                  <c:v>2025 Q4</c:v>
                </c:pt>
                <c:pt idx="6">
                  <c:v>2026 Q1</c:v>
                </c:pt>
                <c:pt idx="7">
                  <c:v>2026 Q2</c:v>
                </c:pt>
              </c:strCache>
            </c:strRef>
          </c:cat>
          <c:val>
            <c:numRef>
              <c:f>Sheet1!$B$2:$B$9</c:f>
              <c:numCache>
                <c:formatCode>General</c:formatCode>
                <c:ptCount val="8"/>
                <c:pt idx="0">
                  <c:v>93</c:v>
                </c:pt>
                <c:pt idx="1">
                  <c:v>252</c:v>
                </c:pt>
                <c:pt idx="2">
                  <c:v>242</c:v>
                </c:pt>
                <c:pt idx="3">
                  <c:v>307</c:v>
                </c:pt>
                <c:pt idx="4">
                  <c:v>229</c:v>
                </c:pt>
                <c:pt idx="5">
                  <c:v>221</c:v>
                </c:pt>
                <c:pt idx="6">
                  <c:v>245</c:v>
                </c:pt>
                <c:pt idx="7">
                  <c:v>129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7BDB-4BC6-94F4-ED4EE2BDFA53}"/>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2E8F0"/>
            </a:solidFill>
          </a:ln>
        </c:spPr>
        <c:txPr>
          <a:bodyPr/>
          <a:lstStyle/>
          <a:p>
            <a:pPr>
              <a:defRPr sz="1300">
                <a:solidFill>
                  <a:srgbClr val="0F172A"/>
                </a:solidFill>
              </a:defRPr>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l"/>
        <c:majorGridlines>
          <c:spPr>
            <a:ln w="9525">
              <a:solidFill>
                <a:srgbClr val="E2E8F0"/>
              </a:solidFill>
            </a:ln>
          </c:spPr>
        </c:majorGridlines>
        <c:numFmt formatCode="General" sourceLinked="1"/>
        <c:majorTickMark val="out"/>
        <c:minorTickMark val="none"/>
        <c:tickLblPos val="nextTo"/>
        <c:spPr>
          <a:ln>
            <a:noFill/>
          </a:ln>
        </c:spPr>
        <c:txPr>
          <a:bodyPr/>
          <a:lstStyle/>
          <a:p>
            <a:pPr>
              <a:defRPr sz="1300">
                <a:solidFill>
                  <a:srgbClr val="64748B"/>
                </a:solidFill>
              </a:defRPr>
            </a:pPr>
            <a:endParaRPr lang="en-US"/>
          </a:p>
        </c:txPr>
        <c:crossAx val="-2068027336"/>
        <c:crosses val="autoZero"/>
        <c:crossBetween val="between"/>
      </c:valAx>
    </c:plotArea>
    <c:plotVisOnly val="1"/>
    <c:dispBlanksAs val="gap"/>
    <c:showDLblsOverMax val="1"/>
  </c:chart>
  <c:txPr>
    <a:bodyPr/>
    <a:lstStyle/>
    <a:p>
      <a:pPr>
        <a:defRPr sz="1300">
          <a:solidFill>
            <a:srgbClr val="475569"/>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Series 1</c:v>
                </c:pt>
              </c:strCache>
            </c:strRef>
          </c:tx>
          <c:spPr>
            <a:solidFill>
              <a:srgbClr val="F7941E"/>
            </a:solidFill>
            <a:ln>
              <a:noFill/>
            </a:ln>
          </c:spPr>
          <c:invertIfNegative val="1"/>
          <c:dPt>
            <c:idx val="3"/>
            <c:invertIfNegative val="1"/>
            <c:bubble3D val="0"/>
            <c:spPr>
              <a:solidFill>
                <a:srgbClr val="0F172A"/>
              </a:solidFill>
            </c:spPr>
            <c:extLst>
              <c:ext xmlns:c16="http://schemas.microsoft.com/office/drawing/2014/chart" uri="{C3380CC4-5D6E-409C-BE32-E72D297353CC}">
                <c16:uniqueId val="{00000001-B2C0-48AA-AE20-D1F55B0F8A36}"/>
              </c:ext>
            </c:extLst>
          </c:dPt>
          <c:dLbls>
            <c:numFmt formatCode="#,##0" sourceLinked="0"/>
            <c:spPr>
              <a:noFill/>
              <a:ln>
                <a:noFill/>
              </a:ln>
              <a:effectLst/>
            </c:spPr>
            <c:txPr>
              <a:bodyPr/>
              <a:lstStyle/>
              <a:p>
                <a:pPr>
                  <a:defRPr sz="1300" b="1">
                    <a:solidFill>
                      <a:srgbClr val="0F17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A/B testing &amp; experimentation  · 10%</c:v>
                </c:pt>
                <c:pt idx="1">
                  <c:v>Account &amp; strategy  · 14%</c:v>
                </c:pt>
                <c:pt idx="2">
                  <c:v>Optimisation — titles, keywords, labels  · 28%</c:v>
                </c:pt>
                <c:pt idx="3">
                  <c:v>Technical &amp; feed management  · 40%</c:v>
                </c:pt>
              </c:strCache>
            </c:strRef>
          </c:cat>
          <c:val>
            <c:numRef>
              <c:f>Sheet1!$B$2:$B$5</c:f>
              <c:numCache>
                <c:formatCode>General</c:formatCode>
                <c:ptCount val="4"/>
                <c:pt idx="0">
                  <c:v>174</c:v>
                </c:pt>
                <c:pt idx="1">
                  <c:v>251</c:v>
                </c:pt>
                <c:pt idx="2">
                  <c:v>497</c:v>
                </c:pt>
                <c:pt idx="3">
                  <c:v>694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B2C0-48AA-AE20-D1F55B0F8A36}"/>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2E8F0"/>
            </a:solidFill>
          </a:ln>
        </c:spPr>
        <c:txPr>
          <a:bodyPr/>
          <a:lstStyle/>
          <a:p>
            <a:pPr>
              <a:defRPr sz="1300">
                <a:solidFill>
                  <a:srgbClr val="0F172A"/>
                </a:solidFill>
              </a:defRPr>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majorGridlines>
          <c:spPr>
            <a:ln w="9525">
              <a:solidFill>
                <a:srgbClr val="E2E8F0"/>
              </a:solidFill>
            </a:ln>
          </c:spPr>
        </c:majorGridlines>
        <c:numFmt formatCode="General" sourceLinked="1"/>
        <c:majorTickMark val="out"/>
        <c:minorTickMark val="none"/>
        <c:tickLblPos val="nextTo"/>
        <c:spPr>
          <a:ln>
            <a:noFill/>
          </a:ln>
        </c:spPr>
        <c:txPr>
          <a:bodyPr/>
          <a:lstStyle/>
          <a:p>
            <a:pPr>
              <a:defRPr sz="1300">
                <a:solidFill>
                  <a:srgbClr val="64748B"/>
                </a:solidFill>
              </a:defRPr>
            </a:pPr>
            <a:endParaRPr lang="en-US"/>
          </a:p>
        </c:txPr>
        <c:crossAx val="-2068027336"/>
        <c:crosses val="autoZero"/>
        <c:crossBetween val="between"/>
      </c:valAx>
    </c:plotArea>
    <c:plotVisOnly val="1"/>
    <c:dispBlanksAs val="gap"/>
    <c:showDLblsOverMax val="1"/>
  </c:chart>
  <c:txPr>
    <a:bodyPr/>
    <a:lstStyle/>
    <a:p>
      <a:pPr>
        <a:defRPr sz="1300">
          <a:solidFill>
            <a:srgbClr val="475569"/>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Series 1</c:v>
                </c:pt>
              </c:strCache>
            </c:strRef>
          </c:tx>
          <c:spPr>
            <a:solidFill>
              <a:srgbClr val="F7941E"/>
            </a:solidFill>
            <a:ln>
              <a:noFill/>
            </a:ln>
          </c:spPr>
          <c:invertIfNegative val="1"/>
          <c:dPt>
            <c:idx val="0"/>
            <c:invertIfNegative val="1"/>
            <c:bubble3D val="0"/>
            <c:spPr>
              <a:solidFill>
                <a:srgbClr val="0F172A"/>
              </a:solidFill>
            </c:spPr>
            <c:extLst>
              <c:ext xmlns:c16="http://schemas.microsoft.com/office/drawing/2014/chart" uri="{C3380CC4-5D6E-409C-BE32-E72D297353CC}">
                <c16:uniqueId val="{00000001-4C12-468D-996F-E14E5F13BF01}"/>
              </c:ext>
            </c:extLst>
          </c:dPt>
          <c:dPt>
            <c:idx val="1"/>
            <c:invertIfNegative val="1"/>
            <c:bubble3D val="0"/>
            <c:spPr>
              <a:solidFill>
                <a:srgbClr val="0F172A"/>
              </a:solidFill>
            </c:spPr>
            <c:extLst>
              <c:ext xmlns:c16="http://schemas.microsoft.com/office/drawing/2014/chart" uri="{C3380CC4-5D6E-409C-BE32-E72D297353CC}">
                <c16:uniqueId val="{00000003-4C12-468D-996F-E14E5F13BF01}"/>
              </c:ext>
            </c:extLst>
          </c:dPt>
          <c:dPt>
            <c:idx val="3"/>
            <c:invertIfNegative val="1"/>
            <c:bubble3D val="0"/>
            <c:spPr>
              <a:solidFill>
                <a:srgbClr val="0F172A"/>
              </a:solidFill>
            </c:spPr>
            <c:extLst>
              <c:ext xmlns:c16="http://schemas.microsoft.com/office/drawing/2014/chart" uri="{C3380CC4-5D6E-409C-BE32-E72D297353CC}">
                <c16:uniqueId val="{00000005-4C12-468D-996F-E14E5F13BF01}"/>
              </c:ext>
            </c:extLst>
          </c:dPt>
          <c:dPt>
            <c:idx val="4"/>
            <c:invertIfNegative val="1"/>
            <c:bubble3D val="0"/>
            <c:spPr>
              <a:solidFill>
                <a:srgbClr val="0F172A"/>
              </a:solidFill>
            </c:spPr>
            <c:extLst>
              <c:ext xmlns:c16="http://schemas.microsoft.com/office/drawing/2014/chart" uri="{C3380CC4-5D6E-409C-BE32-E72D297353CC}">
                <c16:uniqueId val="{00000007-4C12-468D-996F-E14E5F13BF01}"/>
              </c:ext>
            </c:extLst>
          </c:dPt>
          <c:dLbls>
            <c:numFmt formatCode="\+0.0&quot;%&quot;" sourceLinked="0"/>
            <c:spPr>
              <a:noFill/>
              <a:ln>
                <a:noFill/>
              </a:ln>
              <a:effectLst/>
            </c:spPr>
            <c:txPr>
              <a:bodyPr/>
              <a:lstStyle/>
              <a:p>
                <a:pPr>
                  <a:defRPr sz="1100" b="1">
                    <a:solidFill>
                      <a:srgbClr val="0F17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 March I keywords</c:v>
                </c:pt>
                <c:pt idx="1">
                  <c:v>✦ August I keywords</c:v>
                </c:pt>
                <c:pt idx="2">
                  <c:v>Fur-hood keywords</c:v>
                </c:pt>
                <c:pt idx="3">
                  <c:v>✦ July I keywords</c:v>
                </c:pt>
                <c:pt idx="4">
                  <c:v>✦ June II keywords</c:v>
                </c:pt>
                <c:pt idx="5">
                  <c:v>Nov keywords</c:v>
                </c:pt>
                <c:pt idx="6">
                  <c:v>Black Friday II</c:v>
                </c:pt>
                <c:pt idx="7">
                  <c:v>Bench × Superdry</c:v>
                </c:pt>
                <c:pt idx="8">
                  <c:v>EOSS — France</c:v>
                </c:pt>
                <c:pt idx="9">
                  <c:v>Black Friday I</c:v>
                </c:pt>
                <c:pt idx="10">
                  <c:v>December keywords</c:v>
                </c:pt>
                <c:pt idx="11">
                  <c:v>Summer / seasonal</c:v>
                </c:pt>
              </c:strCache>
            </c:strRef>
          </c:cat>
          <c:val>
            <c:numRef>
              <c:f>Sheet1!$B$2:$B$13</c:f>
              <c:numCache>
                <c:formatCode>General</c:formatCode>
                <c:ptCount val="12"/>
                <c:pt idx="0">
                  <c:v>10.199999999999999</c:v>
                </c:pt>
                <c:pt idx="1">
                  <c:v>12.1</c:v>
                </c:pt>
                <c:pt idx="2">
                  <c:v>15.6</c:v>
                </c:pt>
                <c:pt idx="3">
                  <c:v>15.6</c:v>
                </c:pt>
                <c:pt idx="4">
                  <c:v>18.7</c:v>
                </c:pt>
                <c:pt idx="5">
                  <c:v>19.2</c:v>
                </c:pt>
                <c:pt idx="6">
                  <c:v>39.4</c:v>
                </c:pt>
                <c:pt idx="7">
                  <c:v>40.5</c:v>
                </c:pt>
                <c:pt idx="8">
                  <c:v>45.1</c:v>
                </c:pt>
                <c:pt idx="9">
                  <c:v>48.5</c:v>
                </c:pt>
                <c:pt idx="10">
                  <c:v>52.1</c:v>
                </c:pt>
                <c:pt idx="11">
                  <c:v>55.3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4C12-468D-996F-E14E5F13BF01}"/>
            </c:ext>
          </c:extLst>
        </c:ser>
        <c:dLbls>
          <c:dLblPos val="outEnd"/>
          <c:showLegendKey val="0"/>
          <c:showVal val="1"/>
          <c:showCatName val="0"/>
          <c:showSerName val="0"/>
          <c:showPercent val="0"/>
          <c:showBubbleSize val="0"/>
        </c:dLbls>
        <c:gapWidth val="3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2E8F0"/>
            </a:solidFill>
          </a:ln>
        </c:spPr>
        <c:txPr>
          <a:bodyPr/>
          <a:lstStyle/>
          <a:p>
            <a:pPr>
              <a:defRPr sz="1100">
                <a:solidFill>
                  <a:srgbClr val="0F172A"/>
                </a:solidFill>
              </a:defRPr>
            </a:pPr>
            <a:endParaRPr lang="en-US"/>
          </a:p>
        </c:txPr>
        <c:crossAx val="-2113994440"/>
        <c:crosses val="autoZero"/>
        <c:auto val="1"/>
        <c:lblAlgn val="ctr"/>
        <c:lblOffset val="100"/>
        <c:tickLblSkip val="1"/>
        <c:tickMarkSkip val="1"/>
        <c:noMultiLvlLbl val="0"/>
      </c:catAx>
      <c:valAx>
        <c:axId val="-2113994440"/>
        <c:scaling>
          <c:orientation val="minMax"/>
        </c:scaling>
        <c:delete val="0"/>
        <c:axPos val="b"/>
        <c:majorGridlines>
          <c:spPr>
            <a:ln w="9525">
              <a:solidFill>
                <a:srgbClr val="E2E8F0"/>
              </a:solidFill>
            </a:ln>
          </c:spPr>
        </c:majorGridlines>
        <c:numFmt formatCode="General" sourceLinked="1"/>
        <c:majorTickMark val="out"/>
        <c:minorTickMark val="none"/>
        <c:tickLblPos val="nextTo"/>
        <c:spPr>
          <a:ln>
            <a:noFill/>
          </a:ln>
        </c:spPr>
        <c:txPr>
          <a:bodyPr/>
          <a:lstStyle/>
          <a:p>
            <a:pPr>
              <a:defRPr sz="1100">
                <a:solidFill>
                  <a:srgbClr val="64748B"/>
                </a:solidFill>
              </a:defRPr>
            </a:pPr>
            <a:endParaRPr lang="en-US"/>
          </a:p>
        </c:txPr>
        <c:crossAx val="-2068027336"/>
        <c:crosses val="autoZero"/>
        <c:crossBetween val="between"/>
      </c:valAx>
    </c:plotArea>
    <c:plotVisOnly val="1"/>
    <c:dispBlanksAs val="gap"/>
    <c:showDLblsOverMax val="1"/>
  </c:chart>
  <c:txPr>
    <a:bodyPr/>
    <a:lstStyle/>
    <a:p>
      <a:pPr>
        <a:defRPr sz="1100">
          <a:solidFill>
            <a:srgbClr val="475569"/>
          </a:solidFil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828800"/>
            <a:ext cx="43560" cy="2741040"/>
          </a:xfrm>
          <a:prstGeom prst="rect">
            <a:avLst/>
          </a:prstGeom>
          <a:solidFill>
            <a:srgbClr val="F7941E"/>
          </a:solidFill>
          <a:ln w="0">
            <a:noFill/>
          </a:ln>
        </p:spPr>
        <p:txBody>
          <a:bodyPr/>
          <a:lstStyle/>
          <a:p>
            <a:endParaRPr lang="en-GB"/>
          </a:p>
        </p:txBody>
      </p:sp>
      <p:sp>
        <p:nvSpPr>
          <p:cNvPr id="14" name="Title"/>
          <p:cNvSpPr>
            <a:spLocks noGrp="1"/>
          </p:cNvSpPr>
          <p:nvPr>
            <p:ph type="ctrTitle"/>
          </p:nvPr>
        </p:nvSpPr>
        <p:spPr>
          <a:xfrm>
            <a:off x="914400" y="1828800"/>
            <a:ext cx="9599040" cy="1369440"/>
          </a:xfrm>
          <a:prstGeom prst="rect">
            <a:avLst/>
          </a:prstGeom>
        </p:spPr>
        <p:txBody>
          <a:bodyPr lIns="0" tIns="0" rIns="0" bIns="0" anchor="ctr">
            <a:normAutofit/>
          </a:bodyPr>
          <a:lstStyle>
            <a:lvl1pPr marL="0" indent="0" algn="l">
              <a:lnSpc>
                <a:spcPct val="104000"/>
              </a:lnSpc>
              <a:defRPr sz="5400" b="1" i="0">
                <a:solidFill>
                  <a:srgbClr val="FFFFFF"/>
                </a:solidFill>
                <a:latin typeface="+mj-lt"/>
              </a:defRPr>
            </a:lvl1pPr>
          </a:lstStyle>
          <a:p>
            <a:endParaRPr lang="en-GB"/>
          </a:p>
        </p:txBody>
      </p:sp>
      <p:sp>
        <p:nvSpPr>
          <p:cNvPr id="15" name="Subtitle"/>
          <p:cNvSpPr>
            <a:spLocks noGrp="1"/>
          </p:cNvSpPr>
          <p:nvPr>
            <p:ph type="subTitle" idx="1"/>
          </p:nvPr>
        </p:nvSpPr>
        <p:spPr>
          <a:xfrm>
            <a:off x="914400" y="3300000"/>
            <a:ext cx="9599040" cy="760000"/>
          </a:xfrm>
          <a:prstGeom prst="rect">
            <a:avLst/>
          </a:prstGeom>
        </p:spPr>
        <p:txBody>
          <a:bodyPr lIns="0" tIns="0" rIns="0" bIns="0" anchor="ctr">
            <a:normAutofit/>
          </a:bodyPr>
          <a:lstStyle>
            <a:lvl1pPr marL="0" indent="0" algn="l">
              <a:defRPr sz="2000" b="0" i="0">
                <a:solidFill>
                  <a:srgbClr val="94A3B8"/>
                </a:solidFill>
                <a:latin typeface="+mn-lt"/>
              </a:defRPr>
            </a:lvl1pPr>
          </a:lstStyle>
          <a:p>
            <a:endParaRPr lang="en-GB"/>
          </a:p>
        </p:txBody>
      </p:sp>
      <p:sp>
        <p:nvSpPr>
          <p:cNvPr id="16" name="Date / Prepared by"/>
          <p:cNvSpPr>
            <a:spLocks noGrp="1"/>
          </p:cNvSpPr>
          <p:nvPr>
            <p:ph type="body" idx="11"/>
          </p:nvPr>
        </p:nvSpPr>
        <p:spPr>
          <a:xfrm>
            <a:off x="914400" y="4150000"/>
            <a:ext cx="9599040" cy="380000"/>
          </a:xfrm>
          <a:prstGeom prst="rect">
            <a:avLst/>
          </a:prstGeom>
        </p:spPr>
        <p:txBody>
          <a:bodyPr lIns="0" tIns="0" rIns="0" bIns="0" anchor="ctr">
            <a:normAutofit/>
          </a:bodyPr>
          <a:lstStyle>
            <a:lvl1pPr marL="0" indent="0" algn="l">
              <a:defRPr sz="1400" b="1" i="0">
                <a:solidFill>
                  <a:srgbClr val="F7941E"/>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Marker">
    <p:bg>
      <p:bgPr>
        <a:solidFill>
          <a:srgbClr val="F7941E"/>
        </a:solidFill>
        <a:effectLst/>
      </p:bgPr>
    </p:bg>
    <p:spTree>
      <p:nvGrpSpPr>
        <p:cNvPr id="1" name=""/>
        <p:cNvGrpSpPr/>
        <p:nvPr/>
      </p:nvGrpSpPr>
      <p:grpSpPr>
        <a:xfrm>
          <a:off x="0" y="0"/>
          <a:ext cx="0" cy="0"/>
          <a:chOff x="0" y="0"/>
          <a:chExt cx="0" cy="0"/>
        </a:xfrm>
      </p:grpSpPr>
      <p:sp>
        <p:nvSpPr>
          <p:cNvPr id="11" name="BigCircle"/>
          <p:cNvSpPr/>
          <p:nvPr/>
        </p:nvSpPr>
        <p:spPr>
          <a:xfrm>
            <a:off x="8686800" y="-1371600"/>
            <a:ext cx="5029200" cy="5029200"/>
          </a:xfrm>
          <a:prstGeom prst="ellipse">
            <a:avLst/>
          </a:prstGeom>
          <a:solidFill>
            <a:srgbClr val="FFFFFF">
              <a:alpha val="15000"/>
            </a:srgbClr>
          </a:solidFill>
          <a:ln w="12700">
            <a:solidFill>
              <a:srgbClr val="FFFFFF"/>
            </a:solidFill>
          </a:ln>
        </p:spPr>
        <p:txBody>
          <a:bodyPr/>
          <a:lstStyle/>
          <a:p>
            <a:endParaRPr lang="en-GB"/>
          </a:p>
        </p:txBody>
      </p:sp>
      <p:sp>
        <p:nvSpPr>
          <p:cNvPr id="12" name="SmallCircle"/>
          <p:cNvSpPr/>
          <p:nvPr/>
        </p:nvSpPr>
        <p:spPr>
          <a:xfrm>
            <a:off x="10058400" y="914400"/>
            <a:ext cx="3200400" cy="3200400"/>
          </a:xfrm>
          <a:prstGeom prst="ellipse">
            <a:avLst/>
          </a:prstGeom>
          <a:solidFill>
            <a:srgbClr val="FFFFFF">
              <a:alpha val="10000"/>
            </a:srgbClr>
          </a:solidFill>
          <a:ln w="12700">
            <a:solidFill>
              <a:srgbClr val="FFFFFF"/>
            </a:solidFill>
          </a:ln>
        </p:spPr>
        <p:txBody>
          <a:bodyPr/>
          <a:lstStyle/>
          <a:p>
            <a:endParaRPr lang="en-GB"/>
          </a:p>
        </p:txBody>
      </p:sp>
      <p:sp>
        <p:nvSpPr>
          <p:cNvPr id="13" name="LeftAccent"/>
          <p:cNvSpPr/>
          <p:nvPr/>
        </p:nvSpPr>
        <p:spPr>
          <a:xfrm>
            <a:off x="777240" y="1828800"/>
            <a:ext cx="45720" cy="2286000"/>
          </a:xfrm>
          <a:prstGeom prst="rect">
            <a:avLst/>
          </a:prstGeom>
          <a:solidFill>
            <a:srgbClr val="FFFFFF"/>
          </a:solidFill>
          <a:ln w="0">
            <a:noFill/>
          </a:ln>
        </p:spPr>
        <p:txBody>
          <a:bodyPr/>
          <a:lstStyle/>
          <a:p>
            <a:endParaRPr lang="en-GB"/>
          </a:p>
        </p:txBody>
      </p:sp>
      <p:sp>
        <p:nvSpPr>
          <p:cNvPr id="14" name="Section Label"/>
          <p:cNvSpPr>
            <a:spLocks noGrp="1"/>
          </p:cNvSpPr>
          <p:nvPr>
            <p:ph type="body" idx="11"/>
          </p:nvPr>
        </p:nvSpPr>
        <p:spPr>
          <a:xfrm>
            <a:off x="960120" y="1874520"/>
            <a:ext cx="5486400" cy="320040"/>
          </a:xfrm>
          <a:prstGeom prst="rect">
            <a:avLst/>
          </a:prstGeom>
        </p:spPr>
        <p:txBody>
          <a:bodyPr lIns="0" tIns="0" rIns="0" bIns="0" anchor="t">
            <a:normAutofit/>
          </a:bodyPr>
          <a:lstStyle>
            <a:lvl1pPr marL="0" indent="0" algn="l">
              <a:defRPr sz="1400" b="0" i="0" spc="400">
                <a:solidFill>
                  <a:srgbClr val="FFFFFF"/>
                </a:solidFill>
                <a:latin typeface="+mn-lt"/>
              </a:defRPr>
            </a:lvl1pPr>
          </a:lstStyle>
          <a:p>
            <a:endParaRPr lang="en-GB"/>
          </a:p>
        </p:txBody>
      </p:sp>
      <p:sp>
        <p:nvSpPr>
          <p:cNvPr id="15" name="Section Title"/>
          <p:cNvSpPr>
            <a:spLocks noGrp="1"/>
          </p:cNvSpPr>
          <p:nvPr>
            <p:ph type="title"/>
          </p:nvPr>
        </p:nvSpPr>
        <p:spPr>
          <a:xfrm>
            <a:off x="960120" y="2194560"/>
            <a:ext cx="10058400" cy="1371600"/>
          </a:xfrm>
          <a:prstGeom prst="rect">
            <a:avLst/>
          </a:prstGeom>
        </p:spPr>
        <p:txBody>
          <a:bodyPr lIns="0" tIns="0" rIns="0" bIns="0" anchor="t">
            <a:normAutofit/>
          </a:bodyPr>
          <a:lstStyle>
            <a:lvl1pPr marL="0" indent="0" algn="l">
              <a:lnSpc>
                <a:spcPct val="104000"/>
              </a:lnSpc>
              <a:defRPr sz="4800" b="1" i="0">
                <a:solidFill>
                  <a:srgbClr val="FFFFFF"/>
                </a:solidFill>
                <a:latin typeface="+mj-lt"/>
              </a:defRPr>
            </a:lvl1pPr>
          </a:lstStyle>
          <a:p>
            <a:endParaRPr lang="en-GB"/>
          </a:p>
        </p:txBody>
      </p:sp>
      <p:sp>
        <p:nvSpPr>
          <p:cNvPr id="16" name="Section Subtitle"/>
          <p:cNvSpPr>
            <a:spLocks noGrp="1"/>
          </p:cNvSpPr>
          <p:nvPr>
            <p:ph type="body" idx="1"/>
          </p:nvPr>
        </p:nvSpPr>
        <p:spPr>
          <a:xfrm>
            <a:off x="960120" y="3657600"/>
            <a:ext cx="9601200" cy="548640"/>
          </a:xfrm>
          <a:prstGeom prst="rect">
            <a:avLst/>
          </a:prstGeom>
        </p:spPr>
        <p:txBody>
          <a:bodyPr lIns="0" tIns="0" rIns="0" bIns="0" anchor="t">
            <a:normAutofit/>
          </a:bodyPr>
          <a:lstStyle>
            <a:lvl1pPr marL="0" indent="0" algn="l">
              <a:defRPr sz="1600" b="0" i="0">
                <a:solidFill>
                  <a:srgbClr val="FFE4C4"/>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FFFFF"/>
                </a:solidFill>
              </a:rPr>
              <a:t>FeedSpark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ontent"/>
          <p:cNvSpPr>
            <a:spLocks noGrp="1"/>
          </p:cNvSpPr>
          <p:nvPr>
            <p:ph type="body" idx="1"/>
          </p:nvPr>
        </p:nvSpPr>
        <p:spPr>
          <a:xfrm>
            <a:off x="609480" y="1780000"/>
            <a:ext cx="10973040" cy="3880000"/>
          </a:xfrm>
          <a:prstGeom prst="rect">
            <a:avLst/>
          </a:prstGeom>
        </p:spPr>
        <p:txBody>
          <a:bodyPr lIns="0" tIns="0" rIns="0" bIns="0" anchor="t">
            <a:normAutofit/>
          </a:bodyPr>
          <a:lstStyle>
            <a:lvl1pPr marL="0" indent="0" algn="l">
              <a:lnSpc>
                <a:spcPct val="120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Left Content"/>
          <p:cNvSpPr>
            <a:spLocks noGrp="1"/>
          </p:cNvSpPr>
          <p:nvPr>
            <p:ph type="body" idx="1"/>
          </p:nvPr>
        </p:nvSpPr>
        <p:spPr>
          <a:xfrm>
            <a:off x="60948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5" name="Right Content"/>
          <p:cNvSpPr>
            <a:spLocks noGrp="1"/>
          </p:cNvSpPr>
          <p:nvPr>
            <p:ph type="body" idx="2"/>
          </p:nvPr>
        </p:nvSpPr>
        <p:spPr>
          <a:xfrm>
            <a:off x="625200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0}" type="slidenum">
              <a:rPr lang="en-GB" sz="1100">
                <a:solidFill>
                  <a:srgbClr val="64748B"/>
                </a:solidFill>
              </a:rPr>
              <a:t>‹#›</a:t>
            </a:fld>
            <a:endParaRPr lang="en-GB" sz="1100">
              <a:solidFill>
                <a:srgbClr val="64748B"/>
              </a:solidFill>
            </a:endParaRPr>
          </a:p>
        </p:txBody>
      </p:sp>
      <p:sp>
        <p:nvSpPr>
          <p:cNvPr id="2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Image Left, Content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Image"/>
          <p:cNvSpPr>
            <a:spLocks noGrp="1"/>
          </p:cNvSpPr>
          <p:nvPr>
            <p:ph type="pic" idx="1"/>
          </p:nvPr>
        </p:nvSpPr>
        <p:spPr>
          <a:xfrm>
            <a:off x="60948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4" name="Content"/>
          <p:cNvSpPr>
            <a:spLocks noGrp="1"/>
          </p:cNvSpPr>
          <p:nvPr>
            <p:ph type="body" idx="1"/>
          </p:nvPr>
        </p:nvSpPr>
        <p:spPr>
          <a:xfrm>
            <a:off x="642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Content Left, Image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Content"/>
          <p:cNvSpPr>
            <a:spLocks noGrp="1"/>
          </p:cNvSpPr>
          <p:nvPr>
            <p:ph type="body" idx="1"/>
          </p:nvPr>
        </p:nvSpPr>
        <p:spPr>
          <a:xfrm>
            <a:off x="60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4" name="Image"/>
          <p:cNvSpPr>
            <a:spLocks noGrp="1"/>
          </p:cNvSpPr>
          <p:nvPr>
            <p:ph type="pic" idx="1"/>
          </p:nvPr>
        </p:nvSpPr>
        <p:spPr>
          <a:xfrm>
            <a:off x="618252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6252000" y="1760000"/>
            <a:ext cx="533052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3"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4"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5"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6"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6}" type="slidenum">
              <a:rPr lang="en-GB" sz="1100">
                <a:solidFill>
                  <a:srgbClr val="64748B"/>
                </a:solidFill>
              </a:rPr>
              <a:t>‹#›</a:t>
            </a:fld>
            <a:endParaRPr lang="en-GB" sz="1100">
              <a:solidFill>
                <a:srgbClr val="64748B"/>
              </a:solidFill>
            </a:endParaRPr>
          </a:p>
        </p:txBody>
      </p:sp>
      <p:sp>
        <p:nvSpPr>
          <p:cNvPr id="27"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hre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4371160" y="1760000"/>
            <a:ext cx="344968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8132840" y="1760000"/>
            <a:ext cx="3449680" cy="364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364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ur-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176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6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6252000" y="1760000"/>
            <a:ext cx="5330520" cy="176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176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609480" y="3750000"/>
            <a:ext cx="5330520" cy="176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609480" y="3750000"/>
            <a:ext cx="73152" cy="176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5948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5948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252000" y="3750000"/>
            <a:ext cx="5330520" cy="176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252000" y="3750000"/>
            <a:ext cx="73152" cy="176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650200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650200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4}" type="slidenum">
              <a:rPr lang="en-GB" sz="1100">
                <a:solidFill>
                  <a:srgbClr val="64748B"/>
                </a:solidFill>
              </a:rPr>
              <a:t>‹#›</a:t>
            </a:fld>
            <a:endParaRPr lang="en-GB" sz="1100">
              <a:solidFill>
                <a:srgbClr val="64748B"/>
              </a:solidFill>
            </a:endParaRPr>
          </a:p>
        </p:txBody>
      </p:sp>
      <p:sp>
        <p:nvSpPr>
          <p:cNvPr id="3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Fiv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249032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249032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274032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274032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25200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625200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650200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650200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8}" type="slidenum">
              <a:rPr lang="en-GB" sz="1100">
                <a:solidFill>
                  <a:srgbClr val="64748B"/>
                </a:solidFill>
              </a:rPr>
              <a:t>‹#›</a:t>
            </a:fld>
            <a:endParaRPr lang="en-GB" sz="1100">
              <a:solidFill>
                <a:srgbClr val="64748B"/>
              </a:solidFill>
            </a:endParaRPr>
          </a:p>
        </p:txBody>
      </p:sp>
      <p:sp>
        <p:nvSpPr>
          <p:cNvPr id="3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ix-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0948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0948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85948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85948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437116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437116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462116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462116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8132840" y="3780000"/>
            <a:ext cx="3449680" cy="179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8132840" y="3780000"/>
            <a:ext cx="73152" cy="1790000"/>
          </a:xfrm>
          <a:prstGeom prst="rect">
            <a:avLst/>
          </a:prstGeom>
          <a:solidFill>
            <a:srgbClr val="F7941E"/>
          </a:solidFill>
          <a:ln w="0">
            <a:noFill/>
          </a:ln>
        </p:spPr>
        <p:txBody>
          <a:bodyPr/>
          <a:lstStyle/>
          <a:p>
            <a:endParaRPr lang="en-GB"/>
          </a:p>
        </p:txBody>
      </p:sp>
      <p:sp>
        <p:nvSpPr>
          <p:cNvPr id="36" name="Card 6 Heading"/>
          <p:cNvSpPr>
            <a:spLocks noGrp="1"/>
          </p:cNvSpPr>
          <p:nvPr>
            <p:ph type="body" idx="11"/>
          </p:nvPr>
        </p:nvSpPr>
        <p:spPr>
          <a:xfrm>
            <a:off x="838284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7" name="Card 6 Body"/>
          <p:cNvSpPr>
            <a:spLocks noGrp="1"/>
          </p:cNvSpPr>
          <p:nvPr>
            <p:ph type="body" idx="12"/>
          </p:nvPr>
        </p:nvSpPr>
        <p:spPr>
          <a:xfrm>
            <a:off x="838284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8"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9"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40"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4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4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42}" type="slidenum">
              <a:rPr lang="en-GB" sz="1100">
                <a:solidFill>
                  <a:srgbClr val="64748B"/>
                </a:solidFill>
              </a:rPr>
              <a:t>‹#›</a:t>
            </a:fld>
            <a:endParaRPr lang="en-GB" sz="1100">
              <a:solidFill>
                <a:srgbClr val="64748B"/>
              </a:solidFill>
            </a:endParaRPr>
          </a:p>
        </p:txBody>
      </p:sp>
      <p:sp>
        <p:nvSpPr>
          <p:cNvPr id="4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ig Stats">
    <p:bg>
      <p:bgPr>
        <a:solidFill>
          <a:srgbClr val="FFFFFF"/>
        </a:solidFill>
        <a:effectLst/>
      </p:bgPr>
    </p:bg>
    <p:spTree>
      <p:nvGrpSpPr>
        <p:cNvPr id="1" name=""/>
        <p:cNvGrpSpPr/>
        <p:nvPr/>
      </p:nvGrpSpPr>
      <p:grpSpPr>
        <a:xfrm>
          <a:off x="0" y="0"/>
          <a:ext cx="0" cy="0"/>
          <a:chOff x="0" y="0"/>
          <a:chExt cx="0" cy="0"/>
        </a:xfrm>
      </p:grpSpPr>
      <p:sp>
        <p:nvSpPr>
          <p:cNvPr id="17"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8"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9"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at 1 Number"/>
          <p:cNvSpPr>
            <a:spLocks noGrp="1"/>
          </p:cNvSpPr>
          <p:nvPr>
            <p:ph type="body" idx="1"/>
          </p:nvPr>
        </p:nvSpPr>
        <p:spPr>
          <a:xfrm>
            <a:off x="609480" y="2150000"/>
            <a:ext cx="3454400" cy="1200000"/>
          </a:xfrm>
          <a:prstGeom prst="rect">
            <a:avLst/>
          </a:prstGeom>
        </p:spPr>
        <p:txBody>
          <a:bodyPr lIns="0" tIns="0" rIns="0" bIns="0" anchor="ctr">
            <a:normAutofit/>
          </a:bodyPr>
          <a:lstStyle>
            <a:lvl1pPr marL="0" indent="0" algn="ctr">
              <a:defRPr sz="6000" b="1" i="0">
                <a:solidFill>
                  <a:srgbClr val="F7941E"/>
                </a:solidFill>
                <a:latin typeface="+mj-lt"/>
              </a:defRPr>
            </a:lvl1pPr>
          </a:lstStyle>
          <a:p>
            <a:endParaRPr lang="en-GB"/>
          </a:p>
        </p:txBody>
      </p:sp>
      <p:sp>
        <p:nvSpPr>
          <p:cNvPr id="12" name="Stat 1 Label"/>
          <p:cNvSpPr>
            <a:spLocks noGrp="1"/>
          </p:cNvSpPr>
          <p:nvPr>
            <p:ph type="body" idx="2"/>
          </p:nvPr>
        </p:nvSpPr>
        <p:spPr>
          <a:xfrm>
            <a:off x="6094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3" name="Stat 2 Number"/>
          <p:cNvSpPr>
            <a:spLocks noGrp="1"/>
          </p:cNvSpPr>
          <p:nvPr>
            <p:ph type="body" idx="3"/>
          </p:nvPr>
        </p:nvSpPr>
        <p:spPr>
          <a:xfrm>
            <a:off x="4390880" y="2150000"/>
            <a:ext cx="3454400" cy="1200000"/>
          </a:xfrm>
          <a:prstGeom prst="rect">
            <a:avLst/>
          </a:prstGeom>
        </p:spPr>
        <p:txBody>
          <a:bodyPr lIns="0" tIns="0" rIns="0" bIns="0" anchor="ctr">
            <a:normAutofit/>
          </a:bodyPr>
          <a:lstStyle>
            <a:lvl1pPr marL="0" indent="0" algn="ctr">
              <a:defRPr sz="6000" b="1" i="0">
                <a:solidFill>
                  <a:srgbClr val="3B82F6"/>
                </a:solidFill>
                <a:latin typeface="+mj-lt"/>
              </a:defRPr>
            </a:lvl1pPr>
          </a:lstStyle>
          <a:p>
            <a:endParaRPr lang="en-GB"/>
          </a:p>
        </p:txBody>
      </p:sp>
      <p:sp>
        <p:nvSpPr>
          <p:cNvPr id="14" name="Stat 2 Label"/>
          <p:cNvSpPr>
            <a:spLocks noGrp="1"/>
          </p:cNvSpPr>
          <p:nvPr>
            <p:ph type="body" idx="4"/>
          </p:nvPr>
        </p:nvSpPr>
        <p:spPr>
          <a:xfrm>
            <a:off x="43908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5" name="Stat 3 Number"/>
          <p:cNvSpPr>
            <a:spLocks noGrp="1"/>
          </p:cNvSpPr>
          <p:nvPr>
            <p:ph type="body" idx="5"/>
          </p:nvPr>
        </p:nvSpPr>
        <p:spPr>
          <a:xfrm>
            <a:off x="8172280" y="2150000"/>
            <a:ext cx="3454400" cy="1200000"/>
          </a:xfrm>
          <a:prstGeom prst="rect">
            <a:avLst/>
          </a:prstGeom>
        </p:spPr>
        <p:txBody>
          <a:bodyPr lIns="0" tIns="0" rIns="0" bIns="0" anchor="ctr">
            <a:normAutofit/>
          </a:bodyPr>
          <a:lstStyle>
            <a:lvl1pPr marL="0" indent="0" algn="ctr">
              <a:defRPr sz="6000" b="1" i="0">
                <a:solidFill>
                  <a:srgbClr val="8B5CF6"/>
                </a:solidFill>
                <a:latin typeface="+mj-lt"/>
              </a:defRPr>
            </a:lvl1pPr>
          </a:lstStyle>
          <a:p>
            <a:endParaRPr lang="en-GB"/>
          </a:p>
        </p:txBody>
      </p:sp>
      <p:sp>
        <p:nvSpPr>
          <p:cNvPr id="16" name="Stat 3 Label"/>
          <p:cNvSpPr>
            <a:spLocks noGrp="1"/>
          </p:cNvSpPr>
          <p:nvPr>
            <p:ph type="body" idx="6"/>
          </p:nvPr>
        </p:nvSpPr>
        <p:spPr>
          <a:xfrm>
            <a:off x="81722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2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4}" type="slidenum">
              <a:rPr lang="en-GB" sz="1100">
                <a:solidFill>
                  <a:srgbClr val="64748B"/>
                </a:solidFill>
              </a:rPr>
              <a:t>‹#›</a:t>
            </a:fld>
            <a:endParaRPr lang="en-GB" sz="1100">
              <a:solidFill>
                <a:srgbClr val="64748B"/>
              </a:solidFill>
            </a:endParaRPr>
          </a:p>
        </p:txBody>
      </p:sp>
      <p:sp>
        <p:nvSpPr>
          <p:cNvPr id="2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umbered Steps">
    <p:bg>
      <p:bgPr>
        <a:solidFill>
          <a:srgbClr val="FFFFFF"/>
        </a:solidFill>
        <a:effectLst/>
      </p:bgPr>
    </p:bg>
    <p:spTree>
      <p:nvGrpSpPr>
        <p:cNvPr id="1" name=""/>
        <p:cNvGrpSpPr/>
        <p:nvPr/>
      </p:nvGrpSpPr>
      <p:grpSpPr>
        <a:xfrm>
          <a:off x="0" y="0"/>
          <a:ext cx="0" cy="0"/>
          <a:chOff x="0" y="0"/>
          <a:chExt cx="0" cy="0"/>
        </a:xfrm>
      </p:grpSpPr>
      <p:sp>
        <p:nvSpPr>
          <p:cNvPr id="23"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4"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5"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ep 1 Circle"/>
          <p:cNvSpPr/>
          <p:nvPr/>
        </p:nvSpPr>
        <p:spPr>
          <a:xfrm>
            <a:off x="1956680" y="1840000"/>
            <a:ext cx="760000" cy="760000"/>
          </a:xfrm>
          <a:prstGeom prst="ellipse">
            <a:avLst/>
          </a:prstGeom>
          <a:solidFill>
            <a:srgbClr val="F7941E"/>
          </a:solidFill>
          <a:ln w="0">
            <a:noFill/>
          </a:ln>
        </p:spPr>
        <p:txBody>
          <a:bodyPr/>
          <a:lstStyle/>
          <a:p>
            <a:endParaRPr lang="en-GB"/>
          </a:p>
        </p:txBody>
      </p:sp>
      <p:sp>
        <p:nvSpPr>
          <p:cNvPr id="12" name="Step 1 Number"/>
          <p:cNvSpPr>
            <a:spLocks noGrp="1"/>
          </p:cNvSpPr>
          <p:nvPr>
            <p:ph type="body" idx="1"/>
          </p:nvPr>
        </p:nvSpPr>
        <p:spPr>
          <a:xfrm>
            <a:off x="19566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3" name="Step 1 Heading"/>
          <p:cNvSpPr>
            <a:spLocks noGrp="1"/>
          </p:cNvSpPr>
          <p:nvPr>
            <p:ph type="body" idx="2"/>
          </p:nvPr>
        </p:nvSpPr>
        <p:spPr>
          <a:xfrm>
            <a:off x="6094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4" name="Step 1 Detail"/>
          <p:cNvSpPr>
            <a:spLocks noGrp="1"/>
          </p:cNvSpPr>
          <p:nvPr>
            <p:ph type="body" idx="3"/>
          </p:nvPr>
        </p:nvSpPr>
        <p:spPr>
          <a:xfrm>
            <a:off x="6094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5" name="Step 2 Circle"/>
          <p:cNvSpPr/>
          <p:nvPr/>
        </p:nvSpPr>
        <p:spPr>
          <a:xfrm>
            <a:off x="5738080" y="1840000"/>
            <a:ext cx="760000" cy="760000"/>
          </a:xfrm>
          <a:prstGeom prst="ellipse">
            <a:avLst/>
          </a:prstGeom>
          <a:solidFill>
            <a:srgbClr val="3B82F6"/>
          </a:solidFill>
          <a:ln w="0">
            <a:noFill/>
          </a:ln>
        </p:spPr>
        <p:txBody>
          <a:bodyPr/>
          <a:lstStyle/>
          <a:p>
            <a:endParaRPr lang="en-GB"/>
          </a:p>
        </p:txBody>
      </p:sp>
      <p:sp>
        <p:nvSpPr>
          <p:cNvPr id="16" name="Step 2 Number"/>
          <p:cNvSpPr>
            <a:spLocks noGrp="1"/>
          </p:cNvSpPr>
          <p:nvPr>
            <p:ph type="body" idx="4"/>
          </p:nvPr>
        </p:nvSpPr>
        <p:spPr>
          <a:xfrm>
            <a:off x="57380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7" name="Step 2 Heading"/>
          <p:cNvSpPr>
            <a:spLocks noGrp="1"/>
          </p:cNvSpPr>
          <p:nvPr>
            <p:ph type="body" idx="5"/>
          </p:nvPr>
        </p:nvSpPr>
        <p:spPr>
          <a:xfrm>
            <a:off x="43908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8" name="Step 2 Detail"/>
          <p:cNvSpPr>
            <a:spLocks noGrp="1"/>
          </p:cNvSpPr>
          <p:nvPr>
            <p:ph type="body" idx="6"/>
          </p:nvPr>
        </p:nvSpPr>
        <p:spPr>
          <a:xfrm>
            <a:off x="43908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9" name="Step 3 Circle"/>
          <p:cNvSpPr/>
          <p:nvPr/>
        </p:nvSpPr>
        <p:spPr>
          <a:xfrm>
            <a:off x="9519480" y="1840000"/>
            <a:ext cx="760000" cy="760000"/>
          </a:xfrm>
          <a:prstGeom prst="ellipse">
            <a:avLst/>
          </a:prstGeom>
          <a:solidFill>
            <a:srgbClr val="8B5CF6"/>
          </a:solidFill>
          <a:ln w="0">
            <a:noFill/>
          </a:ln>
        </p:spPr>
        <p:txBody>
          <a:bodyPr/>
          <a:lstStyle/>
          <a:p>
            <a:endParaRPr lang="en-GB"/>
          </a:p>
        </p:txBody>
      </p:sp>
      <p:sp>
        <p:nvSpPr>
          <p:cNvPr id="20" name="Step 3 Number"/>
          <p:cNvSpPr>
            <a:spLocks noGrp="1"/>
          </p:cNvSpPr>
          <p:nvPr>
            <p:ph type="body" idx="7"/>
          </p:nvPr>
        </p:nvSpPr>
        <p:spPr>
          <a:xfrm>
            <a:off x="95194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21" name="Step 3 Heading"/>
          <p:cNvSpPr>
            <a:spLocks noGrp="1"/>
          </p:cNvSpPr>
          <p:nvPr>
            <p:ph type="body" idx="8"/>
          </p:nvPr>
        </p:nvSpPr>
        <p:spPr>
          <a:xfrm>
            <a:off x="81722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22" name="Step 3 Detail"/>
          <p:cNvSpPr>
            <a:spLocks noGrp="1"/>
          </p:cNvSpPr>
          <p:nvPr>
            <p:ph type="body" idx="9"/>
          </p:nvPr>
        </p:nvSpPr>
        <p:spPr>
          <a:xfrm>
            <a:off x="81722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Pricing / Tiers">
    <p:bg>
      <p:bgPr>
        <a:solidFill>
          <a:srgbClr val="FFFFFF"/>
        </a:solidFill>
        <a:effectLst/>
      </p:bgPr>
    </p:bg>
    <p:spTree>
      <p:nvGrpSpPr>
        <p:cNvPr id="1" name=""/>
        <p:cNvGrpSpPr/>
        <p:nvPr/>
      </p:nvGrpSpPr>
      <p:grpSpPr>
        <a:xfrm>
          <a:off x="0" y="0"/>
          <a:ext cx="0" cy="0"/>
          <a:chOff x="0" y="0"/>
          <a:chExt cx="0" cy="0"/>
        </a:xfrm>
      </p:grpSpPr>
      <p:sp>
        <p:nvSpPr>
          <p:cNvPr id="26"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7"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8"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Tier 1 Card"/>
          <p:cNvSpPr/>
          <p:nvPr/>
        </p:nvSpPr>
        <p:spPr>
          <a:xfrm>
            <a:off x="609480" y="1700000"/>
            <a:ext cx="3454400" cy="3900000"/>
          </a:xfrm>
          <a:prstGeom prst="roundRect">
            <a:avLst>
              <a:gd name="adj" fmla="val 4000"/>
            </a:avLst>
          </a:prstGeom>
          <a:solidFill>
            <a:srgbClr val="FFFFFF"/>
          </a:solidFill>
          <a:ln w="19050">
            <a:solidFill>
              <a:srgbClr val="64748B"/>
            </a:solidFill>
          </a:ln>
        </p:spPr>
        <p:txBody>
          <a:bodyPr/>
          <a:lstStyle/>
          <a:p>
            <a:endParaRPr lang="en-GB"/>
          </a:p>
        </p:txBody>
      </p:sp>
      <p:sp>
        <p:nvSpPr>
          <p:cNvPr id="12" name="Tier 1 Band"/>
          <p:cNvSpPr/>
          <p:nvPr/>
        </p:nvSpPr>
        <p:spPr>
          <a:xfrm>
            <a:off x="609480" y="1700000"/>
            <a:ext cx="3454400" cy="680000"/>
          </a:xfrm>
          <a:prstGeom prst="roundRect">
            <a:avLst>
              <a:gd name="adj" fmla="val 4000"/>
            </a:avLst>
          </a:prstGeom>
          <a:solidFill>
            <a:srgbClr val="64748B"/>
          </a:solidFill>
          <a:ln w="0">
            <a:noFill/>
          </a:ln>
        </p:spPr>
        <p:txBody>
          <a:bodyPr/>
          <a:lstStyle/>
          <a:p>
            <a:endParaRPr lang="en-GB"/>
          </a:p>
        </p:txBody>
      </p:sp>
      <p:sp>
        <p:nvSpPr>
          <p:cNvPr id="13" name="Tier 1 Name"/>
          <p:cNvSpPr>
            <a:spLocks noGrp="1"/>
          </p:cNvSpPr>
          <p:nvPr>
            <p:ph type="body" idx="1"/>
          </p:nvPr>
        </p:nvSpPr>
        <p:spPr>
          <a:xfrm>
            <a:off x="6094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4" name="Tier 1 Price"/>
          <p:cNvSpPr>
            <a:spLocks noGrp="1"/>
          </p:cNvSpPr>
          <p:nvPr>
            <p:ph type="body" idx="2"/>
          </p:nvPr>
        </p:nvSpPr>
        <p:spPr>
          <a:xfrm>
            <a:off x="7594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15" name="Tier 1 Features"/>
          <p:cNvSpPr>
            <a:spLocks noGrp="1"/>
          </p:cNvSpPr>
          <p:nvPr>
            <p:ph type="body" idx="3"/>
          </p:nvPr>
        </p:nvSpPr>
        <p:spPr>
          <a:xfrm>
            <a:off x="8694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16" name="Tier 2 Card"/>
          <p:cNvSpPr/>
          <p:nvPr/>
        </p:nvSpPr>
        <p:spPr>
          <a:xfrm>
            <a:off x="4390880" y="1700000"/>
            <a:ext cx="3454400" cy="3900000"/>
          </a:xfrm>
          <a:prstGeom prst="roundRect">
            <a:avLst>
              <a:gd name="adj" fmla="val 4000"/>
            </a:avLst>
          </a:prstGeom>
          <a:solidFill>
            <a:srgbClr val="FFFFFF"/>
          </a:solidFill>
          <a:ln w="19050">
            <a:solidFill>
              <a:srgbClr val="F7941E"/>
            </a:solidFill>
          </a:ln>
        </p:spPr>
        <p:txBody>
          <a:bodyPr/>
          <a:lstStyle/>
          <a:p>
            <a:endParaRPr lang="en-GB"/>
          </a:p>
        </p:txBody>
      </p:sp>
      <p:sp>
        <p:nvSpPr>
          <p:cNvPr id="17" name="Tier 2 Band"/>
          <p:cNvSpPr/>
          <p:nvPr/>
        </p:nvSpPr>
        <p:spPr>
          <a:xfrm>
            <a:off x="4390880" y="1700000"/>
            <a:ext cx="3454400" cy="680000"/>
          </a:xfrm>
          <a:prstGeom prst="roundRect">
            <a:avLst>
              <a:gd name="adj" fmla="val 4000"/>
            </a:avLst>
          </a:prstGeom>
          <a:solidFill>
            <a:srgbClr val="F7941E"/>
          </a:solidFill>
          <a:ln w="0">
            <a:noFill/>
          </a:ln>
        </p:spPr>
        <p:txBody>
          <a:bodyPr/>
          <a:lstStyle/>
          <a:p>
            <a:endParaRPr lang="en-GB"/>
          </a:p>
        </p:txBody>
      </p:sp>
      <p:sp>
        <p:nvSpPr>
          <p:cNvPr id="18" name="Tier 2 Name"/>
          <p:cNvSpPr>
            <a:spLocks noGrp="1"/>
          </p:cNvSpPr>
          <p:nvPr>
            <p:ph type="body" idx="4"/>
          </p:nvPr>
        </p:nvSpPr>
        <p:spPr>
          <a:xfrm>
            <a:off x="43908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9" name="Tier 2 Price"/>
          <p:cNvSpPr>
            <a:spLocks noGrp="1"/>
          </p:cNvSpPr>
          <p:nvPr>
            <p:ph type="body" idx="5"/>
          </p:nvPr>
        </p:nvSpPr>
        <p:spPr>
          <a:xfrm>
            <a:off x="45408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0" name="Tier 2 Features"/>
          <p:cNvSpPr>
            <a:spLocks noGrp="1"/>
          </p:cNvSpPr>
          <p:nvPr>
            <p:ph type="body" idx="6"/>
          </p:nvPr>
        </p:nvSpPr>
        <p:spPr>
          <a:xfrm>
            <a:off x="46508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1" name="Tier 3 Card"/>
          <p:cNvSpPr/>
          <p:nvPr/>
        </p:nvSpPr>
        <p:spPr>
          <a:xfrm>
            <a:off x="8172280" y="1700000"/>
            <a:ext cx="3454400" cy="3900000"/>
          </a:xfrm>
          <a:prstGeom prst="roundRect">
            <a:avLst>
              <a:gd name="adj" fmla="val 4000"/>
            </a:avLst>
          </a:prstGeom>
          <a:solidFill>
            <a:srgbClr val="FFFFFF"/>
          </a:solidFill>
          <a:ln w="19050">
            <a:solidFill>
              <a:srgbClr val="3B82F6"/>
            </a:solidFill>
          </a:ln>
        </p:spPr>
        <p:txBody>
          <a:bodyPr/>
          <a:lstStyle/>
          <a:p>
            <a:endParaRPr lang="en-GB"/>
          </a:p>
        </p:txBody>
      </p:sp>
      <p:sp>
        <p:nvSpPr>
          <p:cNvPr id="22" name="Tier 3 Band"/>
          <p:cNvSpPr/>
          <p:nvPr/>
        </p:nvSpPr>
        <p:spPr>
          <a:xfrm>
            <a:off x="8172280" y="1700000"/>
            <a:ext cx="3454400" cy="680000"/>
          </a:xfrm>
          <a:prstGeom prst="roundRect">
            <a:avLst>
              <a:gd name="adj" fmla="val 4000"/>
            </a:avLst>
          </a:prstGeom>
          <a:solidFill>
            <a:srgbClr val="3B82F6"/>
          </a:solidFill>
          <a:ln w="0">
            <a:noFill/>
          </a:ln>
        </p:spPr>
        <p:txBody>
          <a:bodyPr/>
          <a:lstStyle/>
          <a:p>
            <a:endParaRPr lang="en-GB"/>
          </a:p>
        </p:txBody>
      </p:sp>
      <p:sp>
        <p:nvSpPr>
          <p:cNvPr id="23" name="Tier 3 Name"/>
          <p:cNvSpPr>
            <a:spLocks noGrp="1"/>
          </p:cNvSpPr>
          <p:nvPr>
            <p:ph type="body" idx="7"/>
          </p:nvPr>
        </p:nvSpPr>
        <p:spPr>
          <a:xfrm>
            <a:off x="81722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24" name="Tier 3 Price"/>
          <p:cNvSpPr>
            <a:spLocks noGrp="1"/>
          </p:cNvSpPr>
          <p:nvPr>
            <p:ph type="body" idx="8"/>
          </p:nvPr>
        </p:nvSpPr>
        <p:spPr>
          <a:xfrm>
            <a:off x="83222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5" name="Tier 3 Features"/>
          <p:cNvSpPr>
            <a:spLocks noGrp="1"/>
          </p:cNvSpPr>
          <p:nvPr>
            <p:ph type="body" idx="9"/>
          </p:nvPr>
        </p:nvSpPr>
        <p:spPr>
          <a:xfrm>
            <a:off x="84322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9"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0"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1"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2"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3"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3}" type="slidenum">
              <a:rPr lang="en-GB" sz="1100">
                <a:solidFill>
                  <a:srgbClr val="64748B"/>
                </a:solidFill>
              </a:rPr>
              <a:t>‹#›</a:t>
            </a:fld>
            <a:endParaRPr lang="en-GB" sz="1100">
              <a:solidFill>
                <a:srgbClr val="64748B"/>
              </a:solidFill>
            </a:endParaRPr>
          </a:p>
        </p:txBody>
      </p:sp>
      <p:sp>
        <p:nvSpPr>
          <p:cNvPr id="34"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able">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8}" type="slidenum">
              <a:rPr lang="en-GB" sz="1100">
                <a:solidFill>
                  <a:srgbClr val="64748B"/>
                </a:solidFill>
              </a:rPr>
              <a:t>‹#›</a:t>
            </a:fld>
            <a:endParaRPr lang="en-GB" sz="1100">
              <a:solidFill>
                <a:srgbClr val="64748B"/>
              </a:solidFill>
            </a:endParaRPr>
          </a:p>
        </p:txBody>
      </p:sp>
      <p:sp>
        <p:nvSpPr>
          <p:cNvPr id="1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Quote / Statement">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QuoteMark"/>
          <p:cNvSpPr/>
          <p:nvPr/>
        </p:nvSpPr>
        <p:spPr>
          <a:xfrm>
            <a:off x="609480" y="1120000"/>
            <a:ext cx="1900000" cy="1400000"/>
          </a:xfrm>
          <a:prstGeom prst="rect">
            <a:avLst/>
          </a:prstGeom>
          <a:noFill/>
        </p:spPr>
        <p:txBody>
          <a:bodyPr lIns="0" tIns="0" rIns="0" bIns="0">
            <a:noAutofit/>
          </a:bodyPr>
          <a:lstStyle/>
          <a:p>
            <a:r>
              <a:rPr lang="en-GB" sz="9600" b="1">
                <a:solidFill>
                  <a:srgbClr val="F7941E"/>
                </a:solidFill>
                <a:latin typeface="+mj-lt"/>
              </a:rPr>
              <a:t>“</a:t>
            </a:r>
          </a:p>
        </p:txBody>
      </p:sp>
      <p:sp>
        <p:nvSpPr>
          <p:cNvPr id="14" name="Quote"/>
          <p:cNvSpPr>
            <a:spLocks noGrp="1"/>
          </p:cNvSpPr>
          <p:nvPr>
            <p:ph type="body" idx="1"/>
          </p:nvPr>
        </p:nvSpPr>
        <p:spPr>
          <a:xfrm>
            <a:off x="609480" y="2520000"/>
            <a:ext cx="10973040" cy="2200000"/>
          </a:xfrm>
          <a:prstGeom prst="rect">
            <a:avLst/>
          </a:prstGeom>
        </p:spPr>
        <p:txBody>
          <a:bodyPr lIns="0" tIns="0" rIns="0" bIns="0" anchor="t">
            <a:normAutofit/>
          </a:bodyPr>
          <a:lstStyle>
            <a:lvl1pPr marL="0" indent="0" algn="l">
              <a:lnSpc>
                <a:spcPct val="116000"/>
              </a:lnSpc>
              <a:defRPr sz="3200" b="0" i="0">
                <a:solidFill>
                  <a:srgbClr val="FFFFFF"/>
                </a:solidFill>
                <a:latin typeface="+mj-lt"/>
              </a:defRPr>
            </a:lvl1pPr>
          </a:lstStyle>
          <a:p>
            <a:endParaRPr lang="en-GB"/>
          </a:p>
        </p:txBody>
      </p:sp>
      <p:sp>
        <p:nvSpPr>
          <p:cNvPr id="15" name="Attribution"/>
          <p:cNvSpPr>
            <a:spLocks noGrp="1"/>
          </p:cNvSpPr>
          <p:nvPr>
            <p:ph type="body" idx="11"/>
          </p:nvPr>
        </p:nvSpPr>
        <p:spPr>
          <a:xfrm>
            <a:off x="609480" y="4900000"/>
            <a:ext cx="10973040" cy="460000"/>
          </a:xfrm>
          <a:prstGeom prst="rect">
            <a:avLst/>
          </a:prstGeom>
        </p:spPr>
        <p:txBody>
          <a:bodyPr lIns="0" tIns="0" rIns="0" bIns="0" anchor="t">
            <a:normAutofit/>
          </a:bodyPr>
          <a:lstStyle>
            <a:lvl1pPr marL="0" indent="0" algn="l">
              <a:defRPr sz="1600" b="0" i="0">
                <a:solidFill>
                  <a:srgbClr val="94A3B8"/>
                </a:solidFill>
                <a:latin typeface="+mn-lt"/>
              </a:defRPr>
            </a:lvl1pPr>
          </a:lstStyle>
          <a:p>
            <a:endParaRPr lang="en-GB"/>
          </a:p>
        </p:txBody>
      </p:sp>
      <p:sp>
        <p:nvSpPr>
          <p:cNvPr id="16"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7"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7}" type="slidenum">
              <a:rPr lang="en-GB" sz="1100">
                <a:solidFill>
                  <a:srgbClr val="94A3B8"/>
                </a:solidFill>
              </a:rPr>
              <a:t>‹#›</a:t>
            </a:fld>
            <a:endParaRPr lang="en-GB" sz="1100">
              <a:solidFill>
                <a:srgbClr val="94A3B8"/>
              </a:solidFill>
            </a:endParaRP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losing">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371600"/>
            <a:ext cx="45720" cy="3108960"/>
          </a:xfrm>
          <a:prstGeom prst="rect">
            <a:avLst/>
          </a:prstGeom>
          <a:solidFill>
            <a:srgbClr val="F7941E"/>
          </a:solidFill>
          <a:ln w="0">
            <a:noFill/>
          </a:ln>
        </p:spPr>
        <p:txBody>
          <a:bodyPr/>
          <a:lstStyle/>
          <a:p>
            <a:endParaRPr lang="en-GB"/>
          </a:p>
        </p:txBody>
      </p:sp>
      <p:sp>
        <p:nvSpPr>
          <p:cNvPr id="14" name="Title"/>
          <p:cNvSpPr>
            <a:spLocks noGrp="1"/>
          </p:cNvSpPr>
          <p:nvPr>
            <p:ph type="title"/>
          </p:nvPr>
        </p:nvSpPr>
        <p:spPr>
          <a:xfrm>
            <a:off x="914400" y="1371600"/>
            <a:ext cx="9599040" cy="1097280"/>
          </a:xfrm>
          <a:prstGeom prst="rect">
            <a:avLst/>
          </a:prstGeom>
        </p:spPr>
        <p:txBody>
          <a:bodyPr lIns="0" tIns="0" rIns="0" bIns="0" anchor="t">
            <a:normAutofit/>
          </a:bodyPr>
          <a:lstStyle>
            <a:lvl1pPr marL="0" indent="0" algn="l">
              <a:defRPr sz="5400" b="1" i="0">
                <a:solidFill>
                  <a:srgbClr val="FFFFFF"/>
                </a:solidFill>
                <a:latin typeface="+mj-lt"/>
              </a:defRPr>
            </a:lvl1pPr>
          </a:lstStyle>
          <a:p>
            <a:endParaRPr lang="en-GB"/>
          </a:p>
        </p:txBody>
      </p:sp>
      <p:sp>
        <p:nvSpPr>
          <p:cNvPr id="15" name="Divider"/>
          <p:cNvSpPr/>
          <p:nvPr/>
        </p:nvSpPr>
        <p:spPr>
          <a:xfrm>
            <a:off x="914400" y="2480000"/>
            <a:ext cx="3200400" cy="22860"/>
          </a:xfrm>
          <a:prstGeom prst="rect">
            <a:avLst/>
          </a:prstGeom>
          <a:solidFill>
            <a:srgbClr val="F7941E"/>
          </a:solidFill>
          <a:ln w="0">
            <a:noFill/>
          </a:ln>
        </p:spPr>
        <p:txBody>
          <a:bodyPr/>
          <a:lstStyle/>
          <a:p>
            <a:endParaRPr lang="en-GB"/>
          </a:p>
        </p:txBody>
      </p:sp>
      <p:sp>
        <p:nvSpPr>
          <p:cNvPr id="16" name="Name"/>
          <p:cNvSpPr>
            <a:spLocks noGrp="1"/>
          </p:cNvSpPr>
          <p:nvPr>
            <p:ph type="body" idx="1"/>
          </p:nvPr>
        </p:nvSpPr>
        <p:spPr>
          <a:xfrm>
            <a:off x="914400" y="2620000"/>
            <a:ext cx="5400000" cy="460000"/>
          </a:xfrm>
          <a:prstGeom prst="rect">
            <a:avLst/>
          </a:prstGeom>
        </p:spPr>
        <p:txBody>
          <a:bodyPr lIns="0" tIns="0" rIns="0" bIns="0" anchor="t">
            <a:normAutofit/>
          </a:bodyPr>
          <a:lstStyle>
            <a:lvl1pPr marL="0" indent="0" algn="l">
              <a:defRPr sz="2000" b="1" i="0">
                <a:solidFill>
                  <a:srgbClr val="FFFFFF"/>
                </a:solidFill>
                <a:latin typeface="+mj-lt"/>
              </a:defRPr>
            </a:lvl1pPr>
          </a:lstStyle>
          <a:p>
            <a:endParaRPr lang="en-GB"/>
          </a:p>
        </p:txBody>
      </p:sp>
      <p:sp>
        <p:nvSpPr>
          <p:cNvPr id="17" name="Role / Title"/>
          <p:cNvSpPr>
            <a:spLocks noGrp="1"/>
          </p:cNvSpPr>
          <p:nvPr>
            <p:ph type="body" idx="11"/>
          </p:nvPr>
        </p:nvSpPr>
        <p:spPr>
          <a:xfrm>
            <a:off x="914400" y="3090000"/>
            <a:ext cx="5400000" cy="380000"/>
          </a:xfrm>
          <a:prstGeom prst="rect">
            <a:avLst/>
          </a:prstGeom>
        </p:spPr>
        <p:txBody>
          <a:bodyPr lIns="0" tIns="0" rIns="0" bIns="0" anchor="t">
            <a:normAutofit/>
          </a:bodyPr>
          <a:lstStyle>
            <a:lvl1pPr marL="0" indent="0" algn="l">
              <a:defRPr sz="1600" b="1" i="0">
                <a:solidFill>
                  <a:srgbClr val="F7941E"/>
                </a:solidFill>
                <a:latin typeface="+mn-lt"/>
              </a:defRPr>
            </a:lvl1pPr>
          </a:lstStyle>
          <a:p>
            <a:endParaRPr lang="en-GB"/>
          </a:p>
        </p:txBody>
      </p:sp>
      <p:sp>
        <p:nvSpPr>
          <p:cNvPr id="18" name="Contact details"/>
          <p:cNvSpPr>
            <a:spLocks noGrp="1"/>
          </p:cNvSpPr>
          <p:nvPr>
            <p:ph type="body" idx="2"/>
          </p:nvPr>
        </p:nvSpPr>
        <p:spPr>
          <a:xfrm>
            <a:off x="914400" y="3620000"/>
            <a:ext cx="5400000" cy="1500000"/>
          </a:xfrm>
          <a:prstGeom prst="rect">
            <a:avLst/>
          </a:prstGeom>
        </p:spPr>
        <p:txBody>
          <a:bodyPr lIns="0" tIns="0" rIns="0" bIns="0" anchor="t">
            <a:normAutofit/>
          </a:bodyPr>
          <a:lstStyle>
            <a:lvl1pPr marL="0" indent="0" algn="l">
              <a:lnSpc>
                <a:spcPct val="132000"/>
              </a:lnSpc>
              <a:defRPr sz="1500" b="0" i="0">
                <a:solidFill>
                  <a:srgbClr val="E2E8F0"/>
                </a:solidFill>
                <a:latin typeface="+mn-lt"/>
              </a:defRPr>
            </a:lvl1pPr>
          </a:lstStyle>
          <a:p>
            <a:endParaRPr lang="en-GB"/>
          </a:p>
        </p:txBody>
      </p:sp>
      <p:sp>
        <p:nvSpPr>
          <p:cNvPr id="19" name="Second-Column Heading"/>
          <p:cNvSpPr>
            <a:spLocks noGrp="1"/>
          </p:cNvSpPr>
          <p:nvPr>
            <p:ph type="body" idx="3"/>
          </p:nvPr>
        </p:nvSpPr>
        <p:spPr>
          <a:xfrm>
            <a:off x="6858000" y="3090000"/>
            <a:ext cx="4700000" cy="380000"/>
          </a:xfrm>
          <a:prstGeom prst="rect">
            <a:avLst/>
          </a:prstGeom>
        </p:spPr>
        <p:txBody>
          <a:bodyPr lIns="0" tIns="0" rIns="0" bIns="0" anchor="t">
            <a:normAutofit/>
          </a:bodyPr>
          <a:lstStyle>
            <a:lvl1pPr marL="0" indent="0" algn="l">
              <a:defRPr sz="1400" b="1" i="0" spc="200">
                <a:solidFill>
                  <a:srgbClr val="F7941E"/>
                </a:solidFill>
                <a:latin typeface="+mn-lt"/>
              </a:defRPr>
            </a:lvl1pPr>
          </a:lstStyle>
          <a:p>
            <a:endParaRPr lang="en-GB"/>
          </a:p>
        </p:txBody>
      </p:sp>
      <p:sp>
        <p:nvSpPr>
          <p:cNvPr id="20" name="Second-Column Content"/>
          <p:cNvSpPr>
            <a:spLocks noGrp="1"/>
          </p:cNvSpPr>
          <p:nvPr>
            <p:ph type="body" idx="4"/>
          </p:nvPr>
        </p:nvSpPr>
        <p:spPr>
          <a:xfrm>
            <a:off x="6858000" y="3560000"/>
            <a:ext cx="4700000" cy="1560000"/>
          </a:xfrm>
          <a:prstGeom prst="rect">
            <a:avLst/>
          </a:prstGeom>
        </p:spPr>
        <p:txBody>
          <a:bodyPr lIns="0" tIns="0" rIns="0" bIns="0" anchor="t">
            <a:normAutofit/>
          </a:bodyPr>
          <a:lstStyle>
            <a:lvl1pPr marL="0" indent="0" algn="l">
              <a:lnSpc>
                <a:spcPct val="130000"/>
              </a:lnSpc>
              <a:defRPr sz="1400" b="0" i="0">
                <a:solidFill>
                  <a:srgbClr val="E2E8F0"/>
                </a:solidFill>
                <a:latin typeface="+mn-lt"/>
              </a:defRPr>
            </a:lvl1pPr>
          </a:lstStyle>
          <a:p>
            <a:endParaRPr lang="en-GB"/>
          </a:p>
        </p:txBody>
      </p:sp>
      <p:sp>
        <p:nvSpPr>
          <p:cNvPr id="2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22"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2}" type="slidenum">
              <a:rPr lang="en-GB" sz="1100">
                <a:solidFill>
                  <a:srgbClr val="64748B"/>
                </a:solidFill>
              </a:rPr>
              <a:t>‹#›</a:t>
            </a:fld>
            <a:endParaRPr lang="en-GB" sz="1100">
              <a:solidFill>
                <a:srgbClr val="64748B"/>
              </a:solidFill>
            </a:endParaRPr>
          </a:p>
        </p:txBody>
      </p:sp>
      <p:sp>
        <p:nvSpPr>
          <p:cNvPr id="1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09480" y="350000"/>
            <a:ext cx="10973040" cy="820000"/>
          </a:xfrm>
          <a:prstGeom prst="rect">
            <a:avLst/>
          </a:prstGeom>
        </p:spPr>
        <p:txBody>
          <a:bodyPr lIns="0" tIns="0" rIns="0" bIns="0" anchor="ctr">
            <a:noAutofit/>
          </a:bodyPr>
          <a:lstStyle/>
          <a:p>
            <a:r>
              <a:rPr lang="en-GB"/>
              <a:t>Click to edit Master title</a:t>
            </a:r>
          </a:p>
        </p:txBody>
      </p:sp>
      <p:sp>
        <p:nvSpPr>
          <p:cNvPr id="3" name="Body Placeholder"/>
          <p:cNvSpPr>
            <a:spLocks noGrp="1"/>
          </p:cNvSpPr>
          <p:nvPr>
            <p:ph type="body" idx="1"/>
          </p:nvPr>
        </p:nvSpPr>
        <p:spPr>
          <a:xfrm>
            <a:off x="609480" y="1500000"/>
            <a:ext cx="10973040" cy="4700000"/>
          </a:xfrm>
          <a:prstGeom prst="rect">
            <a:avLst/>
          </a:prstGeom>
        </p:spPr>
        <p:txBody>
          <a:bodyPr lIns="0" tIns="0" rIns="0" bIns="0">
            <a:normAutofit/>
          </a:bodyPr>
          <a:lstStyle/>
          <a:p>
            <a:pPr lvl="0"/>
            <a:r>
              <a:rPr lang="en-GB"/>
              <a:t>Master text styles</a:t>
            </a:r>
          </a:p>
        </p:txBody>
      </p:sp>
      <p:sp>
        <p:nvSpPr>
          <p:cNvPr id="904"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905"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905}" type="slidenum">
              <a:rPr lang="en-GB" sz="1100">
                <a:solidFill>
                  <a:srgbClr val="64748B"/>
                </a:solidFill>
              </a:rPr>
              <a:t>‹#›</a:t>
            </a:fld>
            <a:endParaRPr lang="en-GB" sz="1100">
              <a:solidFill>
                <a:srgbClr val="64748B"/>
              </a:solidFill>
            </a:endParaRPr>
          </a:p>
        </p:txBody>
      </p:sp>
      <p:sp>
        <p:nvSpPr>
          <p:cNvPr id="90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a:lnSpc>
          <a:spcPct val="100000"/>
        </a:lnSpc>
        <a:defRPr sz="3600" b="1">
          <a:solidFill>
            <a:srgbClr val="0F172A"/>
          </a:solidFill>
          <a:latin typeface="+mj-lt"/>
        </a:defRPr>
      </a:lvl1pPr>
    </p:titleStyle>
    <p:bodyStyle>
      <a:lvl1pPr marL="0" indent="0">
        <a:lnSpc>
          <a:spcPct val="118000"/>
        </a:lnSpc>
        <a:spcBef>
          <a:spcPts val="600"/>
        </a:spcBef>
        <a:buNone/>
        <a:defRPr sz="1600">
          <a:solidFill>
            <a:srgbClr val="475569"/>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p:bodyStyle>
    <p:otherStyle>
      <a:defPPr>
        <a:defRPr lang="en-GB"/>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lstStyle/>
          <a:p>
            <a:r>
              <a:t>Superdry × FeedSpark</a:t>
            </a:r>
          </a:p>
        </p:txBody>
      </p:sp>
      <p:sp>
        <p:nvSpPr>
          <p:cNvPr id="3" name="Subtitle 2"/>
          <p:cNvSpPr>
            <a:spLocks noGrp="1"/>
          </p:cNvSpPr>
          <p:nvPr>
            <p:ph type="subTitle" idx="1"/>
          </p:nvPr>
        </p:nvSpPr>
        <p:spPr/>
        <p:txBody>
          <a:bodyPr wrap="square"/>
          <a:lstStyle/>
          <a:p>
            <a:r>
              <a:rPr dirty="0"/>
              <a:t>Strategy review — 2024–2026</a:t>
            </a:r>
          </a:p>
        </p:txBody>
      </p:sp>
      <p:sp>
        <p:nvSpPr>
          <p:cNvPr id="4" name="Text Placeholder 3"/>
          <p:cNvSpPr>
            <a:spLocks noGrp="1"/>
          </p:cNvSpPr>
          <p:nvPr>
            <p:ph type="body" idx="11"/>
          </p:nvPr>
        </p:nvSpPr>
        <p:spPr/>
        <p:txBody>
          <a:bodyPr wrap="square"/>
          <a:lstStyle/>
          <a:p>
            <a:r>
              <a:t>19 MARKETS  ·  SHOPPING + SOCIAL  ·  JUL 2024 → JUL 2026  ·  PRIVATE &amp;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12648" y="2523744"/>
            <a:ext cx="10972800" cy="2331720"/>
          </a:xfrm>
        </p:spPr>
        <p:txBody>
          <a:bodyPr wrap="square"/>
          <a:lstStyle/>
          <a:p>
            <a:r>
              <a:rPr sz="2100" dirty="0"/>
              <a:t>The feed becomes transaction infrastructure. In agentic commerce, a feed error can affect not only visibility but also the agent’s recommendation, cart logic, displayed total, legal notice and ability to complete checkout. Accuracy, identifiers and policy data become commercial controls.</a:t>
            </a:r>
          </a:p>
        </p:txBody>
      </p:sp>
      <p:sp>
        <p:nvSpPr>
          <p:cNvPr id="3" name="Text Placeholder 2"/>
          <p:cNvSpPr>
            <a:spLocks noGrp="1"/>
          </p:cNvSpPr>
          <p:nvPr>
            <p:ph type="body" idx="11"/>
          </p:nvPr>
        </p:nvSpPr>
        <p:spPr/>
        <p:txBody>
          <a:bodyPr wrap="square"/>
          <a:lstStyle/>
          <a:p>
            <a:r>
              <a:rPr dirty="0"/>
              <a:t>Google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5033637-55AC-EC5A-D7E4-5E95F4981214}"/>
              </a:ext>
            </a:extLst>
          </p:cNvPr>
          <p:cNvSpPr/>
          <p:nvPr/>
        </p:nvSpPr>
        <p:spPr>
          <a:xfrm>
            <a:off x="418854" y="2427816"/>
            <a:ext cx="11314963" cy="3377148"/>
          </a:xfrm>
          <a:prstGeom prst="roundRect">
            <a:avLst>
              <a:gd name="adj" fmla="val 4264"/>
            </a:avLst>
          </a:prstGeom>
          <a:noFill/>
          <a:ln w="28575">
            <a:solidFill>
              <a:srgbClr val="F794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Inter" panose="02110004020202020204"/>
              <a:ea typeface="+mn-ea"/>
              <a:cs typeface="+mn-cs"/>
            </a:endParaRPr>
          </a:p>
        </p:txBody>
      </p:sp>
      <p:sp>
        <p:nvSpPr>
          <p:cNvPr id="7" name="Rectangle: Rounded Corners 6">
            <a:extLst>
              <a:ext uri="{FF2B5EF4-FFF2-40B4-BE49-F238E27FC236}">
                <a16:creationId xmlns:a16="http://schemas.microsoft.com/office/drawing/2014/main" id="{F9240F6F-D920-966D-04BE-4866629BA235}"/>
              </a:ext>
            </a:extLst>
          </p:cNvPr>
          <p:cNvSpPr/>
          <p:nvPr/>
        </p:nvSpPr>
        <p:spPr>
          <a:xfrm>
            <a:off x="3658620" y="2145204"/>
            <a:ext cx="4874760" cy="558945"/>
          </a:xfrm>
          <a:prstGeom prst="roundRect">
            <a:avLst/>
          </a:prstGeom>
          <a:solidFill>
            <a:srgbClr val="FDEAD7"/>
          </a:solidFill>
          <a:ln w="28575">
            <a:solidFill>
              <a:srgbClr val="F794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Inter" panose="02110004020202020204"/>
              <a:ea typeface="+mn-ea"/>
              <a:cs typeface="+mn-cs"/>
            </a:endParaRPr>
          </a:p>
        </p:txBody>
      </p:sp>
      <p:sp>
        <p:nvSpPr>
          <p:cNvPr id="146" name="Text 1"/>
          <p:cNvSpPr/>
          <p:nvPr/>
        </p:nvSpPr>
        <p:spPr>
          <a:xfrm>
            <a:off x="609904" y="1243584"/>
            <a:ext cx="10972800" cy="96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64748B"/>
                </a:solidFill>
                <a:effectLst/>
                <a:uLnTx/>
                <a:uFillTx/>
                <a:latin typeface="Calibri"/>
                <a:ea typeface="Calibri"/>
                <a:cs typeface="+mn-cs"/>
              </a:rPr>
              <a:t>You can’t just move the brand to the front of the title, add a </a:t>
            </a:r>
            <a:r>
              <a:rPr kumimoji="0" lang="en-US" sz="1600" b="0" i="0" u="none" strike="noStrike" kern="0" cap="none" spc="0" normalizeH="0" baseline="0" noProof="0" dirty="0" err="1">
                <a:ln>
                  <a:noFill/>
                </a:ln>
                <a:solidFill>
                  <a:srgbClr val="64748B"/>
                </a:solidFill>
                <a:effectLst/>
                <a:uLnTx/>
                <a:uFillTx/>
                <a:latin typeface="Inter" panose="02110004020202020204"/>
                <a:ea typeface="+mn-ea"/>
                <a:cs typeface="+mn-cs"/>
              </a:rPr>
              <a:t>colour</a:t>
            </a:r>
            <a:r>
              <a:rPr kumimoji="0" lang="en-US" sz="1600" b="0" i="0" u="none" strike="noStrike" kern="0" cap="none" spc="0" normalizeH="0" baseline="0" noProof="0" dirty="0">
                <a:ln>
                  <a:noFill/>
                </a:ln>
                <a:solidFill>
                  <a:srgbClr val="64748B"/>
                </a:solidFill>
                <a:effectLst/>
                <a:uLnTx/>
                <a:uFillTx/>
                <a:latin typeface="Inter" panose="02110004020202020204"/>
                <a:ea typeface="+mn-ea"/>
                <a:cs typeface="+mn-cs"/>
              </a:rPr>
              <a:t> attribute and expect results. Poor product data cannot be fixed by the application of simple </a:t>
            </a:r>
            <a:r>
              <a:rPr kumimoji="0" lang="en-US" sz="1600" b="0" i="0" u="none" strike="noStrike" kern="0" cap="none" spc="0" normalizeH="0" baseline="0" noProof="0" dirty="0">
                <a:ln>
                  <a:noFill/>
                </a:ln>
                <a:solidFill>
                  <a:srgbClr val="64748B"/>
                </a:solidFill>
                <a:effectLst/>
                <a:uLnTx/>
                <a:uFillTx/>
                <a:latin typeface="Calibri"/>
                <a:ea typeface="Calibri"/>
                <a:cs typeface="+mn-cs"/>
              </a:rPr>
              <a:t>rules or buying self-service software which becomes another thing you don’t have time to use. </a:t>
            </a:r>
            <a:r>
              <a:rPr kumimoji="0" lang="en-US" sz="1600" b="0" i="0" u="none" strike="noStrike" kern="0" cap="none" spc="0" normalizeH="0" baseline="0" noProof="0" dirty="0">
                <a:ln>
                  <a:noFill/>
                </a:ln>
                <a:solidFill>
                  <a:srgbClr val="64748B"/>
                </a:solidFill>
                <a:effectLst/>
                <a:uLnTx/>
                <a:uFillTx/>
                <a:latin typeface="Inter" panose="02110004020202020204"/>
                <a:ea typeface="+mn-ea"/>
                <a:cs typeface="+mn-cs"/>
              </a:rPr>
              <a:t>The landscape has fundamentally changed. Our approach fixes the foundation first, then scales performance across every channel.</a:t>
            </a:r>
            <a:endParaRPr kumimoji="0" lang="en-US" sz="160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47" name="Shape 2"/>
          <p:cNvSpPr/>
          <p:nvPr/>
        </p:nvSpPr>
        <p:spPr>
          <a:xfrm>
            <a:off x="609480" y="2888829"/>
            <a:ext cx="5240520" cy="1217160"/>
          </a:xfrm>
          <a:prstGeom prst="rect">
            <a:avLst/>
          </a:prstGeom>
          <a:solidFill>
            <a:srgbClr val="FDEAD7"/>
          </a:solidFill>
          <a:ln w="0">
            <a:noFill/>
          </a:ln>
          <a:effectLst>
            <a:outerShdw blurRad="76320" dist="25455"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48" name="Shape 3"/>
          <p:cNvSpPr/>
          <p:nvPr/>
        </p:nvSpPr>
        <p:spPr>
          <a:xfrm>
            <a:off x="609480" y="2888829"/>
            <a:ext cx="70920" cy="1217160"/>
          </a:xfrm>
          <a:prstGeom prst="rect">
            <a:avLst/>
          </a:prstGeom>
          <a:solidFill>
            <a:srgbClr val="F7941E"/>
          </a:solidFill>
          <a:ln w="0">
            <a:noFill/>
          </a:ln>
        </p:spPr>
        <p:style>
          <a:lnRef idx="0">
            <a:scrgbClr r="0" g="0" b="0"/>
          </a:lnRef>
          <a:fillRef idx="0">
            <a:scrgbClr r="0" g="0" b="0"/>
          </a:fillRef>
          <a:effectRef idx="0">
            <a:scrgbClr r="0" g="0" b="0"/>
          </a:effectRef>
          <a:fontRef idx="minor"/>
        </p:style>
        <p:txBody>
          <a:bodyPr lIns="35640" tIns="45000" rIns="3564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49" name="Text 4"/>
          <p:cNvSpPr/>
          <p:nvPr/>
        </p:nvSpPr>
        <p:spPr>
          <a:xfrm>
            <a:off x="792360" y="2986389"/>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7941E"/>
                </a:solidFill>
                <a:effectLst/>
                <a:uLnTx/>
                <a:uFillTx/>
                <a:latin typeface="Inter" panose="02110004020202020204"/>
                <a:ea typeface="+mn-ea"/>
                <a:cs typeface="+mn-cs"/>
              </a:rPr>
              <a:t>01  FOUNDATION  </a:t>
            </a:r>
            <a:r>
              <a:rPr kumimoji="0" lang="en-US" sz="1600" b="1" i="0" u="none" strike="noStrike" kern="0" cap="none" spc="0" normalizeH="0" baseline="0" noProof="0" dirty="0">
                <a:ln>
                  <a:noFill/>
                </a:ln>
                <a:solidFill>
                  <a:srgbClr val="0F172A"/>
                </a:solidFill>
                <a:effectLst/>
                <a:uLnTx/>
                <a:uFillTx/>
                <a:latin typeface="Inter" panose="02110004020202020204"/>
                <a:ea typeface="+mn-ea"/>
                <a:cs typeface="+mn-cs"/>
              </a:rPr>
              <a:t>Product Data Excellence</a:t>
            </a:r>
            <a:endParaRPr kumimoji="0" lang="en-US" sz="160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50" name="Text 5"/>
          <p:cNvSpPr/>
          <p:nvPr/>
        </p:nvSpPr>
        <p:spPr>
          <a:xfrm>
            <a:off x="792360" y="3352149"/>
            <a:ext cx="4874760" cy="6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340" b="0" i="0" u="none" strike="noStrike" kern="0" cap="none" spc="0" normalizeH="0" baseline="0" noProof="0" dirty="0">
                <a:ln>
                  <a:noFill/>
                </a:ln>
                <a:solidFill>
                  <a:srgbClr val="334155"/>
                </a:solidFill>
                <a:effectLst/>
                <a:uLnTx/>
                <a:uFillTx/>
                <a:latin typeface="Inter" panose="02110004020202020204"/>
                <a:ea typeface="+mn-ea"/>
                <a:cs typeface="+mn-cs"/>
              </a:rPr>
              <a:t>First, we fix the data. Our </a:t>
            </a:r>
            <a:r>
              <a:rPr kumimoji="0" lang="en-US" sz="1340" b="0" i="0" u="none" strike="noStrike" kern="0" cap="none" spc="0" normalizeH="0" baseline="0" noProof="0" dirty="0" err="1">
                <a:ln>
                  <a:noFill/>
                </a:ln>
                <a:solidFill>
                  <a:srgbClr val="334155"/>
                </a:solidFill>
                <a:effectLst/>
                <a:uLnTx/>
                <a:uFillTx/>
                <a:latin typeface="Inter" panose="02110004020202020204"/>
                <a:ea typeface="+mn-ea"/>
                <a:cs typeface="+mn-cs"/>
              </a:rPr>
              <a:t>AI+Human</a:t>
            </a:r>
            <a:r>
              <a:rPr kumimoji="0" lang="en-US" sz="1340" b="0" i="0" u="none" strike="noStrike" kern="0" cap="none" spc="0" normalizeH="0" baseline="0" noProof="0" dirty="0">
                <a:ln>
                  <a:noFill/>
                </a:ln>
                <a:solidFill>
                  <a:srgbClr val="334155"/>
                </a:solidFill>
                <a:effectLst/>
                <a:uLnTx/>
                <a:uFillTx/>
                <a:latin typeface="Inter" panose="02110004020202020204"/>
                <a:ea typeface="+mn-ea"/>
                <a:cs typeface="+mn-cs"/>
              </a:rPr>
              <a:t> mix means there are no gaps in product attributes. Deep pattern matching from search terms to feeds. Complete data wins auctions and eliminates wasted spend.</a:t>
            </a:r>
            <a:endParaRPr kumimoji="0" lang="en-US" sz="134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51" name="Shape 6"/>
          <p:cNvSpPr/>
          <p:nvPr/>
        </p:nvSpPr>
        <p:spPr>
          <a:xfrm>
            <a:off x="6217920" y="2888829"/>
            <a:ext cx="5240520" cy="1217160"/>
          </a:xfrm>
          <a:prstGeom prst="rect">
            <a:avLst/>
          </a:prstGeom>
          <a:solidFill>
            <a:srgbClr val="BFDBFE"/>
          </a:solidFill>
          <a:ln w="0">
            <a:noFill/>
          </a:ln>
          <a:effectLst>
            <a:outerShdw blurRad="76320" dist="25455"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2" name="Shape 7"/>
          <p:cNvSpPr/>
          <p:nvPr/>
        </p:nvSpPr>
        <p:spPr>
          <a:xfrm>
            <a:off x="6217920" y="2888829"/>
            <a:ext cx="70920" cy="1217160"/>
          </a:xfrm>
          <a:prstGeom prst="rect">
            <a:avLst/>
          </a:prstGeom>
          <a:solidFill>
            <a:srgbClr val="3B82F6"/>
          </a:solidFill>
          <a:ln w="0">
            <a:noFill/>
          </a:ln>
        </p:spPr>
        <p:style>
          <a:lnRef idx="0">
            <a:scrgbClr r="0" g="0" b="0"/>
          </a:lnRef>
          <a:fillRef idx="0">
            <a:scrgbClr r="0" g="0" b="0"/>
          </a:fillRef>
          <a:effectRef idx="0">
            <a:scrgbClr r="0" g="0" b="0"/>
          </a:effectRef>
          <a:fontRef idx="minor"/>
        </p:style>
        <p:txBody>
          <a:bodyPr lIns="35640" tIns="45000" rIns="3564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3" name="Text 8"/>
          <p:cNvSpPr/>
          <p:nvPr/>
        </p:nvSpPr>
        <p:spPr>
          <a:xfrm>
            <a:off x="6400800" y="2986389"/>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3B82F6"/>
                </a:solidFill>
                <a:effectLst/>
                <a:uLnTx/>
                <a:uFillTx/>
                <a:latin typeface="Inter" panose="02110004020202020204"/>
                <a:ea typeface="+mn-ea"/>
                <a:cs typeface="+mn-cs"/>
              </a:rPr>
              <a:t>02  STRUCTURE  </a:t>
            </a:r>
            <a:r>
              <a:rPr kumimoji="0" lang="en-US" sz="1600" b="1" i="0" u="none" strike="noStrike" kern="0" cap="none" spc="0" normalizeH="0" baseline="0" noProof="0">
                <a:ln>
                  <a:noFill/>
                </a:ln>
                <a:solidFill>
                  <a:srgbClr val="0F172A"/>
                </a:solidFill>
                <a:effectLst/>
                <a:uLnTx/>
                <a:uFillTx/>
                <a:latin typeface="Inter" panose="02110004020202020204"/>
                <a:ea typeface="+mn-ea"/>
                <a:cs typeface="+mn-cs"/>
              </a:rPr>
              <a:t>Feed Categorisation</a:t>
            </a:r>
            <a:endParaRPr kumimoji="0" lang="en-US" sz="16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4" name="Text 9"/>
          <p:cNvSpPr/>
          <p:nvPr/>
        </p:nvSpPr>
        <p:spPr>
          <a:xfrm>
            <a:off x="6400800" y="3352149"/>
            <a:ext cx="4874760" cy="6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340" b="0" i="0" u="none" strike="noStrike" kern="0" cap="none" spc="0" normalizeH="0" baseline="0" noProof="0" dirty="0">
                <a:ln>
                  <a:noFill/>
                </a:ln>
                <a:solidFill>
                  <a:srgbClr val="334155"/>
                </a:solidFill>
                <a:effectLst/>
                <a:uLnTx/>
                <a:uFillTx/>
                <a:latin typeface="Inter" panose="02110004020202020204"/>
                <a:ea typeface="+mn-ea"/>
                <a:cs typeface="+mn-cs"/>
              </a:rPr>
              <a:t>Next, fix the taxonomy. Accurate, granular categories let you control exactly where budget flows and stop money leaking into the wrong auctions. Powerful Custom Labels help you target spend better</a:t>
            </a:r>
            <a:endParaRPr kumimoji="0" lang="en-US" sz="134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55" name="Shape 10"/>
          <p:cNvSpPr/>
          <p:nvPr/>
        </p:nvSpPr>
        <p:spPr>
          <a:xfrm>
            <a:off x="609480" y="4290668"/>
            <a:ext cx="5240520" cy="1322731"/>
          </a:xfrm>
          <a:prstGeom prst="rect">
            <a:avLst/>
          </a:prstGeom>
          <a:solidFill>
            <a:srgbClr val="BBF7D0"/>
          </a:solidFill>
          <a:ln w="0">
            <a:noFill/>
          </a:ln>
          <a:effectLst>
            <a:outerShdw blurRad="76320" dist="25455"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6" name="Shape 11"/>
          <p:cNvSpPr/>
          <p:nvPr/>
        </p:nvSpPr>
        <p:spPr>
          <a:xfrm>
            <a:off x="609480" y="4290668"/>
            <a:ext cx="70920" cy="1322731"/>
          </a:xfrm>
          <a:prstGeom prst="rect">
            <a:avLst/>
          </a:prstGeom>
          <a:solidFill>
            <a:srgbClr val="10B981"/>
          </a:solidFill>
          <a:ln w="0">
            <a:noFill/>
          </a:ln>
        </p:spPr>
        <p:style>
          <a:lnRef idx="0">
            <a:scrgbClr r="0" g="0" b="0"/>
          </a:lnRef>
          <a:fillRef idx="0">
            <a:scrgbClr r="0" g="0" b="0"/>
          </a:fillRef>
          <a:effectRef idx="0">
            <a:scrgbClr r="0" g="0" b="0"/>
          </a:effectRef>
          <a:fontRef idx="minor"/>
        </p:style>
        <p:txBody>
          <a:bodyPr lIns="35640" tIns="45000" rIns="3564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7" name="Text 12"/>
          <p:cNvSpPr/>
          <p:nvPr/>
        </p:nvSpPr>
        <p:spPr>
          <a:xfrm>
            <a:off x="792360" y="4388229"/>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10B981"/>
                </a:solidFill>
                <a:effectLst/>
                <a:uLnTx/>
                <a:uFillTx/>
                <a:latin typeface="Inter" panose="02110004020202020204"/>
                <a:ea typeface="+mn-ea"/>
                <a:cs typeface="+mn-cs"/>
              </a:rPr>
              <a:t>03  CONTENT  </a:t>
            </a:r>
            <a:r>
              <a:rPr kumimoji="0" lang="en-US" sz="1600" b="1" i="0" u="none" strike="noStrike" kern="0" cap="none" spc="0" normalizeH="0" baseline="0" noProof="0">
                <a:ln>
                  <a:noFill/>
                </a:ln>
                <a:solidFill>
                  <a:srgbClr val="0F172A"/>
                </a:solidFill>
                <a:effectLst/>
                <a:uLnTx/>
                <a:uFillTx/>
                <a:latin typeface="Inter" panose="02110004020202020204"/>
                <a:ea typeface="+mn-ea"/>
                <a:cs typeface="+mn-cs"/>
              </a:rPr>
              <a:t>AI-Ready Content</a:t>
            </a:r>
            <a:endParaRPr kumimoji="0" lang="en-US" sz="16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8" name="Text 13"/>
          <p:cNvSpPr/>
          <p:nvPr/>
        </p:nvSpPr>
        <p:spPr>
          <a:xfrm>
            <a:off x="792360" y="4753989"/>
            <a:ext cx="4874760" cy="6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340" b="0" i="0" u="none" strike="noStrike" kern="0" cap="none" spc="0" normalizeH="0" baseline="0" noProof="0">
                <a:ln>
                  <a:noFill/>
                </a:ln>
                <a:solidFill>
                  <a:srgbClr val="334155"/>
                </a:solidFill>
                <a:effectLst/>
                <a:uLnTx/>
                <a:uFillTx/>
                <a:latin typeface="Inter" panose="02110004020202020204"/>
                <a:ea typeface="+mn-ea"/>
                <a:cs typeface="+mn-cs"/>
              </a:rPr>
              <a:t>Then, we optimise content for both algorithms and AI. Descriptions, highlights and keywords tuned for Google, ChatGPT, Copilot and Gemini to win placements others miss.</a:t>
            </a:r>
            <a:endParaRPr kumimoji="0" lang="en-US" sz="134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59" name="Shape 14"/>
          <p:cNvSpPr/>
          <p:nvPr/>
        </p:nvSpPr>
        <p:spPr>
          <a:xfrm>
            <a:off x="6217920" y="4290668"/>
            <a:ext cx="5240520" cy="1322731"/>
          </a:xfrm>
          <a:prstGeom prst="rect">
            <a:avLst/>
          </a:prstGeom>
          <a:solidFill>
            <a:srgbClr val="DDD6FE"/>
          </a:solidFill>
          <a:ln w="0">
            <a:noFill/>
          </a:ln>
          <a:effectLst>
            <a:outerShdw blurRad="76320" dist="25455"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60" name="Shape 15"/>
          <p:cNvSpPr/>
          <p:nvPr/>
        </p:nvSpPr>
        <p:spPr>
          <a:xfrm>
            <a:off x="6217920" y="4290668"/>
            <a:ext cx="70920" cy="1322731"/>
          </a:xfrm>
          <a:prstGeom prst="rect">
            <a:avLst/>
          </a:prstGeom>
          <a:solidFill>
            <a:srgbClr val="8B5CF6"/>
          </a:solidFill>
          <a:ln w="0">
            <a:noFill/>
          </a:ln>
        </p:spPr>
        <p:style>
          <a:lnRef idx="0">
            <a:scrgbClr r="0" g="0" b="0"/>
          </a:lnRef>
          <a:fillRef idx="0">
            <a:scrgbClr r="0" g="0" b="0"/>
          </a:fillRef>
          <a:effectRef idx="0">
            <a:scrgbClr r="0" g="0" b="0"/>
          </a:effectRef>
          <a:fontRef idx="minor"/>
        </p:style>
        <p:txBody>
          <a:bodyPr lIns="35640" tIns="45000" rIns="35640" bIns="4500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Inter" panose="02110004020202020204"/>
              <a:ea typeface="+mn-ea"/>
              <a:cs typeface="+mn-cs"/>
            </a:endParaRPr>
          </a:p>
        </p:txBody>
      </p:sp>
      <p:sp>
        <p:nvSpPr>
          <p:cNvPr id="161" name="Text 16"/>
          <p:cNvSpPr/>
          <p:nvPr/>
        </p:nvSpPr>
        <p:spPr>
          <a:xfrm>
            <a:off x="6400800" y="4388229"/>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8B5CF6"/>
                </a:solidFill>
                <a:effectLst/>
                <a:uLnTx/>
                <a:uFillTx/>
                <a:latin typeface="Inter" panose="02110004020202020204"/>
                <a:ea typeface="+mn-ea"/>
                <a:cs typeface="+mn-cs"/>
              </a:rPr>
              <a:t>04  INTELLIGENCE  </a:t>
            </a:r>
            <a:r>
              <a:rPr kumimoji="0" lang="en-US" sz="1600" b="1" i="0" u="none" strike="noStrike" kern="0" cap="none" spc="0" normalizeH="0" baseline="0" noProof="0" dirty="0">
                <a:ln>
                  <a:noFill/>
                </a:ln>
                <a:solidFill>
                  <a:srgbClr val="0F172A"/>
                </a:solidFill>
                <a:effectLst/>
                <a:uLnTx/>
                <a:uFillTx/>
                <a:latin typeface="Inter" panose="02110004020202020204"/>
                <a:ea typeface="+mn-ea"/>
                <a:cs typeface="+mn-cs"/>
              </a:rPr>
              <a:t>Deep Performance extraction</a:t>
            </a:r>
            <a:endParaRPr kumimoji="0" lang="en-US" sz="160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62" name="Text 17"/>
          <p:cNvSpPr/>
          <p:nvPr/>
        </p:nvSpPr>
        <p:spPr>
          <a:xfrm>
            <a:off x="6400800" y="4753989"/>
            <a:ext cx="4874760" cy="6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defTabSz="1219320" eaLnBrk="1" fontAlgn="auto" latinLnBrk="0" hangingPunct="1">
              <a:lnSpc>
                <a:spcPct val="100000"/>
              </a:lnSpc>
              <a:spcBef>
                <a:spcPts val="0"/>
              </a:spcBef>
              <a:spcAft>
                <a:spcPts val="0"/>
              </a:spcAft>
              <a:buClrTx/>
              <a:buSzTx/>
              <a:buFontTx/>
              <a:buNone/>
              <a:tabLst/>
              <a:defRPr/>
            </a:pPr>
            <a:r>
              <a:rPr kumimoji="0" lang="en-US" sz="1340" b="0" i="0" u="none" strike="noStrike" kern="0" cap="none" spc="0" normalizeH="0" baseline="0" noProof="0" dirty="0">
                <a:ln>
                  <a:noFill/>
                </a:ln>
                <a:solidFill>
                  <a:srgbClr val="334155"/>
                </a:solidFill>
                <a:effectLst/>
                <a:uLnTx/>
                <a:uFillTx/>
                <a:latin typeface="Calibri"/>
                <a:ea typeface="Calibri"/>
                <a:cs typeface="+mn-cs"/>
              </a:rPr>
              <a:t>Finally, layer in analytics. 1. Granular performance insights show exactly where spend works and where it doesn’t. 2. Iterate and learn with assets like title, image and now description. 3. Strategic insight on which channels you should be on</a:t>
            </a:r>
            <a:endParaRPr kumimoji="0" lang="en-US" sz="134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6" name="Text 4">
            <a:extLst>
              <a:ext uri="{FF2B5EF4-FFF2-40B4-BE49-F238E27FC236}">
                <a16:creationId xmlns:a16="http://schemas.microsoft.com/office/drawing/2014/main" id="{F0379414-153A-B6CA-5BD7-6605BFF81F83}"/>
              </a:ext>
            </a:extLst>
          </p:cNvPr>
          <p:cNvSpPr/>
          <p:nvPr/>
        </p:nvSpPr>
        <p:spPr>
          <a:xfrm>
            <a:off x="3658620" y="2224395"/>
            <a:ext cx="4874760" cy="36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ctr" defTabSz="121932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0F172A"/>
                </a:solidFill>
                <a:effectLst/>
                <a:uLnTx/>
                <a:uFillTx/>
                <a:latin typeface="Inter" panose="02110004020202020204"/>
                <a:ea typeface="+mn-ea"/>
                <a:cs typeface="+mn-cs"/>
              </a:rPr>
              <a:t>Where the real opportunity lies</a:t>
            </a:r>
            <a:endParaRPr kumimoji="0" lang="en-US" sz="2000" b="0" i="0" u="none" strike="noStrike" kern="0" cap="none" spc="0" normalizeH="0" baseline="0" noProof="0" dirty="0">
              <a:ln>
                <a:noFill/>
              </a:ln>
              <a:solidFill>
                <a:srgbClr val="000000"/>
              </a:solidFill>
              <a:effectLst/>
              <a:uLnTx/>
              <a:uFillTx/>
              <a:latin typeface="Inter" panose="02110004020202020204"/>
              <a:ea typeface="+mn-ea"/>
              <a:cs typeface="+mn-cs"/>
            </a:endParaRPr>
          </a:p>
        </p:txBody>
      </p:sp>
      <p:sp>
        <p:nvSpPr>
          <p:cNvPr id="163" name="Title"/>
          <p:cNvSpPr txBox="1"/>
          <p:nvPr/>
        </p:nvSpPr>
        <p:spPr>
          <a:xfrm>
            <a:off x="609904" y="347472"/>
            <a:ext cx="10972800" cy="658368"/>
          </a:xfrm>
          <a:prstGeom prst="rect">
            <a:avLst/>
          </a:prstGeom>
          <a:noFill/>
        </p:spPr>
        <p:txBody>
          <a:bodyPr wrap="squar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2800" b="1" i="0" u="none" strike="noStrike" kern="0" cap="none" spc="0" normalizeH="0" baseline="0" noProof="0">
                <a:ln>
                  <a:noFill/>
                </a:ln>
                <a:solidFill>
                  <a:srgbClr val="0F172A"/>
                </a:solidFill>
                <a:effectLst/>
                <a:uLnTx/>
                <a:uFillTx/>
              </a:rPr>
              <a:t>Old School Feed Management Is Dead</a:t>
            </a:r>
          </a:p>
        </p:txBody>
      </p:sp>
      <p:sp>
        <p:nvSpPr>
          <p:cNvPr id="164"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Inter" panose="0211000402020202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What we’ll cover</a:t>
            </a:r>
          </a:p>
        </p:txBody>
      </p:sp>
      <p:sp>
        <p:nvSpPr>
          <p:cNvPr id="3" name="Text Placeholder 2"/>
          <p:cNvSpPr>
            <a:spLocks noGrp="1"/>
          </p:cNvSpPr>
          <p:nvPr>
            <p:ph type="body" idx="11"/>
          </p:nvPr>
        </p:nvSpPr>
        <p:spPr/>
        <p:txBody>
          <a:bodyPr wrap="square"/>
          <a:lstStyle/>
          <a:p>
            <a:r>
              <a:t>Two years, 19 markets, 1,294 tasks, 1,746 hours.</a:t>
            </a:r>
          </a:p>
        </p:txBody>
      </p:sp>
      <p:sp>
        <p:nvSpPr>
          <p:cNvPr id="4" name="Text Placeholder 3"/>
          <p:cNvSpPr>
            <a:spLocks noGrp="1"/>
          </p:cNvSpPr>
          <p:nvPr>
            <p:ph type="body" idx="1"/>
          </p:nvPr>
        </p:nvSpPr>
        <p:spPr/>
        <p:txBody>
          <a:bodyPr wrap="square"/>
          <a:lstStyle/>
          <a:p>
            <a:pPr marL="200025" indent="-200025">
              <a:spcAft>
                <a:spcPts val="1200"/>
              </a:spcAft>
              <a:buFont typeface="Arial"/>
              <a:buChar char="•"/>
            </a:pPr>
            <a:r>
              <a:rPr sz="1400" b="1" dirty="0"/>
              <a:t>01  Service scope &amp; scale</a:t>
            </a:r>
            <a:r>
              <a:rPr sz="1400" dirty="0"/>
              <a:t> — 19 markets, hours by market</a:t>
            </a:r>
          </a:p>
          <a:p>
            <a:pPr marL="200025" indent="-200025">
              <a:spcAft>
                <a:spcPts val="1200"/>
              </a:spcAft>
              <a:buFont typeface="Arial"/>
              <a:buChar char="•"/>
            </a:pPr>
            <a:r>
              <a:rPr sz="1400" b="1" dirty="0"/>
              <a:t>02  The delivery stack</a:t>
            </a:r>
            <a:r>
              <a:rPr sz="1400" dirty="0"/>
              <a:t> — FeedHero, Tachyon AI, scrapers</a:t>
            </a:r>
          </a:p>
          <a:p>
            <a:pPr marL="200025" indent="-200025">
              <a:spcAft>
                <a:spcPts val="1200"/>
              </a:spcAft>
              <a:buFont typeface="Arial"/>
              <a:buChar char="•"/>
            </a:pPr>
            <a:r>
              <a:rPr sz="1400" b="1" dirty="0"/>
              <a:t>03  Review &amp; project recap</a:t>
            </a:r>
            <a:r>
              <a:rPr sz="1400" dirty="0"/>
              <a:t> — 169 done, 86 open, 5 parked</a:t>
            </a:r>
          </a:p>
          <a:p>
            <a:pPr marL="200025" indent="-200025">
              <a:spcAft>
                <a:spcPts val="1200"/>
              </a:spcAft>
              <a:buFont typeface="Arial"/>
              <a:buChar char="•"/>
            </a:pPr>
            <a:r>
              <a:rPr sz="1400" b="1" dirty="0"/>
              <a:t>04  The look-back period</a:t>
            </a:r>
            <a:r>
              <a:rPr sz="1400" dirty="0"/>
              <a:t> — timeline, activity mix, task families</a:t>
            </a:r>
          </a:p>
          <a:p>
            <a:pPr marL="200025" indent="-200025">
              <a:spcAft>
                <a:spcPts val="1200"/>
              </a:spcAft>
              <a:buFont typeface="Arial"/>
              <a:buChar char="•"/>
            </a:pPr>
            <a:r>
              <a:rPr sz="1400" b="1" dirty="0"/>
              <a:t>05  The value delivered</a:t>
            </a:r>
            <a:r>
              <a:rPr sz="1400" dirty="0"/>
              <a:t> — 1,746 </a:t>
            </a:r>
            <a:r>
              <a:rPr sz="1400" dirty="0" err="1"/>
              <a:t>hrs</a:t>
            </a:r>
            <a:r>
              <a:rPr sz="1400" dirty="0"/>
              <a:t>, 35% invested</a:t>
            </a:r>
          </a:p>
          <a:p>
            <a:pPr marL="200025" indent="-200025">
              <a:spcAft>
                <a:spcPts val="1200"/>
              </a:spcAft>
              <a:buFont typeface="Arial"/>
              <a:buChar char="•"/>
            </a:pPr>
            <a:r>
              <a:rPr sz="1400" b="1" dirty="0"/>
              <a:t>06  Automation &amp; readiness</a:t>
            </a:r>
            <a:r>
              <a:rPr sz="1400" dirty="0"/>
              <a:t> — rules versus hand</a:t>
            </a:r>
          </a:p>
        </p:txBody>
      </p:sp>
      <p:sp>
        <p:nvSpPr>
          <p:cNvPr id="5" name="Text Placeholder 4"/>
          <p:cNvSpPr>
            <a:spLocks noGrp="1"/>
          </p:cNvSpPr>
          <p:nvPr>
            <p:ph type="body" idx="2"/>
          </p:nvPr>
        </p:nvSpPr>
        <p:spPr/>
        <p:txBody>
          <a:bodyPr wrap="square"/>
          <a:lstStyle/>
          <a:p>
            <a:pPr marL="200025" indent="-200025">
              <a:spcAft>
                <a:spcPts val="1200"/>
              </a:spcAft>
              <a:buFont typeface="Arial"/>
              <a:buChar char="•"/>
            </a:pPr>
            <a:r>
              <a:rPr sz="1400" b="1" dirty="0"/>
              <a:t>07  The A/B test archive</a:t>
            </a:r>
            <a:r>
              <a:rPr sz="1400" dirty="0"/>
              <a:t> — 36 tests and what they told us</a:t>
            </a:r>
          </a:p>
          <a:p>
            <a:pPr marL="200025" indent="-200025">
              <a:spcAft>
                <a:spcPts val="1200"/>
              </a:spcAft>
              <a:buFont typeface="Arial"/>
              <a:buChar char="•"/>
            </a:pPr>
            <a:r>
              <a:rPr sz="1400" b="1" dirty="0"/>
              <a:t>08  Team &amp; ways of working</a:t>
            </a:r>
            <a:r>
              <a:rPr sz="1400" dirty="0"/>
              <a:t> — the pod, the cadence</a:t>
            </a:r>
          </a:p>
          <a:p>
            <a:pPr marL="200025" indent="-200025">
              <a:spcAft>
                <a:spcPts val="1200"/>
              </a:spcAft>
              <a:buFont typeface="Arial"/>
              <a:buChar char="•"/>
            </a:pPr>
            <a:r>
              <a:rPr sz="1400" b="1" dirty="0"/>
              <a:t>09  Feed optimisation score</a:t>
            </a:r>
            <a:r>
              <a:rPr sz="1400" dirty="0"/>
              <a:t> — 70/100, plus the GB feed audit</a:t>
            </a:r>
          </a:p>
          <a:p>
            <a:pPr marL="200025" indent="-200025">
              <a:spcAft>
                <a:spcPts val="1200"/>
              </a:spcAft>
              <a:buFont typeface="Arial"/>
              <a:buChar char="•"/>
            </a:pPr>
            <a:r>
              <a:rPr sz="1400" b="1" dirty="0"/>
              <a:t>10  AI readiness</a:t>
            </a:r>
            <a:r>
              <a:rPr sz="1400" dirty="0"/>
              <a:t> — where Superdry sits, and the gap to close</a:t>
            </a:r>
          </a:p>
          <a:p>
            <a:pPr marL="200025" indent="-200025">
              <a:spcAft>
                <a:spcPts val="1200"/>
              </a:spcAft>
              <a:buFont typeface="Arial"/>
              <a:buChar char="•"/>
            </a:pPr>
            <a:r>
              <a:rPr sz="1400" b="1" dirty="0"/>
              <a:t>11  Roadmap — next quarter</a:t>
            </a:r>
            <a:r>
              <a:rPr sz="1400" dirty="0"/>
              <a:t> — priorities and the testing queue</a:t>
            </a:r>
          </a:p>
        </p:txBody>
      </p:sp>
      <p:sp>
        <p:nvSpPr>
          <p:cNvPr id="6" name="Text Placeholder 5"/>
          <p:cNvSpPr>
            <a:spLocks noGrp="1"/>
          </p:cNvSpPr>
          <p:nvPr>
            <p:ph type="body" idx="14"/>
          </p:nvPr>
        </p:nvSpPr>
        <p:spPr/>
        <p:txBody>
          <a:bodyPr wrap="square"/>
          <a:lstStyle/>
          <a:p>
            <a:r>
              <a:t>Chapters one to six recap the scope, the stack and the work delivered; seven to nine prove the value; ten and eleven set the direction.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01  ·  CHAPTER ONE</a:t>
            </a:r>
          </a:p>
        </p:txBody>
      </p:sp>
      <p:sp>
        <p:nvSpPr>
          <p:cNvPr id="3" name="Title 2"/>
          <p:cNvSpPr>
            <a:spLocks noGrp="1"/>
          </p:cNvSpPr>
          <p:nvPr>
            <p:ph type="title"/>
          </p:nvPr>
        </p:nvSpPr>
        <p:spPr/>
        <p:txBody>
          <a:bodyPr wrap="square"/>
          <a:lstStyle/>
          <a:p>
            <a:r>
              <a:t>Service scope &amp; scale</a:t>
            </a:r>
          </a:p>
        </p:txBody>
      </p:sp>
      <p:sp>
        <p:nvSpPr>
          <p:cNvPr id="4" name="Text Placeholder 3"/>
          <p:cNvSpPr>
            <a:spLocks noGrp="1"/>
          </p:cNvSpPr>
          <p:nvPr>
            <p:ph type="body" idx="1"/>
          </p:nvPr>
        </p:nvSpPr>
        <p:spPr/>
        <p:txBody>
          <a:bodyPr wrap="square"/>
          <a:lstStyle/>
          <a:p>
            <a:r>
              <a:t>What FeedSpark runs for Superdry, and how big it 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The programme in five numbers</a:t>
            </a:r>
          </a:p>
        </p:txBody>
      </p:sp>
      <p:sp>
        <p:nvSpPr>
          <p:cNvPr id="3" name="Text Placeholder 2"/>
          <p:cNvSpPr>
            <a:spLocks noGrp="1"/>
          </p:cNvSpPr>
          <p:nvPr>
            <p:ph type="body" idx="13"/>
          </p:nvPr>
        </p:nvSpPr>
        <p:spPr/>
        <p:txBody>
          <a:bodyPr wrap="square"/>
          <a:lstStyle/>
          <a:p>
            <a:r>
              <a:t>Two years of continuous feed engineering across 19 markets.</a:t>
            </a:r>
          </a:p>
        </p:txBody>
      </p:sp>
      <p:sp>
        <p:nvSpPr>
          <p:cNvPr id="4" name="Text Placeholder 3"/>
          <p:cNvSpPr>
            <a:spLocks noGrp="1"/>
          </p:cNvSpPr>
          <p:nvPr>
            <p:ph type="body" idx="1"/>
          </p:nvPr>
        </p:nvSpPr>
        <p:spPr/>
        <p:txBody>
          <a:bodyPr wrap="square">
            <a:normAutofit fontScale="92500" lnSpcReduction="10000"/>
          </a:bodyPr>
          <a:lstStyle/>
          <a:p>
            <a:r>
              <a:rPr sz="3000">
                <a:solidFill>
                  <a:srgbClr val="F7941E"/>
                </a:solidFill>
              </a:rPr>
              <a:t>19</a:t>
            </a:r>
          </a:p>
        </p:txBody>
      </p:sp>
      <p:sp>
        <p:nvSpPr>
          <p:cNvPr id="5" name="Text Placeholder 4"/>
          <p:cNvSpPr>
            <a:spLocks noGrp="1"/>
          </p:cNvSpPr>
          <p:nvPr>
            <p:ph type="body" idx="2"/>
          </p:nvPr>
        </p:nvSpPr>
        <p:spPr/>
        <p:txBody>
          <a:bodyPr wrap="square"/>
          <a:lstStyle/>
          <a:p>
            <a:r>
              <a:rPr sz="1400"/>
              <a:t>Markets managed</a:t>
            </a:r>
          </a:p>
        </p:txBody>
      </p:sp>
      <p:sp>
        <p:nvSpPr>
          <p:cNvPr id="6" name="Text Placeholder 5"/>
          <p:cNvSpPr>
            <a:spLocks noGrp="1"/>
          </p:cNvSpPr>
          <p:nvPr>
            <p:ph type="body" idx="3"/>
          </p:nvPr>
        </p:nvSpPr>
        <p:spPr/>
        <p:txBody>
          <a:bodyPr wrap="square">
            <a:normAutofit fontScale="92500" lnSpcReduction="10000"/>
          </a:bodyPr>
          <a:lstStyle/>
          <a:p>
            <a:r>
              <a:rPr sz="3000">
                <a:solidFill>
                  <a:srgbClr val="F7941E"/>
                </a:solidFill>
              </a:rPr>
              <a:t>2</a:t>
            </a:r>
          </a:p>
        </p:txBody>
      </p:sp>
      <p:sp>
        <p:nvSpPr>
          <p:cNvPr id="7" name="Text Placeholder 6"/>
          <p:cNvSpPr>
            <a:spLocks noGrp="1"/>
          </p:cNvSpPr>
          <p:nvPr>
            <p:ph type="body" idx="4"/>
          </p:nvPr>
        </p:nvSpPr>
        <p:spPr/>
        <p:txBody>
          <a:bodyPr wrap="square"/>
          <a:lstStyle/>
          <a:p>
            <a:r>
              <a:rPr sz="1400" dirty="0"/>
              <a:t>Core channels — Shopping + Social</a:t>
            </a:r>
            <a:r>
              <a:rPr lang="en-GB" sz="1400" dirty="0"/>
              <a:t> + Rakuten </a:t>
            </a:r>
            <a:r>
              <a:rPr lang="en-GB" sz="1400" dirty="0" err="1"/>
              <a:t>Bloomreach</a:t>
            </a:r>
            <a:endParaRPr sz="1400" dirty="0"/>
          </a:p>
        </p:txBody>
      </p:sp>
      <p:sp>
        <p:nvSpPr>
          <p:cNvPr id="8" name="Text Placeholder 7"/>
          <p:cNvSpPr>
            <a:spLocks noGrp="1"/>
          </p:cNvSpPr>
          <p:nvPr>
            <p:ph type="body" idx="5"/>
          </p:nvPr>
        </p:nvSpPr>
        <p:spPr/>
        <p:txBody>
          <a:bodyPr wrap="square">
            <a:normAutofit fontScale="92500" lnSpcReduction="10000"/>
          </a:bodyPr>
          <a:lstStyle/>
          <a:p>
            <a:r>
              <a:rPr sz="3000">
                <a:solidFill>
                  <a:srgbClr val="F7941E"/>
                </a:solidFill>
              </a:rPr>
              <a:t>1,294</a:t>
            </a:r>
          </a:p>
        </p:txBody>
      </p:sp>
      <p:sp>
        <p:nvSpPr>
          <p:cNvPr id="9" name="Text Placeholder 8"/>
          <p:cNvSpPr>
            <a:spLocks noGrp="1"/>
          </p:cNvSpPr>
          <p:nvPr>
            <p:ph type="body" idx="6"/>
          </p:nvPr>
        </p:nvSpPr>
        <p:spPr/>
        <p:txBody>
          <a:bodyPr wrap="square"/>
          <a:lstStyle/>
          <a:p>
            <a:r>
              <a:rPr sz="1400"/>
              <a:t>Tasks delivered · 2 yr</a:t>
            </a:r>
          </a:p>
        </p:txBody>
      </p:sp>
      <p:sp>
        <p:nvSpPr>
          <p:cNvPr id="10" name="Text Placeholder 9"/>
          <p:cNvSpPr>
            <a:spLocks noGrp="1"/>
          </p:cNvSpPr>
          <p:nvPr>
            <p:ph type="body" idx="7"/>
          </p:nvPr>
        </p:nvSpPr>
        <p:spPr/>
        <p:txBody>
          <a:bodyPr wrap="square">
            <a:normAutofit fontScale="92500" lnSpcReduction="10000"/>
          </a:bodyPr>
          <a:lstStyle/>
          <a:p>
            <a:r>
              <a:rPr sz="3000">
                <a:solidFill>
                  <a:srgbClr val="F7941E"/>
                </a:solidFill>
              </a:rPr>
              <a:t>1,746</a:t>
            </a:r>
          </a:p>
        </p:txBody>
      </p:sp>
      <p:sp>
        <p:nvSpPr>
          <p:cNvPr id="11" name="Text Placeholder 10"/>
          <p:cNvSpPr>
            <a:spLocks noGrp="1"/>
          </p:cNvSpPr>
          <p:nvPr>
            <p:ph type="body" idx="8"/>
          </p:nvPr>
        </p:nvSpPr>
        <p:spPr/>
        <p:txBody>
          <a:bodyPr wrap="square"/>
          <a:lstStyle/>
          <a:p>
            <a:r>
              <a:rPr sz="1400"/>
              <a:t>Hours delivered · 2 yr</a:t>
            </a:r>
          </a:p>
        </p:txBody>
      </p:sp>
      <p:sp>
        <p:nvSpPr>
          <p:cNvPr id="12" name="Text Placeholder 11"/>
          <p:cNvSpPr>
            <a:spLocks noGrp="1"/>
          </p:cNvSpPr>
          <p:nvPr>
            <p:ph type="body" idx="9"/>
          </p:nvPr>
        </p:nvSpPr>
        <p:spPr/>
        <p:txBody>
          <a:bodyPr wrap="square">
            <a:normAutofit fontScale="92500" lnSpcReduction="10000"/>
          </a:bodyPr>
          <a:lstStyle/>
          <a:p>
            <a:r>
              <a:rPr sz="3000">
                <a:solidFill>
                  <a:srgbClr val="F7941E"/>
                </a:solidFill>
              </a:rPr>
              <a:t>260</a:t>
            </a:r>
          </a:p>
        </p:txBody>
      </p:sp>
      <p:sp>
        <p:nvSpPr>
          <p:cNvPr id="13" name="Text Placeholder 12"/>
          <p:cNvSpPr>
            <a:spLocks noGrp="1"/>
          </p:cNvSpPr>
          <p:nvPr>
            <p:ph type="body" idx="10"/>
          </p:nvPr>
        </p:nvSpPr>
        <p:spPr/>
        <p:txBody>
          <a:bodyPr wrap="square"/>
          <a:lstStyle/>
          <a:p>
            <a:r>
              <a:rPr sz="1400"/>
              <a:t>Live plan tasks tracked</a:t>
            </a:r>
          </a:p>
        </p:txBody>
      </p:sp>
      <p:sp>
        <p:nvSpPr>
          <p:cNvPr id="14" name="Text Placeholder 13"/>
          <p:cNvSpPr>
            <a:spLocks noGrp="1"/>
          </p:cNvSpPr>
          <p:nvPr>
            <p:ph type="body" idx="14"/>
          </p:nvPr>
        </p:nvSpPr>
        <p:spPr/>
        <p:txBody>
          <a:bodyPr wrap="square"/>
          <a:lstStyle/>
          <a:p>
            <a:r>
              <a:t>1,294 is the cumulative two-year work log. 260 is the live project plan’s current tracked total — history versus this quarter’s backlog, not competing totals.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Channels and coverage</a:t>
            </a:r>
          </a:p>
        </p:txBody>
      </p:sp>
      <p:sp>
        <p:nvSpPr>
          <p:cNvPr id="3" name="Text Placeholder 2"/>
          <p:cNvSpPr>
            <a:spLocks noGrp="1"/>
          </p:cNvSpPr>
          <p:nvPr>
            <p:ph type="body" idx="11"/>
          </p:nvPr>
        </p:nvSpPr>
        <p:spPr/>
        <p:txBody>
          <a:bodyPr wrap="square"/>
          <a:lstStyle/>
          <a:p>
            <a:r>
              <a:t>One feed build per market, then split and localised per channel.</a:t>
            </a:r>
          </a:p>
        </p:txBody>
      </p:sp>
      <p:sp>
        <p:nvSpPr>
          <p:cNvPr id="4" name="Text Placeholder 3"/>
          <p:cNvSpPr>
            <a:spLocks noGrp="1"/>
          </p:cNvSpPr>
          <p:nvPr>
            <p:ph type="body" idx="14"/>
          </p:nvPr>
        </p:nvSpPr>
        <p:spPr/>
        <p:txBody>
          <a:bodyPr wrap="square"/>
          <a:lstStyle/>
          <a:p>
            <a:r>
              <a:rPr dirty="0"/>
              <a:t>LIA is the newest lane — store-ID and inventory work is open, with store-visit diagnostics ongoing.</a:t>
            </a:r>
          </a:p>
        </p:txBody>
      </p:sp>
      <p:graphicFrame>
        <p:nvGraphicFramePr>
          <p:cNvPr id="5" name="Table 4"/>
          <p:cNvGraphicFramePr>
            <a:graphicFrameLocks noGrp="1"/>
          </p:cNvGraphicFramePr>
          <p:nvPr>
            <p:extLst>
              <p:ext uri="{D42A27DB-BD31-4B8C-83A1-F6EECF244321}">
                <p14:modId xmlns:p14="http://schemas.microsoft.com/office/powerpoint/2010/main" val="4208931279"/>
              </p:ext>
            </p:extLst>
          </p:nvPr>
        </p:nvGraphicFramePr>
        <p:xfrm>
          <a:off x="612648" y="1965960"/>
          <a:ext cx="10972800" cy="237835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384048">
                <a:tc>
                  <a:txBody>
                    <a:bodyPr/>
                    <a:lstStyle/>
                    <a:p>
                      <a:r>
                        <a:rPr sz="1400" b="1">
                          <a:solidFill>
                            <a:srgbClr val="FFFFFF"/>
                          </a:solidFill>
                        </a:rPr>
                        <a:t>Channel</a:t>
                      </a:r>
                    </a:p>
                  </a:txBody>
                  <a:tcPr marL="82296" marR="82296" marT="41148" marB="41148" anchor="ctr"/>
                </a:tc>
                <a:tc>
                  <a:txBody>
                    <a:bodyPr/>
                    <a:lstStyle/>
                    <a:p>
                      <a:r>
                        <a:rPr sz="1400" b="1">
                          <a:solidFill>
                            <a:srgbClr val="FFFFFF"/>
                          </a:solidFill>
                        </a:rPr>
                        <a:t>Feeds</a:t>
                      </a:r>
                    </a:p>
                  </a:txBody>
                  <a:tcPr marL="82296" marR="82296" marT="41148" marB="41148" anchor="ctr"/>
                </a:tc>
                <a:tc>
                  <a:txBody>
                    <a:bodyPr/>
                    <a:lstStyle/>
                    <a:p>
                      <a:r>
                        <a:rPr sz="1400" b="1">
                          <a:solidFill>
                            <a:srgbClr val="FFFFFF"/>
                          </a:solidFill>
                        </a:rPr>
                        <a:t>Focus</a:t>
                      </a:r>
                    </a:p>
                  </a:txBody>
                  <a:tcPr marL="82296" marR="82296" marT="41148" marB="41148" anchor="ctr"/>
                </a:tc>
                <a:extLst>
                  <a:ext uri="{0D108BD9-81ED-4DB2-BD59-A6C34878D82A}">
                    <a16:rowId xmlns:a16="http://schemas.microsoft.com/office/drawing/2014/main" val="10000"/>
                  </a:ext>
                </a:extLst>
              </a:tr>
              <a:tr h="664768">
                <a:tc>
                  <a:txBody>
                    <a:bodyPr/>
                    <a:lstStyle/>
                    <a:p>
                      <a:r>
                        <a:rPr sz="1400" b="1">
                          <a:solidFill>
                            <a:srgbClr val="0F172A"/>
                          </a:solidFill>
                        </a:rPr>
                        <a:t>Google Shopping / PMax</a:t>
                      </a:r>
                    </a:p>
                  </a:txBody>
                  <a:tcPr marL="82296" marR="82296" marT="41148" marB="41148" anchor="ctr"/>
                </a:tc>
                <a:tc>
                  <a:txBody>
                    <a:bodyPr/>
                    <a:lstStyle/>
                    <a:p>
                      <a:r>
                        <a:rPr sz="1400" b="0">
                          <a:solidFill>
                            <a:srgbClr val="475569"/>
                          </a:solidFill>
                        </a:rPr>
                        <a:t>Per-market</a:t>
                      </a:r>
                    </a:p>
                  </a:txBody>
                  <a:tcPr marL="82296" marR="82296" marT="41148" marB="41148" anchor="ctr"/>
                </a:tc>
                <a:tc>
                  <a:txBody>
                    <a:bodyPr/>
                    <a:lstStyle/>
                    <a:p>
                      <a:r>
                        <a:rPr sz="1400" b="0">
                          <a:solidFill>
                            <a:srgbClr val="475569"/>
                          </a:solidFill>
                        </a:rPr>
                        <a:t>Titles, category mapping, keywords, Range Completion, custom labels, disapprovals</a:t>
                      </a:r>
                    </a:p>
                  </a:txBody>
                  <a:tcPr marL="82296" marR="82296" marT="41148" marB="41148" anchor="ctr"/>
                </a:tc>
                <a:extLst>
                  <a:ext uri="{0D108BD9-81ED-4DB2-BD59-A6C34878D82A}">
                    <a16:rowId xmlns:a16="http://schemas.microsoft.com/office/drawing/2014/main" val="10001"/>
                  </a:ext>
                </a:extLst>
              </a:tr>
              <a:tr h="664768">
                <a:tc>
                  <a:txBody>
                    <a:bodyPr/>
                    <a:lstStyle/>
                    <a:p>
                      <a:r>
                        <a:rPr sz="1400" b="1">
                          <a:solidFill>
                            <a:srgbClr val="0F172A"/>
                          </a:solidFill>
                        </a:rPr>
                        <a:t>Social / Meta</a:t>
                      </a:r>
                    </a:p>
                  </a:txBody>
                  <a:tcPr marL="82296" marR="82296" marT="41148" marB="41148" anchor="ctr"/>
                </a:tc>
                <a:tc>
                  <a:txBody>
                    <a:bodyPr/>
                    <a:lstStyle/>
                    <a:p>
                      <a:r>
                        <a:rPr sz="1400" b="0">
                          <a:solidFill>
                            <a:srgbClr val="475569"/>
                          </a:solidFill>
                        </a:rPr>
                        <a:t>Per-market</a:t>
                      </a:r>
                    </a:p>
                  </a:txBody>
                  <a:tcPr marL="82296" marR="82296" marT="41148" marB="41148" anchor="ctr"/>
                </a:tc>
                <a:tc>
                  <a:txBody>
                    <a:bodyPr/>
                    <a:lstStyle/>
                    <a:p>
                      <a:r>
                        <a:rPr sz="1400" b="0" dirty="0">
                          <a:solidFill>
                            <a:srgbClr val="475569"/>
                          </a:solidFill>
                        </a:rPr>
                        <a:t> catalogue hygiene, custom labels, DPA feed</a:t>
                      </a:r>
                    </a:p>
                  </a:txBody>
                  <a:tcPr marL="82296" marR="82296" marT="41148" marB="41148" anchor="ctr"/>
                </a:tc>
                <a:extLst>
                  <a:ext uri="{0D108BD9-81ED-4DB2-BD59-A6C34878D82A}">
                    <a16:rowId xmlns:a16="http://schemas.microsoft.com/office/drawing/2014/main" val="10002"/>
                  </a:ext>
                </a:extLst>
              </a:tr>
              <a:tr h="664768">
                <a:tc>
                  <a:txBody>
                    <a:bodyPr/>
                    <a:lstStyle/>
                    <a:p>
                      <a:r>
                        <a:rPr sz="1400" b="1">
                          <a:solidFill>
                            <a:srgbClr val="0F172A"/>
                          </a:solidFill>
                        </a:rPr>
                        <a:t>LIA — Local Inventory</a:t>
                      </a:r>
                    </a:p>
                  </a:txBody>
                  <a:tcPr marL="82296" marR="82296" marT="41148" marB="41148" anchor="ctr"/>
                </a:tc>
                <a:tc>
                  <a:txBody>
                    <a:bodyPr/>
                    <a:lstStyle/>
                    <a:p>
                      <a:r>
                        <a:rPr sz="1400" b="0">
                          <a:solidFill>
                            <a:srgbClr val="475569"/>
                          </a:solidFill>
                        </a:rPr>
                        <a:t>In progress</a:t>
                      </a:r>
                    </a:p>
                  </a:txBody>
                  <a:tcPr marL="82296" marR="82296" marT="41148" marB="41148" anchor="ctr"/>
                </a:tc>
                <a:tc>
                  <a:txBody>
                    <a:bodyPr/>
                    <a:lstStyle/>
                    <a:p>
                      <a:r>
                        <a:rPr sz="1400" b="0" dirty="0">
                          <a:solidFill>
                            <a:srgbClr val="475569"/>
                          </a:solidFill>
                        </a:rPr>
                        <a:t>Store-ID / inventory work opened — store-visit diagnostics ongoing</a:t>
                      </a:r>
                    </a:p>
                  </a:txBody>
                  <a:tcPr marL="82296" marR="82296" marT="41148" marB="41148"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Where the hours went — by market</a:t>
            </a:r>
          </a:p>
        </p:txBody>
      </p:sp>
      <p:sp>
        <p:nvSpPr>
          <p:cNvPr id="3" name="Text Placeholder 2"/>
          <p:cNvSpPr>
            <a:spLocks noGrp="1"/>
          </p:cNvSpPr>
          <p:nvPr>
            <p:ph type="body" idx="11"/>
          </p:nvPr>
        </p:nvSpPr>
        <p:spPr/>
        <p:txBody>
          <a:bodyPr wrap="square"/>
          <a:lstStyle/>
          <a:p>
            <a:r>
              <a:t>Hours delivered across the two-year window.</a:t>
            </a:r>
          </a:p>
        </p:txBody>
      </p:sp>
      <p:sp>
        <p:nvSpPr>
          <p:cNvPr id="4" name="Text Placeholder 3"/>
          <p:cNvSpPr>
            <a:spLocks noGrp="1"/>
          </p:cNvSpPr>
          <p:nvPr>
            <p:ph type="body" idx="14"/>
          </p:nvPr>
        </p:nvSpPr>
        <p:spPr/>
        <p:txBody>
          <a:bodyPr wrap="square"/>
          <a:lstStyle/>
          <a:p>
            <a:r>
              <a:t>GB is the engine at roughly 42 hours a month; the other 15 markets add about 28 — the same title, category and Range Completion logic in every one.</a:t>
            </a:r>
          </a:p>
        </p:txBody>
      </p:sp>
      <p:graphicFrame>
        <p:nvGraphicFramePr>
          <p:cNvPr id="5" name="Chart 4"/>
          <p:cNvGraphicFramePr>
            <a:graphicFrameLocks noGrp="1"/>
          </p:cNvGraphicFramePr>
          <p:nvPr/>
        </p:nvGraphicFramePr>
        <p:xfrm>
          <a:off x="612648" y="1874519"/>
          <a:ext cx="10972800" cy="36118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02  ·  CHAPTER TWO</a:t>
            </a:r>
          </a:p>
        </p:txBody>
      </p:sp>
      <p:sp>
        <p:nvSpPr>
          <p:cNvPr id="3" name="Title 2"/>
          <p:cNvSpPr>
            <a:spLocks noGrp="1"/>
          </p:cNvSpPr>
          <p:nvPr>
            <p:ph type="title"/>
          </p:nvPr>
        </p:nvSpPr>
        <p:spPr/>
        <p:txBody>
          <a:bodyPr wrap="square"/>
          <a:lstStyle/>
          <a:p>
            <a:r>
              <a:t>The delivery stack</a:t>
            </a:r>
          </a:p>
        </p:txBody>
      </p:sp>
      <p:sp>
        <p:nvSpPr>
          <p:cNvPr id="4" name="Text Placeholder 3"/>
          <p:cNvSpPr>
            <a:spLocks noGrp="1"/>
          </p:cNvSpPr>
          <p:nvPr>
            <p:ph type="body" idx="1"/>
          </p:nvPr>
        </p:nvSpPr>
        <p:spPr/>
        <p:txBody>
          <a:bodyPr wrap="square"/>
          <a:lstStyle/>
          <a:p>
            <a:r>
              <a:t>The tools doing the work behind Superdry.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lang="en-GB" dirty="0"/>
              <a:t>3</a:t>
            </a:r>
            <a:r>
              <a:rPr dirty="0"/>
              <a:t> layers, live on the account today</a:t>
            </a:r>
          </a:p>
        </p:txBody>
      </p:sp>
      <p:sp>
        <p:nvSpPr>
          <p:cNvPr id="3" name="Text Placeholder 2"/>
          <p:cNvSpPr>
            <a:spLocks noGrp="1"/>
          </p:cNvSpPr>
          <p:nvPr>
            <p:ph type="body" idx="13"/>
          </p:nvPr>
        </p:nvSpPr>
        <p:spPr/>
        <p:txBody>
          <a:bodyPr wrap="square"/>
          <a:lstStyle/>
          <a:p>
            <a:r>
              <a:t>Everything below is in use on Superdry right now.</a:t>
            </a:r>
          </a:p>
        </p:txBody>
      </p:sp>
      <p:sp>
        <p:nvSpPr>
          <p:cNvPr id="4" name="Text Placeholder 3"/>
          <p:cNvSpPr>
            <a:spLocks noGrp="1"/>
          </p:cNvSpPr>
          <p:nvPr>
            <p:ph type="body" idx="1"/>
          </p:nvPr>
        </p:nvSpPr>
        <p:spPr/>
        <p:txBody>
          <a:bodyPr wrap="square"/>
          <a:lstStyle/>
          <a:p>
            <a:r>
              <a:t>FeedHero</a:t>
            </a:r>
          </a:p>
        </p:txBody>
      </p:sp>
      <p:sp>
        <p:nvSpPr>
          <p:cNvPr id="5" name="Text Placeholder 4"/>
          <p:cNvSpPr>
            <a:spLocks noGrp="1"/>
          </p:cNvSpPr>
          <p:nvPr>
            <p:ph type="body" idx="2"/>
          </p:nvPr>
        </p:nvSpPr>
        <p:spPr/>
        <p:txBody>
          <a:bodyPr wrap="square"/>
          <a:lstStyle/>
          <a:p>
            <a:r>
              <a:rPr sz="1400"/>
              <a:t>Feed management and rules engine: Range Completion exclusion, Hero Sizes, custom labels CL0–CL4, keyword injection and planner, output-feed exclusion.</a:t>
            </a:r>
          </a:p>
        </p:txBody>
      </p:sp>
      <p:sp>
        <p:nvSpPr>
          <p:cNvPr id="6" name="Text Placeholder 5"/>
          <p:cNvSpPr>
            <a:spLocks noGrp="1"/>
          </p:cNvSpPr>
          <p:nvPr>
            <p:ph type="body" idx="3"/>
          </p:nvPr>
        </p:nvSpPr>
        <p:spPr/>
        <p:txBody>
          <a:bodyPr wrap="square"/>
          <a:lstStyle/>
          <a:p>
            <a:r>
              <a:t>Tachyon AI</a:t>
            </a:r>
          </a:p>
        </p:txBody>
      </p:sp>
      <p:sp>
        <p:nvSpPr>
          <p:cNvPr id="7" name="Text Placeholder 6"/>
          <p:cNvSpPr>
            <a:spLocks noGrp="1"/>
          </p:cNvSpPr>
          <p:nvPr>
            <p:ph type="body" idx="4"/>
          </p:nvPr>
        </p:nvSpPr>
        <p:spPr/>
        <p:txBody>
          <a:bodyPr wrap="square"/>
          <a:lstStyle/>
          <a:p>
            <a:r>
              <a:rPr sz="1400"/>
              <a:t>In pilot — running the AI FAQ-description A/B test, and the enrichment pass the description work depends on.</a:t>
            </a:r>
          </a:p>
        </p:txBody>
      </p:sp>
      <p:sp>
        <p:nvSpPr>
          <p:cNvPr id="8" name="Text Placeholder 7"/>
          <p:cNvSpPr>
            <a:spLocks noGrp="1"/>
          </p:cNvSpPr>
          <p:nvPr>
            <p:ph type="body" idx="5"/>
          </p:nvPr>
        </p:nvSpPr>
        <p:spPr/>
        <p:txBody>
          <a:bodyPr wrap="square"/>
          <a:lstStyle/>
          <a:p>
            <a:r>
              <a:rPr dirty="0"/>
              <a:t>Scrapers &amp; supplemental</a:t>
            </a:r>
          </a:p>
        </p:txBody>
      </p:sp>
      <p:sp>
        <p:nvSpPr>
          <p:cNvPr id="9" name="Text Placeholder 8"/>
          <p:cNvSpPr>
            <a:spLocks noGrp="1"/>
          </p:cNvSpPr>
          <p:nvPr>
            <p:ph type="body" idx="6"/>
          </p:nvPr>
        </p:nvSpPr>
        <p:spPr/>
        <p:txBody>
          <a:bodyPr wrap="square"/>
          <a:lstStyle/>
          <a:p>
            <a:r>
              <a:rPr sz="1400" dirty="0"/>
              <a:t>Sale line-list ingestion, margin-label data, zombie-SKU detection, competitor keyword capture, supplemental feeds for back-filling.</a:t>
            </a:r>
          </a:p>
        </p:txBody>
      </p:sp>
      <p:sp>
        <p:nvSpPr>
          <p:cNvPr id="10" name="Text Placeholder 9"/>
          <p:cNvSpPr>
            <a:spLocks noGrp="1"/>
          </p:cNvSpPr>
          <p:nvPr>
            <p:ph type="body" idx="7"/>
          </p:nvPr>
        </p:nvSpPr>
        <p:spPr/>
        <p:txBody>
          <a:bodyPr wrap="square"/>
          <a:lstStyle/>
          <a:p>
            <a:r>
              <a:rPr lang="en-GB" dirty="0"/>
              <a:t>Visual Enhancement Tools</a:t>
            </a:r>
            <a:endParaRPr dirty="0"/>
          </a:p>
        </p:txBody>
      </p:sp>
      <p:sp>
        <p:nvSpPr>
          <p:cNvPr id="11" name="Text Placeholder 10"/>
          <p:cNvSpPr>
            <a:spLocks noGrp="1"/>
          </p:cNvSpPr>
          <p:nvPr>
            <p:ph type="body" idx="8"/>
          </p:nvPr>
        </p:nvSpPr>
        <p:spPr/>
        <p:txBody>
          <a:bodyPr wrap="square"/>
          <a:lstStyle/>
          <a:p>
            <a:r>
              <a:rPr lang="en-GB" sz="1400" dirty="0"/>
              <a:t>Image Cycler, Image tagging and dynamic overlay ready for trial !</a:t>
            </a:r>
          </a:p>
        </p:txBody>
      </p:sp>
      <p:sp>
        <p:nvSpPr>
          <p:cNvPr id="12" name="Text Placeholder 11"/>
          <p:cNvSpPr>
            <a:spLocks noGrp="1"/>
          </p:cNvSpPr>
          <p:nvPr>
            <p:ph type="body" idx="14"/>
          </p:nvPr>
        </p:nvSpPr>
        <p:spPr/>
        <p:txBody>
          <a:bodyPr wrap="square">
            <a:normAutofit fontScale="92500" lnSpcReduction="20000"/>
          </a:bodyPr>
          <a:lstStyle/>
          <a:p>
            <a:r>
              <a:t>The same enrichment built for Shopping — decomposed titles, deep categories, clean variants — is exactly the data an AI agent needs to read. Nothing here is throwaway.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03  ·  CHAPTER THREE</a:t>
            </a:r>
          </a:p>
        </p:txBody>
      </p:sp>
      <p:sp>
        <p:nvSpPr>
          <p:cNvPr id="3" name="Title 2"/>
          <p:cNvSpPr>
            <a:spLocks noGrp="1"/>
          </p:cNvSpPr>
          <p:nvPr>
            <p:ph type="title"/>
          </p:nvPr>
        </p:nvSpPr>
        <p:spPr/>
        <p:txBody>
          <a:bodyPr wrap="square"/>
          <a:lstStyle/>
          <a:p>
            <a:r>
              <a:t>Review &amp; project recap</a:t>
            </a:r>
          </a:p>
        </p:txBody>
      </p:sp>
      <p:sp>
        <p:nvSpPr>
          <p:cNvPr id="4" name="Text Placeholder 3"/>
          <p:cNvSpPr>
            <a:spLocks noGrp="1"/>
          </p:cNvSpPr>
          <p:nvPr>
            <p:ph type="body" idx="1"/>
          </p:nvPr>
        </p:nvSpPr>
        <p:spPr/>
        <p:txBody>
          <a:bodyPr wrap="square"/>
          <a:lstStyle/>
          <a:p>
            <a:r>
              <a:t>The live project plan — where the 260 tracked tasks stand.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dirty="0"/>
              <a:t>Where the plan stands</a:t>
            </a:r>
            <a:r>
              <a:rPr lang="en-GB" dirty="0"/>
              <a:t> </a:t>
            </a:r>
            <a:endParaRPr dirty="0"/>
          </a:p>
        </p:txBody>
      </p:sp>
      <p:sp>
        <p:nvSpPr>
          <p:cNvPr id="3" name="Text Placeholder 2"/>
          <p:cNvSpPr>
            <a:spLocks noGrp="1"/>
          </p:cNvSpPr>
          <p:nvPr>
            <p:ph type="body" idx="13"/>
          </p:nvPr>
        </p:nvSpPr>
        <p:spPr/>
        <p:txBody>
          <a:bodyPr wrap="square"/>
          <a:lstStyle/>
          <a:p>
            <a:r>
              <a:rPr dirty="0"/>
              <a:t>The live </a:t>
            </a:r>
            <a:r>
              <a:rPr lang="en-GB" dirty="0"/>
              <a:t>advanced ad-hoc </a:t>
            </a:r>
            <a:r>
              <a:rPr dirty="0"/>
              <a:t>project plan, 260 tracked tasks.</a:t>
            </a:r>
          </a:p>
        </p:txBody>
      </p:sp>
      <p:sp>
        <p:nvSpPr>
          <p:cNvPr id="4" name="Text Placeholder 3"/>
          <p:cNvSpPr>
            <a:spLocks noGrp="1"/>
          </p:cNvSpPr>
          <p:nvPr>
            <p:ph type="body" idx="1"/>
          </p:nvPr>
        </p:nvSpPr>
        <p:spPr/>
        <p:txBody>
          <a:bodyPr wrap="square">
            <a:normAutofit fontScale="92500" lnSpcReduction="20000"/>
          </a:bodyPr>
          <a:lstStyle/>
          <a:p>
            <a:r>
              <a:rPr lang="en-GB" sz="3200" dirty="0">
                <a:solidFill>
                  <a:srgbClr val="F7941E"/>
                </a:solidFill>
              </a:rPr>
              <a:t>252</a:t>
            </a:r>
            <a:endParaRPr sz="3200" dirty="0">
              <a:solidFill>
                <a:srgbClr val="F7941E"/>
              </a:solidFill>
            </a:endParaRPr>
          </a:p>
        </p:txBody>
      </p:sp>
      <p:sp>
        <p:nvSpPr>
          <p:cNvPr id="5" name="Text Placeholder 4"/>
          <p:cNvSpPr>
            <a:spLocks noGrp="1"/>
          </p:cNvSpPr>
          <p:nvPr>
            <p:ph type="body" idx="2"/>
          </p:nvPr>
        </p:nvSpPr>
        <p:spPr/>
        <p:txBody>
          <a:bodyPr wrap="square"/>
          <a:lstStyle/>
          <a:p>
            <a:r>
              <a:rPr sz="1400"/>
              <a:t>Done — closed and verified on the plan</a:t>
            </a:r>
          </a:p>
        </p:txBody>
      </p:sp>
      <p:sp>
        <p:nvSpPr>
          <p:cNvPr id="6" name="Text Placeholder 5"/>
          <p:cNvSpPr>
            <a:spLocks noGrp="1"/>
          </p:cNvSpPr>
          <p:nvPr>
            <p:ph type="body" idx="3"/>
          </p:nvPr>
        </p:nvSpPr>
        <p:spPr/>
        <p:txBody>
          <a:bodyPr wrap="square">
            <a:normAutofit fontScale="92500" lnSpcReduction="20000"/>
          </a:bodyPr>
          <a:lstStyle/>
          <a:p>
            <a:r>
              <a:rPr lang="en-GB" sz="3200" dirty="0">
                <a:solidFill>
                  <a:srgbClr val="F7941E"/>
                </a:solidFill>
              </a:rPr>
              <a:t>8</a:t>
            </a:r>
            <a:endParaRPr sz="3200" dirty="0">
              <a:solidFill>
                <a:srgbClr val="F7941E"/>
              </a:solidFill>
            </a:endParaRPr>
          </a:p>
        </p:txBody>
      </p:sp>
      <p:sp>
        <p:nvSpPr>
          <p:cNvPr id="7" name="Text Placeholder 6"/>
          <p:cNvSpPr>
            <a:spLocks noGrp="1"/>
          </p:cNvSpPr>
          <p:nvPr>
            <p:ph type="body" idx="4"/>
          </p:nvPr>
        </p:nvSpPr>
        <p:spPr/>
        <p:txBody>
          <a:bodyPr wrap="square"/>
          <a:lstStyle/>
          <a:p>
            <a:r>
              <a:rPr sz="1400"/>
              <a:t>Open / in flight</a:t>
            </a:r>
          </a:p>
        </p:txBody>
      </p:sp>
      <p:sp>
        <p:nvSpPr>
          <p:cNvPr id="8" name="Text Placeholder 7"/>
          <p:cNvSpPr>
            <a:spLocks noGrp="1"/>
          </p:cNvSpPr>
          <p:nvPr>
            <p:ph type="body" idx="5"/>
          </p:nvPr>
        </p:nvSpPr>
        <p:spPr/>
        <p:txBody>
          <a:bodyPr wrap="square">
            <a:normAutofit fontScale="92500" lnSpcReduction="20000"/>
          </a:bodyPr>
          <a:lstStyle/>
          <a:p>
            <a:r>
              <a:rPr sz="3200">
                <a:solidFill>
                  <a:srgbClr val="F7941E"/>
                </a:solidFill>
              </a:rPr>
              <a:t>5</a:t>
            </a:r>
          </a:p>
        </p:txBody>
      </p:sp>
      <p:sp>
        <p:nvSpPr>
          <p:cNvPr id="9" name="Text Placeholder 8"/>
          <p:cNvSpPr>
            <a:spLocks noGrp="1"/>
          </p:cNvSpPr>
          <p:nvPr>
            <p:ph type="body" idx="6"/>
          </p:nvPr>
        </p:nvSpPr>
        <p:spPr/>
        <p:txBody>
          <a:bodyPr wrap="square"/>
          <a:lstStyle/>
          <a:p>
            <a:r>
              <a:rPr sz="1400"/>
              <a:t>Parked — held pending inputs or calendar</a:t>
            </a:r>
          </a:p>
        </p:txBody>
      </p:sp>
      <p:sp>
        <p:nvSpPr>
          <p:cNvPr id="10" name="Text Placeholder 9"/>
          <p:cNvSpPr>
            <a:spLocks noGrp="1"/>
          </p:cNvSpPr>
          <p:nvPr>
            <p:ph type="body" idx="7"/>
          </p:nvPr>
        </p:nvSpPr>
        <p:spPr/>
        <p:txBody>
          <a:bodyPr wrap="square">
            <a:normAutofit fontScale="92500" lnSpcReduction="20000"/>
          </a:bodyPr>
          <a:lstStyle/>
          <a:p>
            <a:r>
              <a:rPr sz="3200">
                <a:solidFill>
                  <a:srgbClr val="F7941E"/>
                </a:solidFill>
              </a:rPr>
              <a:t>260</a:t>
            </a:r>
          </a:p>
        </p:txBody>
      </p:sp>
      <p:sp>
        <p:nvSpPr>
          <p:cNvPr id="11" name="Text Placeholder 10"/>
          <p:cNvSpPr>
            <a:spLocks noGrp="1"/>
          </p:cNvSpPr>
          <p:nvPr>
            <p:ph type="body" idx="8"/>
          </p:nvPr>
        </p:nvSpPr>
        <p:spPr/>
        <p:txBody>
          <a:bodyPr wrap="square"/>
          <a:lstStyle/>
          <a:p>
            <a:r>
              <a:rPr sz="1400" dirty="0"/>
              <a:t>Total tracked on the live plan</a:t>
            </a:r>
          </a:p>
        </p:txBody>
      </p:sp>
      <p:sp>
        <p:nvSpPr>
          <p:cNvPr id="12" name="Text Placeholder 11"/>
          <p:cNvSpPr>
            <a:spLocks noGrp="1"/>
          </p:cNvSpPr>
          <p:nvPr>
            <p:ph type="body" idx="14"/>
          </p:nvPr>
        </p:nvSpPr>
        <p:spPr/>
        <p:txBody>
          <a:bodyPr wrap="square"/>
          <a:lstStyle/>
          <a:p>
            <a:r>
              <a:t>Two thirds of the scoped plan is closed; the open column is where the data-field and platform work now sits.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Action by action — what’s closed</a:t>
            </a:r>
          </a:p>
        </p:txBody>
      </p:sp>
      <p:sp>
        <p:nvSpPr>
          <p:cNvPr id="3" name="Text Placeholder 2"/>
          <p:cNvSpPr>
            <a:spLocks noGrp="1"/>
          </p:cNvSpPr>
          <p:nvPr>
            <p:ph type="body" idx="11"/>
          </p:nvPr>
        </p:nvSpPr>
        <p:spPr/>
        <p:txBody>
          <a:bodyPr wrap="square"/>
          <a:lstStyle/>
          <a:p>
            <a:r>
              <a:t>The completed lanes on the project plan.</a:t>
            </a:r>
          </a:p>
        </p:txBody>
      </p:sp>
      <p:sp>
        <p:nvSpPr>
          <p:cNvPr id="4" name="Text Placeholder 3"/>
          <p:cNvSpPr>
            <a:spLocks noGrp="1"/>
          </p:cNvSpPr>
          <p:nvPr>
            <p:ph type="body" idx="14"/>
          </p:nvPr>
        </p:nvSpPr>
        <p:spPr/>
        <p:txBody>
          <a:bodyPr wrap="square"/>
          <a:lstStyle/>
          <a:p>
            <a:r>
              <a:t>Category mapping reads closed on the plan, but chapter nine’s live feed audit shows only 43% of SKUs reaching 3+ taxonomy levels.</a:t>
            </a:r>
          </a:p>
        </p:txBody>
      </p:sp>
      <p:graphicFrame>
        <p:nvGraphicFramePr>
          <p:cNvPr id="5" name="Table 4"/>
          <p:cNvGraphicFramePr>
            <a:graphicFrameLocks noGrp="1"/>
          </p:cNvGraphicFramePr>
          <p:nvPr/>
        </p:nvGraphicFramePr>
        <p:xfrm>
          <a:off x="612648" y="1847088"/>
          <a:ext cx="10972800" cy="3795673"/>
        </p:xfrm>
        <a:graphic>
          <a:graphicData uri="http://schemas.openxmlformats.org/drawingml/2006/table">
            <a:tbl>
              <a:tblPr firstRow="1" bandRow="1">
                <a:tableStyleId>{5C22544A-7EE6-4342-B048-85BDC9FD1C3A}</a:tableStyleId>
              </a:tblPr>
              <a:tblGrid>
                <a:gridCol w="49377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84048">
                <a:tc>
                  <a:txBody>
                    <a:bodyPr/>
                    <a:lstStyle/>
                    <a:p>
                      <a:r>
                        <a:rPr sz="1400" b="1">
                          <a:solidFill>
                            <a:srgbClr val="FFFFFF"/>
                          </a:solidFill>
                        </a:rPr>
                        <a:t>Action</a:t>
                      </a:r>
                    </a:p>
                  </a:txBody>
                  <a:tcPr marL="82296" marR="82296" marT="41148" marB="41148" anchor="ctr"/>
                </a:tc>
                <a:tc>
                  <a:txBody>
                    <a:bodyPr/>
                    <a:lstStyle/>
                    <a:p>
                      <a:r>
                        <a:rPr sz="1400" b="1">
                          <a:solidFill>
                            <a:srgbClr val="FFFFFF"/>
                          </a:solidFill>
                        </a:rPr>
                        <a:t>Lane</a:t>
                      </a:r>
                    </a:p>
                  </a:txBody>
                  <a:tcPr marL="82296" marR="82296" marT="41148" marB="41148" anchor="ctr"/>
                </a:tc>
                <a:tc>
                  <a:txBody>
                    <a:bodyPr/>
                    <a:lstStyle/>
                    <a:p>
                      <a:r>
                        <a:rPr sz="1400" b="1">
                          <a:solidFill>
                            <a:srgbClr val="FFFFFF"/>
                          </a:solidFill>
                        </a:rPr>
                        <a:t>Outcome</a:t>
                      </a:r>
                    </a:p>
                  </a:txBody>
                  <a:tcPr marL="82296" marR="82296" marT="41148" marB="41148" anchor="ctr"/>
                </a:tc>
                <a:extLst>
                  <a:ext uri="{0D108BD9-81ED-4DB2-BD59-A6C34878D82A}">
                    <a16:rowId xmlns:a16="http://schemas.microsoft.com/office/drawing/2014/main" val="10000"/>
                  </a:ext>
                </a:extLst>
              </a:tr>
              <a:tr h="487375">
                <a:tc>
                  <a:txBody>
                    <a:bodyPr/>
                    <a:lstStyle/>
                    <a:p>
                      <a:r>
                        <a:rPr sz="1400" b="1">
                          <a:solidFill>
                            <a:srgbClr val="0F172A"/>
                          </a:solidFill>
                        </a:rPr>
                        <a:t>Category mapping to deepest node — all markets</a:t>
                      </a:r>
                    </a:p>
                  </a:txBody>
                  <a:tcPr marL="82296" marR="82296" marT="41148" marB="41148" anchor="ctr"/>
                </a:tc>
                <a:tc>
                  <a:txBody>
                    <a:bodyPr/>
                    <a:lstStyle/>
                    <a:p>
                      <a:r>
                        <a:rPr sz="1400" b="0">
                          <a:solidFill>
                            <a:srgbClr val="475569"/>
                          </a:solidFill>
                        </a:rPr>
                        <a:t>Product type</a:t>
                      </a:r>
                    </a:p>
                  </a:txBody>
                  <a:tcPr marL="82296" marR="82296" marT="41148" marB="41148" anchor="ctr"/>
                </a:tc>
                <a:tc>
                  <a:txBody>
                    <a:bodyPr/>
                    <a:lstStyle/>
                    <a:p>
                      <a:r>
                        <a:rPr sz="1400" b="0">
                          <a:solidFill>
                            <a:srgbClr val="475569"/>
                          </a:solidFill>
                        </a:rPr>
                        <a:t>112 mapping tasks closed across 19 markets</a:t>
                      </a:r>
                    </a:p>
                  </a:txBody>
                  <a:tcPr marL="82296" marR="82296" marT="41148" marB="41148" anchor="ctr"/>
                </a:tc>
                <a:extLst>
                  <a:ext uri="{0D108BD9-81ED-4DB2-BD59-A6C34878D82A}">
                    <a16:rowId xmlns:a16="http://schemas.microsoft.com/office/drawing/2014/main" val="10001"/>
                  </a:ext>
                </a:extLst>
              </a:tr>
              <a:tr h="487375">
                <a:tc>
                  <a:txBody>
                    <a:bodyPr/>
                    <a:lstStyle/>
                    <a:p>
                      <a:r>
                        <a:rPr sz="1400" b="1">
                          <a:solidFill>
                            <a:srgbClr val="0F172A"/>
                          </a:solidFill>
                        </a:rPr>
                        <a:t>Range Completion exclusion — 60% (all markets)</a:t>
                      </a:r>
                    </a:p>
                  </a:txBody>
                  <a:tcPr marL="82296" marR="82296" marT="41148" marB="41148" anchor="ctr"/>
                </a:tc>
                <a:tc>
                  <a:txBody>
                    <a:bodyPr/>
                    <a:lstStyle/>
                    <a:p>
                      <a:r>
                        <a:rPr sz="1400" b="0">
                          <a:solidFill>
                            <a:srgbClr val="475569"/>
                          </a:solidFill>
                        </a:rPr>
                        <a:t>Technical</a:t>
                      </a:r>
                    </a:p>
                  </a:txBody>
                  <a:tcPr marL="82296" marR="82296" marT="41148" marB="41148" anchor="ctr"/>
                </a:tc>
                <a:tc>
                  <a:txBody>
                    <a:bodyPr/>
                    <a:lstStyle/>
                    <a:p>
                      <a:r>
                        <a:rPr sz="1400" b="0">
                          <a:solidFill>
                            <a:srgbClr val="475569"/>
                          </a:solidFill>
                        </a:rPr>
                        <a:t>Live; US &amp; CA tuned to 20%</a:t>
                      </a:r>
                    </a:p>
                  </a:txBody>
                  <a:tcPr marL="82296" marR="82296" marT="41148" marB="41148" anchor="ctr"/>
                </a:tc>
                <a:extLst>
                  <a:ext uri="{0D108BD9-81ED-4DB2-BD59-A6C34878D82A}">
                    <a16:rowId xmlns:a16="http://schemas.microsoft.com/office/drawing/2014/main" val="10002"/>
                  </a:ext>
                </a:extLst>
              </a:tr>
              <a:tr h="487375">
                <a:tc>
                  <a:txBody>
                    <a:bodyPr/>
                    <a:lstStyle/>
                    <a:p>
                      <a:r>
                        <a:rPr sz="1400" b="1">
                          <a:solidFill>
                            <a:srgbClr val="0F172A"/>
                          </a:solidFill>
                        </a:rPr>
                        <a:t>Hero Sizes rule (currently OFF)</a:t>
                      </a:r>
                    </a:p>
                  </a:txBody>
                  <a:tcPr marL="82296" marR="82296" marT="41148" marB="41148" anchor="ctr"/>
                </a:tc>
                <a:tc>
                  <a:txBody>
                    <a:bodyPr/>
                    <a:lstStyle/>
                    <a:p>
                      <a:r>
                        <a:rPr sz="1400" b="0">
                          <a:solidFill>
                            <a:srgbClr val="475569"/>
                          </a:solidFill>
                        </a:rPr>
                        <a:t>Optimisation</a:t>
                      </a:r>
                    </a:p>
                  </a:txBody>
                  <a:tcPr marL="82296" marR="82296" marT="41148" marB="41148" anchor="ctr"/>
                </a:tc>
                <a:tc>
                  <a:txBody>
                    <a:bodyPr/>
                    <a:lstStyle/>
                    <a:p>
                      <a:r>
                        <a:rPr sz="1400" b="0">
                          <a:solidFill>
                            <a:srgbClr val="475569"/>
                          </a:solidFill>
                        </a:rPr>
                        <a:t>98% of products carrying a hero size</a:t>
                      </a:r>
                    </a:p>
                  </a:txBody>
                  <a:tcPr marL="82296" marR="82296" marT="41148" marB="41148" anchor="ctr"/>
                </a:tc>
                <a:extLst>
                  <a:ext uri="{0D108BD9-81ED-4DB2-BD59-A6C34878D82A}">
                    <a16:rowId xmlns:a16="http://schemas.microsoft.com/office/drawing/2014/main" val="10003"/>
                  </a:ext>
                </a:extLst>
              </a:tr>
              <a:tr h="487375">
                <a:tc>
                  <a:txBody>
                    <a:bodyPr/>
                    <a:lstStyle/>
                    <a:p>
                      <a:r>
                        <a:rPr sz="1400" b="1">
                          <a:solidFill>
                            <a:srgbClr val="0F172A"/>
                          </a:solidFill>
                        </a:rPr>
                        <a:t>Custom labels CL0–CL4 — margin, low-performer, seasonal</a:t>
                      </a:r>
                    </a:p>
                  </a:txBody>
                  <a:tcPr marL="82296" marR="82296" marT="41148" marB="41148" anchor="ctr"/>
                </a:tc>
                <a:tc>
                  <a:txBody>
                    <a:bodyPr/>
                    <a:lstStyle/>
                    <a:p>
                      <a:r>
                        <a:rPr sz="1400" b="0">
                          <a:solidFill>
                            <a:srgbClr val="475569"/>
                          </a:solidFill>
                        </a:rPr>
                        <a:t>Custom labels</a:t>
                      </a:r>
                    </a:p>
                  </a:txBody>
                  <a:tcPr marL="82296" marR="82296" marT="41148" marB="41148" anchor="ctr"/>
                </a:tc>
                <a:tc>
                  <a:txBody>
                    <a:bodyPr/>
                    <a:lstStyle/>
                    <a:p>
                      <a:r>
                        <a:rPr sz="1400" b="0">
                          <a:solidFill>
                            <a:srgbClr val="475569"/>
                          </a:solidFill>
                        </a:rPr>
                        <a:t>16 of 18 label tasks closed</a:t>
                      </a:r>
                    </a:p>
                  </a:txBody>
                  <a:tcPr marL="82296" marR="82296" marT="41148" marB="41148" anchor="ctr"/>
                </a:tc>
                <a:extLst>
                  <a:ext uri="{0D108BD9-81ED-4DB2-BD59-A6C34878D82A}">
                    <a16:rowId xmlns:a16="http://schemas.microsoft.com/office/drawing/2014/main" val="10004"/>
                  </a:ext>
                </a:extLst>
              </a:tr>
              <a:tr h="487375">
                <a:tc>
                  <a:txBody>
                    <a:bodyPr/>
                    <a:lstStyle/>
                    <a:p>
                      <a:r>
                        <a:rPr sz="1400" b="1">
                          <a:solidFill>
                            <a:srgbClr val="0F172A"/>
                          </a:solidFill>
                        </a:rPr>
                        <a:t>Title change — brand name moved to end of title</a:t>
                      </a:r>
                    </a:p>
                  </a:txBody>
                  <a:tcPr marL="82296" marR="82296" marT="41148" marB="41148" anchor="ctr"/>
                </a:tc>
                <a:tc>
                  <a:txBody>
                    <a:bodyPr/>
                    <a:lstStyle/>
                    <a:p>
                      <a:r>
                        <a:rPr sz="1400" b="0">
                          <a:solidFill>
                            <a:srgbClr val="475569"/>
                          </a:solidFill>
                        </a:rPr>
                        <a:t>Titles</a:t>
                      </a:r>
                    </a:p>
                  </a:txBody>
                  <a:tcPr marL="82296" marR="82296" marT="41148" marB="41148" anchor="ctr"/>
                </a:tc>
                <a:tc>
                  <a:txBody>
                    <a:bodyPr/>
                    <a:lstStyle/>
                    <a:p>
                      <a:r>
                        <a:rPr sz="1400" b="0">
                          <a:solidFill>
                            <a:srgbClr val="475569"/>
                          </a:solidFill>
                        </a:rPr>
                        <a:t>A/B tested — brand-at-end won</a:t>
                      </a:r>
                    </a:p>
                  </a:txBody>
                  <a:tcPr marL="82296" marR="82296" marT="41148" marB="41148" anchor="ctr"/>
                </a:tc>
                <a:extLst>
                  <a:ext uri="{0D108BD9-81ED-4DB2-BD59-A6C34878D82A}">
                    <a16:rowId xmlns:a16="http://schemas.microsoft.com/office/drawing/2014/main" val="10005"/>
                  </a:ext>
                </a:extLst>
              </a:tr>
              <a:tr h="487375">
                <a:tc>
                  <a:txBody>
                    <a:bodyPr/>
                    <a:lstStyle/>
                    <a:p>
                      <a:r>
                        <a:rPr sz="1400" b="1">
                          <a:solidFill>
                            <a:srgbClr val="0F172A"/>
                          </a:solidFill>
                        </a:rPr>
                        <a:t>Keyword optimisation — Jackets, Coats, Dresses, Shorts</a:t>
                      </a:r>
                    </a:p>
                  </a:txBody>
                  <a:tcPr marL="82296" marR="82296" marT="41148" marB="41148" anchor="ctr"/>
                </a:tc>
                <a:tc>
                  <a:txBody>
                    <a:bodyPr/>
                    <a:lstStyle/>
                    <a:p>
                      <a:r>
                        <a:rPr sz="1400" b="0">
                          <a:solidFill>
                            <a:srgbClr val="475569"/>
                          </a:solidFill>
                        </a:rPr>
                        <a:t>Keywords</a:t>
                      </a:r>
                    </a:p>
                  </a:txBody>
                  <a:tcPr marL="82296" marR="82296" marT="41148" marB="41148" anchor="ctr"/>
                </a:tc>
                <a:tc>
                  <a:txBody>
                    <a:bodyPr/>
                    <a:lstStyle/>
                    <a:p>
                      <a:r>
                        <a:rPr sz="1400" b="0">
                          <a:solidFill>
                            <a:srgbClr val="475569"/>
                          </a:solidFill>
                        </a:rPr>
                        <a:t>20 of 29 keyword tasks closed</a:t>
                      </a:r>
                    </a:p>
                  </a:txBody>
                  <a:tcPr marL="82296" marR="82296" marT="41148" marB="41148" anchor="ctr"/>
                </a:tc>
                <a:extLst>
                  <a:ext uri="{0D108BD9-81ED-4DB2-BD59-A6C34878D82A}">
                    <a16:rowId xmlns:a16="http://schemas.microsoft.com/office/drawing/2014/main" val="10006"/>
                  </a:ext>
                </a:extLst>
              </a:tr>
              <a:tr h="487375">
                <a:tc>
                  <a:txBody>
                    <a:bodyPr/>
                    <a:lstStyle/>
                    <a:p>
                      <a:r>
                        <a:rPr sz="1400" b="1">
                          <a:solidFill>
                            <a:srgbClr val="0F172A"/>
                          </a:solidFill>
                        </a:rPr>
                        <a:t>Title optimisation — the "Superdry CULT" line</a:t>
                      </a:r>
                    </a:p>
                  </a:txBody>
                  <a:tcPr marL="82296" marR="82296" marT="41148" marB="41148" anchor="ctr"/>
                </a:tc>
                <a:tc>
                  <a:txBody>
                    <a:bodyPr/>
                    <a:lstStyle/>
                    <a:p>
                      <a:r>
                        <a:rPr sz="1400" b="0">
                          <a:solidFill>
                            <a:srgbClr val="475569"/>
                          </a:solidFill>
                        </a:rPr>
                        <a:t>Titles</a:t>
                      </a:r>
                    </a:p>
                  </a:txBody>
                  <a:tcPr marL="82296" marR="82296" marT="41148" marB="41148" anchor="ctr"/>
                </a:tc>
                <a:tc>
                  <a:txBody>
                    <a:bodyPr/>
                    <a:lstStyle/>
                    <a:p>
                      <a:r>
                        <a:rPr sz="1400" b="0">
                          <a:solidFill>
                            <a:srgbClr val="475569"/>
                          </a:solidFill>
                        </a:rPr>
                        <a:t>Prepped and keyworded</a:t>
                      </a:r>
                    </a:p>
                  </a:txBody>
                  <a:tcPr marL="82296" marR="82296" marT="41148" marB="41148"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04  ·  CHAPTER FOUR</a:t>
            </a:r>
          </a:p>
        </p:txBody>
      </p:sp>
      <p:sp>
        <p:nvSpPr>
          <p:cNvPr id="3" name="Title 2"/>
          <p:cNvSpPr>
            <a:spLocks noGrp="1"/>
          </p:cNvSpPr>
          <p:nvPr>
            <p:ph type="title"/>
          </p:nvPr>
        </p:nvSpPr>
        <p:spPr/>
        <p:txBody>
          <a:bodyPr wrap="square"/>
          <a:lstStyle/>
          <a:p>
            <a:r>
              <a:t>The look-back period</a:t>
            </a:r>
          </a:p>
        </p:txBody>
      </p:sp>
      <p:sp>
        <p:nvSpPr>
          <p:cNvPr id="4" name="Text Placeholder 3"/>
          <p:cNvSpPr>
            <a:spLocks noGrp="1"/>
          </p:cNvSpPr>
          <p:nvPr>
            <p:ph type="body" idx="1"/>
          </p:nvPr>
        </p:nvSpPr>
        <p:spPr/>
        <p:txBody>
          <a:bodyPr wrap="square"/>
          <a:lstStyle/>
          <a:p>
            <a:r>
              <a:t>Two years of delivery, quarter by quarter.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Sustained delivery, Jul 2024 → Jul 2026</a:t>
            </a:r>
          </a:p>
        </p:txBody>
      </p:sp>
      <p:sp>
        <p:nvSpPr>
          <p:cNvPr id="3" name="Text Placeholder 2"/>
          <p:cNvSpPr>
            <a:spLocks noGrp="1"/>
          </p:cNvSpPr>
          <p:nvPr>
            <p:ph type="body" idx="11"/>
          </p:nvPr>
        </p:nvSpPr>
        <p:spPr/>
        <p:txBody>
          <a:bodyPr wrap="square"/>
          <a:lstStyle/>
          <a:p>
            <a:r>
              <a:t>Hours delivered by quarter.</a:t>
            </a:r>
          </a:p>
        </p:txBody>
      </p:sp>
      <p:sp>
        <p:nvSpPr>
          <p:cNvPr id="4" name="Text Placeholder 3"/>
          <p:cNvSpPr>
            <a:spLocks noGrp="1"/>
          </p:cNvSpPr>
          <p:nvPr>
            <p:ph type="body" idx="14"/>
          </p:nvPr>
        </p:nvSpPr>
        <p:spPr/>
        <p:txBody>
          <a:bodyPr wrap="square"/>
          <a:lstStyle/>
          <a:p>
            <a:r>
              <a:t>Nine quarters of continuous work, peaking at 307 hours in Q2 2025 — an average of roughly 70 hours of labour every month across 25 months.</a:t>
            </a:r>
          </a:p>
        </p:txBody>
      </p:sp>
      <p:graphicFrame>
        <p:nvGraphicFramePr>
          <p:cNvPr id="5" name="Chart 4"/>
          <p:cNvGraphicFramePr>
            <a:graphicFrameLocks noGrp="1"/>
          </p:cNvGraphicFramePr>
          <p:nvPr/>
        </p:nvGraphicFramePr>
        <p:xfrm>
          <a:off x="612648" y="1874519"/>
          <a:ext cx="10972800" cy="36118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By activity type</a:t>
            </a:r>
          </a:p>
        </p:txBody>
      </p:sp>
      <p:sp>
        <p:nvSpPr>
          <p:cNvPr id="3" name="Text Placeholder 2"/>
          <p:cNvSpPr>
            <a:spLocks noGrp="1"/>
          </p:cNvSpPr>
          <p:nvPr>
            <p:ph type="body" idx="11"/>
          </p:nvPr>
        </p:nvSpPr>
        <p:spPr/>
        <p:txBody>
          <a:bodyPr wrap="square"/>
          <a:lstStyle/>
          <a:p>
            <a:r>
              <a:t>Hours and share across the two-year window.</a:t>
            </a:r>
          </a:p>
        </p:txBody>
      </p:sp>
      <p:sp>
        <p:nvSpPr>
          <p:cNvPr id="4" name="Text Placeholder 3"/>
          <p:cNvSpPr>
            <a:spLocks noGrp="1"/>
          </p:cNvSpPr>
          <p:nvPr>
            <p:ph type="body" idx="14"/>
          </p:nvPr>
        </p:nvSpPr>
        <p:spPr/>
        <p:txBody>
          <a:bodyPr wrap="square">
            <a:normAutofit fontScale="92500" lnSpcReduction="20000"/>
          </a:bodyPr>
          <a:lstStyle/>
          <a:p>
            <a:r>
              <a:t>Ideally A/B testing and optimisation would lead the hours split rather than technical and feed management — though a major platform migration sits inside that number.</a:t>
            </a:r>
          </a:p>
        </p:txBody>
      </p:sp>
      <p:graphicFrame>
        <p:nvGraphicFramePr>
          <p:cNvPr id="5" name="Chart 4"/>
          <p:cNvGraphicFramePr>
            <a:graphicFrameLocks noGrp="1"/>
          </p:cNvGraphicFramePr>
          <p:nvPr/>
        </p:nvGraphicFramePr>
        <p:xfrm>
          <a:off x="612648" y="1965960"/>
          <a:ext cx="10972800" cy="34290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dirty="0"/>
              <a:t>The </a:t>
            </a:r>
            <a:r>
              <a:rPr lang="en-GB" dirty="0"/>
              <a:t>scheduled-</a:t>
            </a:r>
            <a:r>
              <a:rPr dirty="0"/>
              <a:t>task families behind the hours</a:t>
            </a:r>
          </a:p>
        </p:txBody>
      </p:sp>
      <p:sp>
        <p:nvSpPr>
          <p:cNvPr id="3" name="Text Placeholder 2"/>
          <p:cNvSpPr>
            <a:spLocks noGrp="1"/>
          </p:cNvSpPr>
          <p:nvPr>
            <p:ph type="body" idx="11"/>
          </p:nvPr>
        </p:nvSpPr>
        <p:spPr/>
        <p:txBody>
          <a:bodyPr wrap="square"/>
          <a:lstStyle/>
          <a:p>
            <a:r>
              <a:t>Volume and hours by task area, two-year total.</a:t>
            </a:r>
          </a:p>
        </p:txBody>
      </p:sp>
      <p:sp>
        <p:nvSpPr>
          <p:cNvPr id="4" name="Text Placeholder 3"/>
          <p:cNvSpPr>
            <a:spLocks noGrp="1"/>
          </p:cNvSpPr>
          <p:nvPr>
            <p:ph type="body" idx="14"/>
          </p:nvPr>
        </p:nvSpPr>
        <p:spPr/>
        <p:txBody>
          <a:bodyPr wrap="square"/>
          <a:lstStyle/>
          <a:p>
            <a:r>
              <a:t>Keyword optimisation is the single biggest hours line — and, on the evidence of chapter seven, the one that pays back most reliably.</a:t>
            </a:r>
          </a:p>
        </p:txBody>
      </p:sp>
      <p:graphicFrame>
        <p:nvGraphicFramePr>
          <p:cNvPr id="5" name="Table 4"/>
          <p:cNvGraphicFramePr>
            <a:graphicFrameLocks noGrp="1"/>
          </p:cNvGraphicFramePr>
          <p:nvPr>
            <p:extLst>
              <p:ext uri="{D42A27DB-BD31-4B8C-83A1-F6EECF244321}">
                <p14:modId xmlns:p14="http://schemas.microsoft.com/office/powerpoint/2010/main" val="4226434182"/>
              </p:ext>
            </p:extLst>
          </p:nvPr>
        </p:nvGraphicFramePr>
        <p:xfrm>
          <a:off x="612648" y="1874519"/>
          <a:ext cx="10972800" cy="35661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852160">
                  <a:extLst>
                    <a:ext uri="{9D8B030D-6E8A-4147-A177-3AD203B41FA5}">
                      <a16:colId xmlns:a16="http://schemas.microsoft.com/office/drawing/2014/main" val="20003"/>
                    </a:ext>
                  </a:extLst>
                </a:gridCol>
              </a:tblGrid>
              <a:tr h="384048">
                <a:tc>
                  <a:txBody>
                    <a:bodyPr/>
                    <a:lstStyle/>
                    <a:p>
                      <a:r>
                        <a:rPr lang="en-GB" sz="1400" b="1" dirty="0">
                          <a:solidFill>
                            <a:srgbClr val="FFFFFF"/>
                          </a:solidFill>
                        </a:rPr>
                        <a:t>Area</a:t>
                      </a:r>
                      <a:endParaRPr sz="1400" b="1" dirty="0">
                        <a:solidFill>
                          <a:srgbClr val="FFFFFF"/>
                        </a:solidFill>
                      </a:endParaRPr>
                    </a:p>
                  </a:txBody>
                  <a:tcPr marL="82296" marR="82296" marT="41148" marB="41148" anchor="ctr"/>
                </a:tc>
                <a:tc>
                  <a:txBody>
                    <a:bodyPr/>
                    <a:lstStyle/>
                    <a:p>
                      <a:r>
                        <a:rPr sz="1400" b="1">
                          <a:solidFill>
                            <a:srgbClr val="FFFFFF"/>
                          </a:solidFill>
                        </a:rPr>
                        <a:t>Volume</a:t>
                      </a:r>
                    </a:p>
                  </a:txBody>
                  <a:tcPr marL="82296" marR="82296" marT="41148" marB="41148" anchor="ctr"/>
                </a:tc>
                <a:tc>
                  <a:txBody>
                    <a:bodyPr/>
                    <a:lstStyle/>
                    <a:p>
                      <a:r>
                        <a:rPr sz="1400" b="1">
                          <a:solidFill>
                            <a:srgbClr val="FFFFFF"/>
                          </a:solidFill>
                        </a:rPr>
                        <a:t>Hours</a:t>
                      </a:r>
                    </a:p>
                  </a:txBody>
                  <a:tcPr marL="82296" marR="82296" marT="41148" marB="41148" anchor="ctr"/>
                </a:tc>
                <a:tc>
                  <a:txBody>
                    <a:bodyPr/>
                    <a:lstStyle/>
                    <a:p>
                      <a:r>
                        <a:rPr sz="1400" b="1">
                          <a:solidFill>
                            <a:srgbClr val="FFFFFF"/>
                          </a:solidFill>
                        </a:rPr>
                        <a:t>What it covers</a:t>
                      </a:r>
                    </a:p>
                  </a:txBody>
                  <a:tcPr marL="82296" marR="82296" marT="41148" marB="41148" anchor="ctr"/>
                </a:tc>
                <a:extLst>
                  <a:ext uri="{0D108BD9-81ED-4DB2-BD59-A6C34878D82A}">
                    <a16:rowId xmlns:a16="http://schemas.microsoft.com/office/drawing/2014/main" val="10000"/>
                  </a:ext>
                </a:extLst>
              </a:tr>
              <a:tr h="530352">
                <a:tc>
                  <a:txBody>
                    <a:bodyPr/>
                    <a:lstStyle/>
                    <a:p>
                      <a:r>
                        <a:rPr sz="1400" b="1" dirty="0">
                          <a:solidFill>
                            <a:srgbClr val="0F172A"/>
                          </a:solidFill>
                        </a:rPr>
                        <a:t>Keyword optimisation</a:t>
                      </a:r>
                    </a:p>
                  </a:txBody>
                  <a:tcPr marL="82296" marR="82296" marT="41148" marB="41148" anchor="ctr"/>
                </a:tc>
                <a:tc>
                  <a:txBody>
                    <a:bodyPr/>
                    <a:lstStyle/>
                    <a:p>
                      <a:r>
                        <a:rPr sz="1400" b="0">
                          <a:solidFill>
                            <a:srgbClr val="475569"/>
                          </a:solidFill>
                        </a:rPr>
                        <a:t>64×</a:t>
                      </a:r>
                    </a:p>
                  </a:txBody>
                  <a:tcPr marL="82296" marR="82296" marT="41148" marB="41148" anchor="ctr"/>
                </a:tc>
                <a:tc>
                  <a:txBody>
                    <a:bodyPr/>
                    <a:lstStyle/>
                    <a:p>
                      <a:r>
                        <a:rPr sz="1400" b="0">
                          <a:solidFill>
                            <a:srgbClr val="475569"/>
                          </a:solidFill>
                        </a:rPr>
                        <a:t>243 hrs</a:t>
                      </a:r>
                    </a:p>
                  </a:txBody>
                  <a:tcPr marL="82296" marR="82296" marT="41148" marB="41148" anchor="ctr"/>
                </a:tc>
                <a:tc>
                  <a:txBody>
                    <a:bodyPr/>
                    <a:lstStyle/>
                    <a:p>
                      <a:r>
                        <a:rPr sz="1400" b="0">
                          <a:solidFill>
                            <a:srgbClr val="475569"/>
                          </a:solidFill>
                        </a:rPr>
                        <a:t>Intent keywords by category — the biggest hours line</a:t>
                      </a:r>
                    </a:p>
                  </a:txBody>
                  <a:tcPr marL="82296" marR="82296" marT="41148" marB="41148" anchor="ctr"/>
                </a:tc>
                <a:extLst>
                  <a:ext uri="{0D108BD9-81ED-4DB2-BD59-A6C34878D82A}">
                    <a16:rowId xmlns:a16="http://schemas.microsoft.com/office/drawing/2014/main" val="10001"/>
                  </a:ext>
                </a:extLst>
              </a:tr>
              <a:tr h="530352">
                <a:tc>
                  <a:txBody>
                    <a:bodyPr/>
                    <a:lstStyle/>
                    <a:p>
                      <a:r>
                        <a:rPr sz="1400" b="1" dirty="0">
                          <a:solidFill>
                            <a:srgbClr val="0F172A"/>
                          </a:solidFill>
                        </a:rPr>
                        <a:t>Data field update</a:t>
                      </a:r>
                    </a:p>
                  </a:txBody>
                  <a:tcPr marL="82296" marR="82296" marT="41148" marB="41148" anchor="ctr"/>
                </a:tc>
                <a:tc>
                  <a:txBody>
                    <a:bodyPr/>
                    <a:lstStyle/>
                    <a:p>
                      <a:r>
                        <a:rPr sz="1400" b="0">
                          <a:solidFill>
                            <a:srgbClr val="475569"/>
                          </a:solidFill>
                        </a:rPr>
                        <a:t>86×</a:t>
                      </a:r>
                    </a:p>
                  </a:txBody>
                  <a:tcPr marL="82296" marR="82296" marT="41148" marB="41148" anchor="ctr"/>
                </a:tc>
                <a:tc>
                  <a:txBody>
                    <a:bodyPr/>
                    <a:lstStyle/>
                    <a:p>
                      <a:r>
                        <a:rPr sz="1400" b="0">
                          <a:solidFill>
                            <a:srgbClr val="475569"/>
                          </a:solidFill>
                        </a:rPr>
                        <a:t>149 hrs</a:t>
                      </a:r>
                    </a:p>
                  </a:txBody>
                  <a:tcPr marL="82296" marR="82296" marT="41148" marB="41148" anchor="ctr"/>
                </a:tc>
                <a:tc>
                  <a:txBody>
                    <a:bodyPr/>
                    <a:lstStyle/>
                    <a:p>
                      <a:r>
                        <a:rPr sz="1400" b="0">
                          <a:solidFill>
                            <a:srgbClr val="475569"/>
                          </a:solidFill>
                        </a:rPr>
                        <a:t>Attribute fills, normalisation, mandatory fields</a:t>
                      </a:r>
                    </a:p>
                  </a:txBody>
                  <a:tcPr marL="82296" marR="82296" marT="41148" marB="41148" anchor="ctr"/>
                </a:tc>
                <a:extLst>
                  <a:ext uri="{0D108BD9-81ED-4DB2-BD59-A6C34878D82A}">
                    <a16:rowId xmlns:a16="http://schemas.microsoft.com/office/drawing/2014/main" val="10002"/>
                  </a:ext>
                </a:extLst>
              </a:tr>
              <a:tr h="530352">
                <a:tc>
                  <a:txBody>
                    <a:bodyPr/>
                    <a:lstStyle/>
                    <a:p>
                      <a:r>
                        <a:rPr sz="1400" b="1">
                          <a:solidFill>
                            <a:srgbClr val="0F172A"/>
                          </a:solidFill>
                        </a:rPr>
                        <a:t>Title optimisation</a:t>
                      </a:r>
                    </a:p>
                  </a:txBody>
                  <a:tcPr marL="82296" marR="82296" marT="41148" marB="41148" anchor="ctr"/>
                </a:tc>
                <a:tc>
                  <a:txBody>
                    <a:bodyPr/>
                    <a:lstStyle/>
                    <a:p>
                      <a:r>
                        <a:rPr sz="1400" b="0">
                          <a:solidFill>
                            <a:srgbClr val="475569"/>
                          </a:solidFill>
                        </a:rPr>
                        <a:t>42×</a:t>
                      </a:r>
                    </a:p>
                  </a:txBody>
                  <a:tcPr marL="82296" marR="82296" marT="41148" marB="41148" anchor="ctr"/>
                </a:tc>
                <a:tc>
                  <a:txBody>
                    <a:bodyPr/>
                    <a:lstStyle/>
                    <a:p>
                      <a:r>
                        <a:rPr sz="1400" b="0" dirty="0">
                          <a:solidFill>
                            <a:srgbClr val="475569"/>
                          </a:solidFill>
                        </a:rPr>
                        <a:t>238 </a:t>
                      </a:r>
                      <a:r>
                        <a:rPr sz="1400" b="0" dirty="0" err="1">
                          <a:solidFill>
                            <a:srgbClr val="475569"/>
                          </a:solidFill>
                        </a:rPr>
                        <a:t>hrs</a:t>
                      </a:r>
                      <a:endParaRPr sz="1400" b="0" dirty="0">
                        <a:solidFill>
                          <a:srgbClr val="475569"/>
                        </a:solidFill>
                      </a:endParaRPr>
                    </a:p>
                  </a:txBody>
                  <a:tcPr marL="82296" marR="82296" marT="41148" marB="41148" anchor="ctr"/>
                </a:tc>
                <a:tc>
                  <a:txBody>
                    <a:bodyPr/>
                    <a:lstStyle/>
                    <a:p>
                      <a:r>
                        <a:rPr sz="1400" b="0">
                          <a:solidFill>
                            <a:srgbClr val="475569"/>
                          </a:solidFill>
                        </a:rPr>
                        <a:t>Title structure, brand position, CULT line, coats</a:t>
                      </a:r>
                    </a:p>
                  </a:txBody>
                  <a:tcPr marL="82296" marR="82296" marT="41148" marB="41148" anchor="ctr"/>
                </a:tc>
                <a:extLst>
                  <a:ext uri="{0D108BD9-81ED-4DB2-BD59-A6C34878D82A}">
                    <a16:rowId xmlns:a16="http://schemas.microsoft.com/office/drawing/2014/main" val="10003"/>
                  </a:ext>
                </a:extLst>
              </a:tr>
              <a:tr h="530352">
                <a:tc>
                  <a:txBody>
                    <a:bodyPr/>
                    <a:lstStyle/>
                    <a:p>
                      <a:r>
                        <a:rPr sz="1400" b="1">
                          <a:solidFill>
                            <a:srgbClr val="0F172A"/>
                          </a:solidFill>
                        </a:rPr>
                        <a:t>Disapprovals</a:t>
                      </a:r>
                    </a:p>
                  </a:txBody>
                  <a:tcPr marL="82296" marR="82296" marT="41148" marB="41148" anchor="ctr"/>
                </a:tc>
                <a:tc>
                  <a:txBody>
                    <a:bodyPr/>
                    <a:lstStyle/>
                    <a:p>
                      <a:r>
                        <a:rPr sz="1400" b="0">
                          <a:solidFill>
                            <a:srgbClr val="475569"/>
                          </a:solidFill>
                        </a:rPr>
                        <a:t>93×</a:t>
                      </a:r>
                    </a:p>
                  </a:txBody>
                  <a:tcPr marL="82296" marR="82296" marT="41148" marB="41148" anchor="ctr"/>
                </a:tc>
                <a:tc>
                  <a:txBody>
                    <a:bodyPr/>
                    <a:lstStyle/>
                    <a:p>
                      <a:r>
                        <a:rPr sz="1400" b="0">
                          <a:solidFill>
                            <a:srgbClr val="475569"/>
                          </a:solidFill>
                        </a:rPr>
                        <a:t>24 hrs</a:t>
                      </a:r>
                    </a:p>
                  </a:txBody>
                  <a:tcPr marL="82296" marR="82296" marT="41148" marB="41148" anchor="ctr"/>
                </a:tc>
                <a:tc>
                  <a:txBody>
                    <a:bodyPr/>
                    <a:lstStyle/>
                    <a:p>
                      <a:r>
                        <a:rPr sz="1400" b="0" dirty="0">
                          <a:solidFill>
                            <a:srgbClr val="475569"/>
                          </a:solidFill>
                        </a:rPr>
                        <a:t>GMC disapproval fixes — protecting live inventory</a:t>
                      </a:r>
                    </a:p>
                  </a:txBody>
                  <a:tcPr marL="82296" marR="82296" marT="41148" marB="41148" anchor="ctr"/>
                </a:tc>
                <a:extLst>
                  <a:ext uri="{0D108BD9-81ED-4DB2-BD59-A6C34878D82A}">
                    <a16:rowId xmlns:a16="http://schemas.microsoft.com/office/drawing/2014/main" val="10004"/>
                  </a:ext>
                </a:extLst>
              </a:tr>
              <a:tr h="530352">
                <a:tc>
                  <a:txBody>
                    <a:bodyPr/>
                    <a:lstStyle/>
                    <a:p>
                      <a:r>
                        <a:rPr sz="1400" b="1">
                          <a:solidFill>
                            <a:srgbClr val="0F172A"/>
                          </a:solidFill>
                        </a:rPr>
                        <a:t>Custom label update</a:t>
                      </a:r>
                    </a:p>
                  </a:txBody>
                  <a:tcPr marL="82296" marR="82296" marT="41148" marB="41148" anchor="ctr"/>
                </a:tc>
                <a:tc>
                  <a:txBody>
                    <a:bodyPr/>
                    <a:lstStyle/>
                    <a:p>
                      <a:r>
                        <a:rPr sz="1400" b="0">
                          <a:solidFill>
                            <a:srgbClr val="475569"/>
                          </a:solidFill>
                        </a:rPr>
                        <a:t>32×</a:t>
                      </a:r>
                    </a:p>
                  </a:txBody>
                  <a:tcPr marL="82296" marR="82296" marT="41148" marB="41148" anchor="ctr"/>
                </a:tc>
                <a:tc>
                  <a:txBody>
                    <a:bodyPr/>
                    <a:lstStyle/>
                    <a:p>
                      <a:r>
                        <a:rPr sz="1400" b="0">
                          <a:solidFill>
                            <a:srgbClr val="475569"/>
                          </a:solidFill>
                        </a:rPr>
                        <a:t>57 hrs</a:t>
                      </a:r>
                    </a:p>
                  </a:txBody>
                  <a:tcPr marL="82296" marR="82296" marT="41148" marB="41148" anchor="ctr"/>
                </a:tc>
                <a:tc>
                  <a:txBody>
                    <a:bodyPr/>
                    <a:lstStyle/>
                    <a:p>
                      <a:r>
                        <a:rPr sz="1400" b="0" dirty="0">
                          <a:solidFill>
                            <a:srgbClr val="475569"/>
                          </a:solidFill>
                        </a:rPr>
                        <a:t>CL0–CL4 margin, seasonal, low-performer, bestseller</a:t>
                      </a:r>
                    </a:p>
                  </a:txBody>
                  <a:tcPr marL="82296" marR="82296" marT="41148" marB="41148" anchor="ctr"/>
                </a:tc>
                <a:extLst>
                  <a:ext uri="{0D108BD9-81ED-4DB2-BD59-A6C34878D82A}">
                    <a16:rowId xmlns:a16="http://schemas.microsoft.com/office/drawing/2014/main" val="10005"/>
                  </a:ext>
                </a:extLst>
              </a:tr>
              <a:tr h="530352">
                <a:tc>
                  <a:txBody>
                    <a:bodyPr/>
                    <a:lstStyle/>
                    <a:p>
                      <a:r>
                        <a:rPr lang="en-GB" sz="1400" b="1" dirty="0">
                          <a:solidFill>
                            <a:srgbClr val="0F172A"/>
                          </a:solidFill>
                        </a:rPr>
                        <a:t>Category Mapping</a:t>
                      </a:r>
                      <a:endParaRPr sz="1400" b="1" dirty="0">
                        <a:solidFill>
                          <a:srgbClr val="0F172A"/>
                        </a:solidFill>
                      </a:endParaRPr>
                    </a:p>
                  </a:txBody>
                  <a:tcPr marL="82296" marR="82296" marT="41148" marB="41148" anchor="ctr"/>
                </a:tc>
                <a:tc>
                  <a:txBody>
                    <a:bodyPr/>
                    <a:lstStyle/>
                    <a:p>
                      <a:r>
                        <a:rPr lang="en-GB" sz="1400" b="0" dirty="0">
                          <a:solidFill>
                            <a:srgbClr val="475569"/>
                          </a:solidFill>
                        </a:rPr>
                        <a:t>28x</a:t>
                      </a:r>
                      <a:endParaRPr sz="1400" b="0" dirty="0">
                        <a:solidFill>
                          <a:srgbClr val="475569"/>
                        </a:solidFill>
                      </a:endParaRPr>
                    </a:p>
                  </a:txBody>
                  <a:tcPr marL="82296" marR="82296" marT="41148" marB="41148" anchor="ctr"/>
                </a:tc>
                <a:tc>
                  <a:txBody>
                    <a:bodyPr/>
                    <a:lstStyle/>
                    <a:p>
                      <a:r>
                        <a:rPr lang="en-GB" sz="1400" b="0" dirty="0">
                          <a:solidFill>
                            <a:srgbClr val="475569"/>
                          </a:solidFill>
                        </a:rPr>
                        <a:t>28 hrs</a:t>
                      </a:r>
                      <a:endParaRPr sz="1400" b="0" dirty="0">
                        <a:solidFill>
                          <a:srgbClr val="475569"/>
                        </a:solidFill>
                      </a:endParaRPr>
                    </a:p>
                  </a:txBody>
                  <a:tcPr marL="82296" marR="82296" marT="41148" marB="41148" anchor="ctr"/>
                </a:tc>
                <a:tc>
                  <a:txBody>
                    <a:bodyPr/>
                    <a:lstStyle/>
                    <a:p>
                      <a:r>
                        <a:rPr lang="en-GB" sz="1400" b="0" dirty="0">
                          <a:solidFill>
                            <a:srgbClr val="475569"/>
                          </a:solidFill>
                        </a:rPr>
                        <a:t>Mapping taxonomy to deepest level on GPC across UK, supp &gt; all other markets</a:t>
                      </a:r>
                      <a:endParaRPr sz="1400" b="0" dirty="0">
                        <a:solidFill>
                          <a:srgbClr val="475569"/>
                        </a:solidFill>
                      </a:endParaRPr>
                    </a:p>
                  </a:txBody>
                  <a:tcPr marL="82296" marR="82296" marT="41148" marB="41148"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05  ·  CHAPTER FIVE</a:t>
            </a:r>
          </a:p>
        </p:txBody>
      </p:sp>
      <p:sp>
        <p:nvSpPr>
          <p:cNvPr id="3" name="Title 2"/>
          <p:cNvSpPr>
            <a:spLocks noGrp="1"/>
          </p:cNvSpPr>
          <p:nvPr>
            <p:ph type="title"/>
          </p:nvPr>
        </p:nvSpPr>
        <p:spPr/>
        <p:txBody>
          <a:bodyPr wrap="square"/>
          <a:lstStyle/>
          <a:p>
            <a:r>
              <a:t>The value delivered</a:t>
            </a:r>
          </a:p>
        </p:txBody>
      </p:sp>
      <p:sp>
        <p:nvSpPr>
          <p:cNvPr id="4" name="Text Placeholder 3"/>
          <p:cNvSpPr>
            <a:spLocks noGrp="1"/>
          </p:cNvSpPr>
          <p:nvPr>
            <p:ph type="body" idx="1"/>
          </p:nvPr>
        </p:nvSpPr>
        <p:spPr/>
        <p:txBody>
          <a:bodyPr wrap="square"/>
          <a:lstStyle/>
          <a:p>
            <a:r>
              <a:t>Not just hours booked — hours invested in the partnership.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Two years delivered, a third given</a:t>
            </a:r>
          </a:p>
        </p:txBody>
      </p:sp>
      <p:sp>
        <p:nvSpPr>
          <p:cNvPr id="3" name="Text Placeholder 2"/>
          <p:cNvSpPr>
            <a:spLocks noGrp="1"/>
          </p:cNvSpPr>
          <p:nvPr>
            <p:ph type="body" idx="13"/>
          </p:nvPr>
        </p:nvSpPr>
        <p:spPr/>
        <p:txBody>
          <a:bodyPr wrap="square"/>
          <a:lstStyle/>
          <a:p>
            <a:r>
              <a:t>More than a third of every hour on Superdry was non-billable.</a:t>
            </a:r>
          </a:p>
        </p:txBody>
      </p:sp>
      <p:sp>
        <p:nvSpPr>
          <p:cNvPr id="4" name="Text Placeholder 3"/>
          <p:cNvSpPr>
            <a:spLocks noGrp="1"/>
          </p:cNvSpPr>
          <p:nvPr>
            <p:ph type="body" idx="1"/>
          </p:nvPr>
        </p:nvSpPr>
        <p:spPr/>
        <p:txBody>
          <a:bodyPr wrap="square">
            <a:normAutofit fontScale="92500" lnSpcReduction="10000"/>
          </a:bodyPr>
          <a:lstStyle/>
          <a:p>
            <a:r>
              <a:rPr sz="3000">
                <a:solidFill>
                  <a:srgbClr val="F7941E"/>
                </a:solidFill>
              </a:rPr>
              <a:t>1,746</a:t>
            </a:r>
          </a:p>
        </p:txBody>
      </p:sp>
      <p:sp>
        <p:nvSpPr>
          <p:cNvPr id="5" name="Text Placeholder 4"/>
          <p:cNvSpPr>
            <a:spLocks noGrp="1"/>
          </p:cNvSpPr>
          <p:nvPr>
            <p:ph type="body" idx="2"/>
          </p:nvPr>
        </p:nvSpPr>
        <p:spPr/>
        <p:txBody>
          <a:bodyPr wrap="square"/>
          <a:lstStyle/>
          <a:p>
            <a:r>
              <a:rPr sz="1400"/>
              <a:t>Total hours delivered · 2 yr</a:t>
            </a:r>
          </a:p>
        </p:txBody>
      </p:sp>
      <p:sp>
        <p:nvSpPr>
          <p:cNvPr id="6" name="Text Placeholder 5"/>
          <p:cNvSpPr>
            <a:spLocks noGrp="1"/>
          </p:cNvSpPr>
          <p:nvPr>
            <p:ph type="body" idx="3"/>
          </p:nvPr>
        </p:nvSpPr>
        <p:spPr/>
        <p:txBody>
          <a:bodyPr wrap="square">
            <a:normAutofit fontScale="92500" lnSpcReduction="10000"/>
          </a:bodyPr>
          <a:lstStyle/>
          <a:p>
            <a:r>
              <a:rPr sz="3000">
                <a:solidFill>
                  <a:srgbClr val="F7941E"/>
                </a:solidFill>
              </a:rPr>
              <a:t>1,143</a:t>
            </a:r>
          </a:p>
        </p:txBody>
      </p:sp>
      <p:sp>
        <p:nvSpPr>
          <p:cNvPr id="7" name="Text Placeholder 6"/>
          <p:cNvSpPr>
            <a:spLocks noGrp="1"/>
          </p:cNvSpPr>
          <p:nvPr>
            <p:ph type="body" idx="4"/>
          </p:nvPr>
        </p:nvSpPr>
        <p:spPr/>
        <p:txBody>
          <a:bodyPr wrap="square"/>
          <a:lstStyle/>
          <a:p>
            <a:r>
              <a:rPr sz="1400"/>
              <a:t>Billable hours</a:t>
            </a:r>
          </a:p>
        </p:txBody>
      </p:sp>
      <p:sp>
        <p:nvSpPr>
          <p:cNvPr id="8" name="Text Placeholder 7"/>
          <p:cNvSpPr>
            <a:spLocks noGrp="1"/>
          </p:cNvSpPr>
          <p:nvPr>
            <p:ph type="body" idx="5"/>
          </p:nvPr>
        </p:nvSpPr>
        <p:spPr/>
        <p:txBody>
          <a:bodyPr wrap="square">
            <a:normAutofit fontScale="92500" lnSpcReduction="10000"/>
          </a:bodyPr>
          <a:lstStyle/>
          <a:p>
            <a:r>
              <a:rPr sz="3000">
                <a:solidFill>
                  <a:srgbClr val="F7941E"/>
                </a:solidFill>
              </a:rPr>
              <a:t>603</a:t>
            </a:r>
          </a:p>
        </p:txBody>
      </p:sp>
      <p:sp>
        <p:nvSpPr>
          <p:cNvPr id="9" name="Text Placeholder 8"/>
          <p:cNvSpPr>
            <a:spLocks noGrp="1"/>
          </p:cNvSpPr>
          <p:nvPr>
            <p:ph type="body" idx="6"/>
          </p:nvPr>
        </p:nvSpPr>
        <p:spPr/>
        <p:txBody>
          <a:bodyPr wrap="square"/>
          <a:lstStyle/>
          <a:p>
            <a:r>
              <a:rPr sz="1400"/>
              <a:t>Non-billable hours invested</a:t>
            </a:r>
          </a:p>
        </p:txBody>
      </p:sp>
      <p:sp>
        <p:nvSpPr>
          <p:cNvPr id="10" name="Text Placeholder 9"/>
          <p:cNvSpPr>
            <a:spLocks noGrp="1"/>
          </p:cNvSpPr>
          <p:nvPr>
            <p:ph type="body" idx="7"/>
          </p:nvPr>
        </p:nvSpPr>
        <p:spPr/>
        <p:txBody>
          <a:bodyPr wrap="square">
            <a:normAutofit fontScale="92500" lnSpcReduction="10000"/>
          </a:bodyPr>
          <a:lstStyle/>
          <a:p>
            <a:r>
              <a:rPr sz="3000">
                <a:solidFill>
                  <a:srgbClr val="F7941E"/>
                </a:solidFill>
              </a:rPr>
              <a:t>35%</a:t>
            </a:r>
          </a:p>
        </p:txBody>
      </p:sp>
      <p:sp>
        <p:nvSpPr>
          <p:cNvPr id="11" name="Text Placeholder 10"/>
          <p:cNvSpPr>
            <a:spLocks noGrp="1"/>
          </p:cNvSpPr>
          <p:nvPr>
            <p:ph type="body" idx="8"/>
          </p:nvPr>
        </p:nvSpPr>
        <p:spPr/>
        <p:txBody>
          <a:bodyPr wrap="square"/>
          <a:lstStyle/>
          <a:p>
            <a:r>
              <a:rPr sz="1400"/>
              <a:t>Of all hours given at no charge</a:t>
            </a:r>
          </a:p>
        </p:txBody>
      </p:sp>
      <p:sp>
        <p:nvSpPr>
          <p:cNvPr id="12" name="Text Placeholder 11"/>
          <p:cNvSpPr>
            <a:spLocks noGrp="1"/>
          </p:cNvSpPr>
          <p:nvPr>
            <p:ph type="body" idx="9"/>
          </p:nvPr>
        </p:nvSpPr>
        <p:spPr/>
        <p:txBody>
          <a:bodyPr wrap="square">
            <a:normAutofit fontScale="92500" lnSpcReduction="10000"/>
          </a:bodyPr>
          <a:lstStyle/>
          <a:p>
            <a:r>
              <a:rPr sz="3000">
                <a:solidFill>
                  <a:srgbClr val="F7941E"/>
                </a:solidFill>
              </a:rPr>
              <a:t>1,294</a:t>
            </a:r>
          </a:p>
        </p:txBody>
      </p:sp>
      <p:sp>
        <p:nvSpPr>
          <p:cNvPr id="13" name="Text Placeholder 12"/>
          <p:cNvSpPr>
            <a:spLocks noGrp="1"/>
          </p:cNvSpPr>
          <p:nvPr>
            <p:ph type="body" idx="10"/>
          </p:nvPr>
        </p:nvSpPr>
        <p:spPr/>
        <p:txBody>
          <a:bodyPr wrap="square"/>
          <a:lstStyle/>
          <a:p>
            <a:r>
              <a:rPr sz="1400"/>
              <a:t>Tasks completed</a:t>
            </a:r>
          </a:p>
        </p:txBody>
      </p:sp>
      <p:sp>
        <p:nvSpPr>
          <p:cNvPr id="14" name="Text Placeholder 13"/>
          <p:cNvSpPr>
            <a:spLocks noGrp="1"/>
          </p:cNvSpPr>
          <p:nvPr>
            <p:ph type="body" idx="14"/>
          </p:nvPr>
        </p:nvSpPr>
        <p:spPr/>
        <p:txBody>
          <a:bodyPr wrap="square">
            <a:normAutofit fontScale="92500"/>
          </a:bodyPr>
          <a:lstStyle/>
          <a:p>
            <a:r>
              <a:rPr dirty="0"/>
              <a:t>The clearest proof of a partnership is what gets done off the clock — invested at no charge to keep the feed clean, disapprovals down and launches on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The protection work, quantified</a:t>
            </a:r>
          </a:p>
        </p:txBody>
      </p:sp>
      <p:sp>
        <p:nvSpPr>
          <p:cNvPr id="3" name="Text Placeholder 2"/>
          <p:cNvSpPr>
            <a:spLocks noGrp="1"/>
          </p:cNvSpPr>
          <p:nvPr>
            <p:ph type="body" idx="13"/>
          </p:nvPr>
        </p:nvSpPr>
        <p:spPr/>
        <p:txBody>
          <a:bodyPr wrap="square"/>
          <a:lstStyle/>
          <a:p>
            <a:r>
              <a:t>The unglamorous work that keeps spend efficient.</a:t>
            </a:r>
          </a:p>
        </p:txBody>
      </p:sp>
      <p:sp>
        <p:nvSpPr>
          <p:cNvPr id="4" name="Text Placeholder 3"/>
          <p:cNvSpPr>
            <a:spLocks noGrp="1"/>
          </p:cNvSpPr>
          <p:nvPr>
            <p:ph type="body" idx="1"/>
          </p:nvPr>
        </p:nvSpPr>
        <p:spPr/>
        <p:txBody>
          <a:bodyPr wrap="square">
            <a:normAutofit fontScale="92500" lnSpcReduction="20000"/>
          </a:bodyPr>
          <a:lstStyle/>
          <a:p>
            <a:r>
              <a:rPr sz="3200">
                <a:solidFill>
                  <a:srgbClr val="F7941E"/>
                </a:solidFill>
              </a:rPr>
              <a:t>93×</a:t>
            </a:r>
          </a:p>
        </p:txBody>
      </p:sp>
      <p:sp>
        <p:nvSpPr>
          <p:cNvPr id="5" name="Text Placeholder 4"/>
          <p:cNvSpPr>
            <a:spLocks noGrp="1"/>
          </p:cNvSpPr>
          <p:nvPr>
            <p:ph type="body" idx="2"/>
          </p:nvPr>
        </p:nvSpPr>
        <p:spPr/>
        <p:txBody>
          <a:bodyPr wrap="square"/>
          <a:lstStyle/>
          <a:p>
            <a:r>
              <a:rPr sz="1400"/>
              <a:t>Disapproval fixes — SKUs kept live and serving</a:t>
            </a:r>
          </a:p>
        </p:txBody>
      </p:sp>
      <p:sp>
        <p:nvSpPr>
          <p:cNvPr id="6" name="Text Placeholder 5"/>
          <p:cNvSpPr>
            <a:spLocks noGrp="1"/>
          </p:cNvSpPr>
          <p:nvPr>
            <p:ph type="body" idx="3"/>
          </p:nvPr>
        </p:nvSpPr>
        <p:spPr/>
        <p:txBody>
          <a:bodyPr wrap="square">
            <a:normAutofit fontScale="92500" lnSpcReduction="20000"/>
          </a:bodyPr>
          <a:lstStyle/>
          <a:p>
            <a:r>
              <a:rPr lang="en-GB" sz="3200" dirty="0">
                <a:solidFill>
                  <a:srgbClr val="F7941E"/>
                </a:solidFill>
              </a:rPr>
              <a:t>28</a:t>
            </a:r>
            <a:r>
              <a:rPr sz="3200" dirty="0">
                <a:solidFill>
                  <a:srgbClr val="F7941E"/>
                </a:solidFill>
              </a:rPr>
              <a:t>×</a:t>
            </a:r>
          </a:p>
        </p:txBody>
      </p:sp>
      <p:sp>
        <p:nvSpPr>
          <p:cNvPr id="7" name="Text Placeholder 6"/>
          <p:cNvSpPr>
            <a:spLocks noGrp="1"/>
          </p:cNvSpPr>
          <p:nvPr>
            <p:ph type="body" idx="4"/>
          </p:nvPr>
        </p:nvSpPr>
        <p:spPr/>
        <p:txBody>
          <a:bodyPr wrap="square"/>
          <a:lstStyle/>
          <a:p>
            <a:r>
              <a:rPr sz="1400"/>
              <a:t>Category-mapping passes across 19 markets</a:t>
            </a:r>
          </a:p>
        </p:txBody>
      </p:sp>
      <p:sp>
        <p:nvSpPr>
          <p:cNvPr id="8" name="Text Placeholder 7"/>
          <p:cNvSpPr>
            <a:spLocks noGrp="1"/>
          </p:cNvSpPr>
          <p:nvPr>
            <p:ph type="body" idx="5"/>
          </p:nvPr>
        </p:nvSpPr>
        <p:spPr/>
        <p:txBody>
          <a:bodyPr wrap="square">
            <a:normAutofit fontScale="92500" lnSpcReduction="20000"/>
          </a:bodyPr>
          <a:lstStyle/>
          <a:p>
            <a:r>
              <a:rPr sz="3200">
                <a:solidFill>
                  <a:srgbClr val="F7941E"/>
                </a:solidFill>
              </a:rPr>
              <a:t>86×</a:t>
            </a:r>
          </a:p>
        </p:txBody>
      </p:sp>
      <p:sp>
        <p:nvSpPr>
          <p:cNvPr id="9" name="Text Placeholder 8"/>
          <p:cNvSpPr>
            <a:spLocks noGrp="1"/>
          </p:cNvSpPr>
          <p:nvPr>
            <p:ph type="body" idx="6"/>
          </p:nvPr>
        </p:nvSpPr>
        <p:spPr/>
        <p:txBody>
          <a:bodyPr wrap="square"/>
          <a:lstStyle/>
          <a:p>
            <a:r>
              <a:rPr sz="1400"/>
              <a:t>Data-field updates — fills, normalisation, mandatory fields</a:t>
            </a:r>
          </a:p>
        </p:txBody>
      </p:sp>
      <p:sp>
        <p:nvSpPr>
          <p:cNvPr id="10" name="Text Placeholder 9"/>
          <p:cNvSpPr>
            <a:spLocks noGrp="1"/>
          </p:cNvSpPr>
          <p:nvPr>
            <p:ph type="body" idx="7"/>
          </p:nvPr>
        </p:nvSpPr>
        <p:spPr/>
        <p:txBody>
          <a:bodyPr wrap="square">
            <a:normAutofit fontScale="92500" lnSpcReduction="20000"/>
          </a:bodyPr>
          <a:lstStyle/>
          <a:p>
            <a:r>
              <a:rPr sz="3200">
                <a:solidFill>
                  <a:srgbClr val="F7941E"/>
                </a:solidFill>
              </a:rPr>
              <a:t>17×</a:t>
            </a:r>
          </a:p>
        </p:txBody>
      </p:sp>
      <p:sp>
        <p:nvSpPr>
          <p:cNvPr id="11" name="Text Placeholder 10"/>
          <p:cNvSpPr>
            <a:spLocks noGrp="1"/>
          </p:cNvSpPr>
          <p:nvPr>
            <p:ph type="body" idx="8"/>
          </p:nvPr>
        </p:nvSpPr>
        <p:spPr/>
        <p:txBody>
          <a:bodyPr wrap="square"/>
          <a:lstStyle/>
          <a:p>
            <a:r>
              <a:rPr sz="1400"/>
              <a:t>Feed health checks</a:t>
            </a:r>
          </a:p>
        </p:txBody>
      </p:sp>
      <p:sp>
        <p:nvSpPr>
          <p:cNvPr id="12" name="Text Placeholder 11"/>
          <p:cNvSpPr>
            <a:spLocks noGrp="1"/>
          </p:cNvSpPr>
          <p:nvPr>
            <p:ph type="body" idx="14"/>
          </p:nvPr>
        </p:nvSpPr>
        <p:spPr/>
        <p:txBody>
          <a:bodyPr wrap="square">
            <a:normAutofit fontScale="92500" lnSpcReduction="20000"/>
          </a:bodyPr>
          <a:lstStyle/>
          <a:p>
            <a:r>
              <a:rPr dirty="0"/>
              <a:t>Every disapproval cleared is a SKU kept live and serving; every mapping pass is more of the range eligible for the right queries. Most of this sat in the non-billable column.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07  ·  CHAPTER SEVEN</a:t>
            </a:r>
          </a:p>
        </p:txBody>
      </p:sp>
      <p:sp>
        <p:nvSpPr>
          <p:cNvPr id="3" name="Title 2"/>
          <p:cNvSpPr>
            <a:spLocks noGrp="1"/>
          </p:cNvSpPr>
          <p:nvPr>
            <p:ph type="title"/>
          </p:nvPr>
        </p:nvSpPr>
        <p:spPr/>
        <p:txBody>
          <a:bodyPr wrap="square"/>
          <a:lstStyle/>
          <a:p>
            <a:r>
              <a:t>The A/B test archive</a:t>
            </a:r>
          </a:p>
        </p:txBody>
      </p:sp>
      <p:sp>
        <p:nvSpPr>
          <p:cNvPr id="4" name="Text Placeholder 3"/>
          <p:cNvSpPr>
            <a:spLocks noGrp="1"/>
          </p:cNvSpPr>
          <p:nvPr>
            <p:ph type="body" idx="1"/>
          </p:nvPr>
        </p:nvSpPr>
        <p:spPr/>
        <p:txBody>
          <a:bodyPr wrap="square"/>
          <a:lstStyle/>
          <a:p>
            <a:r>
              <a:t>36 controlled and single-group tests, Jan 2025 → Jul 2026 — the real numbers.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36 tests, read straight</a:t>
            </a:r>
          </a:p>
        </p:txBody>
      </p:sp>
      <p:sp>
        <p:nvSpPr>
          <p:cNvPr id="3" name="Text Placeholder 2"/>
          <p:cNvSpPr>
            <a:spLocks noGrp="1"/>
          </p:cNvSpPr>
          <p:nvPr>
            <p:ph type="body" idx="13"/>
          </p:nvPr>
        </p:nvSpPr>
        <p:spPr/>
        <p:txBody>
          <a:bodyPr wrap="square"/>
          <a:lstStyle/>
          <a:p>
            <a:r>
              <a:t>A sustained testing programme, not a one-off.</a:t>
            </a:r>
          </a:p>
        </p:txBody>
      </p:sp>
      <p:sp>
        <p:nvSpPr>
          <p:cNvPr id="4" name="Text Placeholder 3"/>
          <p:cNvSpPr>
            <a:spLocks noGrp="1"/>
          </p:cNvSpPr>
          <p:nvPr>
            <p:ph type="body" idx="1"/>
          </p:nvPr>
        </p:nvSpPr>
        <p:spPr/>
        <p:txBody>
          <a:bodyPr wrap="square">
            <a:normAutofit fontScale="92500" lnSpcReduction="10000"/>
          </a:bodyPr>
          <a:lstStyle/>
          <a:p>
            <a:r>
              <a:rPr sz="3000">
                <a:solidFill>
                  <a:srgbClr val="F7941E"/>
                </a:solidFill>
              </a:rPr>
              <a:t>36</a:t>
            </a:r>
          </a:p>
        </p:txBody>
      </p:sp>
      <p:sp>
        <p:nvSpPr>
          <p:cNvPr id="5" name="Text Placeholder 4"/>
          <p:cNvSpPr>
            <a:spLocks noGrp="1"/>
          </p:cNvSpPr>
          <p:nvPr>
            <p:ph type="body" idx="2"/>
          </p:nvPr>
        </p:nvSpPr>
        <p:spPr/>
        <p:txBody>
          <a:bodyPr wrap="square"/>
          <a:lstStyle/>
          <a:p>
            <a:r>
              <a:rPr sz="1400" dirty="0"/>
              <a:t>Tests run · Jan ’25 – Jul ’26</a:t>
            </a:r>
          </a:p>
        </p:txBody>
      </p:sp>
      <p:sp>
        <p:nvSpPr>
          <p:cNvPr id="6" name="Text Placeholder 5"/>
          <p:cNvSpPr>
            <a:spLocks noGrp="1"/>
          </p:cNvSpPr>
          <p:nvPr>
            <p:ph type="body" idx="3"/>
          </p:nvPr>
        </p:nvSpPr>
        <p:spPr/>
        <p:txBody>
          <a:bodyPr wrap="square">
            <a:normAutofit fontScale="92500" lnSpcReduction="10000"/>
          </a:bodyPr>
          <a:lstStyle/>
          <a:p>
            <a:r>
              <a:rPr sz="3000">
                <a:solidFill>
                  <a:srgbClr val="F7941E"/>
                </a:solidFill>
              </a:rPr>
              <a:t>28</a:t>
            </a:r>
          </a:p>
        </p:txBody>
      </p:sp>
      <p:sp>
        <p:nvSpPr>
          <p:cNvPr id="7" name="Text Placeholder 6"/>
          <p:cNvSpPr>
            <a:spLocks noGrp="1"/>
          </p:cNvSpPr>
          <p:nvPr>
            <p:ph type="body" idx="4"/>
          </p:nvPr>
        </p:nvSpPr>
        <p:spPr/>
        <p:txBody>
          <a:bodyPr wrap="square"/>
          <a:lstStyle/>
          <a:p>
            <a:r>
              <a:rPr sz="1400"/>
              <a:t>With a measurable read-out</a:t>
            </a:r>
          </a:p>
        </p:txBody>
      </p:sp>
      <p:sp>
        <p:nvSpPr>
          <p:cNvPr id="8" name="Text Placeholder 7"/>
          <p:cNvSpPr>
            <a:spLocks noGrp="1"/>
          </p:cNvSpPr>
          <p:nvPr>
            <p:ph type="body" idx="5"/>
          </p:nvPr>
        </p:nvSpPr>
        <p:spPr/>
        <p:txBody>
          <a:bodyPr wrap="square">
            <a:normAutofit fontScale="92500" lnSpcReduction="10000"/>
          </a:bodyPr>
          <a:lstStyle/>
          <a:p>
            <a:r>
              <a:rPr sz="3000">
                <a:solidFill>
                  <a:srgbClr val="F7941E"/>
                </a:solidFill>
              </a:rPr>
              <a:t>75%</a:t>
            </a:r>
          </a:p>
        </p:txBody>
      </p:sp>
      <p:sp>
        <p:nvSpPr>
          <p:cNvPr id="9" name="Text Placeholder 8"/>
          <p:cNvSpPr>
            <a:spLocks noGrp="1"/>
          </p:cNvSpPr>
          <p:nvPr>
            <p:ph type="body" idx="6"/>
          </p:nvPr>
        </p:nvSpPr>
        <p:spPr/>
        <p:txBody>
          <a:bodyPr wrap="square"/>
          <a:lstStyle/>
          <a:p>
            <a:r>
              <a:rPr sz="1400"/>
              <a:t>Keyword-test win rate</a:t>
            </a:r>
          </a:p>
        </p:txBody>
      </p:sp>
      <p:sp>
        <p:nvSpPr>
          <p:cNvPr id="10" name="Text Placeholder 9"/>
          <p:cNvSpPr>
            <a:spLocks noGrp="1"/>
          </p:cNvSpPr>
          <p:nvPr>
            <p:ph type="body" idx="7"/>
          </p:nvPr>
        </p:nvSpPr>
        <p:spPr/>
        <p:txBody>
          <a:bodyPr wrap="square">
            <a:normAutofit fontScale="92500" lnSpcReduction="10000"/>
          </a:bodyPr>
          <a:lstStyle/>
          <a:p>
            <a:r>
              <a:rPr sz="3000">
                <a:solidFill>
                  <a:srgbClr val="F7941E"/>
                </a:solidFill>
              </a:rPr>
              <a:t>+12%</a:t>
            </a:r>
          </a:p>
        </p:txBody>
      </p:sp>
      <p:sp>
        <p:nvSpPr>
          <p:cNvPr id="11" name="Text Placeholder 10"/>
          <p:cNvSpPr>
            <a:spLocks noGrp="1"/>
          </p:cNvSpPr>
          <p:nvPr>
            <p:ph type="body" idx="8"/>
          </p:nvPr>
        </p:nvSpPr>
        <p:spPr/>
        <p:txBody>
          <a:bodyPr wrap="square"/>
          <a:lstStyle/>
          <a:p>
            <a:r>
              <a:rPr sz="1400"/>
              <a:t>Avg impressions uplift · keyword tests</a:t>
            </a:r>
          </a:p>
        </p:txBody>
      </p:sp>
      <p:sp>
        <p:nvSpPr>
          <p:cNvPr id="12" name="Text Placeholder 11"/>
          <p:cNvSpPr>
            <a:spLocks noGrp="1"/>
          </p:cNvSpPr>
          <p:nvPr>
            <p:ph type="body" idx="9"/>
          </p:nvPr>
        </p:nvSpPr>
        <p:spPr/>
        <p:txBody>
          <a:bodyPr wrap="square">
            <a:normAutofit fontScale="92500" lnSpcReduction="10000"/>
          </a:bodyPr>
          <a:lstStyle/>
          <a:p>
            <a:r>
              <a:rPr sz="3000">
                <a:solidFill>
                  <a:srgbClr val="F7941E"/>
                </a:solidFill>
              </a:rPr>
              <a:t>+23%</a:t>
            </a:r>
          </a:p>
        </p:txBody>
      </p:sp>
      <p:sp>
        <p:nvSpPr>
          <p:cNvPr id="13" name="Text Placeholder 12"/>
          <p:cNvSpPr>
            <a:spLocks noGrp="1"/>
          </p:cNvSpPr>
          <p:nvPr>
            <p:ph type="body" idx="10"/>
          </p:nvPr>
        </p:nvSpPr>
        <p:spPr/>
        <p:txBody>
          <a:bodyPr wrap="square"/>
          <a:lstStyle/>
          <a:p>
            <a:r>
              <a:rPr sz="1400"/>
              <a:t>Avg uplift among winning tests</a:t>
            </a:r>
          </a:p>
        </p:txBody>
      </p:sp>
      <p:sp>
        <p:nvSpPr>
          <p:cNvPr id="14" name="Text Placeholder 13"/>
          <p:cNvSpPr>
            <a:spLocks noGrp="1"/>
          </p:cNvSpPr>
          <p:nvPr>
            <p:ph type="body" idx="14"/>
          </p:nvPr>
        </p:nvSpPr>
        <p:spPr/>
        <p:txBody>
          <a:bodyPr wrap="square"/>
          <a:lstStyle/>
          <a:p>
            <a:r>
              <a:rPr dirty="0"/>
              <a:t>28 tests returned a measurable read-out;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The archive by test type</a:t>
            </a:r>
          </a:p>
        </p:txBody>
      </p:sp>
      <p:sp>
        <p:nvSpPr>
          <p:cNvPr id="3" name="Text Placeholder 2"/>
          <p:cNvSpPr>
            <a:spLocks noGrp="1"/>
          </p:cNvSpPr>
          <p:nvPr>
            <p:ph type="body" idx="11"/>
          </p:nvPr>
        </p:nvSpPr>
        <p:spPr/>
        <p:txBody>
          <a:bodyPr wrap="square"/>
          <a:lstStyle/>
          <a:p>
            <a:r>
              <a:t>How each read-out was measured.</a:t>
            </a:r>
          </a:p>
        </p:txBody>
      </p:sp>
      <p:sp>
        <p:nvSpPr>
          <p:cNvPr id="4" name="Text Placeholder 3"/>
          <p:cNvSpPr>
            <a:spLocks noGrp="1"/>
          </p:cNvSpPr>
          <p:nvPr>
            <p:ph type="body" idx="14"/>
          </p:nvPr>
        </p:nvSpPr>
        <p:spPr/>
        <p:txBody>
          <a:bodyPr wrap="square"/>
          <a:lstStyle/>
          <a:p>
            <a:r>
              <a:rPr dirty="0"/>
              <a:t>Six tests returned negative results — Feb I at −14%, both EOSS UK and D</a:t>
            </a:r>
            <a:r>
              <a:rPr lang="en-GB" dirty="0"/>
              <a:t>E.</a:t>
            </a:r>
            <a:endParaRPr dirty="0"/>
          </a:p>
        </p:txBody>
      </p:sp>
      <p:graphicFrame>
        <p:nvGraphicFramePr>
          <p:cNvPr id="5" name="Table 4"/>
          <p:cNvGraphicFramePr>
            <a:graphicFrameLocks noGrp="1"/>
          </p:cNvGraphicFramePr>
          <p:nvPr>
            <p:extLst>
              <p:ext uri="{D42A27DB-BD31-4B8C-83A1-F6EECF244321}">
                <p14:modId xmlns:p14="http://schemas.microsoft.com/office/powerpoint/2010/main" val="160867527"/>
              </p:ext>
            </p:extLst>
          </p:nvPr>
        </p:nvGraphicFramePr>
        <p:xfrm>
          <a:off x="612648" y="1874519"/>
          <a:ext cx="10972800" cy="2262224"/>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384048">
                <a:tc>
                  <a:txBody>
                    <a:bodyPr/>
                    <a:lstStyle/>
                    <a:p>
                      <a:r>
                        <a:rPr sz="1400" b="1">
                          <a:solidFill>
                            <a:srgbClr val="FFFFFF"/>
                          </a:solidFill>
                        </a:rPr>
                        <a:t>Test type</a:t>
                      </a:r>
                    </a:p>
                  </a:txBody>
                  <a:tcPr marL="82296" marR="82296" marT="41148" marB="41148" anchor="ctr"/>
                </a:tc>
                <a:tc>
                  <a:txBody>
                    <a:bodyPr/>
                    <a:lstStyle/>
                    <a:p>
                      <a:r>
                        <a:rPr sz="1400" b="1">
                          <a:solidFill>
                            <a:srgbClr val="FFFFFF"/>
                          </a:solidFill>
                        </a:rPr>
                        <a:t>Count</a:t>
                      </a:r>
                    </a:p>
                  </a:txBody>
                  <a:tcPr marL="82296" marR="82296" marT="41148" marB="41148" anchor="ctr"/>
                </a:tc>
                <a:tc>
                  <a:txBody>
                    <a:bodyPr/>
                    <a:lstStyle/>
                    <a:p>
                      <a:r>
                        <a:rPr sz="1400" b="1">
                          <a:solidFill>
                            <a:srgbClr val="FFFFFF"/>
                          </a:solidFill>
                        </a:rPr>
                        <a:t>What it measures</a:t>
                      </a:r>
                    </a:p>
                  </a:txBody>
                  <a:tcPr marL="82296" marR="82296" marT="41148" marB="41148" anchor="ctr"/>
                </a:tc>
                <a:tc>
                  <a:txBody>
                    <a:bodyPr/>
                    <a:lstStyle/>
                    <a:p>
                      <a:r>
                        <a:rPr sz="1400" b="1">
                          <a:solidFill>
                            <a:srgbClr val="FFFFFF"/>
                          </a:solidFill>
                        </a:rPr>
                        <a:t>Result</a:t>
                      </a:r>
                    </a:p>
                  </a:txBody>
                  <a:tcPr marL="82296" marR="82296" marT="41148" marB="41148" anchor="ctr"/>
                </a:tc>
                <a:extLst>
                  <a:ext uri="{0D108BD9-81ED-4DB2-BD59-A6C34878D82A}">
                    <a16:rowId xmlns:a16="http://schemas.microsoft.com/office/drawing/2014/main" val="10000"/>
                  </a:ext>
                </a:extLst>
              </a:tr>
              <a:tr h="939088">
                <a:tc>
                  <a:txBody>
                    <a:bodyPr/>
                    <a:lstStyle/>
                    <a:p>
                      <a:r>
                        <a:rPr sz="1400" b="1">
                          <a:solidFill>
                            <a:srgbClr val="0F172A"/>
                          </a:solidFill>
                        </a:rPr>
                        <a:t>Controlled A/B (50/50)</a:t>
                      </a:r>
                    </a:p>
                  </a:txBody>
                  <a:tcPr marL="82296" marR="82296" marT="41148" marB="41148" anchor="ctr"/>
                </a:tc>
                <a:tc>
                  <a:txBody>
                    <a:bodyPr/>
                    <a:lstStyle/>
                    <a:p>
                      <a:r>
                        <a:rPr sz="1400" b="0">
                          <a:solidFill>
                            <a:srgbClr val="475569"/>
                          </a:solidFill>
                        </a:rPr>
                        <a:t>11</a:t>
                      </a:r>
                    </a:p>
                  </a:txBody>
                  <a:tcPr marL="82296" marR="82296" marT="41148" marB="41148" anchor="ctr"/>
                </a:tc>
                <a:tc>
                  <a:txBody>
                    <a:bodyPr/>
                    <a:lstStyle/>
                    <a:p>
                      <a:r>
                        <a:rPr sz="1400" b="0">
                          <a:solidFill>
                            <a:srgbClr val="475569"/>
                          </a:solidFill>
                        </a:rPr>
                        <a:t>Test group vs a held-back control group, same window — the rigorous read</a:t>
                      </a:r>
                    </a:p>
                  </a:txBody>
                  <a:tcPr marL="82296" marR="82296" marT="41148" marB="41148" anchor="ctr"/>
                </a:tc>
                <a:tc>
                  <a:txBody>
                    <a:bodyPr/>
                    <a:lstStyle/>
                    <a:p>
                      <a:r>
                        <a:rPr sz="1400" b="0">
                          <a:solidFill>
                            <a:srgbClr val="475569"/>
                          </a:solidFill>
                        </a:rPr>
                        <a:t>7 of 11 positive; winners avg +11% impressions / +16% clicks</a:t>
                      </a:r>
                    </a:p>
                  </a:txBody>
                  <a:tcPr marL="82296" marR="82296" marT="41148" marB="41148" anchor="ctr"/>
                </a:tc>
                <a:extLst>
                  <a:ext uri="{0D108BD9-81ED-4DB2-BD59-A6C34878D82A}">
                    <a16:rowId xmlns:a16="http://schemas.microsoft.com/office/drawing/2014/main" val="10001"/>
                  </a:ext>
                </a:extLst>
              </a:tr>
              <a:tr h="939088">
                <a:tc>
                  <a:txBody>
                    <a:bodyPr/>
                    <a:lstStyle/>
                    <a:p>
                      <a:r>
                        <a:rPr sz="1400" b="1">
                          <a:solidFill>
                            <a:srgbClr val="0F172A"/>
                          </a:solidFill>
                        </a:rPr>
                        <a:t>Single-group before/after</a:t>
                      </a:r>
                    </a:p>
                  </a:txBody>
                  <a:tcPr marL="82296" marR="82296" marT="41148" marB="41148" anchor="ctr"/>
                </a:tc>
                <a:tc>
                  <a:txBody>
                    <a:bodyPr/>
                    <a:lstStyle/>
                    <a:p>
                      <a:r>
                        <a:rPr sz="1400" b="0">
                          <a:solidFill>
                            <a:srgbClr val="475569"/>
                          </a:solidFill>
                        </a:rPr>
                        <a:t>17</a:t>
                      </a:r>
                    </a:p>
                  </a:txBody>
                  <a:tcPr marL="82296" marR="82296" marT="41148" marB="41148" anchor="ctr"/>
                </a:tc>
                <a:tc>
                  <a:txBody>
                    <a:bodyPr/>
                    <a:lstStyle/>
                    <a:p>
                      <a:r>
                        <a:rPr sz="1400" b="0">
                          <a:solidFill>
                            <a:srgbClr val="475569"/>
                          </a:solidFill>
                        </a:rPr>
                        <a:t>One batch measured against its own pre-launch baseline</a:t>
                      </a:r>
                    </a:p>
                  </a:txBody>
                  <a:tcPr marL="82296" marR="82296" marT="41148" marB="41148" anchor="ctr"/>
                </a:tc>
                <a:tc>
                  <a:txBody>
                    <a:bodyPr/>
                    <a:lstStyle/>
                    <a:p>
                      <a:r>
                        <a:rPr sz="1400" b="0" dirty="0">
                          <a:solidFill>
                            <a:srgbClr val="475569"/>
                          </a:solidFill>
                        </a:rPr>
                        <a:t>15 of 17 positive; focused batches avg +30% impressions</a:t>
                      </a:r>
                    </a:p>
                  </a:txBody>
                  <a:tcPr marL="82296" marR="82296" marT="41148" marB="41148"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Reading the average straight</a:t>
            </a:r>
          </a:p>
        </p:txBody>
      </p:sp>
      <p:sp>
        <p:nvSpPr>
          <p:cNvPr id="3" name="Text Placeholder 2"/>
          <p:cNvSpPr>
            <a:spLocks noGrp="1"/>
          </p:cNvSpPr>
          <p:nvPr>
            <p:ph type="body" idx="13"/>
          </p:nvPr>
        </p:nvSpPr>
        <p:spPr/>
        <p:txBody>
          <a:bodyPr wrap="square"/>
          <a:lstStyle/>
          <a:p>
            <a:r>
              <a:t>Two things worth stating before the chart.</a:t>
            </a:r>
          </a:p>
        </p:txBody>
      </p:sp>
      <p:sp>
        <p:nvSpPr>
          <p:cNvPr id="4" name="Text Placeholder 3"/>
          <p:cNvSpPr>
            <a:spLocks noGrp="1"/>
          </p:cNvSpPr>
          <p:nvPr>
            <p:ph type="body" idx="1"/>
          </p:nvPr>
        </p:nvSpPr>
        <p:spPr/>
        <p:txBody>
          <a:bodyPr wrap="square"/>
          <a:lstStyle/>
          <a:p>
            <a:r>
              <a:t>The honest average</a:t>
            </a:r>
          </a:p>
        </p:txBody>
      </p:sp>
      <p:sp>
        <p:nvSpPr>
          <p:cNvPr id="5" name="Text Placeholder 4"/>
          <p:cNvSpPr>
            <a:spLocks noGrp="1"/>
          </p:cNvSpPr>
          <p:nvPr>
            <p:ph type="body" idx="2"/>
          </p:nvPr>
        </p:nvSpPr>
        <p:spPr/>
        <p:txBody>
          <a:bodyPr wrap="square"/>
          <a:lstStyle/>
          <a:p>
            <a:r>
              <a:rPr sz="1500"/>
              <a:t>Across the 24 keyword tests with a clean read-out, the average uplift was +12.4% impressions and +11.5% clicks — rising to +22.8% and +22.3% across the 18 that won.
Three quarters of keyword tests moved the needle up.</a:t>
            </a:r>
          </a:p>
        </p:txBody>
      </p:sp>
      <p:sp>
        <p:nvSpPr>
          <p:cNvPr id="6" name="Text Placeholder 5"/>
          <p:cNvSpPr>
            <a:spLocks noGrp="1"/>
          </p:cNvSpPr>
          <p:nvPr>
            <p:ph type="body" idx="3"/>
          </p:nvPr>
        </p:nvSpPr>
        <p:spPr/>
        <p:txBody>
          <a:bodyPr wrap="square"/>
          <a:lstStyle/>
          <a:p>
            <a:r>
              <a:t>Why it isn’t a bigger number</a:t>
            </a:r>
          </a:p>
        </p:txBody>
      </p:sp>
      <p:sp>
        <p:nvSpPr>
          <p:cNvPr id="7" name="Text Placeholder 6"/>
          <p:cNvSpPr>
            <a:spLocks noGrp="1"/>
          </p:cNvSpPr>
          <p:nvPr>
            <p:ph type="body" idx="4"/>
          </p:nvPr>
        </p:nvSpPr>
        <p:spPr/>
        <p:txBody>
          <a:bodyPr wrap="square"/>
          <a:lstStyle/>
          <a:p>
            <a:r>
              <a:rPr sz="1500"/>
              <a:t>Four seasonal launches — Robes, Jackets Sale, Summer Sale, Football tees — read at +165% to +14,000% because they activated near-dormant SKUs from an almost-zero baseline.
Those are real activations, but averaging them in would overstate the case, so they are shown separately.</a:t>
            </a:r>
          </a:p>
        </p:txBody>
      </p:sp>
      <p:sp>
        <p:nvSpPr>
          <p:cNvPr id="8" name="Text Placeholder 7"/>
          <p:cNvSpPr>
            <a:spLocks noGrp="1"/>
          </p:cNvSpPr>
          <p:nvPr>
            <p:ph type="body" idx="14"/>
          </p:nvPr>
        </p:nvSpPr>
        <p:spPr/>
        <p:txBody>
          <a:bodyPr wrap="square"/>
          <a:lstStyle/>
          <a:p>
            <a:r>
              <a:rPr dirty="0"/>
              <a:t>Keyword optimisation is the most-tested and most-reliable lever on the account — and the one with the clearest repeatable return.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Keyword tests — the results that moved</a:t>
            </a:r>
          </a:p>
        </p:txBody>
      </p:sp>
      <p:sp>
        <p:nvSpPr>
          <p:cNvPr id="3" name="Text Placeholder 2"/>
          <p:cNvSpPr>
            <a:spLocks noGrp="1"/>
          </p:cNvSpPr>
          <p:nvPr>
            <p:ph type="body" idx="11"/>
          </p:nvPr>
        </p:nvSpPr>
        <p:spPr/>
        <p:txBody>
          <a:bodyPr wrap="square"/>
          <a:lstStyle/>
          <a:p>
            <a:r>
              <a:t>Impressions uplift vs baseline or control. ✦ = controlled A/B.</a:t>
            </a:r>
          </a:p>
        </p:txBody>
      </p:sp>
      <p:sp>
        <p:nvSpPr>
          <p:cNvPr id="4" name="Text Placeholder 3"/>
          <p:cNvSpPr>
            <a:spLocks noGrp="1"/>
          </p:cNvSpPr>
          <p:nvPr>
            <p:ph type="body" idx="14"/>
          </p:nvPr>
        </p:nvSpPr>
        <p:spPr/>
        <p:txBody>
          <a:bodyPr wrap="square">
            <a:normAutofit fontScale="92500" lnSpcReduction="20000"/>
          </a:bodyPr>
          <a:lstStyle/>
          <a:p>
            <a:r>
              <a:t>Every figure is computed directly from the 36-row A/B test archive; controlled figures compare test vs control, single-group figures compare against pre-launch baseline.</a:t>
            </a:r>
          </a:p>
        </p:txBody>
      </p:sp>
      <p:graphicFrame>
        <p:nvGraphicFramePr>
          <p:cNvPr id="5" name="Chart 4"/>
          <p:cNvGraphicFramePr>
            <a:graphicFrameLocks noGrp="1"/>
          </p:cNvGraphicFramePr>
          <p:nvPr/>
        </p:nvGraphicFramePr>
        <p:xfrm>
          <a:off x="612648" y="1847088"/>
          <a:ext cx="10972800" cy="379476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Brand in the title — it depends</a:t>
            </a:r>
          </a:p>
        </p:txBody>
      </p:sp>
      <p:sp>
        <p:nvSpPr>
          <p:cNvPr id="3" name="Text Placeholder 2"/>
          <p:cNvSpPr>
            <a:spLocks noGrp="1"/>
          </p:cNvSpPr>
          <p:nvPr>
            <p:ph type="body" idx="13"/>
          </p:nvPr>
        </p:nvSpPr>
        <p:spPr/>
        <p:txBody>
          <a:bodyPr wrap="square"/>
          <a:lstStyle/>
          <a:p>
            <a:r>
              <a:t>Does dropping "Superdry" from the title help?</a:t>
            </a:r>
          </a:p>
        </p:txBody>
      </p:sp>
      <p:sp>
        <p:nvSpPr>
          <p:cNvPr id="4" name="Text Placeholder 3"/>
          <p:cNvSpPr>
            <a:spLocks noGrp="1"/>
          </p:cNvSpPr>
          <p:nvPr>
            <p:ph type="body" idx="1"/>
          </p:nvPr>
        </p:nvSpPr>
        <p:spPr/>
        <p:txBody>
          <a:bodyPr wrap="square"/>
          <a:lstStyle/>
          <a:p>
            <a:r>
              <a:t>T-shirts  +27.8% clicks</a:t>
            </a:r>
          </a:p>
        </p:txBody>
      </p:sp>
      <p:sp>
        <p:nvSpPr>
          <p:cNvPr id="5" name="Text Placeholder 4"/>
          <p:cNvSpPr>
            <a:spLocks noGrp="1"/>
          </p:cNvSpPr>
          <p:nvPr>
            <p:ph type="body" idx="2"/>
          </p:nvPr>
        </p:nvSpPr>
        <p:spPr/>
        <p:txBody>
          <a:bodyPr wrap="square"/>
          <a:lstStyle/>
          <a:p>
            <a:r>
              <a:rPr sz="1500"/>
              <a:t>The brand-free title won. Freeing up title space for descriptive keywords helps commodity lines, where shoppers search by product rather than by label.</a:t>
            </a:r>
          </a:p>
        </p:txBody>
      </p:sp>
      <p:sp>
        <p:nvSpPr>
          <p:cNvPr id="6" name="Text Placeholder 5"/>
          <p:cNvSpPr>
            <a:spLocks noGrp="1"/>
          </p:cNvSpPr>
          <p:nvPr>
            <p:ph type="body" idx="3"/>
          </p:nvPr>
        </p:nvSpPr>
        <p:spPr/>
        <p:txBody>
          <a:bodyPr wrap="square"/>
          <a:lstStyle/>
          <a:p>
            <a:r>
              <a:t>Dresses  −8.0%</a:t>
            </a:r>
          </a:p>
        </p:txBody>
      </p:sp>
      <p:sp>
        <p:nvSpPr>
          <p:cNvPr id="7" name="Text Placeholder 6"/>
          <p:cNvSpPr>
            <a:spLocks noGrp="1"/>
          </p:cNvSpPr>
          <p:nvPr>
            <p:ph type="body" idx="4"/>
          </p:nvPr>
        </p:nvSpPr>
        <p:spPr/>
        <p:txBody>
          <a:bodyPr wrap="square"/>
          <a:lstStyle/>
          <a:p>
            <a:r>
              <a:rPr sz="1500"/>
              <a:t>Keeping the brand won. The Superdry name still pulls its weight on fashion-led lines, where the label is part of what is being searched for.</a:t>
            </a:r>
          </a:p>
        </p:txBody>
      </p:sp>
      <p:sp>
        <p:nvSpPr>
          <p:cNvPr id="8" name="Text Placeholder 7"/>
          <p:cNvSpPr>
            <a:spLocks noGrp="1"/>
          </p:cNvSpPr>
          <p:nvPr>
            <p:ph type="body" idx="14"/>
          </p:nvPr>
        </p:nvSpPr>
        <p:spPr/>
        <p:txBody>
          <a:bodyPr wrap="square"/>
          <a:lstStyle/>
          <a:p>
            <a:r>
              <a:t>Title strategy should be set per category, not globally — a non-obvious result, and one of the more useful things the archive produced.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Four launches that woke dormant stock</a:t>
            </a:r>
          </a:p>
        </p:txBody>
      </p:sp>
      <p:sp>
        <p:nvSpPr>
          <p:cNvPr id="3" name="Text Placeholder 2"/>
          <p:cNvSpPr>
            <a:spLocks noGrp="1"/>
          </p:cNvSpPr>
          <p:nvPr>
            <p:ph type="body" idx="13"/>
          </p:nvPr>
        </p:nvSpPr>
        <p:spPr/>
        <p:txBody>
          <a:bodyPr wrap="square"/>
          <a:lstStyle/>
          <a:p>
            <a:r>
              <a:rPr dirty="0"/>
              <a:t>Shown separately</a:t>
            </a:r>
            <a:r>
              <a:rPr lang="en-GB" dirty="0"/>
              <a:t> – events activation</a:t>
            </a:r>
            <a:endParaRPr dirty="0"/>
          </a:p>
        </p:txBody>
      </p:sp>
      <p:sp>
        <p:nvSpPr>
          <p:cNvPr id="4" name="Text Placeholder 3"/>
          <p:cNvSpPr>
            <a:spLocks noGrp="1"/>
          </p:cNvSpPr>
          <p:nvPr>
            <p:ph type="body" idx="1"/>
          </p:nvPr>
        </p:nvSpPr>
        <p:spPr/>
        <p:txBody>
          <a:bodyPr wrap="square">
            <a:normAutofit fontScale="92500" lnSpcReduction="10000"/>
          </a:bodyPr>
          <a:lstStyle/>
          <a:p>
            <a:r>
              <a:rPr sz="3000">
                <a:solidFill>
                  <a:srgbClr val="F7941E"/>
                </a:solidFill>
              </a:rPr>
              <a:t>+14,047%</a:t>
            </a:r>
          </a:p>
        </p:txBody>
      </p:sp>
      <p:sp>
        <p:nvSpPr>
          <p:cNvPr id="5" name="Text Placeholder 4"/>
          <p:cNvSpPr>
            <a:spLocks noGrp="1"/>
          </p:cNvSpPr>
          <p:nvPr>
            <p:ph type="body" idx="2"/>
          </p:nvPr>
        </p:nvSpPr>
        <p:spPr/>
        <p:txBody>
          <a:bodyPr wrap="square"/>
          <a:lstStyle/>
          <a:p>
            <a:r>
              <a:rPr sz="1400"/>
              <a:t>Robes — impressions</a:t>
            </a:r>
          </a:p>
        </p:txBody>
      </p:sp>
      <p:sp>
        <p:nvSpPr>
          <p:cNvPr id="6" name="Text Placeholder 5"/>
          <p:cNvSpPr>
            <a:spLocks noGrp="1"/>
          </p:cNvSpPr>
          <p:nvPr>
            <p:ph type="body" idx="3"/>
          </p:nvPr>
        </p:nvSpPr>
        <p:spPr/>
        <p:txBody>
          <a:bodyPr wrap="square">
            <a:normAutofit fontScale="92500" lnSpcReduction="10000"/>
          </a:bodyPr>
          <a:lstStyle/>
          <a:p>
            <a:r>
              <a:rPr sz="3000">
                <a:solidFill>
                  <a:srgbClr val="F7941E"/>
                </a:solidFill>
              </a:rPr>
              <a:t>+1,566%</a:t>
            </a:r>
          </a:p>
        </p:txBody>
      </p:sp>
      <p:sp>
        <p:nvSpPr>
          <p:cNvPr id="7" name="Text Placeholder 6"/>
          <p:cNvSpPr>
            <a:spLocks noGrp="1"/>
          </p:cNvSpPr>
          <p:nvPr>
            <p:ph type="body" idx="4"/>
          </p:nvPr>
        </p:nvSpPr>
        <p:spPr/>
        <p:txBody>
          <a:bodyPr wrap="square"/>
          <a:lstStyle/>
          <a:p>
            <a:r>
              <a:rPr sz="1400"/>
              <a:t>Jackets Sale</a:t>
            </a:r>
          </a:p>
        </p:txBody>
      </p:sp>
      <p:sp>
        <p:nvSpPr>
          <p:cNvPr id="8" name="Text Placeholder 7"/>
          <p:cNvSpPr>
            <a:spLocks noGrp="1"/>
          </p:cNvSpPr>
          <p:nvPr>
            <p:ph type="body" idx="5"/>
          </p:nvPr>
        </p:nvSpPr>
        <p:spPr/>
        <p:txBody>
          <a:bodyPr wrap="square">
            <a:normAutofit fontScale="92500" lnSpcReduction="10000"/>
          </a:bodyPr>
          <a:lstStyle/>
          <a:p>
            <a:r>
              <a:rPr sz="3000">
                <a:solidFill>
                  <a:srgbClr val="F7941E"/>
                </a:solidFill>
              </a:rPr>
              <a:t>+668%</a:t>
            </a:r>
          </a:p>
        </p:txBody>
      </p:sp>
      <p:sp>
        <p:nvSpPr>
          <p:cNvPr id="9" name="Text Placeholder 8"/>
          <p:cNvSpPr>
            <a:spLocks noGrp="1"/>
          </p:cNvSpPr>
          <p:nvPr>
            <p:ph type="body" idx="6"/>
          </p:nvPr>
        </p:nvSpPr>
        <p:spPr/>
        <p:txBody>
          <a:bodyPr wrap="square"/>
          <a:lstStyle/>
          <a:p>
            <a:r>
              <a:rPr sz="1400"/>
              <a:t>Summer Sale</a:t>
            </a:r>
          </a:p>
        </p:txBody>
      </p:sp>
      <p:sp>
        <p:nvSpPr>
          <p:cNvPr id="10" name="Text Placeholder 9"/>
          <p:cNvSpPr>
            <a:spLocks noGrp="1"/>
          </p:cNvSpPr>
          <p:nvPr>
            <p:ph type="body" idx="7"/>
          </p:nvPr>
        </p:nvSpPr>
        <p:spPr/>
        <p:txBody>
          <a:bodyPr wrap="square">
            <a:normAutofit fontScale="92500" lnSpcReduction="10000"/>
          </a:bodyPr>
          <a:lstStyle/>
          <a:p>
            <a:r>
              <a:rPr sz="3000">
                <a:solidFill>
                  <a:srgbClr val="F7941E"/>
                </a:solidFill>
              </a:rPr>
              <a:t>+165%</a:t>
            </a:r>
          </a:p>
        </p:txBody>
      </p:sp>
      <p:sp>
        <p:nvSpPr>
          <p:cNvPr id="11" name="Text Placeholder 10"/>
          <p:cNvSpPr>
            <a:spLocks noGrp="1"/>
          </p:cNvSpPr>
          <p:nvPr>
            <p:ph type="body" idx="8"/>
          </p:nvPr>
        </p:nvSpPr>
        <p:spPr/>
        <p:txBody>
          <a:bodyPr wrap="square"/>
          <a:lstStyle/>
          <a:p>
            <a:r>
              <a:rPr sz="1400"/>
              <a:t>Football tees</a:t>
            </a:r>
          </a:p>
        </p:txBody>
      </p:sp>
      <p:sp>
        <p:nvSpPr>
          <p:cNvPr id="12" name="Text Placeholder 11"/>
          <p:cNvSpPr>
            <a:spLocks noGrp="1"/>
          </p:cNvSpPr>
          <p:nvPr>
            <p:ph type="body" idx="14"/>
          </p:nvPr>
        </p:nvSpPr>
        <p:spPr/>
        <p:txBody>
          <a:bodyPr wrap="square">
            <a:normAutofit fontScale="92500"/>
          </a:bodyPr>
          <a:lstStyle/>
          <a:p>
            <a:r>
              <a:rPr dirty="0"/>
              <a:t>These lines had almost no impressions before the keyword work, so the percentage is real but reflects activation from a near-zero base, not like-for-like uplift.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08  ·  CHAPTER EIGHT</a:t>
            </a:r>
          </a:p>
        </p:txBody>
      </p:sp>
      <p:sp>
        <p:nvSpPr>
          <p:cNvPr id="3" name="Title 2"/>
          <p:cNvSpPr>
            <a:spLocks noGrp="1"/>
          </p:cNvSpPr>
          <p:nvPr>
            <p:ph type="title"/>
          </p:nvPr>
        </p:nvSpPr>
        <p:spPr/>
        <p:txBody>
          <a:bodyPr wrap="square"/>
          <a:lstStyle/>
          <a:p>
            <a:r>
              <a:t>Team &amp; ways of working</a:t>
            </a:r>
          </a:p>
        </p:txBody>
      </p:sp>
      <p:sp>
        <p:nvSpPr>
          <p:cNvPr id="4" name="Text Placeholder 3"/>
          <p:cNvSpPr>
            <a:spLocks noGrp="1"/>
          </p:cNvSpPr>
          <p:nvPr>
            <p:ph type="body" idx="1"/>
          </p:nvPr>
        </p:nvSpPr>
        <p:spPr/>
        <p:txBody>
          <a:bodyPr wrap="square"/>
          <a:lstStyle/>
          <a:p>
            <a:r>
              <a:t>Who runs the account, and how the work moves.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One manager, one pod, one cadence</a:t>
            </a:r>
          </a:p>
        </p:txBody>
      </p:sp>
      <p:sp>
        <p:nvSpPr>
          <p:cNvPr id="3" name="Text Placeholder 2"/>
          <p:cNvSpPr>
            <a:spLocks noGrp="1"/>
          </p:cNvSpPr>
          <p:nvPr>
            <p:ph type="body" idx="13"/>
          </p:nvPr>
        </p:nvSpPr>
        <p:spPr/>
        <p:txBody>
          <a:bodyPr wrap="square"/>
          <a:lstStyle/>
          <a:p>
            <a:r>
              <a:t>Account management in London; ASPL delivers the feed work.</a:t>
            </a:r>
          </a:p>
        </p:txBody>
      </p:sp>
      <p:sp>
        <p:nvSpPr>
          <p:cNvPr id="4" name="Text Placeholder 3"/>
          <p:cNvSpPr>
            <a:spLocks noGrp="1"/>
          </p:cNvSpPr>
          <p:nvPr>
            <p:ph type="body" idx="1"/>
          </p:nvPr>
        </p:nvSpPr>
        <p:spPr/>
        <p:txBody>
          <a:bodyPr wrap="square"/>
          <a:lstStyle/>
          <a:p>
            <a:r>
              <a:t>Account team</a:t>
            </a:r>
          </a:p>
        </p:txBody>
      </p:sp>
      <p:sp>
        <p:nvSpPr>
          <p:cNvPr id="5" name="Text Placeholder 4"/>
          <p:cNvSpPr>
            <a:spLocks noGrp="1"/>
          </p:cNvSpPr>
          <p:nvPr>
            <p:ph type="body" idx="2"/>
          </p:nvPr>
        </p:nvSpPr>
        <p:spPr/>
        <p:txBody>
          <a:bodyPr wrap="square"/>
          <a:lstStyle/>
          <a:p>
            <a:r>
              <a:rPr sz="1500" dirty="0"/>
              <a:t>Ray leads the account: strategy, commercials and client relationship. Steven </a:t>
            </a:r>
            <a:r>
              <a:rPr sz="1500" dirty="0" err="1"/>
              <a:t>Opuni</a:t>
            </a:r>
            <a:r>
              <a:rPr lang="en-GB" sz="1500" dirty="0"/>
              <a:t> is our</a:t>
            </a:r>
            <a:r>
              <a:rPr sz="1500" dirty="0"/>
              <a:t> account manager across markets and campaigns.</a:t>
            </a:r>
          </a:p>
        </p:txBody>
      </p:sp>
      <p:sp>
        <p:nvSpPr>
          <p:cNvPr id="6" name="Text Placeholder 5"/>
          <p:cNvSpPr>
            <a:spLocks noGrp="1"/>
          </p:cNvSpPr>
          <p:nvPr>
            <p:ph type="body" idx="3"/>
          </p:nvPr>
        </p:nvSpPr>
        <p:spPr/>
        <p:txBody>
          <a:bodyPr wrap="square"/>
          <a:lstStyle/>
          <a:p>
            <a:r>
              <a:rPr dirty="0"/>
              <a:t>ASPL content team</a:t>
            </a:r>
          </a:p>
        </p:txBody>
      </p:sp>
      <p:sp>
        <p:nvSpPr>
          <p:cNvPr id="7" name="Text Placeholder 6"/>
          <p:cNvSpPr>
            <a:spLocks noGrp="1"/>
          </p:cNvSpPr>
          <p:nvPr>
            <p:ph type="body" idx="4"/>
          </p:nvPr>
        </p:nvSpPr>
        <p:spPr/>
        <p:txBody>
          <a:bodyPr wrap="square"/>
          <a:lstStyle/>
          <a:p>
            <a:r>
              <a:rPr sz="1500" dirty="0"/>
              <a:t>Dino, Febin, Gary, Lara, Vitus, Tony, TK Raja and Sivanath deliver the category mapping, data fields, titles, keywords and rule builds behind the 1,294 tasks.</a:t>
            </a:r>
          </a:p>
        </p:txBody>
      </p:sp>
      <p:sp>
        <p:nvSpPr>
          <p:cNvPr id="8" name="Text Placeholder 7"/>
          <p:cNvSpPr>
            <a:spLocks noGrp="1"/>
          </p:cNvSpPr>
          <p:nvPr>
            <p:ph type="body" idx="5"/>
          </p:nvPr>
        </p:nvSpPr>
        <p:spPr/>
        <p:txBody>
          <a:bodyPr wrap="square"/>
          <a:lstStyle/>
          <a:p>
            <a:r>
              <a:t>Governance</a:t>
            </a:r>
          </a:p>
        </p:txBody>
      </p:sp>
      <p:sp>
        <p:nvSpPr>
          <p:cNvPr id="9" name="Text Placeholder 8"/>
          <p:cNvSpPr>
            <a:spLocks noGrp="1"/>
          </p:cNvSpPr>
          <p:nvPr>
            <p:ph type="body" idx="6"/>
          </p:nvPr>
        </p:nvSpPr>
        <p:spPr/>
        <p:txBody>
          <a:bodyPr wrap="square"/>
          <a:lstStyle/>
          <a:p>
            <a:r>
              <a:rPr sz="1500" dirty="0"/>
              <a:t>A standing monthly catch-up between Superdry, the media agency and FeedSpark, with ad-hoc tickets flowing in by email between calls.</a:t>
            </a:r>
          </a:p>
        </p:txBody>
      </p:sp>
      <p:sp>
        <p:nvSpPr>
          <p:cNvPr id="10" name="Text Placeholder 9"/>
          <p:cNvSpPr>
            <a:spLocks noGrp="1"/>
          </p:cNvSpPr>
          <p:nvPr>
            <p:ph type="body" idx="14"/>
          </p:nvPr>
        </p:nvSpPr>
        <p:spPr/>
        <p:txBody>
          <a:bodyPr wrap="square"/>
          <a:lstStyle/>
          <a:p>
            <a:r>
              <a:t>A standing SD × BFBC × FeedSpark monthly catch-up aligns the brand, the media agency and FeedSpark; ad-hoc tickets flow in by email between calls.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09  ·  CHAPTER NINE</a:t>
            </a:r>
          </a:p>
        </p:txBody>
      </p:sp>
      <p:sp>
        <p:nvSpPr>
          <p:cNvPr id="3" name="Title 2"/>
          <p:cNvSpPr>
            <a:spLocks noGrp="1"/>
          </p:cNvSpPr>
          <p:nvPr>
            <p:ph type="title"/>
          </p:nvPr>
        </p:nvSpPr>
        <p:spPr/>
        <p:txBody>
          <a:bodyPr wrap="square"/>
          <a:lstStyle/>
          <a:p>
            <a:r>
              <a:t>Feed optimisation score</a:t>
            </a:r>
          </a:p>
        </p:txBody>
      </p:sp>
      <p:sp>
        <p:nvSpPr>
          <p:cNvPr id="4" name="Text Placeholder 3"/>
          <p:cNvSpPr>
            <a:spLocks noGrp="1"/>
          </p:cNvSpPr>
          <p:nvPr>
            <p:ph type="body" idx="1"/>
          </p:nvPr>
        </p:nvSpPr>
        <p:spPr/>
        <p:txBody>
          <a:bodyPr wrap="square"/>
          <a:lstStyle/>
          <a:p>
            <a:r>
              <a:t>A 1–100 read on how complete the optimisation is, lane by lane.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Superdry feed optimisation — 70 / 100</a:t>
            </a:r>
          </a:p>
        </p:txBody>
      </p:sp>
      <p:sp>
        <p:nvSpPr>
          <p:cNvPr id="3" name="Text Placeholder 2"/>
          <p:cNvSpPr>
            <a:spLocks noGrp="1"/>
          </p:cNvSpPr>
          <p:nvPr>
            <p:ph type="body" idx="13"/>
          </p:nvPr>
        </p:nvSpPr>
        <p:spPr/>
        <p:txBody>
          <a:bodyPr wrap="square"/>
          <a:lstStyle/>
          <a:p>
            <a:r>
              <a:rPr dirty="0"/>
              <a:t>Task-completion coverage across the project plan</a:t>
            </a:r>
          </a:p>
        </p:txBody>
      </p:sp>
      <p:sp>
        <p:nvSpPr>
          <p:cNvPr id="4" name="Text Placeholder 3"/>
          <p:cNvSpPr>
            <a:spLocks noGrp="1"/>
          </p:cNvSpPr>
          <p:nvPr>
            <p:ph type="body" idx="1"/>
          </p:nvPr>
        </p:nvSpPr>
        <p:spPr/>
        <p:txBody>
          <a:bodyPr wrap="square"/>
          <a:lstStyle/>
          <a:p>
            <a:r>
              <a:t>89%  Custom labels</a:t>
            </a:r>
          </a:p>
        </p:txBody>
      </p:sp>
      <p:sp>
        <p:nvSpPr>
          <p:cNvPr id="5" name="Text Placeholder 4"/>
          <p:cNvSpPr>
            <a:spLocks noGrp="1"/>
          </p:cNvSpPr>
          <p:nvPr>
            <p:ph type="body" idx="2"/>
          </p:nvPr>
        </p:nvSpPr>
        <p:spPr/>
        <p:txBody>
          <a:bodyPr wrap="square"/>
          <a:lstStyle/>
          <a:p>
            <a:r>
              <a:rPr sz="1400"/>
              <a:t>16 of 18 tasks closed — CL0–CL4 architecture live. The strongest lane.</a:t>
            </a:r>
          </a:p>
        </p:txBody>
      </p:sp>
      <p:sp>
        <p:nvSpPr>
          <p:cNvPr id="6" name="Text Placeholder 5"/>
          <p:cNvSpPr>
            <a:spLocks noGrp="1"/>
          </p:cNvSpPr>
          <p:nvPr>
            <p:ph type="body" idx="3"/>
          </p:nvPr>
        </p:nvSpPr>
        <p:spPr/>
        <p:txBody>
          <a:bodyPr wrap="square"/>
          <a:lstStyle/>
          <a:p>
            <a:r>
              <a:t>75%  Testing</a:t>
            </a:r>
          </a:p>
        </p:txBody>
      </p:sp>
      <p:sp>
        <p:nvSpPr>
          <p:cNvPr id="7" name="Text Placeholder 6"/>
          <p:cNvSpPr>
            <a:spLocks noGrp="1"/>
          </p:cNvSpPr>
          <p:nvPr>
            <p:ph type="body" idx="4"/>
          </p:nvPr>
        </p:nvSpPr>
        <p:spPr/>
        <p:txBody>
          <a:bodyPr wrap="square"/>
          <a:lstStyle/>
          <a:p>
            <a:r>
              <a:rPr sz="1400"/>
              <a:t>6 of 8 tasks closed — an active, live testing programme.</a:t>
            </a:r>
          </a:p>
        </p:txBody>
      </p:sp>
      <p:sp>
        <p:nvSpPr>
          <p:cNvPr id="8" name="Text Placeholder 7"/>
          <p:cNvSpPr>
            <a:spLocks noGrp="1"/>
          </p:cNvSpPr>
          <p:nvPr>
            <p:ph type="body" idx="5"/>
          </p:nvPr>
        </p:nvSpPr>
        <p:spPr/>
        <p:txBody>
          <a:bodyPr wrap="square"/>
          <a:lstStyle/>
          <a:p>
            <a:r>
              <a:t>69%  Keywords</a:t>
            </a:r>
          </a:p>
        </p:txBody>
      </p:sp>
      <p:sp>
        <p:nvSpPr>
          <p:cNvPr id="9" name="Text Placeholder 8"/>
          <p:cNvSpPr>
            <a:spLocks noGrp="1"/>
          </p:cNvSpPr>
          <p:nvPr>
            <p:ph type="body" idx="6"/>
          </p:nvPr>
        </p:nvSpPr>
        <p:spPr/>
        <p:txBody>
          <a:bodyPr wrap="square"/>
          <a:lstStyle/>
          <a:p>
            <a:r>
              <a:rPr sz="1400"/>
              <a:t>20 of 29 closed. Jackets, Coats, Dresses, Shorts done; seasonal mapping open.</a:t>
            </a:r>
          </a:p>
        </p:txBody>
      </p:sp>
      <p:sp>
        <p:nvSpPr>
          <p:cNvPr id="10" name="Text Placeholder 9"/>
          <p:cNvSpPr>
            <a:spLocks noGrp="1"/>
          </p:cNvSpPr>
          <p:nvPr>
            <p:ph type="body" idx="7"/>
          </p:nvPr>
        </p:nvSpPr>
        <p:spPr/>
        <p:txBody>
          <a:bodyPr wrap="square"/>
          <a:lstStyle/>
          <a:p>
            <a:r>
              <a:t>67%  Imagery</a:t>
            </a:r>
          </a:p>
        </p:txBody>
      </p:sp>
      <p:sp>
        <p:nvSpPr>
          <p:cNvPr id="11" name="Text Placeholder 10"/>
          <p:cNvSpPr>
            <a:spLocks noGrp="1"/>
          </p:cNvSpPr>
          <p:nvPr>
            <p:ph type="body" idx="8"/>
          </p:nvPr>
        </p:nvSpPr>
        <p:spPr/>
        <p:txBody>
          <a:bodyPr wrap="square"/>
          <a:lstStyle/>
          <a:p>
            <a:r>
              <a:rPr sz="1400"/>
              <a:t>20 of 30 closed. Overlays live; dynamic stock overlay open.</a:t>
            </a:r>
          </a:p>
        </p:txBody>
      </p:sp>
      <p:sp>
        <p:nvSpPr>
          <p:cNvPr id="12" name="Text Placeholder 11"/>
          <p:cNvSpPr>
            <a:spLocks noGrp="1"/>
          </p:cNvSpPr>
          <p:nvPr>
            <p:ph type="body" idx="9"/>
          </p:nvPr>
        </p:nvSpPr>
        <p:spPr/>
        <p:txBody>
          <a:bodyPr wrap="square"/>
          <a:lstStyle/>
          <a:p>
            <a:r>
              <a:t>57%  Titles</a:t>
            </a:r>
          </a:p>
        </p:txBody>
      </p:sp>
      <p:sp>
        <p:nvSpPr>
          <p:cNvPr id="13" name="Text Placeholder 12"/>
          <p:cNvSpPr>
            <a:spLocks noGrp="1"/>
          </p:cNvSpPr>
          <p:nvPr>
            <p:ph type="body" idx="10"/>
          </p:nvPr>
        </p:nvSpPr>
        <p:spPr/>
        <p:txBody>
          <a:bodyPr wrap="square"/>
          <a:lstStyle/>
          <a:p>
            <a:r>
              <a:rPr sz="1400"/>
              <a:t>8 of 14 closed. Brand-at-end and CULT line done; search-term tests open.</a:t>
            </a:r>
          </a:p>
        </p:txBody>
      </p:sp>
      <p:sp>
        <p:nvSpPr>
          <p:cNvPr id="14" name="Text Placeholder 13"/>
          <p:cNvSpPr>
            <a:spLocks noGrp="1"/>
          </p:cNvSpPr>
          <p:nvPr>
            <p:ph type="body" idx="11"/>
          </p:nvPr>
        </p:nvSpPr>
        <p:spPr/>
        <p:txBody>
          <a:bodyPr wrap="square"/>
          <a:lstStyle/>
          <a:p>
            <a:r>
              <a:rPr dirty="0"/>
              <a:t>20%  Data fields</a:t>
            </a:r>
          </a:p>
        </p:txBody>
      </p:sp>
      <p:sp>
        <p:nvSpPr>
          <p:cNvPr id="15" name="Text Placeholder 14"/>
          <p:cNvSpPr>
            <a:spLocks noGrp="1"/>
          </p:cNvSpPr>
          <p:nvPr>
            <p:ph type="body" idx="12"/>
          </p:nvPr>
        </p:nvSpPr>
        <p:spPr/>
        <p:txBody>
          <a:bodyPr wrap="square"/>
          <a:lstStyle/>
          <a:p>
            <a:r>
              <a:rPr sz="1400" dirty="0"/>
              <a:t>1 of 5 closed. Mandatory-field back-filling in flight — the P0 gap.</a:t>
            </a:r>
          </a:p>
        </p:txBody>
      </p:sp>
      <p:sp>
        <p:nvSpPr>
          <p:cNvPr id="16" name="Text Placeholder 15"/>
          <p:cNvSpPr>
            <a:spLocks noGrp="1"/>
          </p:cNvSpPr>
          <p:nvPr>
            <p:ph type="body" idx="14"/>
          </p:nvPr>
        </p:nvSpPr>
        <p:spPr/>
        <p:txBody>
          <a:bodyPr wrap="square">
            <a:normAutofit fontScale="92500" lnSpcReduction="20000"/>
          </a:bodyPr>
          <a:lstStyle/>
          <a:p>
            <a:r>
              <a:rPr dirty="0"/>
              <a:t>Other lanes: optimisation 65%, feed &amp; technical 65%, channels 69%, account &amp; strategy 50%, product type 33%. Product type and data fields are the two pulling the composite down.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The GB feed, scored — 22,527 SKUs</a:t>
            </a:r>
          </a:p>
        </p:txBody>
      </p:sp>
      <p:sp>
        <p:nvSpPr>
          <p:cNvPr id="3" name="Text Placeholder 2"/>
          <p:cNvSpPr>
            <a:spLocks noGrp="1"/>
          </p:cNvSpPr>
          <p:nvPr>
            <p:ph type="body" idx="13"/>
          </p:nvPr>
        </p:nvSpPr>
        <p:spPr/>
        <p:txBody>
          <a:bodyPr wrap="square"/>
          <a:lstStyle/>
          <a:p>
            <a:r>
              <a:t>Every title, attribute, image slot and label, read from the export.</a:t>
            </a:r>
          </a:p>
        </p:txBody>
      </p:sp>
      <p:sp>
        <p:nvSpPr>
          <p:cNvPr id="4" name="Text Placeholder 3"/>
          <p:cNvSpPr>
            <a:spLocks noGrp="1"/>
          </p:cNvSpPr>
          <p:nvPr>
            <p:ph type="body" idx="1"/>
          </p:nvPr>
        </p:nvSpPr>
        <p:spPr/>
        <p:txBody>
          <a:bodyPr wrap="square">
            <a:normAutofit lnSpcReduction="10000"/>
          </a:bodyPr>
          <a:lstStyle/>
          <a:p>
            <a:r>
              <a:rPr sz="2800">
                <a:solidFill>
                  <a:srgbClr val="F7941E"/>
                </a:solidFill>
              </a:rPr>
              <a:t>22,527</a:t>
            </a:r>
          </a:p>
        </p:txBody>
      </p:sp>
      <p:sp>
        <p:nvSpPr>
          <p:cNvPr id="5" name="Text Placeholder 4"/>
          <p:cNvSpPr>
            <a:spLocks noGrp="1"/>
          </p:cNvSpPr>
          <p:nvPr>
            <p:ph type="body" idx="2"/>
          </p:nvPr>
        </p:nvSpPr>
        <p:spPr/>
        <p:txBody>
          <a:bodyPr wrap="square"/>
          <a:lstStyle/>
          <a:p>
            <a:r>
              <a:rPr sz="1400"/>
              <a:t>SKUs analysed · GB feed</a:t>
            </a:r>
          </a:p>
        </p:txBody>
      </p:sp>
      <p:sp>
        <p:nvSpPr>
          <p:cNvPr id="6" name="Text Placeholder 5"/>
          <p:cNvSpPr>
            <a:spLocks noGrp="1"/>
          </p:cNvSpPr>
          <p:nvPr>
            <p:ph type="body" idx="3"/>
          </p:nvPr>
        </p:nvSpPr>
        <p:spPr/>
        <p:txBody>
          <a:bodyPr wrap="square">
            <a:normAutofit lnSpcReduction="10000"/>
          </a:bodyPr>
          <a:lstStyle/>
          <a:p>
            <a:r>
              <a:rPr sz="2800">
                <a:solidFill>
                  <a:srgbClr val="F7941E"/>
                </a:solidFill>
              </a:rPr>
              <a:t>63%</a:t>
            </a:r>
          </a:p>
        </p:txBody>
      </p:sp>
      <p:sp>
        <p:nvSpPr>
          <p:cNvPr id="7" name="Text Placeholder 6"/>
          <p:cNvSpPr>
            <a:spLocks noGrp="1"/>
          </p:cNvSpPr>
          <p:nvPr>
            <p:ph type="body" idx="4"/>
          </p:nvPr>
        </p:nvSpPr>
        <p:spPr/>
        <p:txBody>
          <a:bodyPr wrap="square"/>
          <a:lstStyle/>
          <a:p>
            <a:r>
              <a:rPr sz="1400" dirty="0"/>
              <a:t>Titles in the 80–120 char</a:t>
            </a:r>
            <a:r>
              <a:rPr lang="en-GB" dirty="0"/>
              <a:t> range, above industry standard</a:t>
            </a:r>
            <a:endParaRPr sz="1400" dirty="0"/>
          </a:p>
        </p:txBody>
      </p:sp>
      <p:sp>
        <p:nvSpPr>
          <p:cNvPr id="8" name="Text Placeholder 7"/>
          <p:cNvSpPr>
            <a:spLocks noGrp="1"/>
          </p:cNvSpPr>
          <p:nvPr>
            <p:ph type="body" idx="5"/>
          </p:nvPr>
        </p:nvSpPr>
        <p:spPr/>
        <p:txBody>
          <a:bodyPr wrap="square">
            <a:normAutofit lnSpcReduction="10000"/>
          </a:bodyPr>
          <a:lstStyle/>
          <a:p>
            <a:r>
              <a:rPr sz="2800">
                <a:solidFill>
                  <a:srgbClr val="F7941E"/>
                </a:solidFill>
              </a:rPr>
              <a:t>58%</a:t>
            </a:r>
          </a:p>
        </p:txBody>
      </p:sp>
      <p:sp>
        <p:nvSpPr>
          <p:cNvPr id="9" name="Text Placeholder 8"/>
          <p:cNvSpPr>
            <a:spLocks noGrp="1"/>
          </p:cNvSpPr>
          <p:nvPr>
            <p:ph type="body" idx="6"/>
          </p:nvPr>
        </p:nvSpPr>
        <p:spPr/>
        <p:txBody>
          <a:bodyPr wrap="square"/>
          <a:lstStyle/>
          <a:p>
            <a:r>
              <a:rPr sz="1400"/>
              <a:t>Descriptions at 500+ chars</a:t>
            </a:r>
          </a:p>
        </p:txBody>
      </p:sp>
      <p:sp>
        <p:nvSpPr>
          <p:cNvPr id="10" name="Text Placeholder 9"/>
          <p:cNvSpPr>
            <a:spLocks noGrp="1"/>
          </p:cNvSpPr>
          <p:nvPr>
            <p:ph type="body" idx="7"/>
          </p:nvPr>
        </p:nvSpPr>
        <p:spPr/>
        <p:txBody>
          <a:bodyPr wrap="square">
            <a:normAutofit lnSpcReduction="10000"/>
          </a:bodyPr>
          <a:lstStyle/>
          <a:p>
            <a:r>
              <a:rPr sz="2800" dirty="0">
                <a:solidFill>
                  <a:srgbClr val="F7941E"/>
                </a:solidFill>
              </a:rPr>
              <a:t>100%</a:t>
            </a:r>
          </a:p>
        </p:txBody>
      </p:sp>
      <p:sp>
        <p:nvSpPr>
          <p:cNvPr id="11" name="Text Placeholder 10"/>
          <p:cNvSpPr>
            <a:spLocks noGrp="1"/>
          </p:cNvSpPr>
          <p:nvPr>
            <p:ph type="body" idx="8"/>
          </p:nvPr>
        </p:nvSpPr>
        <p:spPr/>
        <p:txBody>
          <a:bodyPr wrap="square"/>
          <a:lstStyle/>
          <a:p>
            <a:r>
              <a:rPr sz="1400" dirty="0"/>
              <a:t>Core attributes filled — GTIN, </a:t>
            </a:r>
            <a:r>
              <a:rPr sz="1400" dirty="0" err="1"/>
              <a:t>colour</a:t>
            </a:r>
            <a:r>
              <a:rPr sz="1400" dirty="0"/>
              <a:t>, size, gender, brand</a:t>
            </a:r>
          </a:p>
        </p:txBody>
      </p:sp>
      <p:sp>
        <p:nvSpPr>
          <p:cNvPr id="12" name="Text Placeholder 11"/>
          <p:cNvSpPr>
            <a:spLocks noGrp="1"/>
          </p:cNvSpPr>
          <p:nvPr>
            <p:ph type="body" idx="9"/>
          </p:nvPr>
        </p:nvSpPr>
        <p:spPr/>
        <p:txBody>
          <a:bodyPr wrap="square">
            <a:normAutofit lnSpcReduction="10000"/>
          </a:bodyPr>
          <a:lstStyle/>
          <a:p>
            <a:r>
              <a:rPr sz="2800">
                <a:solidFill>
                  <a:srgbClr val="F7941E"/>
                </a:solidFill>
              </a:rPr>
              <a:t>0%</a:t>
            </a:r>
          </a:p>
        </p:txBody>
      </p:sp>
      <p:sp>
        <p:nvSpPr>
          <p:cNvPr id="13" name="Text Placeholder 12"/>
          <p:cNvSpPr>
            <a:spLocks noGrp="1"/>
          </p:cNvSpPr>
          <p:nvPr>
            <p:ph type="body" idx="10"/>
          </p:nvPr>
        </p:nvSpPr>
        <p:spPr/>
        <p:txBody>
          <a:bodyPr wrap="square"/>
          <a:lstStyle/>
          <a:p>
            <a:r>
              <a:rPr sz="1400" dirty="0"/>
              <a:t>Conversational attributes — absent from </a:t>
            </a:r>
            <a:r>
              <a:rPr lang="en-GB" sz="1400" dirty="0"/>
              <a:t>exports</a:t>
            </a:r>
            <a:endParaRPr sz="1400" dirty="0"/>
          </a:p>
        </p:txBody>
      </p:sp>
      <p:sp>
        <p:nvSpPr>
          <p:cNvPr id="14" name="Text Placeholder 13"/>
          <p:cNvSpPr>
            <a:spLocks noGrp="1"/>
          </p:cNvSpPr>
          <p:nvPr>
            <p:ph type="body" idx="14"/>
          </p:nvPr>
        </p:nvSpPr>
        <p:spPr/>
        <p:txBody>
          <a:bodyPr wrap="square"/>
          <a:lstStyle/>
          <a:p>
            <a:r>
              <a:t>This covers the GB market only — DE, FR, IE and the other 15 markets are not in this export, so treat these numbers as GB-specific, not account-wide.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10  ·  CHAPTER TEN</a:t>
            </a:r>
          </a:p>
        </p:txBody>
      </p:sp>
      <p:sp>
        <p:nvSpPr>
          <p:cNvPr id="3" name="Title 2"/>
          <p:cNvSpPr>
            <a:spLocks noGrp="1"/>
          </p:cNvSpPr>
          <p:nvPr>
            <p:ph type="title"/>
          </p:nvPr>
        </p:nvSpPr>
        <p:spPr/>
        <p:txBody>
          <a:bodyPr wrap="square"/>
          <a:lstStyle/>
          <a:p>
            <a:r>
              <a:t>AI readiness</a:t>
            </a:r>
          </a:p>
        </p:txBody>
      </p:sp>
      <p:sp>
        <p:nvSpPr>
          <p:cNvPr id="4" name="Text Placeholder 3"/>
          <p:cNvSpPr>
            <a:spLocks noGrp="1"/>
          </p:cNvSpPr>
          <p:nvPr>
            <p:ph type="body" idx="1"/>
          </p:nvPr>
        </p:nvSpPr>
        <p:spPr/>
        <p:txBody>
          <a:bodyPr wrap="square"/>
          <a:lstStyle/>
          <a:p>
            <a:r>
              <a:t>From an optimised feed to an AI-ready one — where Superdry sits, and the gap to close.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Where Superdry sits on the climb</a:t>
            </a:r>
          </a:p>
        </p:txBody>
      </p:sp>
      <p:sp>
        <p:nvSpPr>
          <p:cNvPr id="3" name="Text Placeholder 2"/>
          <p:cNvSpPr>
            <a:spLocks noGrp="1"/>
          </p:cNvSpPr>
          <p:nvPr>
            <p:ph type="body" idx="13"/>
          </p:nvPr>
        </p:nvSpPr>
        <p:spPr/>
        <p:txBody>
          <a:bodyPr wrap="square"/>
          <a:lstStyle/>
          <a:p>
            <a:r>
              <a:t>"Is the Everest jacket warm enough for a UK winter?"</a:t>
            </a:r>
          </a:p>
        </p:txBody>
      </p:sp>
      <p:sp>
        <p:nvSpPr>
          <p:cNvPr id="4" name="Text Placeholder 3"/>
          <p:cNvSpPr>
            <a:spLocks noGrp="1"/>
          </p:cNvSpPr>
          <p:nvPr>
            <p:ph type="body" idx="1"/>
          </p:nvPr>
        </p:nvSpPr>
        <p:spPr/>
        <p:txBody>
          <a:bodyPr wrap="square"/>
          <a:lstStyle/>
          <a:p>
            <a:r>
              <a:t>Stage 0 — Legacy</a:t>
            </a:r>
          </a:p>
        </p:txBody>
      </p:sp>
      <p:sp>
        <p:nvSpPr>
          <p:cNvPr id="5" name="Text Placeholder 4"/>
          <p:cNvSpPr>
            <a:spLocks noGrp="1"/>
          </p:cNvSpPr>
          <p:nvPr>
            <p:ph type="body" idx="2"/>
          </p:nvPr>
        </p:nvSpPr>
        <p:spPr/>
        <p:txBody>
          <a:bodyPr wrap="square"/>
          <a:lstStyle/>
          <a:p>
            <a:r>
              <a:rPr sz="1400"/>
              <a:t>Feed meets minimum spec. Titles not structured for discovery. Invisible to AI surfaces.</a:t>
            </a:r>
          </a:p>
        </p:txBody>
      </p:sp>
      <p:sp>
        <p:nvSpPr>
          <p:cNvPr id="6" name="Text Placeholder 5"/>
          <p:cNvSpPr>
            <a:spLocks noGrp="1"/>
          </p:cNvSpPr>
          <p:nvPr>
            <p:ph type="body" idx="3"/>
          </p:nvPr>
        </p:nvSpPr>
        <p:spPr/>
        <p:txBody>
          <a:bodyPr wrap="square"/>
          <a:lstStyle/>
          <a:p>
            <a:r>
              <a:t>Tier 1 — Titles &amp; data fields</a:t>
            </a:r>
          </a:p>
        </p:txBody>
      </p:sp>
      <p:sp>
        <p:nvSpPr>
          <p:cNvPr id="7" name="Text Placeholder 6"/>
          <p:cNvSpPr>
            <a:spLocks noGrp="1"/>
          </p:cNvSpPr>
          <p:nvPr>
            <p:ph type="body" idx="4"/>
          </p:nvPr>
        </p:nvSpPr>
        <p:spPr/>
        <p:txBody>
          <a:bodyPr wrap="square"/>
          <a:lstStyle/>
          <a:p>
            <a:r>
              <a:rPr sz="1400" b="1"/>
              <a:t>Superdry is here.</a:t>
            </a:r>
            <a:r>
              <a:rPr sz="1400"/>
              <a:t> Brand position tested and won, category mapping at deepest node, keyword enrichment by category, CL0–CL4 live.</a:t>
            </a:r>
          </a:p>
        </p:txBody>
      </p:sp>
      <p:sp>
        <p:nvSpPr>
          <p:cNvPr id="8" name="Text Placeholder 7"/>
          <p:cNvSpPr>
            <a:spLocks noGrp="1"/>
          </p:cNvSpPr>
          <p:nvPr>
            <p:ph type="body" idx="5"/>
          </p:nvPr>
        </p:nvSpPr>
        <p:spPr/>
        <p:txBody>
          <a:bodyPr wrap="square"/>
          <a:lstStyle/>
          <a:p>
            <a:r>
              <a:t>Tier 2 — Descriptions &amp; answers</a:t>
            </a:r>
          </a:p>
        </p:txBody>
      </p:sp>
      <p:sp>
        <p:nvSpPr>
          <p:cNvPr id="9" name="Text Placeholder 8"/>
          <p:cNvSpPr>
            <a:spLocks noGrp="1"/>
          </p:cNvSpPr>
          <p:nvPr>
            <p:ph type="body" idx="6"/>
          </p:nvPr>
        </p:nvSpPr>
        <p:spPr/>
        <p:txBody>
          <a:bodyPr wrap="square"/>
          <a:lstStyle/>
          <a:p>
            <a:r>
              <a:rPr sz="1400"/>
              <a:t>The meaning layer: data-field back-filling in flight, description enrichment under test, six conversational attributes not yet built.</a:t>
            </a:r>
          </a:p>
        </p:txBody>
      </p:sp>
      <p:sp>
        <p:nvSpPr>
          <p:cNvPr id="10" name="Text Placeholder 9"/>
          <p:cNvSpPr>
            <a:spLocks noGrp="1"/>
          </p:cNvSpPr>
          <p:nvPr>
            <p:ph type="body" idx="7"/>
          </p:nvPr>
        </p:nvSpPr>
        <p:spPr/>
        <p:txBody>
          <a:bodyPr wrap="square"/>
          <a:lstStyle/>
          <a:p>
            <a:r>
              <a:t>Tier 3 — Image analysis</a:t>
            </a:r>
          </a:p>
        </p:txBody>
      </p:sp>
      <p:sp>
        <p:nvSpPr>
          <p:cNvPr id="11" name="Text Placeholder 10"/>
          <p:cNvSpPr>
            <a:spLocks noGrp="1"/>
          </p:cNvSpPr>
          <p:nvPr>
            <p:ph type="body" idx="8"/>
          </p:nvPr>
        </p:nvSpPr>
        <p:spPr/>
        <p:txBody>
          <a:bodyPr wrap="square"/>
          <a:lstStyle/>
          <a:p>
            <a:r>
              <a:rPr sz="1400"/>
              <a:t>The differentiator: Tachyon vision reads product imagery for silhouette, fit, material and use-case, feeding back into titles and descriptions.</a:t>
            </a:r>
          </a:p>
        </p:txBody>
      </p:sp>
      <p:sp>
        <p:nvSpPr>
          <p:cNvPr id="12" name="Text Placeholder 11"/>
          <p:cNvSpPr>
            <a:spLocks noGrp="1"/>
          </p:cNvSpPr>
          <p:nvPr>
            <p:ph type="body" idx="14"/>
          </p:nvPr>
        </p:nvSpPr>
        <p:spPr/>
        <p:txBody>
          <a:bodyPr wrap="square">
            <a:normAutofit fontScale="92500" lnSpcReduction="20000"/>
          </a:bodyPr>
          <a:lstStyle/>
          <a:p>
            <a:r>
              <a:rPr dirty="0"/>
              <a:t>A query like that might be answered from training data, a live crawl or the Merchant Center feed. The only way to win is rich, accurate, consistent product data across all </a:t>
            </a:r>
            <a:r>
              <a:rPr dirty="0" err="1"/>
              <a:t>thre</a:t>
            </a:r>
            <a:r>
              <a:rPr lang="en-GB" dirty="0"/>
              <a:t>e domains.</a:t>
            </a:r>
            <a:endParaRPr dirty="0"/>
          </a:p>
        </p:txBody>
      </p:sp>
      <p:pic>
        <p:nvPicPr>
          <p:cNvPr id="15" name="Picture 14" descr="File:Superdry logo.svg - Wikimedia Commons">
            <a:extLst>
              <a:ext uri="{FF2B5EF4-FFF2-40B4-BE49-F238E27FC236}">
                <a16:creationId xmlns:a16="http://schemas.microsoft.com/office/drawing/2014/main" id="{C9AB7DB7-D624-337A-B5D2-045733C214EC}"/>
              </a:ext>
            </a:extLst>
          </p:cNvPr>
          <p:cNvPicPr>
            <a:picLocks noChangeAspect="1"/>
          </p:cNvPicPr>
          <p:nvPr/>
        </p:nvPicPr>
        <p:blipFill>
          <a:blip r:embed="rId2"/>
          <a:stretch>
            <a:fillRect/>
          </a:stretch>
        </p:blipFill>
        <p:spPr>
          <a:xfrm>
            <a:off x="842433" y="5026239"/>
            <a:ext cx="1705722" cy="402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12648" y="2523744"/>
            <a:ext cx="10972800" cy="2331720"/>
          </a:xfrm>
        </p:spPr>
        <p:txBody>
          <a:bodyPr wrap="square"/>
          <a:lstStyle/>
          <a:p>
            <a:r>
              <a:rPr sz="2100"/>
              <a:t>The GB feed’s core attributes, imagery and category depth are already strong. The conversational-attribute build, a Tachyon description-enrichment pass, deeper custom product-type coverage and populated product highlights are the four moves that convert that base into AI visibility.</a:t>
            </a:r>
          </a:p>
        </p:txBody>
      </p:sp>
      <p:sp>
        <p:nvSpPr>
          <p:cNvPr id="3" name="Text Placeholder 2"/>
          <p:cNvSpPr>
            <a:spLocks noGrp="1"/>
          </p:cNvSpPr>
          <p:nvPr>
            <p:ph type="body" idx="11"/>
          </p:nvPr>
        </p:nvSpPr>
        <p:spPr/>
        <p:txBody>
          <a:bodyPr wrap="square"/>
          <a:lstStyle/>
          <a:p>
            <a:r>
              <a:rPr lang="en-GB" dirty="0"/>
              <a:t>Superdry is ready for next phase of AI Feed Management</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11  ·  CHAPTER ELEVEN</a:t>
            </a:r>
          </a:p>
        </p:txBody>
      </p:sp>
      <p:sp>
        <p:nvSpPr>
          <p:cNvPr id="3" name="Title 2"/>
          <p:cNvSpPr>
            <a:spLocks noGrp="1"/>
          </p:cNvSpPr>
          <p:nvPr>
            <p:ph type="title"/>
          </p:nvPr>
        </p:nvSpPr>
        <p:spPr/>
        <p:txBody>
          <a:bodyPr wrap="square"/>
          <a:lstStyle/>
          <a:p>
            <a:r>
              <a:t>Roadmap — next quarter</a:t>
            </a:r>
          </a:p>
        </p:txBody>
      </p:sp>
      <p:sp>
        <p:nvSpPr>
          <p:cNvPr id="4" name="Text Placeholder 3"/>
          <p:cNvSpPr>
            <a:spLocks noGrp="1"/>
          </p:cNvSpPr>
          <p:nvPr>
            <p:ph type="body" idx="1"/>
          </p:nvPr>
        </p:nvSpPr>
        <p:spPr/>
        <p:txBody>
          <a:bodyPr wrap="square"/>
          <a:lstStyle/>
          <a:p>
            <a:r>
              <a:t>The open priorities, sequenced, plus the testing roadmap.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Box1Bg"/>
          <p:cNvSpPr/>
          <p:nvPr/>
        </p:nvSpPr>
        <p:spPr>
          <a:xfrm>
            <a:off x="457200" y="1550880"/>
            <a:ext cx="2070720" cy="1698120"/>
          </a:xfrm>
          <a:prstGeom prst="roundRect">
            <a:avLst>
              <a:gd name="adj" fmla="val 2500"/>
            </a:avLst>
          </a:prstGeom>
          <a:gradFill rotWithShape="0">
            <a:gsLst>
              <a:gs pos="0">
                <a:srgbClr val="F7941E"/>
              </a:gs>
              <a:gs pos="4342">
                <a:srgbClr val="F7941E"/>
              </a:gs>
              <a:gs pos="4342">
                <a:srgbClr val="FFF7ED"/>
              </a:gs>
              <a:gs pos="100000">
                <a:srgbClr val="FFF7ED"/>
              </a:gs>
            </a:gsLst>
            <a:lin ang="0"/>
          </a:gradFill>
          <a:ln w="12700">
            <a:solidFill>
              <a:srgbClr val="FDBA7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78" name="Box1Icon"/>
          <p:cNvSpPr/>
          <p:nvPr/>
        </p:nvSpPr>
        <p:spPr>
          <a:xfrm>
            <a:off x="1313640" y="1670760"/>
            <a:ext cx="358200" cy="358200"/>
          </a:xfrm>
          <a:prstGeom prst="gear6">
            <a:avLst>
              <a:gd name="adj1" fmla="val 15000"/>
              <a:gd name="adj2" fmla="val 3526"/>
            </a:avLst>
          </a:prstGeom>
          <a:solidFill>
            <a:srgbClr val="F7941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79" name="Box1Text"/>
          <p:cNvSpPr/>
          <p:nvPr/>
        </p:nvSpPr>
        <p:spPr>
          <a:xfrm>
            <a:off x="54864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a:solidFill>
                  <a:srgbClr val="0F172A"/>
                </a:solidFill>
                <a:effectLst/>
                <a:uFillTx/>
              </a:rPr>
              <a:t>FeedHero</a:t>
            </a:r>
            <a:endParaRPr lang="en-US" sz="1400" b="0" u="none" strike="noStrike">
              <a:solidFill>
                <a:srgbClr val="000000"/>
              </a:solidFill>
              <a:effectLst/>
              <a:uFillTx/>
            </a:endParaRPr>
          </a:p>
          <a:p>
            <a:pPr algn="ctr" defTabSz="914400">
              <a:lnSpc>
                <a:spcPct val="100000"/>
              </a:lnSpc>
            </a:pPr>
            <a:r>
              <a:rPr lang="en-US" sz="950" b="0" u="none" strike="noStrike">
                <a:solidFill>
                  <a:srgbClr val="78350F"/>
                </a:solidFill>
                <a:effectLst/>
                <a:uFillTx/>
              </a:rPr>
              <a:t>World-class feed optimisation platform backed by experienced account managers.</a:t>
            </a:r>
            <a:endParaRPr lang="en-US" sz="1050" b="0" u="none" strike="noStrike">
              <a:solidFill>
                <a:srgbClr val="000000"/>
              </a:solidFill>
              <a:effectLst/>
              <a:uFillTx/>
            </a:endParaRPr>
          </a:p>
        </p:txBody>
      </p:sp>
      <p:sp>
        <p:nvSpPr>
          <p:cNvPr id="180" name="Box2Bg"/>
          <p:cNvSpPr/>
          <p:nvPr/>
        </p:nvSpPr>
        <p:spPr>
          <a:xfrm>
            <a:off x="2758320" y="1550880"/>
            <a:ext cx="2070720" cy="1698120"/>
          </a:xfrm>
          <a:prstGeom prst="roundRect">
            <a:avLst>
              <a:gd name="adj" fmla="val 2500"/>
            </a:avLst>
          </a:prstGeom>
          <a:gradFill rotWithShape="0">
            <a:gsLst>
              <a:gs pos="0">
                <a:srgbClr val="3B82F6"/>
              </a:gs>
              <a:gs pos="4342">
                <a:srgbClr val="3B82F6"/>
              </a:gs>
              <a:gs pos="4342">
                <a:srgbClr val="EFF6FF"/>
              </a:gs>
              <a:gs pos="100000">
                <a:srgbClr val="EFF6FF"/>
              </a:gs>
            </a:gsLst>
            <a:lin ang="0"/>
          </a:gradFill>
          <a:ln w="12700">
            <a:solidFill>
              <a:srgbClr val="93C5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81" name="Box2Icon"/>
          <p:cNvSpPr/>
          <p:nvPr/>
        </p:nvSpPr>
        <p:spPr>
          <a:xfrm>
            <a:off x="3614760" y="1670760"/>
            <a:ext cx="358200" cy="358200"/>
          </a:xfrm>
          <a:prstGeom prst="lightningBolt">
            <a:avLst/>
          </a:prstGeom>
          <a:solidFill>
            <a:srgbClr val="3B82F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182" name="Box2Text"/>
          <p:cNvSpPr/>
          <p:nvPr/>
        </p:nvSpPr>
        <p:spPr>
          <a:xfrm>
            <a:off x="284976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a:solidFill>
                  <a:srgbClr val="0F172A"/>
                </a:solidFill>
                <a:effectLst/>
                <a:uFillTx/>
              </a:rPr>
              <a:t>TachyonAI</a:t>
            </a:r>
            <a:endParaRPr lang="en-US" sz="1400" b="0" u="none" strike="noStrike">
              <a:solidFill>
                <a:srgbClr val="000000"/>
              </a:solidFill>
              <a:effectLst/>
              <a:uFillTx/>
            </a:endParaRPr>
          </a:p>
          <a:p>
            <a:pPr algn="ctr" defTabSz="914400">
              <a:lnSpc>
                <a:spcPct val="100000"/>
              </a:lnSpc>
            </a:pPr>
            <a:r>
              <a:rPr lang="en-US" sz="950" b="0" u="none" strike="noStrike">
                <a:solidFill>
                  <a:srgbClr val="1E3A5F"/>
                </a:solidFill>
                <a:effectLst/>
                <a:uFillTx/>
              </a:rPr>
              <a:t>AI-powered product data optimisation. Driving PPC and social growth, plus placements in ChatGPT.</a:t>
            </a:r>
            <a:endParaRPr lang="en-US" sz="1050" b="0" u="none" strike="noStrike">
              <a:solidFill>
                <a:srgbClr val="000000"/>
              </a:solidFill>
              <a:effectLst/>
              <a:uFillTx/>
            </a:endParaRPr>
          </a:p>
        </p:txBody>
      </p:sp>
      <p:sp>
        <p:nvSpPr>
          <p:cNvPr id="183" name="Box3Bg"/>
          <p:cNvSpPr/>
          <p:nvPr/>
        </p:nvSpPr>
        <p:spPr>
          <a:xfrm>
            <a:off x="5059800" y="1550880"/>
            <a:ext cx="2070720" cy="1698120"/>
          </a:xfrm>
          <a:prstGeom prst="roundRect">
            <a:avLst>
              <a:gd name="adj" fmla="val 2500"/>
            </a:avLst>
          </a:prstGeom>
          <a:gradFill rotWithShape="0">
            <a:gsLst>
              <a:gs pos="0">
                <a:srgbClr val="EC4899"/>
              </a:gs>
              <a:gs pos="4342">
                <a:srgbClr val="EC4899"/>
              </a:gs>
              <a:gs pos="4342">
                <a:srgbClr val="FDF2F8"/>
              </a:gs>
              <a:gs pos="100000">
                <a:srgbClr val="FDF2F8"/>
              </a:gs>
            </a:gsLst>
            <a:lin ang="0"/>
          </a:gradFill>
          <a:ln w="12700">
            <a:solidFill>
              <a:srgbClr val="F9A8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84" name="Box3IconBg"/>
          <p:cNvSpPr/>
          <p:nvPr/>
        </p:nvSpPr>
        <p:spPr>
          <a:xfrm>
            <a:off x="5915880" y="1670760"/>
            <a:ext cx="358200" cy="358200"/>
          </a:xfrm>
          <a:prstGeom prst="ellipse">
            <a:avLst/>
          </a:prstGeom>
          <a:solidFill>
            <a:srgbClr val="EC48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2400" b="1" u="none" strike="noStrike">
                <a:solidFill>
                  <a:srgbClr val="FFFFFF"/>
                </a:solidFill>
                <a:effectLst/>
                <a:uFillTx/>
              </a:rPr>
              <a:t>$</a:t>
            </a:r>
            <a:endParaRPr lang="en-US" sz="2400" b="0" u="none" strike="noStrike">
              <a:solidFill>
                <a:srgbClr val="FFFFFF"/>
              </a:solidFill>
              <a:effectLst/>
              <a:uFillTx/>
            </a:endParaRPr>
          </a:p>
        </p:txBody>
      </p:sp>
      <p:sp>
        <p:nvSpPr>
          <p:cNvPr id="185" name="Box3Text"/>
          <p:cNvSpPr/>
          <p:nvPr/>
        </p:nvSpPr>
        <p:spPr>
          <a:xfrm>
            <a:off x="515124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dirty="0" err="1">
                <a:solidFill>
                  <a:srgbClr val="0F172A"/>
                </a:solidFill>
                <a:effectLst/>
                <a:uFillTx/>
              </a:rPr>
              <a:t>RoAS</a:t>
            </a:r>
            <a:r>
              <a:rPr lang="en-US" sz="1250" b="1" u="none" strike="noStrike" dirty="0">
                <a:solidFill>
                  <a:srgbClr val="0F172A"/>
                </a:solidFill>
                <a:effectLst/>
                <a:uFillTx/>
              </a:rPr>
              <a:t> Intelligence</a:t>
            </a:r>
            <a:endParaRPr lang="en-US" sz="1400" b="0" u="none" strike="noStrike" dirty="0">
              <a:solidFill>
                <a:srgbClr val="000000"/>
              </a:solidFill>
              <a:effectLst/>
              <a:uFillTx/>
            </a:endParaRPr>
          </a:p>
          <a:p>
            <a:pPr algn="ctr" defTabSz="914400">
              <a:lnSpc>
                <a:spcPct val="100000"/>
              </a:lnSpc>
            </a:pPr>
            <a:r>
              <a:rPr lang="en-US" sz="950" b="0" u="none" strike="noStrike" dirty="0">
                <a:solidFill>
                  <a:srgbClr val="831843"/>
                </a:solidFill>
                <a:effectLst/>
                <a:uFillTx/>
              </a:rPr>
              <a:t>Pinpoint wasted spend and double down on opportunities. Campaign performance clarity like never before.</a:t>
            </a:r>
            <a:endParaRPr lang="en-US" sz="1050" b="0" u="none" strike="noStrike" dirty="0">
              <a:solidFill>
                <a:srgbClr val="000000"/>
              </a:solidFill>
              <a:effectLst/>
              <a:uFillTx/>
            </a:endParaRPr>
          </a:p>
        </p:txBody>
      </p:sp>
      <p:sp>
        <p:nvSpPr>
          <p:cNvPr id="186" name="Box4Bg"/>
          <p:cNvSpPr/>
          <p:nvPr/>
        </p:nvSpPr>
        <p:spPr>
          <a:xfrm>
            <a:off x="7360920" y="1550880"/>
            <a:ext cx="2070720" cy="1698120"/>
          </a:xfrm>
          <a:prstGeom prst="roundRect">
            <a:avLst>
              <a:gd name="adj" fmla="val 2500"/>
            </a:avLst>
          </a:prstGeom>
          <a:gradFill rotWithShape="0">
            <a:gsLst>
              <a:gs pos="0">
                <a:srgbClr val="10B981"/>
              </a:gs>
              <a:gs pos="4342">
                <a:srgbClr val="10B981"/>
              </a:gs>
              <a:gs pos="4342">
                <a:srgbClr val="ECFDF5"/>
              </a:gs>
              <a:gs pos="100000">
                <a:srgbClr val="ECFDF5"/>
              </a:gs>
            </a:gsLst>
            <a:lin ang="0"/>
          </a:gradFill>
          <a:ln w="12700">
            <a:solidFill>
              <a:srgbClr val="6EE7B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87" name="Box4Icon"/>
          <p:cNvSpPr/>
          <p:nvPr/>
        </p:nvSpPr>
        <p:spPr>
          <a:xfrm>
            <a:off x="8217360" y="1670760"/>
            <a:ext cx="358200" cy="358200"/>
          </a:xfrm>
          <a:prstGeom prst="flowChartDocument">
            <a:avLst/>
          </a:prstGeom>
          <a:solidFill>
            <a:srgbClr val="10B98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88" name="Box4Text"/>
          <p:cNvSpPr/>
          <p:nvPr/>
        </p:nvSpPr>
        <p:spPr>
          <a:xfrm>
            <a:off x="745236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dirty="0">
                <a:solidFill>
                  <a:srgbClr val="0F172A"/>
                </a:solidFill>
                <a:effectLst/>
                <a:uFillTx/>
              </a:rPr>
              <a:t>Landing Pages Optimisation</a:t>
            </a:r>
            <a:endParaRPr lang="en-US" sz="1400" b="0" u="none" strike="noStrike" dirty="0">
              <a:solidFill>
                <a:srgbClr val="000000"/>
              </a:solidFill>
              <a:effectLst/>
              <a:uFillTx/>
            </a:endParaRPr>
          </a:p>
          <a:p>
            <a:pPr algn="ctr" defTabSz="914400">
              <a:lnSpc>
                <a:spcPct val="100000"/>
              </a:lnSpc>
            </a:pPr>
            <a:r>
              <a:rPr lang="en-US" sz="950" b="0" u="none" strike="noStrike" dirty="0">
                <a:solidFill>
                  <a:srgbClr val="064E3B"/>
                </a:solidFill>
                <a:effectLst/>
                <a:uFillTx/>
              </a:rPr>
              <a:t>25%+ conversion rate increases from </a:t>
            </a:r>
            <a:r>
              <a:rPr lang="en-US" sz="950" b="0" u="none" strike="noStrike" dirty="0" err="1">
                <a:solidFill>
                  <a:srgbClr val="064E3B"/>
                </a:solidFill>
                <a:effectLst/>
                <a:uFillTx/>
              </a:rPr>
              <a:t>optimised</a:t>
            </a:r>
            <a:r>
              <a:rPr lang="en-US" sz="950" b="0" u="none" strike="noStrike" dirty="0">
                <a:solidFill>
                  <a:srgbClr val="064E3B"/>
                </a:solidFill>
                <a:effectLst/>
                <a:uFillTx/>
              </a:rPr>
              <a:t> category landing pages. Stop wasting clicks on PDPs.</a:t>
            </a:r>
            <a:endParaRPr lang="en-US" sz="1050" b="0" u="none" strike="noStrike" dirty="0">
              <a:solidFill>
                <a:srgbClr val="000000"/>
              </a:solidFill>
              <a:effectLst/>
              <a:uFillTx/>
            </a:endParaRPr>
          </a:p>
        </p:txBody>
      </p:sp>
      <p:sp>
        <p:nvSpPr>
          <p:cNvPr id="189" name="Box5Bg"/>
          <p:cNvSpPr/>
          <p:nvPr/>
        </p:nvSpPr>
        <p:spPr>
          <a:xfrm>
            <a:off x="9662040" y="1550880"/>
            <a:ext cx="2070720" cy="1698120"/>
          </a:xfrm>
          <a:prstGeom prst="roundRect">
            <a:avLst>
              <a:gd name="adj" fmla="val 2500"/>
            </a:avLst>
          </a:prstGeom>
          <a:gradFill rotWithShape="0">
            <a:gsLst>
              <a:gs pos="0">
                <a:srgbClr val="8B5CF6"/>
              </a:gs>
              <a:gs pos="4342">
                <a:srgbClr val="8B5CF6"/>
              </a:gs>
              <a:gs pos="4342">
                <a:srgbClr val="F5F3FF"/>
              </a:gs>
              <a:gs pos="100000">
                <a:srgbClr val="F5F3FF"/>
              </a:gs>
            </a:gsLst>
            <a:lin ang="0"/>
          </a:gradFill>
          <a:ln w="12700">
            <a:solidFill>
              <a:srgbClr val="C4B5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90" name="Box5Icon"/>
          <p:cNvSpPr/>
          <p:nvPr/>
        </p:nvSpPr>
        <p:spPr>
          <a:xfrm>
            <a:off x="10518480" y="1670760"/>
            <a:ext cx="358200" cy="358200"/>
          </a:xfrm>
          <a:prstGeom prst="frame">
            <a:avLst>
              <a:gd name="adj1" fmla="val 12500"/>
            </a:avLst>
          </a:prstGeom>
          <a:solidFill>
            <a:srgbClr val="8B5CF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191" name="Box5Text"/>
          <p:cNvSpPr/>
          <p:nvPr/>
        </p:nvSpPr>
        <p:spPr>
          <a:xfrm>
            <a:off x="9753480" y="2090880"/>
            <a:ext cx="1887840" cy="1118160"/>
          </a:xfrm>
          <a:prstGeom prst="rect">
            <a:avLst/>
          </a:prstGeom>
          <a:noFill/>
          <a:ln w="0">
            <a:noFill/>
          </a:ln>
        </p:spPr>
        <p:style>
          <a:lnRef idx="0">
            <a:scrgbClr r="0" g="0" b="0"/>
          </a:lnRef>
          <a:fillRef idx="0">
            <a:scrgbClr r="0" g="0" b="0"/>
          </a:fillRef>
          <a:effectRef idx="0">
            <a:scrgbClr r="0" g="0" b="0"/>
          </a:effectRef>
          <a:fontRef idx="minor"/>
        </p:style>
        <p:txBody>
          <a:bodyPr lIns="45720" tIns="36000" rIns="45720" bIns="36000" anchor="t">
            <a:noAutofit/>
          </a:bodyPr>
          <a:lstStyle/>
          <a:p>
            <a:pPr algn="ctr" defTabSz="914400">
              <a:lnSpc>
                <a:spcPct val="100000"/>
              </a:lnSpc>
            </a:pPr>
            <a:r>
              <a:rPr lang="en-US" sz="1250" b="1" u="none" strike="noStrike">
                <a:solidFill>
                  <a:srgbClr val="0F172A"/>
                </a:solidFill>
                <a:effectLst/>
                <a:uFillTx/>
              </a:rPr>
              <a:t>Image Overlays</a:t>
            </a:r>
            <a:endParaRPr lang="en-US" sz="1400" b="0" u="none" strike="noStrike">
              <a:solidFill>
                <a:srgbClr val="000000"/>
              </a:solidFill>
              <a:effectLst/>
              <a:uFillTx/>
            </a:endParaRPr>
          </a:p>
          <a:p>
            <a:pPr algn="ctr" defTabSz="914400">
              <a:lnSpc>
                <a:spcPct val="100000"/>
              </a:lnSpc>
            </a:pPr>
            <a:r>
              <a:rPr lang="en-US" sz="950" b="0" u="none" strike="noStrike">
                <a:solidFill>
                  <a:srgbClr val="4C1D95"/>
                </a:solidFill>
                <a:effectLst/>
                <a:uFillTx/>
              </a:rPr>
              <a:t>Dynamic sales messages on product images. Tied to your marketing calendar for Google Shopping and Meta.</a:t>
            </a:r>
            <a:endParaRPr lang="en-US" sz="1050" b="0" u="none" strike="noStrike">
              <a:solidFill>
                <a:srgbClr val="000000"/>
              </a:solidFill>
              <a:effectLst/>
              <a:uFillTx/>
            </a:endParaRPr>
          </a:p>
        </p:txBody>
      </p:sp>
      <p:sp>
        <p:nvSpPr>
          <p:cNvPr id="192" name="MultSign1"/>
          <p:cNvSpPr/>
          <p:nvPr/>
        </p:nvSpPr>
        <p:spPr>
          <a:xfrm>
            <a:off x="2529720" y="2251080"/>
            <a:ext cx="226800" cy="29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800" b="1" u="none" strike="noStrike">
                <a:solidFill>
                  <a:srgbClr val="94A3B8"/>
                </a:solidFill>
                <a:effectLst/>
                <a:uFillTx/>
                <a:latin typeface="Inter"/>
              </a:rPr>
              <a:t>×</a:t>
            </a:r>
            <a:endParaRPr lang="en-US" sz="1800" b="0" u="none" strike="noStrike">
              <a:solidFill>
                <a:srgbClr val="000000"/>
              </a:solidFill>
              <a:effectLst/>
              <a:uFillTx/>
            </a:endParaRPr>
          </a:p>
        </p:txBody>
      </p:sp>
      <p:sp>
        <p:nvSpPr>
          <p:cNvPr id="193" name="MultSign2"/>
          <p:cNvSpPr/>
          <p:nvPr/>
        </p:nvSpPr>
        <p:spPr>
          <a:xfrm>
            <a:off x="4831200" y="2251080"/>
            <a:ext cx="226800" cy="29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800" b="1" u="none" strike="noStrike">
                <a:solidFill>
                  <a:srgbClr val="94A3B8"/>
                </a:solidFill>
                <a:effectLst/>
                <a:uFillTx/>
                <a:latin typeface="Inter"/>
              </a:rPr>
              <a:t>×</a:t>
            </a:r>
            <a:endParaRPr lang="en-US" sz="1800" b="0" u="none" strike="noStrike">
              <a:solidFill>
                <a:srgbClr val="000000"/>
              </a:solidFill>
              <a:effectLst/>
              <a:uFillTx/>
            </a:endParaRPr>
          </a:p>
        </p:txBody>
      </p:sp>
      <p:sp>
        <p:nvSpPr>
          <p:cNvPr id="194" name="MultSign3"/>
          <p:cNvSpPr/>
          <p:nvPr/>
        </p:nvSpPr>
        <p:spPr>
          <a:xfrm>
            <a:off x="7132320" y="2251080"/>
            <a:ext cx="226800" cy="29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800" b="1" u="none" strike="noStrike">
                <a:solidFill>
                  <a:srgbClr val="94A3B8"/>
                </a:solidFill>
                <a:effectLst/>
                <a:uFillTx/>
                <a:latin typeface="Inter"/>
              </a:rPr>
              <a:t>×</a:t>
            </a:r>
            <a:endParaRPr lang="en-US" sz="1800" b="0" u="none" strike="noStrike">
              <a:solidFill>
                <a:srgbClr val="000000"/>
              </a:solidFill>
              <a:effectLst/>
              <a:uFillTx/>
            </a:endParaRPr>
          </a:p>
        </p:txBody>
      </p:sp>
      <p:sp>
        <p:nvSpPr>
          <p:cNvPr id="195" name="MultSign4"/>
          <p:cNvSpPr/>
          <p:nvPr/>
        </p:nvSpPr>
        <p:spPr>
          <a:xfrm>
            <a:off x="9433440" y="2251080"/>
            <a:ext cx="226800" cy="29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800" b="1" u="none" strike="noStrike">
                <a:solidFill>
                  <a:srgbClr val="94A3B8"/>
                </a:solidFill>
                <a:effectLst/>
                <a:uFillTx/>
                <a:latin typeface="Inter"/>
              </a:rPr>
              <a:t>×</a:t>
            </a:r>
            <a:endParaRPr lang="en-US" sz="1800" b="0" u="none" strike="noStrike">
              <a:solidFill>
                <a:srgbClr val="000000"/>
              </a:solidFill>
              <a:effectLst/>
              <a:uFillTx/>
            </a:endParaRPr>
          </a:p>
        </p:txBody>
      </p:sp>
      <p:sp>
        <p:nvSpPr>
          <p:cNvPr id="196" name="Biz1Bg"/>
          <p:cNvSpPr/>
          <p:nvPr/>
        </p:nvSpPr>
        <p:spPr>
          <a:xfrm>
            <a:off x="457200" y="3371040"/>
            <a:ext cx="2070720" cy="948240"/>
          </a:xfrm>
          <a:prstGeom prst="roundRect">
            <a:avLst>
              <a:gd name="adj" fmla="val 2500"/>
            </a:avLst>
          </a:prstGeom>
          <a:solidFill>
            <a:srgbClr val="F7941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197" name="Biz1Text"/>
          <p:cNvSpPr/>
          <p:nvPr/>
        </p:nvSpPr>
        <p:spPr>
          <a:xfrm>
            <a:off x="54864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Up to 30%</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RoAS</a:t>
            </a:r>
            <a:endParaRPr lang="en-US" sz="1050" b="0" u="none" strike="noStrike">
              <a:solidFill>
                <a:srgbClr val="000000"/>
              </a:solidFill>
              <a:effectLst/>
              <a:uFillTx/>
            </a:endParaRPr>
          </a:p>
        </p:txBody>
      </p:sp>
      <p:sp>
        <p:nvSpPr>
          <p:cNvPr id="198" name="Biz2Bg"/>
          <p:cNvSpPr/>
          <p:nvPr/>
        </p:nvSpPr>
        <p:spPr>
          <a:xfrm>
            <a:off x="2758320" y="3371040"/>
            <a:ext cx="2070720" cy="948240"/>
          </a:xfrm>
          <a:prstGeom prst="roundRect">
            <a:avLst>
              <a:gd name="adj" fmla="val 2500"/>
            </a:avLst>
          </a:prstGeom>
          <a:solidFill>
            <a:srgbClr val="3B82F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199" name="Biz2Text"/>
          <p:cNvSpPr/>
          <p:nvPr/>
        </p:nvSpPr>
        <p:spPr>
          <a:xfrm>
            <a:off x="284976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Up to 20%</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impressions</a:t>
            </a:r>
            <a:endParaRPr lang="en-US" sz="1050" b="0" u="none" strike="noStrike">
              <a:solidFill>
                <a:srgbClr val="000000"/>
              </a:solidFill>
              <a:effectLst/>
              <a:uFillTx/>
            </a:endParaRPr>
          </a:p>
        </p:txBody>
      </p:sp>
      <p:sp>
        <p:nvSpPr>
          <p:cNvPr id="200" name="Biz3Bg"/>
          <p:cNvSpPr/>
          <p:nvPr/>
        </p:nvSpPr>
        <p:spPr>
          <a:xfrm>
            <a:off x="5059800" y="3371040"/>
            <a:ext cx="2070720" cy="948240"/>
          </a:xfrm>
          <a:prstGeom prst="roundRect">
            <a:avLst>
              <a:gd name="adj" fmla="val 2500"/>
            </a:avLst>
          </a:prstGeom>
          <a:solidFill>
            <a:srgbClr val="EC489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201" name="Biz3Text"/>
          <p:cNvSpPr/>
          <p:nvPr/>
        </p:nvSpPr>
        <p:spPr>
          <a:xfrm>
            <a:off x="515124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~40%</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revenues</a:t>
            </a:r>
            <a:endParaRPr lang="en-US" sz="1050" b="0" u="none" strike="noStrike">
              <a:solidFill>
                <a:srgbClr val="000000"/>
              </a:solidFill>
              <a:effectLst/>
              <a:uFillTx/>
            </a:endParaRPr>
          </a:p>
        </p:txBody>
      </p:sp>
      <p:sp>
        <p:nvSpPr>
          <p:cNvPr id="202" name="Biz4Bg"/>
          <p:cNvSpPr/>
          <p:nvPr/>
        </p:nvSpPr>
        <p:spPr>
          <a:xfrm>
            <a:off x="7360920" y="3371040"/>
            <a:ext cx="2070720" cy="948240"/>
          </a:xfrm>
          <a:prstGeom prst="roundRect">
            <a:avLst>
              <a:gd name="adj" fmla="val 2500"/>
            </a:avLst>
          </a:prstGeom>
          <a:solidFill>
            <a:srgbClr val="10B98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endParaRPr>
          </a:p>
        </p:txBody>
      </p:sp>
      <p:sp>
        <p:nvSpPr>
          <p:cNvPr id="203" name="Biz4Text"/>
          <p:cNvSpPr/>
          <p:nvPr/>
        </p:nvSpPr>
        <p:spPr>
          <a:xfrm>
            <a:off x="745236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25%+</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conversion rates</a:t>
            </a:r>
            <a:endParaRPr lang="en-US" sz="1050" b="0" u="none" strike="noStrike">
              <a:solidFill>
                <a:srgbClr val="000000"/>
              </a:solidFill>
              <a:effectLst/>
              <a:uFillTx/>
            </a:endParaRPr>
          </a:p>
        </p:txBody>
      </p:sp>
      <p:sp>
        <p:nvSpPr>
          <p:cNvPr id="204" name="Biz5Bg"/>
          <p:cNvSpPr/>
          <p:nvPr/>
        </p:nvSpPr>
        <p:spPr>
          <a:xfrm>
            <a:off x="9662040" y="3371040"/>
            <a:ext cx="2070720" cy="948240"/>
          </a:xfrm>
          <a:prstGeom prst="roundRect">
            <a:avLst>
              <a:gd name="adj" fmla="val 2500"/>
            </a:avLst>
          </a:prstGeom>
          <a:solidFill>
            <a:srgbClr val="8B5CF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endParaRPr>
          </a:p>
        </p:txBody>
      </p:sp>
      <p:sp>
        <p:nvSpPr>
          <p:cNvPr id="205" name="Biz5Text"/>
          <p:cNvSpPr/>
          <p:nvPr/>
        </p:nvSpPr>
        <p:spPr>
          <a:xfrm>
            <a:off x="9753480" y="3450960"/>
            <a:ext cx="1887840" cy="788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2400" b="1" u="none" strike="noStrike">
                <a:solidFill>
                  <a:srgbClr val="FFFFFF"/>
                </a:solidFill>
                <a:effectLst/>
                <a:uFillTx/>
              </a:rPr>
              <a:t>15-20%</a:t>
            </a:r>
            <a:endParaRPr lang="en-US" sz="2800" b="0" u="none" strike="noStrike">
              <a:solidFill>
                <a:srgbClr val="000000"/>
              </a:solidFill>
              <a:effectLst/>
              <a:uFillTx/>
            </a:endParaRPr>
          </a:p>
          <a:p>
            <a:pPr algn="ctr" defTabSz="914400">
              <a:lnSpc>
                <a:spcPct val="100000"/>
              </a:lnSpc>
            </a:pPr>
            <a:r>
              <a:rPr lang="en-US" sz="950" b="1" u="none" strike="noStrike">
                <a:solidFill>
                  <a:srgbClr val="FFFFFF">
                    <a:alpha val="90000"/>
                  </a:srgbClr>
                </a:solidFill>
                <a:effectLst/>
                <a:uFillTx/>
              </a:rPr>
              <a:t>Increase in ad CTR</a:t>
            </a:r>
            <a:endParaRPr lang="en-US" sz="1050" b="0" u="none" strike="noStrike">
              <a:solidFill>
                <a:srgbClr val="000000"/>
              </a:solidFill>
              <a:effectLst/>
              <a:uFillTx/>
            </a:endParaRPr>
          </a:p>
        </p:txBody>
      </p:sp>
      <p:sp>
        <p:nvSpPr>
          <p:cNvPr id="206" name="Summary"/>
          <p:cNvSpPr/>
          <p:nvPr/>
        </p:nvSpPr>
        <p:spPr>
          <a:xfrm>
            <a:off x="457200" y="4491000"/>
            <a:ext cx="11275920" cy="1051200"/>
          </a:xfrm>
          <a:prstGeom prst="roundRect">
            <a:avLst>
              <a:gd name="adj" fmla="val 2500"/>
            </a:avLst>
          </a:prstGeom>
          <a:solidFill>
            <a:srgbClr val="F8FAFC"/>
          </a:solidFill>
          <a:ln w="6350">
            <a:solidFill>
              <a:srgbClr val="E2E8F0"/>
            </a:solidFill>
            <a:round/>
          </a:ln>
        </p:spPr>
        <p:style>
          <a:lnRef idx="0">
            <a:scrgbClr r="0" g="0" b="0"/>
          </a:lnRef>
          <a:fillRef idx="0">
            <a:scrgbClr r="0" g="0" b="0"/>
          </a:fillRef>
          <a:effectRef idx="0">
            <a:scrgbClr r="0" g="0" b="0"/>
          </a:effectRef>
          <a:fontRef idx="minor"/>
        </p:style>
        <p:txBody>
          <a:bodyPr lIns="274320" tIns="79920" rIns="274320" bIns="79920" anchor="ctr">
            <a:noAutofit/>
          </a:bodyPr>
          <a:lstStyle/>
          <a:p>
            <a:pPr algn="ctr" defTabSz="914400">
              <a:lnSpc>
                <a:spcPct val="100000"/>
              </a:lnSpc>
            </a:pPr>
            <a:r>
              <a:rPr lang="en-US" sz="1600" b="0" u="none" strike="noStrike">
                <a:solidFill>
                  <a:srgbClr val="334155"/>
                </a:solidFill>
                <a:effectLst/>
                <a:uFillTx/>
              </a:rPr>
              <a:t>FeedSpark has been providing product-based marketing services for nearly 20 years. Our eco-system helps customers drive strong incremental performance and stay one step ahead of competitors. We push platform updates out weekly and major new modules every few months</a:t>
            </a:r>
            <a:endParaRPr lang="en-US" sz="1600" b="0" u="none" strike="noStrike">
              <a:solidFill>
                <a:srgbClr val="000000"/>
              </a:solidFill>
              <a:effectLst/>
              <a:uFillTx/>
            </a:endParaRPr>
          </a:p>
        </p:txBody>
      </p:sp>
      <p:sp>
        <p:nvSpPr>
          <p:cNvPr id="207"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The FeedSpark Ecosystem</a:t>
            </a:r>
          </a:p>
        </p:txBody>
      </p:sp>
      <p:sp>
        <p:nvSpPr>
          <p:cNvPr id="208"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A Full Suite of tools essential to getting the most from your product-based marketing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Bg0"/>
          <p:cNvSpPr/>
          <p:nvPr/>
        </p:nvSpPr>
        <p:spPr>
          <a:xfrm>
            <a:off x="548640" y="1400000"/>
            <a:ext cx="5300000" cy="1500000"/>
          </a:xfrm>
          <a:prstGeom prst="rect">
            <a:avLst/>
          </a:prstGeom>
          <a:solidFill>
            <a:srgbClr val="F8FAFC"/>
          </a:solidFill>
          <a:ln w="12700">
            <a:solidFill>
              <a:srgbClr val="E2E8F0"/>
            </a:solidFill>
          </a:ln>
        </p:spPr>
        <p:txBody>
          <a:bodyPr/>
          <a:lstStyle/>
          <a:p>
            <a:endParaRPr lang="en-GB"/>
          </a:p>
        </p:txBody>
      </p:sp>
      <p:sp>
        <p:nvSpPr>
          <p:cNvPr id="21" name="Str0"/>
          <p:cNvSpPr/>
          <p:nvPr/>
        </p:nvSpPr>
        <p:spPr>
          <a:xfrm>
            <a:off x="548640" y="1400000"/>
            <a:ext cx="60000" cy="1500000"/>
          </a:xfrm>
          <a:prstGeom prst="rect">
            <a:avLst/>
          </a:prstGeom>
          <a:solidFill>
            <a:srgbClr val="10B981"/>
          </a:solidFill>
          <a:ln>
            <a:noFill/>
          </a:ln>
        </p:spPr>
        <p:txBody>
          <a:bodyPr/>
          <a:lstStyle/>
          <a:p>
            <a:endParaRPr lang="en-GB"/>
          </a:p>
        </p:txBody>
      </p:sp>
      <p:sp>
        <p:nvSpPr>
          <p:cNvPr id="22" name="Txt0"/>
          <p:cNvSpPr txBox="1"/>
          <p:nvPr/>
        </p:nvSpPr>
        <p:spPr>
          <a:xfrm>
            <a:off x="688640" y="1480000"/>
            <a:ext cx="5080000" cy="1281129"/>
          </a:xfrm>
          <a:prstGeom prst="rect">
            <a:avLst/>
          </a:prstGeom>
          <a:noFill/>
        </p:spPr>
        <p:txBody>
          <a:bodyPr anchor="t"/>
          <a:lstStyle/>
          <a:p>
            <a:r>
              <a:rPr lang="en-GB" sz="1800" b="1" dirty="0">
                <a:solidFill>
                  <a:srgbClr val="0F172A"/>
                </a:solidFill>
              </a:rPr>
              <a:t>How it works</a:t>
            </a:r>
          </a:p>
          <a:p>
            <a:endParaRPr lang="en-GB" sz="600" dirty="0"/>
          </a:p>
          <a:p>
            <a:r>
              <a:rPr lang="en-GB" sz="1400" dirty="0">
                <a:solidFill>
                  <a:srgbClr val="334155"/>
                </a:solidFill>
                <a:latin typeface="Calibri"/>
              </a:rPr>
              <a:t>LLMs pull product data from feeds, web crawls, and training data. When a shopper asks 'best running shoes under £100', the model recommends what it judges most relevant. No ad spend required — but your data must be complete and compelling.</a:t>
            </a:r>
          </a:p>
        </p:txBody>
      </p:sp>
      <p:sp>
        <p:nvSpPr>
          <p:cNvPr id="23" name="Bg1"/>
          <p:cNvSpPr/>
          <p:nvPr/>
        </p:nvSpPr>
        <p:spPr>
          <a:xfrm>
            <a:off x="6100000" y="1400000"/>
            <a:ext cx="5540000" cy="1500000"/>
          </a:xfrm>
          <a:prstGeom prst="rect">
            <a:avLst/>
          </a:prstGeom>
          <a:solidFill>
            <a:srgbClr val="F8FAFC"/>
          </a:solidFill>
          <a:ln w="12700">
            <a:solidFill>
              <a:srgbClr val="E2E8F0"/>
            </a:solidFill>
          </a:ln>
        </p:spPr>
        <p:txBody>
          <a:bodyPr/>
          <a:lstStyle/>
          <a:p>
            <a:endParaRPr lang="en-GB"/>
          </a:p>
        </p:txBody>
      </p:sp>
      <p:sp>
        <p:nvSpPr>
          <p:cNvPr id="24" name="Str1"/>
          <p:cNvSpPr/>
          <p:nvPr/>
        </p:nvSpPr>
        <p:spPr>
          <a:xfrm>
            <a:off x="6100000" y="1400000"/>
            <a:ext cx="60000" cy="1500000"/>
          </a:xfrm>
          <a:prstGeom prst="rect">
            <a:avLst/>
          </a:prstGeom>
          <a:solidFill>
            <a:srgbClr val="F7941E"/>
          </a:solidFill>
          <a:ln>
            <a:noFill/>
          </a:ln>
        </p:spPr>
        <p:txBody>
          <a:bodyPr/>
          <a:lstStyle/>
          <a:p>
            <a:endParaRPr lang="en-GB"/>
          </a:p>
        </p:txBody>
      </p:sp>
      <p:sp>
        <p:nvSpPr>
          <p:cNvPr id="25" name="Txt1"/>
          <p:cNvSpPr txBox="1"/>
          <p:nvPr/>
        </p:nvSpPr>
        <p:spPr>
          <a:xfrm>
            <a:off x="6240000" y="1480000"/>
            <a:ext cx="5320000" cy="1281129"/>
          </a:xfrm>
          <a:prstGeom prst="rect">
            <a:avLst/>
          </a:prstGeom>
          <a:noFill/>
        </p:spPr>
        <p:txBody>
          <a:bodyPr anchor="t"/>
          <a:lstStyle/>
          <a:p>
            <a:r>
              <a:rPr lang="en-GB" sz="1800" b="1" dirty="0">
                <a:solidFill>
                  <a:srgbClr val="0F172A"/>
                </a:solidFill>
              </a:rPr>
              <a:t>Who to engage</a:t>
            </a:r>
          </a:p>
          <a:p>
            <a:endParaRPr lang="en-GB" sz="600" dirty="0"/>
          </a:p>
          <a:p>
            <a:r>
              <a:rPr lang="en-GB" sz="1400" dirty="0">
                <a:solidFill>
                  <a:srgbClr val="334155"/>
                </a:solidFill>
                <a:latin typeface="Calibri"/>
              </a:rPr>
              <a:t>FeedSpark — we optimise your product titles, descriptions and attributes so LLMs surface your products ahead of competitors. Better feed data means higher organic visibility across all AI platforms.</a:t>
            </a:r>
          </a:p>
        </p:txBody>
      </p:sp>
      <p:sp>
        <p:nvSpPr>
          <p:cNvPr id="26" name="Bg2"/>
          <p:cNvSpPr/>
          <p:nvPr/>
        </p:nvSpPr>
        <p:spPr>
          <a:xfrm>
            <a:off x="548640" y="2990400"/>
            <a:ext cx="11094720" cy="3167600"/>
          </a:xfrm>
          <a:prstGeom prst="rect">
            <a:avLst/>
          </a:prstGeom>
          <a:solidFill>
            <a:srgbClr val="F8FAFC"/>
          </a:solidFill>
          <a:ln w="12700">
            <a:solidFill>
              <a:srgbClr val="E2E8F0"/>
            </a:solidFill>
          </a:ln>
        </p:spPr>
        <p:txBody>
          <a:bodyPr/>
          <a:lstStyle/>
          <a:p>
            <a:endParaRPr lang="en-GB"/>
          </a:p>
        </p:txBody>
      </p:sp>
      <p:sp>
        <p:nvSpPr>
          <p:cNvPr id="27" name="Str2"/>
          <p:cNvSpPr/>
          <p:nvPr/>
        </p:nvSpPr>
        <p:spPr>
          <a:xfrm>
            <a:off x="548640" y="2990400"/>
            <a:ext cx="60000" cy="3167600"/>
          </a:xfrm>
          <a:prstGeom prst="rect">
            <a:avLst/>
          </a:prstGeom>
          <a:solidFill>
            <a:srgbClr val="3B82F6"/>
          </a:solidFill>
          <a:ln>
            <a:noFill/>
          </a:ln>
        </p:spPr>
        <p:txBody>
          <a:bodyPr/>
          <a:lstStyle/>
          <a:p>
            <a:endParaRPr lang="en-GB"/>
          </a:p>
        </p:txBody>
      </p:sp>
      <p:sp>
        <p:nvSpPr>
          <p:cNvPr id="28" name="Txt2"/>
          <p:cNvSpPr txBox="1"/>
          <p:nvPr/>
        </p:nvSpPr>
        <p:spPr>
          <a:xfrm>
            <a:off x="688640" y="3070400"/>
            <a:ext cx="10874720" cy="3087600"/>
          </a:xfrm>
          <a:prstGeom prst="rect">
            <a:avLst/>
          </a:prstGeom>
          <a:noFill/>
        </p:spPr>
        <p:txBody>
          <a:bodyPr anchor="t"/>
          <a:lstStyle/>
          <a:p>
            <a:r>
              <a:rPr lang="en-GB" sz="1800" b="1" dirty="0">
                <a:solidFill>
                  <a:srgbClr val="0F172A"/>
                </a:solidFill>
              </a:rPr>
              <a:t>What you can do today</a:t>
            </a:r>
          </a:p>
          <a:p>
            <a:endParaRPr lang="en-GB" sz="600" dirty="0"/>
          </a:p>
          <a:p>
            <a:r>
              <a:rPr lang="en-GB" sz="1400" dirty="0">
                <a:solidFill>
                  <a:srgbClr val="334155"/>
                </a:solidFill>
              </a:rPr>
              <a:t>We need to produce new, much more detailed, product copy to enable us to capture key positions in LLM recommendations</a:t>
            </a:r>
          </a:p>
          <a:p>
            <a:endParaRPr lang="en-GB" sz="1400" dirty="0">
              <a:solidFill>
                <a:srgbClr val="334155"/>
              </a:solidFill>
            </a:endParaRPr>
          </a:p>
          <a:p>
            <a:pPr marL="285750" indent="-285750">
              <a:buFont typeface="Arial" panose="020B0604020202020204" pitchFamily="34" charset="0"/>
              <a:buChar char="•"/>
            </a:pPr>
            <a:r>
              <a:rPr lang="en-GB" sz="1400" dirty="0">
                <a:solidFill>
                  <a:srgbClr val="334155"/>
                </a:solidFill>
                <a:latin typeface="Calibri"/>
              </a:rPr>
              <a:t>We’ll need to achieve </a:t>
            </a:r>
            <a:r>
              <a:rPr lang="en-GB" sz="1400" b="1" dirty="0">
                <a:solidFill>
                  <a:srgbClr val="334155"/>
                </a:solidFill>
              </a:rPr>
              <a:t>data field </a:t>
            </a:r>
            <a:r>
              <a:rPr lang="en-GB" sz="1400" dirty="0">
                <a:solidFill>
                  <a:srgbClr val="334155"/>
                </a:solidFill>
              </a:rPr>
              <a:t>completeness and accuracy</a:t>
            </a:r>
          </a:p>
          <a:p>
            <a:pPr marL="285750" indent="-285750">
              <a:buFont typeface="Arial" panose="020B0604020202020204" pitchFamily="34" charset="0"/>
              <a:buChar char="•"/>
            </a:pPr>
            <a:r>
              <a:rPr lang="en-GB" sz="1400" b="1" dirty="0">
                <a:solidFill>
                  <a:srgbClr val="334155"/>
                </a:solidFill>
              </a:rPr>
              <a:t>Titles</a:t>
            </a:r>
            <a:r>
              <a:rPr lang="en-GB" sz="1400" dirty="0">
                <a:solidFill>
                  <a:srgbClr val="334155"/>
                </a:solidFill>
              </a:rPr>
              <a:t> will need to be very descriptive</a:t>
            </a:r>
          </a:p>
          <a:p>
            <a:pPr marL="285750" indent="-285750">
              <a:buFont typeface="Arial" panose="020B0604020202020204" pitchFamily="34" charset="0"/>
              <a:buChar char="•"/>
            </a:pPr>
            <a:r>
              <a:rPr lang="en-GB" sz="1400" dirty="0">
                <a:solidFill>
                  <a:srgbClr val="334155"/>
                </a:solidFill>
              </a:rPr>
              <a:t>Now </a:t>
            </a:r>
            <a:r>
              <a:rPr lang="en-GB" sz="1400" b="1" dirty="0">
                <a:solidFill>
                  <a:srgbClr val="334155"/>
                </a:solidFill>
              </a:rPr>
              <a:t>descriptions</a:t>
            </a:r>
            <a:r>
              <a:rPr lang="en-GB" sz="1400" dirty="0">
                <a:solidFill>
                  <a:srgbClr val="334155"/>
                </a:solidFill>
              </a:rPr>
              <a:t> will need to do a much better job of detailing the product, use-cases, information hidden in images and much more</a:t>
            </a:r>
          </a:p>
          <a:p>
            <a:pPr marL="742950" lvl="1" indent="-285750">
              <a:buFont typeface="Arial" panose="020B0604020202020204" pitchFamily="34" charset="0"/>
              <a:buChar char="•"/>
            </a:pPr>
            <a:r>
              <a:rPr lang="en-GB" sz="1400" dirty="0">
                <a:solidFill>
                  <a:srgbClr val="334155"/>
                </a:solidFill>
              </a:rPr>
              <a:t>Need to be </a:t>
            </a:r>
            <a:r>
              <a:rPr lang="en-GB" sz="1400" b="1" dirty="0">
                <a:solidFill>
                  <a:srgbClr val="334155"/>
                </a:solidFill>
              </a:rPr>
              <a:t>highly descriptive</a:t>
            </a:r>
            <a:r>
              <a:rPr lang="en-GB" sz="1400" dirty="0">
                <a:solidFill>
                  <a:srgbClr val="334155"/>
                </a:solidFill>
              </a:rPr>
              <a:t> of the product</a:t>
            </a:r>
          </a:p>
          <a:p>
            <a:pPr marL="742950" lvl="1" indent="-285750">
              <a:buFont typeface="Arial" panose="020B0604020202020204" pitchFamily="34" charset="0"/>
              <a:buChar char="•"/>
            </a:pPr>
            <a:r>
              <a:rPr lang="en-GB" sz="1400" dirty="0">
                <a:solidFill>
                  <a:srgbClr val="334155"/>
                </a:solidFill>
              </a:rPr>
              <a:t>Need to cover common product </a:t>
            </a:r>
            <a:r>
              <a:rPr lang="en-GB" sz="1400" b="1" dirty="0">
                <a:solidFill>
                  <a:srgbClr val="334155"/>
                </a:solidFill>
              </a:rPr>
              <a:t>use-cases</a:t>
            </a:r>
          </a:p>
          <a:p>
            <a:pPr marL="742950" lvl="1" indent="-285750">
              <a:buFont typeface="Arial" panose="020B0604020202020204" pitchFamily="34" charset="0"/>
              <a:buChar char="•"/>
            </a:pPr>
            <a:r>
              <a:rPr lang="en-GB" sz="1400" dirty="0">
                <a:solidFill>
                  <a:srgbClr val="334155"/>
                </a:solidFill>
              </a:rPr>
              <a:t>Need to include references to </a:t>
            </a:r>
            <a:r>
              <a:rPr lang="en-GB" sz="1400" b="1" dirty="0">
                <a:solidFill>
                  <a:srgbClr val="334155"/>
                </a:solidFill>
              </a:rPr>
              <a:t>alternative products</a:t>
            </a:r>
          </a:p>
          <a:p>
            <a:pPr marL="742950" lvl="1" indent="-285750">
              <a:buFont typeface="Arial" panose="020B0604020202020204" pitchFamily="34" charset="0"/>
              <a:buChar char="•"/>
            </a:pPr>
            <a:r>
              <a:rPr lang="en-GB" sz="1400" dirty="0">
                <a:solidFill>
                  <a:srgbClr val="334155"/>
                </a:solidFill>
              </a:rPr>
              <a:t>Need to cover common </a:t>
            </a:r>
            <a:r>
              <a:rPr lang="en-GB" sz="1400" b="1" dirty="0">
                <a:solidFill>
                  <a:srgbClr val="334155"/>
                </a:solidFill>
              </a:rPr>
              <a:t>question and answers</a:t>
            </a:r>
            <a:r>
              <a:rPr lang="en-GB" sz="1400" dirty="0">
                <a:solidFill>
                  <a:srgbClr val="334155"/>
                </a:solidFill>
              </a:rPr>
              <a:t> customers may have</a:t>
            </a:r>
          </a:p>
          <a:p>
            <a:pPr marL="285750" indent="-285750">
              <a:buFont typeface="Arial" panose="020B0604020202020204" pitchFamily="34" charset="0"/>
              <a:buChar char="•"/>
            </a:pPr>
            <a:r>
              <a:rPr lang="en-GB" sz="1400" dirty="0">
                <a:solidFill>
                  <a:srgbClr val="334155"/>
                </a:solidFill>
                <a:latin typeface="Calibri"/>
              </a:rPr>
              <a:t>We’ll need to enable Google’s new </a:t>
            </a:r>
            <a:r>
              <a:rPr lang="en-GB" sz="1400" b="1" dirty="0">
                <a:solidFill>
                  <a:srgbClr val="334155"/>
                </a:solidFill>
              </a:rPr>
              <a:t>conversational attributes</a:t>
            </a:r>
            <a:endParaRPr lang="en-GB" sz="1400" dirty="0">
              <a:solidFill>
                <a:srgbClr val="334155"/>
              </a:solidFill>
            </a:endParaRPr>
          </a:p>
          <a:p>
            <a:pPr marL="285750" indent="-285750">
              <a:buFont typeface="Arial" panose="020B0604020202020204" pitchFamily="34" charset="0"/>
              <a:buChar char="•"/>
            </a:pPr>
            <a:r>
              <a:rPr lang="en-GB" sz="1400" dirty="0">
                <a:solidFill>
                  <a:srgbClr val="334155"/>
                </a:solidFill>
              </a:rPr>
              <a:t>Where possible, multiple higher quality </a:t>
            </a:r>
            <a:r>
              <a:rPr lang="en-GB" sz="1400" b="1" dirty="0">
                <a:solidFill>
                  <a:srgbClr val="334155"/>
                </a:solidFill>
              </a:rPr>
              <a:t>images </a:t>
            </a:r>
            <a:r>
              <a:rPr lang="en-GB" sz="1400" dirty="0">
                <a:solidFill>
                  <a:srgbClr val="334155"/>
                </a:solidFill>
              </a:rPr>
              <a:t>will become more important because more information can be extracted from them</a:t>
            </a:r>
          </a:p>
        </p:txBody>
      </p:sp>
      <p:sp>
        <p:nvSpPr>
          <p:cNvPr id="29"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Improve Traffic from Organic LLM Recommendations</a:t>
            </a:r>
          </a:p>
        </p:txBody>
      </p:sp>
      <p:sp>
        <p:nvSpPr>
          <p:cNvPr id="30"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ounded Rectangle 138"/>
          <p:cNvSpPr/>
          <p:nvPr/>
        </p:nvSpPr>
        <p:spPr>
          <a:xfrm>
            <a:off x="8686800" y="1714500"/>
            <a:ext cx="3124200" cy="3171825"/>
          </a:xfrm>
          <a:prstGeom prst="roundRect">
            <a:avLst>
              <a:gd name="adj" fmla="val 5000"/>
            </a:avLst>
          </a:prstGeom>
          <a:solidFill>
            <a:srgbClr val="FFFFFF"/>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ounded Rectangle 107"/>
          <p:cNvSpPr/>
          <p:nvPr/>
        </p:nvSpPr>
        <p:spPr>
          <a:xfrm>
            <a:off x="3095625" y="1714499"/>
            <a:ext cx="5143500" cy="4331093"/>
          </a:xfrm>
          <a:prstGeom prst="roundRect">
            <a:avLst>
              <a:gd name="adj" fmla="val 4000"/>
            </a:avLst>
          </a:prstGeom>
          <a:solidFill>
            <a:srgbClr val="FFF7ED"/>
          </a:solidFill>
          <a:ln w="22225">
            <a:solidFill>
              <a:srgbClr val="F79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8" name="Picture 97" descr="dress.png"/>
          <p:cNvPicPr>
            <a:picLocks noChangeAspect="1"/>
          </p:cNvPicPr>
          <p:nvPr/>
        </p:nvPicPr>
        <p:blipFill>
          <a:blip r:embed="rId2"/>
          <a:stretch>
            <a:fillRect/>
          </a:stretch>
        </p:blipFill>
        <p:spPr>
          <a:xfrm>
            <a:off x="5105400" y="2813049"/>
            <a:ext cx="1104900" cy="1466850"/>
          </a:xfrm>
          <a:prstGeom prst="rect">
            <a:avLst/>
          </a:prstGeom>
        </p:spPr>
      </p:pic>
      <p:sp>
        <p:nvSpPr>
          <p:cNvPr id="99" name="TextBox 98"/>
          <p:cNvSpPr txBox="1"/>
          <p:nvPr/>
        </p:nvSpPr>
        <p:spPr>
          <a:xfrm>
            <a:off x="381000" y="1676400"/>
            <a:ext cx="2476500" cy="190500"/>
          </a:xfrm>
          <a:prstGeom prst="rect">
            <a:avLst/>
          </a:prstGeom>
          <a:noFill/>
        </p:spPr>
        <p:txBody>
          <a:bodyPr wrap="square" lIns="0" tIns="0" rIns="0" bIns="0" anchor="t">
            <a:spAutoFit/>
          </a:bodyPr>
          <a:lstStyle/>
          <a:p>
            <a:pPr algn="l">
              <a:spcAft>
                <a:spcPts val="200"/>
              </a:spcAft>
            </a:pPr>
            <a:r>
              <a:rPr sz="1300" b="1" i="0">
                <a:solidFill>
                  <a:srgbClr val="10B981"/>
                </a:solidFill>
              </a:rPr>
              <a:t>SOURCE DATA</a:t>
            </a:r>
          </a:p>
        </p:txBody>
      </p:sp>
      <p:sp>
        <p:nvSpPr>
          <p:cNvPr id="100" name="TextBox 99"/>
          <p:cNvSpPr txBox="1"/>
          <p:nvPr/>
        </p:nvSpPr>
        <p:spPr>
          <a:xfrm>
            <a:off x="8788402" y="1871134"/>
            <a:ext cx="3048000" cy="190500"/>
          </a:xfrm>
          <a:prstGeom prst="rect">
            <a:avLst/>
          </a:prstGeom>
          <a:noFill/>
        </p:spPr>
        <p:txBody>
          <a:bodyPr wrap="square" lIns="0" tIns="0" rIns="0" bIns="0" anchor="t">
            <a:spAutoFit/>
          </a:bodyPr>
          <a:lstStyle/>
          <a:p>
            <a:pPr algn="l">
              <a:spcAft>
                <a:spcPts val="200"/>
              </a:spcAft>
            </a:pPr>
            <a:r>
              <a:rPr sz="1300" b="1" i="0" dirty="0">
                <a:solidFill>
                  <a:srgbClr val="3B82F6"/>
                </a:solidFill>
              </a:rPr>
              <a:t>OUTPUT DATA</a:t>
            </a:r>
          </a:p>
        </p:txBody>
      </p:sp>
      <p:sp>
        <p:nvSpPr>
          <p:cNvPr id="101" name="Rounded Rectangle 100"/>
          <p:cNvSpPr/>
          <p:nvPr/>
        </p:nvSpPr>
        <p:spPr>
          <a:xfrm>
            <a:off x="381000" y="2238375"/>
            <a:ext cx="2266950" cy="1285875"/>
          </a:xfrm>
          <a:prstGeom prst="roundRect">
            <a:avLst>
              <a:gd name="adj" fmla="val 7000"/>
            </a:avLst>
          </a:prstGeom>
          <a:solidFill>
            <a:srgbClr val="FFFFFF"/>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52450" y="2409825"/>
            <a:ext cx="1924050" cy="171450"/>
          </a:xfrm>
          <a:prstGeom prst="rect">
            <a:avLst/>
          </a:prstGeom>
          <a:noFill/>
        </p:spPr>
        <p:txBody>
          <a:bodyPr wrap="square" lIns="0" tIns="0" rIns="0" bIns="0" anchor="t">
            <a:spAutoFit/>
          </a:bodyPr>
          <a:lstStyle/>
          <a:p>
            <a:pPr algn="l">
              <a:spcAft>
                <a:spcPts val="200"/>
              </a:spcAft>
            </a:pPr>
            <a:r>
              <a:rPr sz="1200" b="1" i="0">
                <a:solidFill>
                  <a:srgbClr val="3B82F6"/>
                </a:solidFill>
              </a:rPr>
              <a:t>Your website</a:t>
            </a:r>
          </a:p>
        </p:txBody>
      </p:sp>
      <p:sp>
        <p:nvSpPr>
          <p:cNvPr id="103" name="TextBox 102"/>
          <p:cNvSpPr txBox="1"/>
          <p:nvPr/>
        </p:nvSpPr>
        <p:spPr>
          <a:xfrm>
            <a:off x="552450" y="2647950"/>
            <a:ext cx="1924050" cy="762000"/>
          </a:xfrm>
          <a:prstGeom prst="rect">
            <a:avLst/>
          </a:prstGeom>
          <a:noFill/>
        </p:spPr>
        <p:txBody>
          <a:bodyPr wrap="square" lIns="0" tIns="0" rIns="0" bIns="0" anchor="t">
            <a:spAutoFit/>
          </a:bodyPr>
          <a:lstStyle/>
          <a:p>
            <a:pPr algn="l">
              <a:spcAft>
                <a:spcPts val="200"/>
              </a:spcAft>
            </a:pPr>
            <a:r>
              <a:rPr sz="1100" b="0" i="0">
                <a:solidFill>
                  <a:srgbClr val="334155"/>
                </a:solidFill>
              </a:rPr>
              <a:t>Page copy, specs, FAQs and product images.</a:t>
            </a:r>
          </a:p>
        </p:txBody>
      </p:sp>
      <p:sp>
        <p:nvSpPr>
          <p:cNvPr id="104" name="Rounded Rectangle 103"/>
          <p:cNvSpPr/>
          <p:nvPr/>
        </p:nvSpPr>
        <p:spPr>
          <a:xfrm>
            <a:off x="381000" y="3714750"/>
            <a:ext cx="2266950" cy="1285875"/>
          </a:xfrm>
          <a:prstGeom prst="roundRect">
            <a:avLst>
              <a:gd name="adj" fmla="val 7000"/>
            </a:avLst>
          </a:prstGeom>
          <a:solidFill>
            <a:srgbClr val="FFFFFF"/>
          </a:solidFill>
          <a:ln w="15875">
            <a:solidFill>
              <a:srgbClr val="F79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552450" y="3886200"/>
            <a:ext cx="1924050" cy="171450"/>
          </a:xfrm>
          <a:prstGeom prst="rect">
            <a:avLst/>
          </a:prstGeom>
          <a:noFill/>
        </p:spPr>
        <p:txBody>
          <a:bodyPr wrap="square" lIns="0" tIns="0" rIns="0" bIns="0" anchor="t">
            <a:spAutoFit/>
          </a:bodyPr>
          <a:lstStyle/>
          <a:p>
            <a:pPr algn="l">
              <a:spcAft>
                <a:spcPts val="200"/>
              </a:spcAft>
            </a:pPr>
            <a:r>
              <a:rPr sz="1200" b="1" i="0">
                <a:solidFill>
                  <a:srgbClr val="F7941E"/>
                </a:solidFill>
              </a:rPr>
              <a:t>Existing product feed</a:t>
            </a:r>
          </a:p>
        </p:txBody>
      </p:sp>
      <p:sp>
        <p:nvSpPr>
          <p:cNvPr id="106" name="TextBox 105"/>
          <p:cNvSpPr txBox="1"/>
          <p:nvPr/>
        </p:nvSpPr>
        <p:spPr>
          <a:xfrm>
            <a:off x="552450" y="4124325"/>
            <a:ext cx="1924050" cy="762000"/>
          </a:xfrm>
          <a:prstGeom prst="rect">
            <a:avLst/>
          </a:prstGeom>
          <a:noFill/>
        </p:spPr>
        <p:txBody>
          <a:bodyPr wrap="square" lIns="0" tIns="0" rIns="0" bIns="0" anchor="t">
            <a:spAutoFit/>
          </a:bodyPr>
          <a:lstStyle/>
          <a:p>
            <a:pPr algn="l">
              <a:spcAft>
                <a:spcPts val="200"/>
              </a:spcAft>
            </a:pPr>
            <a:r>
              <a:rPr sz="1100" b="0" i="0">
                <a:solidFill>
                  <a:srgbClr val="334155"/>
                </a:solidFill>
              </a:rPr>
              <a:t>Current titles, descriptions, attributes &amp; GTINs.</a:t>
            </a:r>
          </a:p>
        </p:txBody>
      </p:sp>
      <p:sp>
        <p:nvSpPr>
          <p:cNvPr id="107" name="Right Arrow 106"/>
          <p:cNvSpPr/>
          <p:nvPr/>
        </p:nvSpPr>
        <p:spPr>
          <a:xfrm>
            <a:off x="2695575" y="3352800"/>
            <a:ext cx="381000" cy="533400"/>
          </a:xfrm>
          <a:prstGeom prst="rightArrow">
            <a:avLst>
              <a:gd name="adj1" fmla="val 60000"/>
              <a:gd name="adj2" fmla="val 55000"/>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3095625" y="1809750"/>
            <a:ext cx="5143500" cy="228600"/>
          </a:xfrm>
          <a:prstGeom prst="rect">
            <a:avLst/>
          </a:prstGeom>
          <a:noFill/>
        </p:spPr>
        <p:txBody>
          <a:bodyPr wrap="square" lIns="0" tIns="0" rIns="0" bIns="0" anchor="t">
            <a:spAutoFit/>
          </a:bodyPr>
          <a:lstStyle/>
          <a:p>
            <a:pPr algn="ctr">
              <a:spcAft>
                <a:spcPts val="200"/>
              </a:spcAft>
            </a:pPr>
            <a:r>
              <a:rPr sz="1600" b="1" i="0">
                <a:solidFill>
                  <a:srgbClr val="0F172A"/>
                </a:solidFill>
              </a:rPr>
              <a:t>TachyonAI</a:t>
            </a:r>
          </a:p>
        </p:txBody>
      </p:sp>
      <p:sp>
        <p:nvSpPr>
          <p:cNvPr id="110" name="TextBox 109"/>
          <p:cNvSpPr txBox="1"/>
          <p:nvPr/>
        </p:nvSpPr>
        <p:spPr>
          <a:xfrm>
            <a:off x="3095625" y="2066925"/>
            <a:ext cx="5143500" cy="152400"/>
          </a:xfrm>
          <a:prstGeom prst="rect">
            <a:avLst/>
          </a:prstGeom>
          <a:noFill/>
        </p:spPr>
        <p:txBody>
          <a:bodyPr wrap="square" lIns="0" tIns="0" rIns="0" bIns="0" anchor="t">
            <a:spAutoFit/>
          </a:bodyPr>
          <a:lstStyle/>
          <a:p>
            <a:pPr algn="ctr">
              <a:spcAft>
                <a:spcPts val="200"/>
              </a:spcAft>
            </a:pPr>
            <a:r>
              <a:rPr sz="1050" b="0" i="0">
                <a:solidFill>
                  <a:srgbClr val="64748B"/>
                </a:solidFill>
              </a:rPr>
              <a:t>Two parallel tracks that turn raw inputs into AI-ready data</a:t>
            </a:r>
          </a:p>
        </p:txBody>
      </p:sp>
      <p:sp>
        <p:nvSpPr>
          <p:cNvPr id="111" name="TextBox 110"/>
          <p:cNvSpPr txBox="1"/>
          <p:nvPr/>
        </p:nvSpPr>
        <p:spPr>
          <a:xfrm>
            <a:off x="3209925" y="2465917"/>
            <a:ext cx="4914900" cy="152400"/>
          </a:xfrm>
          <a:prstGeom prst="rect">
            <a:avLst/>
          </a:prstGeom>
          <a:noFill/>
        </p:spPr>
        <p:txBody>
          <a:bodyPr wrap="square" lIns="0" tIns="0" rIns="0" bIns="0" anchor="t">
            <a:spAutoFit/>
          </a:bodyPr>
          <a:lstStyle/>
          <a:p>
            <a:pPr algn="l">
              <a:spcAft>
                <a:spcPts val="200"/>
              </a:spcAft>
            </a:pPr>
            <a:r>
              <a:rPr sz="1100" b="1" i="0" dirty="0">
                <a:solidFill>
                  <a:srgbClr val="10B981"/>
                </a:solidFill>
                <a:latin typeface="Calibri"/>
              </a:rPr>
              <a:t>① IMAGE VISION</a:t>
            </a:r>
            <a:r>
              <a:rPr sz="1050" b="0" i="0" dirty="0">
                <a:solidFill>
                  <a:srgbClr val="334155"/>
                </a:solidFill>
                <a:latin typeface="Calibri"/>
              </a:rPr>
              <a:t>  — read attributes straight from the photo</a:t>
            </a:r>
          </a:p>
        </p:txBody>
      </p:sp>
      <p:sp>
        <p:nvSpPr>
          <p:cNvPr id="112" name="Rounded Rectangle 111"/>
          <p:cNvSpPr/>
          <p:nvPr/>
        </p:nvSpPr>
        <p:spPr>
          <a:xfrm>
            <a:off x="3209925" y="280246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Neckline: </a:t>
            </a:r>
            <a:r>
              <a:rPr sz="1100">
                <a:solidFill>
                  <a:srgbClr val="334155"/>
                </a:solidFill>
              </a:rPr>
              <a:t>V-neck wrap</a:t>
            </a:r>
          </a:p>
        </p:txBody>
      </p:sp>
      <p:cxnSp>
        <p:nvCxnSpPr>
          <p:cNvPr id="113" name="Connector 112"/>
          <p:cNvCxnSpPr>
            <a:cxnSpLocks/>
          </p:cNvCxnSpPr>
          <p:nvPr/>
        </p:nvCxnSpPr>
        <p:spPr>
          <a:xfrm>
            <a:off x="5114925" y="2935816"/>
            <a:ext cx="485775" cy="209550"/>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4" name="Rounded Rectangle 113"/>
          <p:cNvSpPr/>
          <p:nvPr/>
        </p:nvSpPr>
        <p:spPr>
          <a:xfrm>
            <a:off x="3209925" y="316441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Pattern: </a:t>
            </a:r>
            <a:r>
              <a:rPr sz="1100">
                <a:solidFill>
                  <a:srgbClr val="334155"/>
                </a:solidFill>
              </a:rPr>
              <a:t>Ditsy floral</a:t>
            </a:r>
          </a:p>
        </p:txBody>
      </p:sp>
      <p:cxnSp>
        <p:nvCxnSpPr>
          <p:cNvPr id="115" name="Connector 114"/>
          <p:cNvCxnSpPr/>
          <p:nvPr/>
        </p:nvCxnSpPr>
        <p:spPr>
          <a:xfrm>
            <a:off x="5114925" y="3297766"/>
            <a:ext cx="257175" cy="114300"/>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6" name="Rounded Rectangle 115"/>
          <p:cNvSpPr/>
          <p:nvPr/>
        </p:nvSpPr>
        <p:spPr>
          <a:xfrm>
            <a:off x="3209925" y="352636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Fabric: </a:t>
            </a:r>
            <a:r>
              <a:rPr sz="1100">
                <a:solidFill>
                  <a:srgbClr val="334155"/>
                </a:solidFill>
              </a:rPr>
              <a:t>Lightweight chiffon</a:t>
            </a:r>
          </a:p>
        </p:txBody>
      </p:sp>
      <p:cxnSp>
        <p:nvCxnSpPr>
          <p:cNvPr id="117" name="Connector 116"/>
          <p:cNvCxnSpPr>
            <a:cxnSpLocks/>
          </p:cNvCxnSpPr>
          <p:nvPr/>
        </p:nvCxnSpPr>
        <p:spPr>
          <a:xfrm>
            <a:off x="5114925" y="3659716"/>
            <a:ext cx="371475" cy="65618"/>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8" name="Rounded Rectangle 117"/>
          <p:cNvSpPr/>
          <p:nvPr/>
        </p:nvSpPr>
        <p:spPr>
          <a:xfrm>
            <a:off x="3209925" y="388831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Occasion: </a:t>
            </a:r>
            <a:r>
              <a:rPr sz="1100">
                <a:solidFill>
                  <a:srgbClr val="334155"/>
                </a:solidFill>
              </a:rPr>
              <a:t>Wedding guest</a:t>
            </a:r>
          </a:p>
        </p:txBody>
      </p:sp>
      <p:cxnSp>
        <p:nvCxnSpPr>
          <p:cNvPr id="119" name="Connector 118"/>
          <p:cNvCxnSpPr>
            <a:cxnSpLocks/>
          </p:cNvCxnSpPr>
          <p:nvPr/>
        </p:nvCxnSpPr>
        <p:spPr>
          <a:xfrm flipV="1">
            <a:off x="5114925" y="3972984"/>
            <a:ext cx="152400" cy="48682"/>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0" name="Rounded Rectangle 119"/>
          <p:cNvSpPr/>
          <p:nvPr/>
        </p:nvSpPr>
        <p:spPr>
          <a:xfrm>
            <a:off x="6238875" y="280246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Sleeve: </a:t>
            </a:r>
            <a:r>
              <a:rPr sz="1100">
                <a:solidFill>
                  <a:srgbClr val="334155"/>
                </a:solidFill>
              </a:rPr>
              <a:t>3/4 length</a:t>
            </a:r>
          </a:p>
        </p:txBody>
      </p:sp>
      <p:cxnSp>
        <p:nvCxnSpPr>
          <p:cNvPr id="121" name="Connector 120"/>
          <p:cNvCxnSpPr>
            <a:cxnSpLocks/>
          </p:cNvCxnSpPr>
          <p:nvPr/>
        </p:nvCxnSpPr>
        <p:spPr>
          <a:xfrm flipH="1">
            <a:off x="5943600" y="2935816"/>
            <a:ext cx="276225" cy="476250"/>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2" name="Rounded Rectangle 121"/>
          <p:cNvSpPr/>
          <p:nvPr/>
        </p:nvSpPr>
        <p:spPr>
          <a:xfrm>
            <a:off x="6238875" y="316441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Fit: </a:t>
            </a:r>
            <a:r>
              <a:rPr sz="1100">
                <a:solidFill>
                  <a:srgbClr val="334155"/>
                </a:solidFill>
              </a:rPr>
              <a:t>Wrap, tie waist</a:t>
            </a:r>
          </a:p>
        </p:txBody>
      </p:sp>
      <p:cxnSp>
        <p:nvCxnSpPr>
          <p:cNvPr id="123" name="Connector 122"/>
          <p:cNvCxnSpPr>
            <a:cxnSpLocks/>
          </p:cNvCxnSpPr>
          <p:nvPr/>
        </p:nvCxnSpPr>
        <p:spPr>
          <a:xfrm flipH="1">
            <a:off x="5848350" y="3297766"/>
            <a:ext cx="371475" cy="323639"/>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6238875" y="352636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Colour: </a:t>
            </a:r>
            <a:r>
              <a:rPr sz="1100">
                <a:solidFill>
                  <a:srgbClr val="334155"/>
                </a:solidFill>
              </a:rPr>
              <a:t>Navy / white</a:t>
            </a:r>
          </a:p>
        </p:txBody>
      </p:sp>
      <p:cxnSp>
        <p:nvCxnSpPr>
          <p:cNvPr id="125" name="Connector 124"/>
          <p:cNvCxnSpPr>
            <a:cxnSpLocks/>
          </p:cNvCxnSpPr>
          <p:nvPr/>
        </p:nvCxnSpPr>
        <p:spPr>
          <a:xfrm flipH="1">
            <a:off x="5943600" y="3659716"/>
            <a:ext cx="276225" cy="65618"/>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6" name="Rounded Rectangle 125"/>
          <p:cNvSpPr/>
          <p:nvPr/>
        </p:nvSpPr>
        <p:spPr>
          <a:xfrm>
            <a:off x="6238875" y="3888316"/>
            <a:ext cx="1885950" cy="266700"/>
          </a:xfrm>
          <a:prstGeom prst="roundRect">
            <a:avLst>
              <a:gd name="adj" fmla="val 3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wrap="none" lIns="66675" tIns="0" rIns="66675" bIns="0" rtlCol="0" anchor="ctr"/>
          <a:lstStyle/>
          <a:p>
            <a:pPr algn="l"/>
            <a:r>
              <a:rPr sz="1100" b="1">
                <a:solidFill>
                  <a:srgbClr val="0F172A"/>
                </a:solidFill>
              </a:rPr>
              <a:t>Length: </a:t>
            </a:r>
            <a:r>
              <a:rPr sz="1100">
                <a:solidFill>
                  <a:srgbClr val="334155"/>
                </a:solidFill>
              </a:rPr>
              <a:t>Midi</a:t>
            </a:r>
          </a:p>
        </p:txBody>
      </p:sp>
      <p:cxnSp>
        <p:nvCxnSpPr>
          <p:cNvPr id="127" name="Connector 126"/>
          <p:cNvCxnSpPr>
            <a:cxnSpLocks/>
          </p:cNvCxnSpPr>
          <p:nvPr/>
        </p:nvCxnSpPr>
        <p:spPr>
          <a:xfrm flipH="1" flipV="1">
            <a:off x="5943600" y="4011083"/>
            <a:ext cx="276225" cy="10583"/>
          </a:xfrm>
          <a:prstGeom prst="line">
            <a:avLst/>
          </a:prstGeom>
          <a:ln w="1143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3209925" y="4288368"/>
            <a:ext cx="4914900" cy="152400"/>
          </a:xfrm>
          <a:prstGeom prst="rect">
            <a:avLst/>
          </a:prstGeom>
          <a:noFill/>
        </p:spPr>
        <p:txBody>
          <a:bodyPr wrap="square" lIns="0" tIns="0" rIns="0" bIns="0" anchor="t">
            <a:spAutoFit/>
          </a:bodyPr>
          <a:lstStyle/>
          <a:p>
            <a:pPr algn="l">
              <a:spcAft>
                <a:spcPts val="200"/>
              </a:spcAft>
            </a:pPr>
            <a:r>
              <a:rPr sz="1100" b="1" i="0" dirty="0">
                <a:solidFill>
                  <a:srgbClr val="3B82F6"/>
                </a:solidFill>
                <a:latin typeface="Calibri"/>
              </a:rPr>
              <a:t>② TEXT ENRICHMENT</a:t>
            </a:r>
            <a:r>
              <a:rPr sz="1050" b="0" i="0" dirty="0">
                <a:solidFill>
                  <a:srgbClr val="334155"/>
                </a:solidFill>
                <a:latin typeface="Calibri"/>
              </a:rPr>
              <a:t>  — rewrite the words into rich, structured copy</a:t>
            </a:r>
          </a:p>
        </p:txBody>
      </p:sp>
      <p:sp>
        <p:nvSpPr>
          <p:cNvPr id="129" name="Rounded Rectangle 128"/>
          <p:cNvSpPr/>
          <p:nvPr/>
        </p:nvSpPr>
        <p:spPr>
          <a:xfrm>
            <a:off x="3209925" y="4592108"/>
            <a:ext cx="2000250" cy="942975"/>
          </a:xfrm>
          <a:prstGeom prst="roundRect">
            <a:avLst>
              <a:gd name="adj" fmla="val 8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3324225" y="4668309"/>
            <a:ext cx="1771650" cy="133350"/>
          </a:xfrm>
          <a:prstGeom prst="rect">
            <a:avLst/>
          </a:prstGeom>
          <a:noFill/>
        </p:spPr>
        <p:txBody>
          <a:bodyPr wrap="square" lIns="0" tIns="0" rIns="0" bIns="0" anchor="t">
            <a:spAutoFit/>
          </a:bodyPr>
          <a:lstStyle/>
          <a:p>
            <a:pPr algn="l">
              <a:spcAft>
                <a:spcPts val="200"/>
              </a:spcAft>
            </a:pPr>
            <a:r>
              <a:rPr sz="950" b="1" i="0">
                <a:solidFill>
                  <a:srgbClr val="64748B"/>
                </a:solidFill>
              </a:rPr>
              <a:t>YOUR CURRENT TEXT</a:t>
            </a:r>
          </a:p>
        </p:txBody>
      </p:sp>
      <p:sp>
        <p:nvSpPr>
          <p:cNvPr id="131" name="TextBox 130"/>
          <p:cNvSpPr txBox="1"/>
          <p:nvPr/>
        </p:nvSpPr>
        <p:spPr>
          <a:xfrm>
            <a:off x="3324225" y="4820709"/>
            <a:ext cx="1771650" cy="533400"/>
          </a:xfrm>
          <a:prstGeom prst="rect">
            <a:avLst/>
          </a:prstGeom>
          <a:noFill/>
        </p:spPr>
        <p:txBody>
          <a:bodyPr wrap="square" lIns="0" tIns="0" rIns="0" bIns="0" anchor="t">
            <a:spAutoFit/>
          </a:bodyPr>
          <a:lstStyle/>
          <a:p>
            <a:pPr algn="l">
              <a:spcAft>
                <a:spcPts val="200"/>
              </a:spcAft>
            </a:pPr>
            <a:r>
              <a:rPr sz="1100" b="0" i="1">
                <a:solidFill>
                  <a:srgbClr val="334155"/>
                </a:solidFill>
                <a:latin typeface="Calibri"/>
              </a:rPr>
              <a:t>“Floral wrap dress, navy”</a:t>
            </a:r>
          </a:p>
        </p:txBody>
      </p:sp>
      <p:sp>
        <p:nvSpPr>
          <p:cNvPr id="132" name="Right Arrow 131"/>
          <p:cNvSpPr/>
          <p:nvPr/>
        </p:nvSpPr>
        <p:spPr>
          <a:xfrm>
            <a:off x="5267325" y="4858809"/>
            <a:ext cx="285750" cy="285750"/>
          </a:xfrm>
          <a:prstGeom prst="rightArrow">
            <a:avLst>
              <a:gd name="adj1" fmla="val 60000"/>
              <a:gd name="adj2" fmla="val 55000"/>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ounded Rectangle 132"/>
          <p:cNvSpPr/>
          <p:nvPr/>
        </p:nvSpPr>
        <p:spPr>
          <a:xfrm>
            <a:off x="5629275" y="4592108"/>
            <a:ext cx="2495550" cy="942975"/>
          </a:xfrm>
          <a:prstGeom prst="roundRect">
            <a:avLst>
              <a:gd name="adj" fmla="val 8000"/>
            </a:avLst>
          </a:prstGeom>
          <a:solidFill>
            <a:srgbClr val="FFFFFF"/>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5743575" y="4668309"/>
            <a:ext cx="2266950" cy="133350"/>
          </a:xfrm>
          <a:prstGeom prst="rect">
            <a:avLst/>
          </a:prstGeom>
          <a:noFill/>
        </p:spPr>
        <p:txBody>
          <a:bodyPr wrap="square" lIns="0" tIns="0" rIns="0" bIns="0" anchor="t">
            <a:spAutoFit/>
          </a:bodyPr>
          <a:lstStyle/>
          <a:p>
            <a:pPr algn="l">
              <a:spcAft>
                <a:spcPts val="200"/>
              </a:spcAft>
            </a:pPr>
            <a:r>
              <a:rPr sz="950" b="1" i="0">
                <a:solidFill>
                  <a:srgbClr val="3B82F6"/>
                </a:solidFill>
              </a:rPr>
              <a:t>TACHYONAI REWRITE</a:t>
            </a:r>
          </a:p>
        </p:txBody>
      </p:sp>
      <p:sp>
        <p:nvSpPr>
          <p:cNvPr id="135" name="TextBox 134"/>
          <p:cNvSpPr txBox="1"/>
          <p:nvPr/>
        </p:nvSpPr>
        <p:spPr>
          <a:xfrm>
            <a:off x="5743575" y="4820709"/>
            <a:ext cx="2266950" cy="677108"/>
          </a:xfrm>
          <a:prstGeom prst="rect">
            <a:avLst/>
          </a:prstGeom>
          <a:noFill/>
        </p:spPr>
        <p:txBody>
          <a:bodyPr wrap="square" lIns="0" tIns="0" rIns="0" bIns="0" anchor="t">
            <a:spAutoFit/>
          </a:bodyPr>
          <a:lstStyle/>
          <a:p>
            <a:pPr algn="l">
              <a:spcAft>
                <a:spcPts val="200"/>
              </a:spcAft>
            </a:pPr>
            <a:r>
              <a:rPr sz="1100" b="0" i="0" dirty="0">
                <a:solidFill>
                  <a:srgbClr val="0F172A"/>
                </a:solidFill>
                <a:latin typeface="Calibri"/>
              </a:rPr>
              <a:t>“</a:t>
            </a:r>
            <a:r>
              <a:rPr lang="en-GB" sz="1100" b="0" i="0" dirty="0">
                <a:solidFill>
                  <a:srgbClr val="0F172A"/>
                </a:solidFill>
                <a:latin typeface="Calibri"/>
              </a:rPr>
              <a:t>Superdry </a:t>
            </a:r>
            <a:r>
              <a:rPr sz="1100" b="0" i="0" dirty="0">
                <a:solidFill>
                  <a:srgbClr val="0F172A"/>
                </a:solidFill>
                <a:latin typeface="Calibri"/>
              </a:rPr>
              <a:t>Women's Navy Ditsy Floral V-Neck Wrap Midi Dress — 3/4 sleeve, lightweight chiffon · wedding-guest &amp; workwear”</a:t>
            </a:r>
          </a:p>
        </p:txBody>
      </p:sp>
      <p:sp>
        <p:nvSpPr>
          <p:cNvPr id="136" name="Rounded Rectangle 135"/>
          <p:cNvSpPr/>
          <p:nvPr/>
        </p:nvSpPr>
        <p:spPr>
          <a:xfrm>
            <a:off x="3209925" y="5609167"/>
            <a:ext cx="4914900" cy="285750"/>
          </a:xfrm>
          <a:prstGeom prst="roundRect">
            <a:avLst>
              <a:gd name="adj" fmla="val 40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3209925" y="5675842"/>
            <a:ext cx="4914900" cy="152400"/>
          </a:xfrm>
          <a:prstGeom prst="rect">
            <a:avLst/>
          </a:prstGeom>
          <a:noFill/>
        </p:spPr>
        <p:txBody>
          <a:bodyPr wrap="square" lIns="0" tIns="0" rIns="0" bIns="0" anchor="t">
            <a:spAutoFit/>
          </a:bodyPr>
          <a:lstStyle/>
          <a:p>
            <a:pPr algn="ctr">
              <a:spcAft>
                <a:spcPts val="200"/>
              </a:spcAft>
            </a:pPr>
            <a:r>
              <a:rPr sz="1050" b="1" i="0">
                <a:solidFill>
                  <a:srgbClr val="047857"/>
                </a:solidFill>
                <a:latin typeface="Calibri"/>
              </a:rPr>
              <a:t>✓  Validated &amp; organised — deduped, structured and ready for every channel</a:t>
            </a:r>
          </a:p>
        </p:txBody>
      </p:sp>
      <p:sp>
        <p:nvSpPr>
          <p:cNvPr id="138" name="Right Arrow 137"/>
          <p:cNvSpPr/>
          <p:nvPr/>
        </p:nvSpPr>
        <p:spPr>
          <a:xfrm>
            <a:off x="8286750" y="3352800"/>
            <a:ext cx="381000" cy="533400"/>
          </a:xfrm>
          <a:prstGeom prst="rightArrow">
            <a:avLst>
              <a:gd name="adj1" fmla="val 60000"/>
              <a:gd name="adj2" fmla="val 55000"/>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8886825" y="2164956"/>
            <a:ext cx="2724150" cy="2564805"/>
          </a:xfrm>
          <a:prstGeom prst="rect">
            <a:avLst/>
          </a:prstGeom>
          <a:noFill/>
        </p:spPr>
        <p:txBody>
          <a:bodyPr wrap="square" lIns="0" tIns="0" rIns="0" bIns="0" anchor="ctr">
            <a:spAutoFit/>
          </a:bodyPr>
          <a:lstStyle/>
          <a:p>
            <a:pPr marL="171450" indent="-171450" algn="l">
              <a:spcAft>
                <a:spcPts val="800"/>
              </a:spcAft>
              <a:buFont typeface="Arial" panose="020B0604020202020204" pitchFamily="34" charset="0"/>
              <a:buChar char="•"/>
            </a:pPr>
            <a:r>
              <a:rPr sz="1200" dirty="0">
                <a:solidFill>
                  <a:srgbClr val="334155"/>
                </a:solidFill>
              </a:rPr>
              <a:t>Title rewriting</a:t>
            </a:r>
          </a:p>
          <a:p>
            <a:pPr marL="171450" indent="-171450" algn="l">
              <a:spcAft>
                <a:spcPts val="800"/>
              </a:spcAft>
              <a:buFont typeface="Arial" panose="020B0604020202020204" pitchFamily="34" charset="0"/>
              <a:buChar char="•"/>
            </a:pPr>
            <a:r>
              <a:rPr sz="1200" dirty="0">
                <a:solidFill>
                  <a:srgbClr val="334155"/>
                </a:solidFill>
              </a:rPr>
              <a:t>Attribute completion</a:t>
            </a:r>
          </a:p>
          <a:p>
            <a:pPr marL="171450" indent="-171450" algn="l">
              <a:spcAft>
                <a:spcPts val="800"/>
              </a:spcAft>
              <a:buFont typeface="Arial" panose="020B0604020202020204" pitchFamily="34" charset="0"/>
              <a:buChar char="•"/>
            </a:pPr>
            <a:r>
              <a:rPr sz="1200" dirty="0">
                <a:solidFill>
                  <a:srgbClr val="334155"/>
                </a:solidFill>
              </a:rPr>
              <a:t>Category mapping</a:t>
            </a:r>
            <a:endParaRPr lang="en-GB" sz="1200" dirty="0">
              <a:solidFill>
                <a:srgbClr val="334155"/>
              </a:solidFill>
            </a:endParaRPr>
          </a:p>
          <a:p>
            <a:pPr marL="171450" indent="-171450" algn="l">
              <a:spcAft>
                <a:spcPts val="800"/>
              </a:spcAft>
              <a:buFont typeface="Arial" panose="020B0604020202020204" pitchFamily="34" charset="0"/>
              <a:buChar char="•"/>
            </a:pPr>
            <a:r>
              <a:rPr lang="en-GB" sz="1200" dirty="0">
                <a:solidFill>
                  <a:srgbClr val="334155"/>
                </a:solidFill>
              </a:rPr>
              <a:t>Google product category mapping</a:t>
            </a:r>
            <a:endParaRPr sz="1200" dirty="0">
              <a:solidFill>
                <a:srgbClr val="334155"/>
              </a:solidFill>
            </a:endParaRPr>
          </a:p>
          <a:p>
            <a:pPr marL="171450" indent="-171450" algn="l">
              <a:spcAft>
                <a:spcPts val="800"/>
              </a:spcAft>
              <a:buFont typeface="Arial" panose="020B0604020202020204" pitchFamily="34" charset="0"/>
              <a:buChar char="•"/>
            </a:pPr>
            <a:r>
              <a:rPr sz="1200" dirty="0">
                <a:solidFill>
                  <a:srgbClr val="334155"/>
                </a:solidFill>
              </a:rPr>
              <a:t>Highlight generation</a:t>
            </a:r>
          </a:p>
          <a:p>
            <a:pPr marL="171450" indent="-171450" algn="l">
              <a:spcAft>
                <a:spcPts val="800"/>
              </a:spcAft>
              <a:buFont typeface="Arial" panose="020B0604020202020204" pitchFamily="34" charset="0"/>
              <a:buChar char="•"/>
            </a:pPr>
            <a:r>
              <a:rPr sz="1200" dirty="0">
                <a:solidFill>
                  <a:srgbClr val="334155"/>
                </a:solidFill>
              </a:rPr>
              <a:t>FAQ injection</a:t>
            </a:r>
          </a:p>
          <a:p>
            <a:pPr marL="171450" indent="-171450" algn="l">
              <a:spcAft>
                <a:spcPts val="800"/>
              </a:spcAft>
              <a:buFont typeface="Arial" panose="020B0604020202020204" pitchFamily="34" charset="0"/>
              <a:buChar char="•"/>
            </a:pPr>
            <a:r>
              <a:rPr sz="1200" dirty="0">
                <a:solidFill>
                  <a:srgbClr val="334155"/>
                </a:solidFill>
              </a:rPr>
              <a:t>Conversational attributes (Google's 6 </a:t>
            </a:r>
            <a:r>
              <a:rPr lang="en-GB" sz="1200" dirty="0">
                <a:solidFill>
                  <a:srgbClr val="334155"/>
                </a:solidFill>
              </a:rPr>
              <a:t>ne</a:t>
            </a:r>
            <a:r>
              <a:rPr sz="1200" dirty="0">
                <a:solidFill>
                  <a:srgbClr val="334155"/>
                </a:solidFill>
              </a:rPr>
              <a:t>w fields)</a:t>
            </a:r>
          </a:p>
          <a:p>
            <a:pPr marL="171450" indent="-171450" algn="l">
              <a:spcAft>
                <a:spcPts val="800"/>
              </a:spcAft>
              <a:buFont typeface="Arial" panose="020B0604020202020204" pitchFamily="34" charset="0"/>
              <a:buChar char="•"/>
            </a:pPr>
            <a:r>
              <a:rPr sz="1200" dirty="0">
                <a:solidFill>
                  <a:srgbClr val="334155"/>
                </a:solidFill>
                <a:latin typeface="Calibri"/>
              </a:rPr>
              <a:t>Description facets: intent · Q&amp;A · comparison · use-case</a:t>
            </a:r>
          </a:p>
        </p:txBody>
      </p:sp>
      <p:sp>
        <p:nvSpPr>
          <p:cNvPr id="141" name="Title"/>
          <p:cNvSpPr txBox="1"/>
          <p:nvPr/>
        </p:nvSpPr>
        <p:spPr>
          <a:xfrm>
            <a:off x="609904" y="347472"/>
            <a:ext cx="10972800" cy="430887"/>
          </a:xfrm>
          <a:prstGeom prst="rect">
            <a:avLst/>
          </a:prstGeom>
          <a:noFill/>
        </p:spPr>
        <p:txBody>
          <a:bodyPr wrap="square" lIns="0" tIns="0" rIns="0" bIns="0">
            <a:spAutoFit/>
          </a:bodyPr>
          <a:lstStyle/>
          <a:p>
            <a:pPr algn="l"/>
            <a:r>
              <a:rPr lang="en-GB" sz="2800" b="1" i="0" dirty="0">
                <a:solidFill>
                  <a:srgbClr val="0F172A"/>
                </a:solidFill>
              </a:rPr>
              <a:t>Moving to </a:t>
            </a:r>
            <a:r>
              <a:rPr lang="en-GB" sz="2800" b="1" dirty="0">
                <a:solidFill>
                  <a:srgbClr val="0F172A"/>
                </a:solidFill>
              </a:rPr>
              <a:t>feed enrichment by Visual !</a:t>
            </a:r>
            <a:endParaRPr sz="2800" b="1" i="0" dirty="0">
              <a:solidFill>
                <a:srgbClr val="0F172A"/>
              </a:solidFill>
            </a:endParaRPr>
          </a:p>
        </p:txBody>
      </p:sp>
      <p:sp>
        <p:nvSpPr>
          <p:cNvPr id="142"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Every field rewritten for AI — including the attributes hiding in your product images.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air of brown, sleek, and stylish boots with a hanging loop for laces, available at a discount.&#10;&#10;AI-generated content may be incorrect.">
            <a:extLst>
              <a:ext uri="{FF2B5EF4-FFF2-40B4-BE49-F238E27FC236}">
                <a16:creationId xmlns:a16="http://schemas.microsoft.com/office/drawing/2014/main" id="{1A44B301-1DD2-1E82-0B36-DD3FEDEBA72B}"/>
              </a:ext>
            </a:extLst>
          </p:cNvPr>
          <p:cNvPicPr>
            <a:picLocks noChangeAspect="1"/>
          </p:cNvPicPr>
          <p:nvPr/>
        </p:nvPicPr>
        <p:blipFill>
          <a:blip r:embed="rId2"/>
          <a:stretch>
            <a:fillRect/>
          </a:stretch>
        </p:blipFill>
        <p:spPr>
          <a:xfrm>
            <a:off x="594033" y="2103120"/>
            <a:ext cx="3063505" cy="3063505"/>
          </a:xfrm>
          <a:prstGeom prst="rect">
            <a:avLst/>
          </a:prstGeom>
          <a:ln>
            <a:solidFill>
              <a:schemeClr val="tx1"/>
            </a:solidFill>
          </a:ln>
        </p:spPr>
      </p:pic>
      <p:pic>
        <p:nvPicPr>
          <p:cNvPr id="11" name="Picture 10" descr="Free Delivery&#10;&#10;AI-generated content may be incorrect.">
            <a:extLst>
              <a:ext uri="{FF2B5EF4-FFF2-40B4-BE49-F238E27FC236}">
                <a16:creationId xmlns:a16="http://schemas.microsoft.com/office/drawing/2014/main" id="{844ADBD2-DE3D-FBA7-7D1B-DBECB742A9D5}"/>
              </a:ext>
            </a:extLst>
          </p:cNvPr>
          <p:cNvPicPr>
            <a:picLocks noChangeAspect="1"/>
          </p:cNvPicPr>
          <p:nvPr/>
        </p:nvPicPr>
        <p:blipFill>
          <a:blip r:embed="rId3"/>
          <a:stretch>
            <a:fillRect/>
          </a:stretch>
        </p:blipFill>
        <p:spPr>
          <a:xfrm>
            <a:off x="4404063" y="2103120"/>
            <a:ext cx="3063505" cy="3017782"/>
          </a:xfrm>
          <a:prstGeom prst="rect">
            <a:avLst/>
          </a:prstGeom>
          <a:ln>
            <a:solidFill>
              <a:schemeClr val="tx1"/>
            </a:solidFill>
          </a:ln>
        </p:spPr>
      </p:pic>
      <p:pic>
        <p:nvPicPr>
          <p:cNvPr id="6" name="Picture 5" descr="The image displays a Nike P-6000 Black and White Metallic shoe sale, with a discount of up to 50%, priced at ￂﾣ80.00, plus ￂﾣ3.99 for delivery, and a store rating of 4/5 stars.&#10;&#10;AI-generated content may be incorrect.">
            <a:extLst>
              <a:ext uri="{FF2B5EF4-FFF2-40B4-BE49-F238E27FC236}">
                <a16:creationId xmlns:a16="http://schemas.microsoft.com/office/drawing/2014/main" id="{5BF7D007-453E-F6DA-DEF3-5FB0CA514A80}"/>
              </a:ext>
            </a:extLst>
          </p:cNvPr>
          <p:cNvPicPr>
            <a:picLocks noChangeAspect="1"/>
          </p:cNvPicPr>
          <p:nvPr/>
        </p:nvPicPr>
        <p:blipFill>
          <a:blip r:embed="rId4"/>
          <a:stretch>
            <a:fillRect/>
          </a:stretch>
        </p:blipFill>
        <p:spPr>
          <a:xfrm>
            <a:off x="8054771" y="1737360"/>
            <a:ext cx="2066152" cy="4555200"/>
          </a:xfrm>
          <a:prstGeom prst="rect">
            <a:avLst/>
          </a:prstGeom>
        </p:spPr>
      </p:pic>
      <p:sp>
        <p:nvSpPr>
          <p:cNvPr id="12"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Google Feed Optimisation – PPC Image Overlay</a:t>
            </a:r>
          </a:p>
        </p:txBody>
      </p:sp>
      <p:sp>
        <p:nvSpPr>
          <p:cNvPr id="13"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Mock-up illustration for design reference only — not a live implementation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image displays a pair of brown ankle boots by TOMS, with a 45% discount price tag of ￂﾣ45.&#10;&#10;AI-generated content may be incorrect.">
            <a:extLst>
              <a:ext uri="{FF2B5EF4-FFF2-40B4-BE49-F238E27FC236}">
                <a16:creationId xmlns:a16="http://schemas.microsoft.com/office/drawing/2014/main" id="{818080C7-4AAA-674D-3E87-135C7C0D624E}"/>
              </a:ext>
            </a:extLst>
          </p:cNvPr>
          <p:cNvPicPr>
            <a:picLocks noChangeAspect="1"/>
          </p:cNvPicPr>
          <p:nvPr/>
        </p:nvPicPr>
        <p:blipFill>
          <a:blip r:embed="rId2"/>
          <a:stretch>
            <a:fillRect/>
          </a:stretch>
        </p:blipFill>
        <p:spPr>
          <a:xfrm>
            <a:off x="462844" y="2103120"/>
            <a:ext cx="3159587" cy="3169161"/>
          </a:xfrm>
          <a:prstGeom prst="rect">
            <a:avLst/>
          </a:prstGeom>
          <a:ln>
            <a:solidFill>
              <a:schemeClr val="tx1"/>
            </a:solidFill>
          </a:ln>
        </p:spPr>
      </p:pic>
      <p:pic>
        <p:nvPicPr>
          <p:cNvPr id="9" name="Picture 8" descr="The image displays a pair of black and white Adidas Superstar trainers, with a discounted price of ￂﾣ55.00.&#10;&#10;AI-generated content may be incorrect.">
            <a:extLst>
              <a:ext uri="{FF2B5EF4-FFF2-40B4-BE49-F238E27FC236}">
                <a16:creationId xmlns:a16="http://schemas.microsoft.com/office/drawing/2014/main" id="{FBD6DBA2-F0D8-EF54-FCB0-E8F04E43E77B}"/>
              </a:ext>
            </a:extLst>
          </p:cNvPr>
          <p:cNvPicPr>
            <a:picLocks noChangeAspect="1"/>
          </p:cNvPicPr>
          <p:nvPr/>
        </p:nvPicPr>
        <p:blipFill>
          <a:blip r:embed="rId3"/>
          <a:stretch>
            <a:fillRect/>
          </a:stretch>
        </p:blipFill>
        <p:spPr>
          <a:xfrm>
            <a:off x="4303191" y="2103120"/>
            <a:ext cx="3219938" cy="3237901"/>
          </a:xfrm>
          <a:prstGeom prst="rect">
            <a:avLst/>
          </a:prstGeom>
        </p:spPr>
      </p:pic>
      <p:pic>
        <p:nvPicPr>
          <p:cNvPr id="11" name="Picture 10" descr="The image displays a pair of brown, striped sandals with a blue discount offer for 50% off.&#10;&#10;AI-generated content may be incorrect.">
            <a:extLst>
              <a:ext uri="{FF2B5EF4-FFF2-40B4-BE49-F238E27FC236}">
                <a16:creationId xmlns:a16="http://schemas.microsoft.com/office/drawing/2014/main" id="{BCE33695-C79B-D5F7-71DA-C9401365F1CA}"/>
              </a:ext>
            </a:extLst>
          </p:cNvPr>
          <p:cNvPicPr>
            <a:picLocks noChangeAspect="1"/>
          </p:cNvPicPr>
          <p:nvPr/>
        </p:nvPicPr>
        <p:blipFill>
          <a:blip r:embed="rId4"/>
          <a:stretch>
            <a:fillRect/>
          </a:stretch>
        </p:blipFill>
        <p:spPr>
          <a:xfrm>
            <a:off x="8203889" y="2103120"/>
            <a:ext cx="3299602" cy="3299602"/>
          </a:xfrm>
          <a:prstGeom prst="rect">
            <a:avLst/>
          </a:prstGeom>
        </p:spPr>
      </p:pic>
      <p:sp>
        <p:nvSpPr>
          <p:cNvPr id="12"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Social Feed Optimisation – Image Overlay</a:t>
            </a:r>
          </a:p>
        </p:txBody>
      </p:sp>
      <p:sp>
        <p:nvSpPr>
          <p:cNvPr id="13"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Mock-up illustration for design reference only — not a live implementation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32307" y="2057400"/>
            <a:ext cx="3429000" cy="1874519"/>
          </a:xfrm>
          <a:prstGeom prst="roundRect">
            <a:avLst>
              <a:gd name="adj" fmla="val 6000"/>
            </a:avLst>
          </a:prstGeom>
          <a:solidFill>
            <a:srgbClr val="FFF6EB"/>
          </a:solidFill>
          <a:ln w="12700">
            <a:solidFill>
              <a:srgbClr val="F2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0907" y="2258568"/>
            <a:ext cx="384048" cy="384048"/>
          </a:xfrm>
          <a:prstGeom prst="ellipse">
            <a:avLst/>
          </a:prstGeom>
          <a:solidFill>
            <a:srgbClr val="FF9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1</a:t>
            </a:r>
          </a:p>
        </p:txBody>
      </p:sp>
      <p:sp>
        <p:nvSpPr>
          <p:cNvPr id="6" name="TextBox 5"/>
          <p:cNvSpPr txBox="1"/>
          <p:nvPr/>
        </p:nvSpPr>
        <p:spPr>
          <a:xfrm>
            <a:off x="1382115" y="2313432"/>
            <a:ext cx="2514600" cy="320040"/>
          </a:xfrm>
          <a:prstGeom prst="rect">
            <a:avLst/>
          </a:prstGeom>
          <a:noFill/>
        </p:spPr>
        <p:txBody>
          <a:bodyPr wrap="square" lIns="0" tIns="0" rIns="0" bIns="0" anchor="t">
            <a:spAutoFit/>
          </a:bodyPr>
          <a:lstStyle/>
          <a:p>
            <a:pPr algn="l"/>
            <a:r>
              <a:rPr sz="1400" b="1" i="0">
                <a:solidFill>
                  <a:srgbClr val="FF9C2F"/>
                </a:solidFill>
              </a:rPr>
              <a:t>IDENTIFY</a:t>
            </a:r>
          </a:p>
        </p:txBody>
      </p:sp>
      <p:sp>
        <p:nvSpPr>
          <p:cNvPr id="7" name="TextBox 6"/>
          <p:cNvSpPr txBox="1"/>
          <p:nvPr/>
        </p:nvSpPr>
        <p:spPr>
          <a:xfrm>
            <a:off x="888339" y="2807208"/>
            <a:ext cx="2916936" cy="960119"/>
          </a:xfrm>
          <a:prstGeom prst="rect">
            <a:avLst/>
          </a:prstGeom>
          <a:noFill/>
        </p:spPr>
        <p:txBody>
          <a:bodyPr wrap="square" lIns="0" tIns="0" rIns="0" bIns="0" anchor="t">
            <a:spAutoFit/>
          </a:bodyPr>
          <a:lstStyle/>
          <a:p>
            <a:pPr algn="l"/>
            <a:r>
              <a:rPr sz="1250" b="0" i="0">
                <a:solidFill>
                  <a:srgbClr val="333333"/>
                </a:solidFill>
                <a:latin typeface="Calibri"/>
              </a:rPr>
              <a:t>Find the product groups where spend is delivering below-target RoAS — the money quietly leaking out of your campaigns.</a:t>
            </a:r>
          </a:p>
        </p:txBody>
      </p:sp>
      <p:sp>
        <p:nvSpPr>
          <p:cNvPr id="8" name="Rounded Rectangle 7"/>
          <p:cNvSpPr/>
          <p:nvPr/>
        </p:nvSpPr>
        <p:spPr>
          <a:xfrm>
            <a:off x="4381347" y="2057400"/>
            <a:ext cx="3429000" cy="1874519"/>
          </a:xfrm>
          <a:prstGeom prst="roundRect">
            <a:avLst>
              <a:gd name="adj" fmla="val 6000"/>
            </a:avLst>
          </a:prstGeom>
          <a:solidFill>
            <a:srgbClr val="FFF6EB"/>
          </a:solidFill>
          <a:ln w="12700">
            <a:solidFill>
              <a:srgbClr val="F2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609947" y="2258568"/>
            <a:ext cx="384048" cy="384048"/>
          </a:xfrm>
          <a:prstGeom prst="ellipse">
            <a:avLst/>
          </a:prstGeom>
          <a:solidFill>
            <a:srgbClr val="FF9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2</a:t>
            </a:r>
          </a:p>
        </p:txBody>
      </p:sp>
      <p:sp>
        <p:nvSpPr>
          <p:cNvPr id="10" name="TextBox 9"/>
          <p:cNvSpPr txBox="1"/>
          <p:nvPr/>
        </p:nvSpPr>
        <p:spPr>
          <a:xfrm>
            <a:off x="5131155" y="2313432"/>
            <a:ext cx="2514600" cy="320040"/>
          </a:xfrm>
          <a:prstGeom prst="rect">
            <a:avLst/>
          </a:prstGeom>
          <a:noFill/>
        </p:spPr>
        <p:txBody>
          <a:bodyPr wrap="square" lIns="0" tIns="0" rIns="0" bIns="0" anchor="t">
            <a:spAutoFit/>
          </a:bodyPr>
          <a:lstStyle/>
          <a:p>
            <a:pPr algn="l"/>
            <a:r>
              <a:rPr sz="1400" b="1" i="0">
                <a:solidFill>
                  <a:srgbClr val="FF9C2F"/>
                </a:solidFill>
              </a:rPr>
              <a:t>REALLOCATE</a:t>
            </a:r>
          </a:p>
        </p:txBody>
      </p:sp>
      <p:sp>
        <p:nvSpPr>
          <p:cNvPr id="11" name="TextBox 10"/>
          <p:cNvSpPr txBox="1"/>
          <p:nvPr/>
        </p:nvSpPr>
        <p:spPr>
          <a:xfrm>
            <a:off x="4637379" y="2807208"/>
            <a:ext cx="2916936" cy="960119"/>
          </a:xfrm>
          <a:prstGeom prst="rect">
            <a:avLst/>
          </a:prstGeom>
          <a:noFill/>
        </p:spPr>
        <p:txBody>
          <a:bodyPr wrap="square" lIns="0" tIns="0" rIns="0" bIns="0" anchor="t">
            <a:spAutoFit/>
          </a:bodyPr>
          <a:lstStyle/>
          <a:p>
            <a:pPr algn="l"/>
            <a:r>
              <a:rPr sz="1250" b="0" i="0">
                <a:solidFill>
                  <a:srgbClr val="333333"/>
                </a:solidFill>
              </a:rPr>
              <a:t>Shift that spend into the campaigns and product groups already proven to convert, so every pound works harder.</a:t>
            </a:r>
          </a:p>
        </p:txBody>
      </p:sp>
      <p:sp>
        <p:nvSpPr>
          <p:cNvPr id="12" name="Rounded Rectangle 11"/>
          <p:cNvSpPr/>
          <p:nvPr/>
        </p:nvSpPr>
        <p:spPr>
          <a:xfrm>
            <a:off x="8130387" y="2057400"/>
            <a:ext cx="3429000" cy="1874519"/>
          </a:xfrm>
          <a:prstGeom prst="roundRect">
            <a:avLst>
              <a:gd name="adj" fmla="val 6000"/>
            </a:avLst>
          </a:prstGeom>
          <a:solidFill>
            <a:srgbClr val="FFF6EB"/>
          </a:solidFill>
          <a:ln w="12700">
            <a:solidFill>
              <a:srgbClr val="F2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58987" y="2258568"/>
            <a:ext cx="384048" cy="384048"/>
          </a:xfrm>
          <a:prstGeom prst="ellipse">
            <a:avLst/>
          </a:prstGeom>
          <a:solidFill>
            <a:srgbClr val="FF9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3</a:t>
            </a:r>
          </a:p>
        </p:txBody>
      </p:sp>
      <p:sp>
        <p:nvSpPr>
          <p:cNvPr id="14" name="TextBox 13"/>
          <p:cNvSpPr txBox="1"/>
          <p:nvPr/>
        </p:nvSpPr>
        <p:spPr>
          <a:xfrm>
            <a:off x="8880195" y="2313432"/>
            <a:ext cx="2514600" cy="320040"/>
          </a:xfrm>
          <a:prstGeom prst="rect">
            <a:avLst/>
          </a:prstGeom>
          <a:noFill/>
        </p:spPr>
        <p:txBody>
          <a:bodyPr wrap="square" lIns="0" tIns="0" rIns="0" bIns="0" anchor="t">
            <a:spAutoFit/>
          </a:bodyPr>
          <a:lstStyle/>
          <a:p>
            <a:pPr algn="l"/>
            <a:r>
              <a:rPr sz="1400" b="1" i="0">
                <a:solidFill>
                  <a:srgbClr val="FF9C2F"/>
                </a:solidFill>
              </a:rPr>
              <a:t>MODEL &amp; MEASURE</a:t>
            </a:r>
          </a:p>
        </p:txBody>
      </p:sp>
      <p:sp>
        <p:nvSpPr>
          <p:cNvPr id="15" name="TextBox 14"/>
          <p:cNvSpPr txBox="1"/>
          <p:nvPr/>
        </p:nvSpPr>
        <p:spPr>
          <a:xfrm>
            <a:off x="8386419" y="2807208"/>
            <a:ext cx="2916936" cy="960119"/>
          </a:xfrm>
          <a:prstGeom prst="rect">
            <a:avLst/>
          </a:prstGeom>
          <a:noFill/>
        </p:spPr>
        <p:txBody>
          <a:bodyPr wrap="square" lIns="0" tIns="0" rIns="0" bIns="0" anchor="t">
            <a:spAutoFit/>
          </a:bodyPr>
          <a:lstStyle/>
          <a:p>
            <a:pPr algn="l"/>
            <a:r>
              <a:rPr sz="1250" b="0" i="0">
                <a:solidFill>
                  <a:srgbClr val="333333"/>
                </a:solidFill>
              </a:rPr>
              <a:t>See the projected revenue uplift before committing a penny, then track the actual gains month on month.</a:t>
            </a:r>
          </a:p>
        </p:txBody>
      </p:sp>
      <p:sp>
        <p:nvSpPr>
          <p:cNvPr id="16" name="TextBox 15"/>
          <p:cNvSpPr txBox="1"/>
          <p:nvPr/>
        </p:nvSpPr>
        <p:spPr>
          <a:xfrm>
            <a:off x="822960" y="4315968"/>
            <a:ext cx="10543032" cy="365760"/>
          </a:xfrm>
          <a:prstGeom prst="rect">
            <a:avLst/>
          </a:prstGeom>
          <a:noFill/>
        </p:spPr>
        <p:txBody>
          <a:bodyPr wrap="square" lIns="0" tIns="0" rIns="0" bIns="0" anchor="t">
            <a:spAutoFit/>
          </a:bodyPr>
          <a:lstStyle/>
          <a:p>
            <a:pPr algn="ctr"/>
            <a:r>
              <a:rPr sz="1600" b="1" i="0">
                <a:solidFill>
                  <a:srgbClr val="333333"/>
                </a:solidFill>
              </a:rPr>
              <a:t>Optimise spend on any dimension of your product data</a:t>
            </a:r>
          </a:p>
        </p:txBody>
      </p:sp>
      <p:sp>
        <p:nvSpPr>
          <p:cNvPr id="17" name="Rounded Rectangle 16"/>
          <p:cNvSpPr/>
          <p:nvPr/>
        </p:nvSpPr>
        <p:spPr>
          <a:xfrm>
            <a:off x="1226667" y="4864608"/>
            <a:ext cx="141732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Category</a:t>
            </a:r>
          </a:p>
        </p:txBody>
      </p:sp>
      <p:sp>
        <p:nvSpPr>
          <p:cNvPr id="18" name="Rounded Rectangle 17"/>
          <p:cNvSpPr/>
          <p:nvPr/>
        </p:nvSpPr>
        <p:spPr>
          <a:xfrm>
            <a:off x="2872587" y="4864608"/>
            <a:ext cx="114300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Brand</a:t>
            </a:r>
          </a:p>
        </p:txBody>
      </p:sp>
      <p:sp>
        <p:nvSpPr>
          <p:cNvPr id="19" name="Rounded Rectangle 18"/>
          <p:cNvSpPr/>
          <p:nvPr/>
        </p:nvSpPr>
        <p:spPr>
          <a:xfrm>
            <a:off x="4244187" y="4864608"/>
            <a:ext cx="160020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Price range</a:t>
            </a:r>
          </a:p>
        </p:txBody>
      </p:sp>
      <p:sp>
        <p:nvSpPr>
          <p:cNvPr id="20" name="Rounded Rectangle 19"/>
          <p:cNvSpPr/>
          <p:nvPr/>
        </p:nvSpPr>
        <p:spPr>
          <a:xfrm>
            <a:off x="6072987" y="4864608"/>
            <a:ext cx="123444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Colour</a:t>
            </a:r>
          </a:p>
        </p:txBody>
      </p:sp>
      <p:sp>
        <p:nvSpPr>
          <p:cNvPr id="21" name="Rounded Rectangle 20"/>
          <p:cNvSpPr/>
          <p:nvPr/>
        </p:nvSpPr>
        <p:spPr>
          <a:xfrm>
            <a:off x="7536027" y="4864608"/>
            <a:ext cx="105156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Size</a:t>
            </a:r>
          </a:p>
        </p:txBody>
      </p:sp>
      <p:sp>
        <p:nvSpPr>
          <p:cNvPr id="22" name="Rounded Rectangle 21"/>
          <p:cNvSpPr/>
          <p:nvPr/>
        </p:nvSpPr>
        <p:spPr>
          <a:xfrm>
            <a:off x="8816187" y="4864608"/>
            <a:ext cx="2148840" cy="438912"/>
          </a:xfrm>
          <a:prstGeom prst="roundRect">
            <a:avLst>
              <a:gd name="adj" fmla="val 50000"/>
            </a:avLst>
          </a:prstGeom>
          <a:solidFill>
            <a:srgbClr val="FFFFFF"/>
          </a:solidFill>
          <a:ln w="15875">
            <a:solidFill>
              <a:srgbClr val="FF9C2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333333"/>
                </a:solidFill>
              </a:rPr>
              <a:t>Delivery timeframe</a:t>
            </a:r>
          </a:p>
        </p:txBody>
      </p:sp>
      <p:sp>
        <p:nvSpPr>
          <p:cNvPr id="23" name="TextBox 22"/>
          <p:cNvSpPr txBox="1"/>
          <p:nvPr/>
        </p:nvSpPr>
        <p:spPr>
          <a:xfrm>
            <a:off x="822960" y="5559552"/>
            <a:ext cx="10543032" cy="411480"/>
          </a:xfrm>
          <a:prstGeom prst="rect">
            <a:avLst/>
          </a:prstGeom>
          <a:noFill/>
        </p:spPr>
        <p:txBody>
          <a:bodyPr wrap="square" lIns="0" tIns="0" rIns="0" bIns="0" anchor="t">
            <a:spAutoFit/>
          </a:bodyPr>
          <a:lstStyle/>
          <a:p>
            <a:pPr algn="ctr"/>
            <a:r>
              <a:rPr sz="1400" b="0" i="1">
                <a:solidFill>
                  <a:srgbClr val="666666"/>
                </a:solidFill>
                <a:latin typeface="Calibri"/>
              </a:rPr>
              <a:t>…or any combination of them — if it’s in your product data, we can target spend on it.</a:t>
            </a:r>
          </a:p>
        </p:txBody>
      </p:sp>
      <p:sp>
        <p:nvSpPr>
          <p:cNvPr id="24"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RoAS Intelligence – Spend Optimisation</a:t>
            </a:r>
          </a:p>
        </p:txBody>
      </p:sp>
      <p:sp>
        <p:nvSpPr>
          <p:cNvPr id="25"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Pinpoint pockets of poor spend and move that budget into better-performing campaigns.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oas_screenshot.png"/>
          <p:cNvPicPr>
            <a:picLocks noChangeAspect="1"/>
          </p:cNvPicPr>
          <p:nvPr/>
        </p:nvPicPr>
        <p:blipFill>
          <a:blip r:embed="rId2"/>
          <a:stretch>
            <a:fillRect/>
          </a:stretch>
        </p:blipFill>
        <p:spPr>
          <a:xfrm>
            <a:off x="655167" y="1737360"/>
            <a:ext cx="10881360" cy="3812127"/>
          </a:xfrm>
          <a:prstGeom prst="rect">
            <a:avLst/>
          </a:prstGeom>
          <a:ln w="9525">
            <a:solidFill>
              <a:srgbClr val="DDDDDD"/>
            </a:solidFill>
          </a:ln>
        </p:spPr>
      </p:pic>
      <p:sp>
        <p:nvSpPr>
          <p:cNvPr id="4" name="Title"/>
          <p:cNvSpPr txBox="1"/>
          <p:nvPr/>
        </p:nvSpPr>
        <p:spPr>
          <a:xfrm>
            <a:off x="609904" y="347472"/>
            <a:ext cx="10972800" cy="658368"/>
          </a:xfrm>
          <a:prstGeom prst="rect">
            <a:avLst/>
          </a:prstGeom>
          <a:noFill/>
        </p:spPr>
        <p:txBody>
          <a:bodyPr wrap="square" lIns="0" tIns="0" rIns="0" bIns="0">
            <a:spAutoFit/>
          </a:bodyPr>
          <a:lstStyle/>
          <a:p>
            <a:pPr algn="l"/>
            <a:r>
              <a:rPr sz="2800" b="1" i="0">
                <a:solidFill>
                  <a:srgbClr val="0F172A"/>
                </a:solidFill>
              </a:rPr>
              <a:t>The RoAS Dashboard in Action</a:t>
            </a:r>
          </a:p>
        </p:txBody>
      </p:sp>
      <p:sp>
        <p:nvSpPr>
          <p:cNvPr id="5" name="TitleUnderline"/>
          <p:cNvSpPr/>
          <p:nvPr/>
        </p:nvSpPr>
        <p:spPr>
          <a:xfrm>
            <a:off x="609904" y="1060704"/>
            <a:ext cx="1691640" cy="36576"/>
          </a:xfrm>
          <a:prstGeom prst="rect">
            <a:avLst/>
          </a:prstGeom>
          <a:solidFill>
            <a:srgbClr val="F79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ubtitle"/>
          <p:cNvSpPr txBox="1"/>
          <p:nvPr/>
        </p:nvSpPr>
        <p:spPr>
          <a:xfrm>
            <a:off x="609904" y="1188720"/>
            <a:ext cx="10972800" cy="329184"/>
          </a:xfrm>
          <a:prstGeom prst="rect">
            <a:avLst/>
          </a:prstGeom>
          <a:noFill/>
        </p:spPr>
        <p:txBody>
          <a:bodyPr wrap="square" lIns="0" tIns="0" rIns="0" bIns="0">
            <a:spAutoFit/>
          </a:bodyPr>
          <a:lstStyle/>
          <a:p>
            <a:pPr algn="l"/>
            <a:r>
              <a:rPr sz="1500" b="0" i="0">
                <a:solidFill>
                  <a:srgbClr val="64748B"/>
                </a:solidFill>
              </a:rPr>
              <a:t>Finding the poor spend, modelling the reallocation and measuring the gain.</a:t>
            </a:r>
          </a:p>
        </p:txBody>
      </p:sp>
      <p:sp>
        <p:nvSpPr>
          <p:cNvPr id="7" name="Caption"/>
          <p:cNvSpPr txBox="1"/>
          <p:nvPr/>
        </p:nvSpPr>
        <p:spPr>
          <a:xfrm>
            <a:off x="609904" y="5669280"/>
            <a:ext cx="10972800" cy="457200"/>
          </a:xfrm>
          <a:prstGeom prst="rect">
            <a:avLst/>
          </a:prstGeom>
          <a:noFill/>
        </p:spPr>
        <p:txBody>
          <a:bodyPr wrap="square" lIns="0" tIns="0" rIns="0" bIns="0">
            <a:spAutoFit/>
          </a:bodyPr>
          <a:lstStyle/>
          <a:p>
            <a:pPr algn="l"/>
            <a:r>
              <a:rPr sz="1200" b="0" i="0">
                <a:solidFill>
                  <a:srgbClr val="64748B"/>
                </a:solidFill>
              </a:rPr>
              <a:t>Modelled on live account data: reallocating spend from product groups below 5.31x RoAS lifts account RoAS from 6.24x to 7.32x — a modelled +£963k annual revenue uplift at exactly the same budget.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What comes next</a:t>
            </a:r>
          </a:p>
        </p:txBody>
      </p:sp>
      <p:sp>
        <p:nvSpPr>
          <p:cNvPr id="3" name="Text Placeholder 2"/>
          <p:cNvSpPr>
            <a:spLocks noGrp="1"/>
          </p:cNvSpPr>
          <p:nvPr>
            <p:ph type="body" idx="11"/>
          </p:nvPr>
        </p:nvSpPr>
        <p:spPr/>
        <p:txBody>
          <a:bodyPr wrap="square"/>
          <a:lstStyle/>
          <a:p>
            <a:r>
              <a:rPr dirty="0"/>
              <a:t>Open priorities first, then the enrichment the two-year foundation has earned.</a:t>
            </a:r>
          </a:p>
        </p:txBody>
      </p:sp>
      <p:sp>
        <p:nvSpPr>
          <p:cNvPr id="4" name="Text Placeholder 3"/>
          <p:cNvSpPr>
            <a:spLocks noGrp="1"/>
          </p:cNvSpPr>
          <p:nvPr>
            <p:ph type="body" idx="14"/>
          </p:nvPr>
        </p:nvSpPr>
        <p:spPr/>
        <p:txBody>
          <a:bodyPr wrap="square"/>
          <a:lstStyle/>
          <a:p>
            <a:r>
              <a:rPr dirty="0"/>
              <a:t>Lead with onboarding, platform build and data-field rules; the AI-readiness work follows the structural fixes it depends on.</a:t>
            </a:r>
          </a:p>
        </p:txBody>
      </p:sp>
      <p:graphicFrame>
        <p:nvGraphicFramePr>
          <p:cNvPr id="5" name="Table 4"/>
          <p:cNvGraphicFramePr>
            <a:graphicFrameLocks noGrp="1"/>
          </p:cNvGraphicFramePr>
          <p:nvPr>
            <p:extLst>
              <p:ext uri="{D42A27DB-BD31-4B8C-83A1-F6EECF244321}">
                <p14:modId xmlns:p14="http://schemas.microsoft.com/office/powerpoint/2010/main" val="360379873"/>
              </p:ext>
            </p:extLst>
          </p:nvPr>
        </p:nvGraphicFramePr>
        <p:xfrm>
          <a:off x="612648" y="1847088"/>
          <a:ext cx="10972800" cy="3794758"/>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7132320">
                  <a:extLst>
                    <a:ext uri="{9D8B030D-6E8A-4147-A177-3AD203B41FA5}">
                      <a16:colId xmlns:a16="http://schemas.microsoft.com/office/drawing/2014/main" val="20002"/>
                    </a:ext>
                  </a:extLst>
                </a:gridCol>
              </a:tblGrid>
              <a:tr h="384048">
                <a:tc>
                  <a:txBody>
                    <a:bodyPr/>
                    <a:lstStyle/>
                    <a:p>
                      <a:r>
                        <a:rPr sz="1400" b="1">
                          <a:solidFill>
                            <a:srgbClr val="FFFFFF"/>
                          </a:solidFill>
                        </a:rPr>
                        <a:t>Phase</a:t>
                      </a:r>
                    </a:p>
                  </a:txBody>
                  <a:tcPr marL="82296" marR="82296" marT="41148" marB="41148" anchor="ctr"/>
                </a:tc>
                <a:tc>
                  <a:txBody>
                    <a:bodyPr/>
                    <a:lstStyle/>
                    <a:p>
                      <a:r>
                        <a:rPr sz="1400" b="1">
                          <a:solidFill>
                            <a:srgbClr val="FFFFFF"/>
                          </a:solidFill>
                        </a:rPr>
                        <a:t>Focus</a:t>
                      </a:r>
                    </a:p>
                  </a:txBody>
                  <a:tcPr marL="82296" marR="82296" marT="41148" marB="41148" anchor="ctr"/>
                </a:tc>
                <a:tc>
                  <a:txBody>
                    <a:bodyPr/>
                    <a:lstStyle/>
                    <a:p>
                      <a:r>
                        <a:rPr sz="1400" b="1">
                          <a:solidFill>
                            <a:srgbClr val="FFFFFF"/>
                          </a:solidFill>
                        </a:rPr>
                        <a:t>What we do</a:t>
                      </a:r>
                    </a:p>
                  </a:txBody>
                  <a:tcPr marL="82296" marR="82296" marT="41148" marB="41148" anchor="ctr"/>
                </a:tc>
                <a:extLst>
                  <a:ext uri="{0D108BD9-81ED-4DB2-BD59-A6C34878D82A}">
                    <a16:rowId xmlns:a16="http://schemas.microsoft.com/office/drawing/2014/main" val="10000"/>
                  </a:ext>
                </a:extLst>
              </a:tr>
              <a:tr h="682142">
                <a:tc>
                  <a:txBody>
                    <a:bodyPr/>
                    <a:lstStyle/>
                    <a:p>
                      <a:r>
                        <a:rPr sz="1400" b="1">
                          <a:solidFill>
                            <a:srgbClr val="0F172A"/>
                          </a:solidFill>
                        </a:rPr>
                        <a:t>Now</a:t>
                      </a:r>
                    </a:p>
                  </a:txBody>
                  <a:tcPr marL="82296" marR="82296" marT="41148" marB="41148" anchor="ctr"/>
                </a:tc>
                <a:tc>
                  <a:txBody>
                    <a:bodyPr/>
                    <a:lstStyle/>
                    <a:p>
                      <a:r>
                        <a:rPr sz="1400" b="0">
                          <a:solidFill>
                            <a:srgbClr val="475569"/>
                          </a:solidFill>
                        </a:rPr>
                        <a:t>Onboard &amp; scope</a:t>
                      </a:r>
                    </a:p>
                  </a:txBody>
                  <a:tcPr marL="82296" marR="82296" marT="41148" marB="41148" anchor="ctr"/>
                </a:tc>
                <a:tc>
                  <a:txBody>
                    <a:bodyPr/>
                    <a:lstStyle/>
                    <a:p>
                      <a:r>
                        <a:rPr sz="1400" b="0">
                          <a:solidFill>
                            <a:srgbClr val="475569"/>
                          </a:solidFill>
                        </a:rPr>
                        <a:t>Onboarding call and requirements; create platform and feeds; shipping-rate configuration; deepest-node category mapping.</a:t>
                      </a:r>
                    </a:p>
                  </a:txBody>
                  <a:tcPr marL="82296" marR="82296" marT="41148" marB="41148" anchor="ctr"/>
                </a:tc>
                <a:extLst>
                  <a:ext uri="{0D108BD9-81ED-4DB2-BD59-A6C34878D82A}">
                    <a16:rowId xmlns:a16="http://schemas.microsoft.com/office/drawing/2014/main" val="10001"/>
                  </a:ext>
                </a:extLst>
              </a:tr>
              <a:tr h="682142">
                <a:tc>
                  <a:txBody>
                    <a:bodyPr/>
                    <a:lstStyle/>
                    <a:p>
                      <a:r>
                        <a:rPr sz="1400" b="1">
                          <a:solidFill>
                            <a:srgbClr val="0F172A"/>
                          </a:solidFill>
                        </a:rPr>
                        <a:t>P0</a:t>
                      </a:r>
                    </a:p>
                  </a:txBody>
                  <a:tcPr marL="82296" marR="82296" marT="41148" marB="41148" anchor="ctr"/>
                </a:tc>
                <a:tc>
                  <a:txBody>
                    <a:bodyPr/>
                    <a:lstStyle/>
                    <a:p>
                      <a:r>
                        <a:rPr sz="1400" b="0" dirty="0">
                          <a:solidFill>
                            <a:srgbClr val="475569"/>
                          </a:solidFill>
                        </a:rPr>
                        <a:t>Data fields — the real gaps</a:t>
                      </a:r>
                    </a:p>
                  </a:txBody>
                  <a:tcPr marL="82296" marR="82296" marT="41148" marB="41148" anchor="ctr"/>
                </a:tc>
                <a:tc>
                  <a:txBody>
                    <a:bodyPr/>
                    <a:lstStyle/>
                    <a:p>
                      <a:r>
                        <a:rPr sz="1400" b="0">
                          <a:solidFill>
                            <a:srgbClr val="475569"/>
                          </a:solidFill>
                        </a:rPr>
                        <a:t>Pattern field 66.7% → ~100%; deepen custom product-type where 43% sit at one level; CL1 and CL3 back-fill; extend the same rules to DE, FR, IE and beyond.</a:t>
                      </a:r>
                    </a:p>
                  </a:txBody>
                  <a:tcPr marL="82296" marR="82296" marT="41148" marB="41148" anchor="ctr"/>
                </a:tc>
                <a:extLst>
                  <a:ext uri="{0D108BD9-81ED-4DB2-BD59-A6C34878D82A}">
                    <a16:rowId xmlns:a16="http://schemas.microsoft.com/office/drawing/2014/main" val="10002"/>
                  </a:ext>
                </a:extLst>
              </a:tr>
              <a:tr h="682142">
                <a:tc>
                  <a:txBody>
                    <a:bodyPr/>
                    <a:lstStyle/>
                    <a:p>
                      <a:r>
                        <a:rPr sz="1400" b="1">
                          <a:solidFill>
                            <a:srgbClr val="0F172A"/>
                          </a:solidFill>
                        </a:rPr>
                        <a:t>Then</a:t>
                      </a:r>
                    </a:p>
                  </a:txBody>
                  <a:tcPr marL="82296" marR="82296" marT="41148" marB="41148" anchor="ctr"/>
                </a:tc>
                <a:tc>
                  <a:txBody>
                    <a:bodyPr/>
                    <a:lstStyle/>
                    <a:p>
                      <a:r>
                        <a:rPr sz="1400" b="0" dirty="0">
                          <a:solidFill>
                            <a:srgbClr val="475569"/>
                          </a:solidFill>
                        </a:rPr>
                        <a:t>Titles &amp; descriptions</a:t>
                      </a:r>
                    </a:p>
                  </a:txBody>
                  <a:tcPr marL="82296" marR="82296" marT="41148" marB="41148" anchor="ctr"/>
                </a:tc>
                <a:tc>
                  <a:txBody>
                    <a:bodyPr/>
                    <a:lstStyle/>
                    <a:p>
                      <a:r>
                        <a:rPr sz="1400" b="0" dirty="0">
                          <a:solidFill>
                            <a:srgbClr val="475569"/>
                          </a:solidFill>
                        </a:rPr>
                        <a:t>MASK titles at 80–120 chars; description expansion past 500; next batch of Tachyon intent terms; read out the US short-vs-long test.</a:t>
                      </a:r>
                    </a:p>
                  </a:txBody>
                  <a:tcPr marL="82296" marR="82296" marT="41148" marB="41148" anchor="ctr"/>
                </a:tc>
                <a:extLst>
                  <a:ext uri="{0D108BD9-81ED-4DB2-BD59-A6C34878D82A}">
                    <a16:rowId xmlns:a16="http://schemas.microsoft.com/office/drawing/2014/main" val="10003"/>
                  </a:ext>
                </a:extLst>
              </a:tr>
              <a:tr h="682142">
                <a:tc>
                  <a:txBody>
                    <a:bodyPr/>
                    <a:lstStyle/>
                    <a:p>
                      <a:r>
                        <a:rPr sz="1400" b="1">
                          <a:solidFill>
                            <a:srgbClr val="0F172A"/>
                          </a:solidFill>
                        </a:rPr>
                        <a:t>Build</a:t>
                      </a:r>
                    </a:p>
                  </a:txBody>
                  <a:tcPr marL="82296" marR="82296" marT="41148" marB="41148" anchor="ctr"/>
                </a:tc>
                <a:tc>
                  <a:txBody>
                    <a:bodyPr/>
                    <a:lstStyle/>
                    <a:p>
                      <a:r>
                        <a:rPr sz="1400" b="0" dirty="0">
                          <a:solidFill>
                            <a:srgbClr val="475569"/>
                          </a:solidFill>
                        </a:rPr>
                        <a:t>Conversational attributes</a:t>
                      </a:r>
                      <a:endParaRPr lang="en-GB" sz="1400" b="0" dirty="0">
                        <a:solidFill>
                          <a:srgbClr val="475569"/>
                        </a:solidFill>
                      </a:endParaRPr>
                    </a:p>
                    <a:p>
                      <a:r>
                        <a:rPr lang="en-GB" sz="1400" b="0" dirty="0">
                          <a:solidFill>
                            <a:srgbClr val="475569"/>
                          </a:solidFill>
                        </a:rPr>
                        <a:t>&amp; Visual </a:t>
                      </a:r>
                      <a:r>
                        <a:rPr lang="en-GB" sz="1400" b="0" dirty="0" err="1">
                          <a:solidFill>
                            <a:srgbClr val="475569"/>
                          </a:solidFill>
                        </a:rPr>
                        <a:t>attr</a:t>
                      </a:r>
                      <a:r>
                        <a:rPr lang="en-GB" sz="1400" b="0" dirty="0">
                          <a:solidFill>
                            <a:srgbClr val="475569"/>
                          </a:solidFill>
                        </a:rPr>
                        <a:t>. extraction</a:t>
                      </a:r>
                      <a:endParaRPr sz="1400" b="0" dirty="0">
                        <a:solidFill>
                          <a:srgbClr val="475569"/>
                        </a:solidFill>
                      </a:endParaRPr>
                    </a:p>
                  </a:txBody>
                  <a:tcPr marL="82296" marR="82296" marT="41148" marB="41148" anchor="ctr"/>
                </a:tc>
                <a:tc>
                  <a:txBody>
                    <a:bodyPr/>
                    <a:lstStyle/>
                    <a:p>
                      <a:r>
                        <a:rPr sz="1400" b="0" dirty="0" err="1">
                          <a:solidFill>
                            <a:srgbClr val="475569"/>
                          </a:solidFill>
                        </a:rPr>
                        <a:t>item_group_title</a:t>
                      </a:r>
                      <a:r>
                        <a:rPr sz="1400" b="0" dirty="0">
                          <a:solidFill>
                            <a:srgbClr val="475569"/>
                          </a:solidFill>
                        </a:rPr>
                        <a:t> and </a:t>
                      </a:r>
                      <a:r>
                        <a:rPr sz="1400" b="0" dirty="0" err="1">
                          <a:solidFill>
                            <a:srgbClr val="475569"/>
                          </a:solidFill>
                        </a:rPr>
                        <a:t>variant_option</a:t>
                      </a:r>
                      <a:r>
                        <a:rPr sz="1400" b="0" dirty="0">
                          <a:solidFill>
                            <a:srgbClr val="475569"/>
                          </a:solidFill>
                        </a:rPr>
                        <a:t>; </a:t>
                      </a:r>
                      <a:r>
                        <a:rPr sz="1400" b="0" dirty="0" err="1">
                          <a:solidFill>
                            <a:srgbClr val="475569"/>
                          </a:solidFill>
                        </a:rPr>
                        <a:t>popularity_rank</a:t>
                      </a:r>
                      <a:r>
                        <a:rPr sz="1400" b="0" dirty="0">
                          <a:solidFill>
                            <a:srgbClr val="475569"/>
                          </a:solidFill>
                        </a:rPr>
                        <a:t> from labels; </a:t>
                      </a:r>
                      <a:r>
                        <a:rPr sz="1400" b="0" dirty="0" err="1">
                          <a:solidFill>
                            <a:srgbClr val="475569"/>
                          </a:solidFill>
                        </a:rPr>
                        <a:t>related_product</a:t>
                      </a:r>
                      <a:r>
                        <a:rPr sz="1400" b="0" dirty="0">
                          <a:solidFill>
                            <a:srgbClr val="475569"/>
                          </a:solidFill>
                        </a:rPr>
                        <a:t> for outfits and bundles; governed </a:t>
                      </a:r>
                      <a:r>
                        <a:rPr sz="1400" b="0" dirty="0" err="1">
                          <a:solidFill>
                            <a:srgbClr val="475569"/>
                          </a:solidFill>
                        </a:rPr>
                        <a:t>question_and_answer</a:t>
                      </a:r>
                      <a:r>
                        <a:rPr lang="en-GB" sz="1400" b="0" dirty="0">
                          <a:solidFill>
                            <a:srgbClr val="475569"/>
                          </a:solidFill>
                        </a:rPr>
                        <a:t> – using Tachyon AI to embellish AI terms.</a:t>
                      </a:r>
                      <a:endParaRPr sz="1400" b="0" dirty="0">
                        <a:solidFill>
                          <a:srgbClr val="475569"/>
                        </a:solidFill>
                      </a:endParaRPr>
                    </a:p>
                  </a:txBody>
                  <a:tcPr marL="82296" marR="82296" marT="41148" marB="41148" anchor="ctr"/>
                </a:tc>
                <a:extLst>
                  <a:ext uri="{0D108BD9-81ED-4DB2-BD59-A6C34878D82A}">
                    <a16:rowId xmlns:a16="http://schemas.microsoft.com/office/drawing/2014/main" val="10004"/>
                  </a:ext>
                </a:extLst>
              </a:tr>
              <a:tr h="682142">
                <a:tc>
                  <a:txBody>
                    <a:bodyPr/>
                    <a:lstStyle/>
                    <a:p>
                      <a:r>
                        <a:rPr sz="1400" b="1" dirty="0">
                          <a:solidFill>
                            <a:srgbClr val="0F172A"/>
                          </a:solidFill>
                        </a:rPr>
                        <a:t>Measure</a:t>
                      </a:r>
                    </a:p>
                  </a:txBody>
                  <a:tcPr marL="82296" marR="82296" marT="41148" marB="41148" anchor="ctr"/>
                </a:tc>
                <a:tc>
                  <a:txBody>
                    <a:bodyPr/>
                    <a:lstStyle/>
                    <a:p>
                      <a:r>
                        <a:rPr sz="1400" b="0" dirty="0">
                          <a:solidFill>
                            <a:srgbClr val="475569"/>
                          </a:solidFill>
                        </a:rPr>
                        <a:t>Score &amp; test</a:t>
                      </a:r>
                    </a:p>
                  </a:txBody>
                  <a:tcPr marL="82296" marR="82296" marT="41148" marB="41148" anchor="ctr"/>
                </a:tc>
                <a:tc>
                  <a:txBody>
                    <a:bodyPr/>
                    <a:lstStyle/>
                    <a:p>
                      <a:r>
                        <a:rPr sz="1400" b="0" dirty="0">
                          <a:solidFill>
                            <a:srgbClr val="475569"/>
                          </a:solidFill>
                        </a:rPr>
                        <a:t>GB feed audited — 22,527 SKUs scored. Extend the audit to DE, FR, IE and other markets</a:t>
                      </a:r>
                      <a:r>
                        <a:rPr lang="en-GB" sz="1400" b="0" dirty="0">
                          <a:solidFill>
                            <a:srgbClr val="475569"/>
                          </a:solidFill>
                        </a:rPr>
                        <a:t> </a:t>
                      </a:r>
                      <a:r>
                        <a:rPr lang="en-GB" sz="1400" b="0" dirty="0" err="1">
                          <a:solidFill>
                            <a:srgbClr val="475569"/>
                          </a:solidFill>
                        </a:rPr>
                        <a:t>en</a:t>
                      </a:r>
                      <a:r>
                        <a:rPr lang="en-GB" sz="1400" b="0" dirty="0">
                          <a:solidFill>
                            <a:srgbClr val="475569"/>
                          </a:solidFill>
                        </a:rPr>
                        <a:t>-masse.</a:t>
                      </a:r>
                      <a:endParaRPr sz="1400" b="0" dirty="0">
                        <a:solidFill>
                          <a:srgbClr val="475569"/>
                        </a:solidFill>
                      </a:endParaRPr>
                    </a:p>
                  </a:txBody>
                  <a:tcPr marL="82296" marR="82296" marT="41148" marB="41148"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F97A7-5EB2-3F9C-946C-A58E9178E8A8}"/>
              </a:ext>
            </a:extLst>
          </p:cNvPr>
          <p:cNvSpPr>
            <a:spLocks noGrp="1"/>
          </p:cNvSpPr>
          <p:nvPr>
            <p:ph type="title"/>
          </p:nvPr>
        </p:nvSpPr>
        <p:spPr/>
        <p:txBody>
          <a:bodyPr/>
          <a:lstStyle/>
          <a:p>
            <a:r>
              <a:rPr lang="en-GB" dirty="0"/>
              <a:t>Actual Roadmap</a:t>
            </a:r>
          </a:p>
        </p:txBody>
      </p:sp>
      <p:sp>
        <p:nvSpPr>
          <p:cNvPr id="3" name="Text Placeholder 2">
            <a:extLst>
              <a:ext uri="{FF2B5EF4-FFF2-40B4-BE49-F238E27FC236}">
                <a16:creationId xmlns:a16="http://schemas.microsoft.com/office/drawing/2014/main" id="{4D244CF7-C161-BE29-64BE-D696D7A2637E}"/>
              </a:ext>
            </a:extLst>
          </p:cNvPr>
          <p:cNvSpPr>
            <a:spLocks noGrp="1"/>
          </p:cNvSpPr>
          <p:nvPr>
            <p:ph type="body" idx="11"/>
          </p:nvPr>
        </p:nvSpPr>
        <p:spPr/>
        <p:txBody>
          <a:bodyPr/>
          <a:lstStyle/>
          <a:p>
            <a:r>
              <a:rPr lang="en-GB" dirty="0"/>
              <a:t>Q3 &amp; Q4</a:t>
            </a:r>
          </a:p>
        </p:txBody>
      </p:sp>
      <p:sp>
        <p:nvSpPr>
          <p:cNvPr id="4" name="Text Placeholder 3">
            <a:extLst>
              <a:ext uri="{FF2B5EF4-FFF2-40B4-BE49-F238E27FC236}">
                <a16:creationId xmlns:a16="http://schemas.microsoft.com/office/drawing/2014/main" id="{1BBA95A7-6EED-F2CF-70DA-9506CE75C9CD}"/>
              </a:ext>
            </a:extLst>
          </p:cNvPr>
          <p:cNvSpPr>
            <a:spLocks noGrp="1"/>
          </p:cNvSpPr>
          <p:nvPr>
            <p:ph type="body" idx="14"/>
          </p:nvPr>
        </p:nvSpPr>
        <p:spPr/>
        <p:txBody>
          <a:bodyPr/>
          <a:lstStyle/>
          <a:p>
            <a:r>
              <a:rPr lang="en-GB" dirty="0"/>
              <a:t>Tachyon Onboarding focus &amp; FS recommend Dynamic Overlay to Social presence to catchup with competitors.</a:t>
            </a:r>
          </a:p>
        </p:txBody>
      </p:sp>
      <p:pic>
        <p:nvPicPr>
          <p:cNvPr id="6" name="Picture 5">
            <a:extLst>
              <a:ext uri="{FF2B5EF4-FFF2-40B4-BE49-F238E27FC236}">
                <a16:creationId xmlns:a16="http://schemas.microsoft.com/office/drawing/2014/main" id="{ACFE0251-9D9C-3201-A414-E22CD4F1CC2C}"/>
              </a:ext>
            </a:extLst>
          </p:cNvPr>
          <p:cNvPicPr>
            <a:picLocks noChangeAspect="1"/>
          </p:cNvPicPr>
          <p:nvPr/>
        </p:nvPicPr>
        <p:blipFill>
          <a:blip r:embed="rId2"/>
          <a:stretch>
            <a:fillRect/>
          </a:stretch>
        </p:blipFill>
        <p:spPr>
          <a:xfrm>
            <a:off x="2034745" y="1129999"/>
            <a:ext cx="7933039" cy="4636565"/>
          </a:xfrm>
          <a:prstGeom prst="rect">
            <a:avLst/>
          </a:prstGeom>
        </p:spPr>
      </p:pic>
    </p:spTree>
    <p:extLst>
      <p:ext uri="{BB962C8B-B14F-4D97-AF65-F5344CB8AC3E}">
        <p14:creationId xmlns:p14="http://schemas.microsoft.com/office/powerpoint/2010/main" val="21712768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Questions?</a:t>
            </a:r>
          </a:p>
        </p:txBody>
      </p:sp>
      <p:sp>
        <p:nvSpPr>
          <p:cNvPr id="3" name="Text Placeholder 2"/>
          <p:cNvSpPr>
            <a:spLocks noGrp="1"/>
          </p:cNvSpPr>
          <p:nvPr>
            <p:ph type="body" idx="1"/>
          </p:nvPr>
        </p:nvSpPr>
        <p:spPr/>
        <p:txBody>
          <a:bodyPr wrap="square"/>
          <a:lstStyle/>
          <a:p>
            <a:r>
              <a:t>Ray Vũ</a:t>
            </a:r>
          </a:p>
        </p:txBody>
      </p:sp>
      <p:sp>
        <p:nvSpPr>
          <p:cNvPr id="4" name="Text Placeholder 3"/>
          <p:cNvSpPr>
            <a:spLocks noGrp="1"/>
          </p:cNvSpPr>
          <p:nvPr>
            <p:ph type="body" idx="11"/>
          </p:nvPr>
        </p:nvSpPr>
        <p:spPr/>
        <p:txBody>
          <a:bodyPr wrap="square"/>
          <a:lstStyle/>
          <a:p>
            <a:r>
              <a:t>Senior Account Manager</a:t>
            </a:r>
          </a:p>
        </p:txBody>
      </p:sp>
      <p:sp>
        <p:nvSpPr>
          <p:cNvPr id="5" name="Text Placeholder 4"/>
          <p:cNvSpPr>
            <a:spLocks noGrp="1"/>
          </p:cNvSpPr>
          <p:nvPr>
            <p:ph type="body" idx="2"/>
          </p:nvPr>
        </p:nvSpPr>
        <p:spPr/>
        <p:txBody>
          <a:bodyPr wrap="square"/>
          <a:lstStyle/>
          <a:p>
            <a:r>
              <a:t>ray@feedspark.com</a:t>
            </a:r>
          </a:p>
        </p:txBody>
      </p:sp>
      <p:sp>
        <p:nvSpPr>
          <p:cNvPr id="6" name="Text Placeholder 5"/>
          <p:cNvSpPr>
            <a:spLocks noGrp="1"/>
          </p:cNvSpPr>
          <p:nvPr>
            <p:ph type="body" idx="3"/>
          </p:nvPr>
        </p:nvSpPr>
        <p:spPr/>
        <p:txBody>
          <a:bodyPr wrap="square"/>
          <a:lstStyle/>
          <a:p>
            <a:r>
              <a:t>Account management</a:t>
            </a:r>
          </a:p>
        </p:txBody>
      </p:sp>
      <p:sp>
        <p:nvSpPr>
          <p:cNvPr id="7" name="Text Placeholder 6"/>
          <p:cNvSpPr>
            <a:spLocks noGrp="1"/>
          </p:cNvSpPr>
          <p:nvPr>
            <p:ph type="body" idx="4"/>
          </p:nvPr>
        </p:nvSpPr>
        <p:spPr/>
        <p:txBody>
          <a:bodyPr wrap="square"/>
          <a:lstStyle/>
          <a:p>
            <a:r>
              <a:rPr dirty="0"/>
              <a:t>Steven </a:t>
            </a:r>
            <a:r>
              <a:rPr dirty="0" err="1"/>
              <a:t>Opuni</a:t>
            </a:r>
            <a:r>
              <a:rPr dirty="0"/>
              <a:t> — Account Manager</a:t>
            </a:r>
          </a:p>
          <a:p>
            <a:r>
              <a:rPr dirty="0"/>
              <a:t>steven@feedspark.com</a:t>
            </a:r>
          </a:p>
          <a:p>
            <a:r>
              <a:rPr lang="en-GB" dirty="0"/>
              <a:t>ASPL</a:t>
            </a:r>
            <a:r>
              <a:rPr dirty="0"/>
              <a:t> — </a:t>
            </a:r>
            <a:r>
              <a:rPr lang="en-GB" dirty="0"/>
              <a:t>Content Team</a:t>
            </a:r>
            <a:endParaRPr dirty="0"/>
          </a:p>
        </p:txBody>
      </p:sp>
    </p:spTree>
  </p:cSld>
  <p:clrMapOvr>
    <a:masterClrMapping/>
  </p:clrMapOvr>
</p:sld>
</file>

<file path=ppt/theme/theme1.xml><?xml version="1.0" encoding="utf-8"?>
<a:theme xmlns:a="http://schemas.openxmlformats.org/drawingml/2006/main" name="Office Theme">
  <a:themeElements>
    <a:clrScheme name="FeedSpark Modern">
      <a:dk1>
        <a:srgbClr val="0F172A"/>
      </a:dk1>
      <a:lt1>
        <a:srgbClr val="FFFFFF"/>
      </a:lt1>
      <a:dk2>
        <a:srgbClr val="1E293B"/>
      </a:dk2>
      <a:lt2>
        <a:srgbClr val="F8FAFC"/>
      </a:lt2>
      <a:accent1>
        <a:srgbClr val="F7941E"/>
      </a:accent1>
      <a:accent2>
        <a:srgbClr val="0F172A"/>
      </a:accent2>
      <a:accent3>
        <a:srgbClr val="3B82F6"/>
      </a:accent3>
      <a:accent4>
        <a:srgbClr val="10B981"/>
      </a:accent4>
      <a:accent5>
        <a:srgbClr val="8B5CF6"/>
      </a:accent5>
      <a:accent6>
        <a:srgbClr val="EC4899"/>
      </a:accent6>
      <a:hlink>
        <a:srgbClr val="F7941E"/>
      </a:hlink>
      <a:folHlink>
        <a:srgbClr val="94A3B8"/>
      </a:folHlink>
    </a:clrScheme>
    <a:fontScheme name="FeedSpark Modern">
      <a:majorFont>
        <a:latin typeface="Inter" panose="02110004020202020204"/>
        <a:ea typeface=""/>
        <a:cs typeface=""/>
      </a:majorFont>
      <a:minorFont>
        <a:latin typeface="Inter"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587</TotalTime>
  <Words>3847</Words>
  <Application>Microsoft Office PowerPoint</Application>
  <PresentationFormat>Widescreen</PresentationFormat>
  <Paragraphs>447</Paragraphs>
  <Slides>46</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Inter</vt:lpstr>
      <vt:lpstr>Office Theme</vt:lpstr>
      <vt:lpstr>Superdry × FeedSpark</vt:lpstr>
      <vt:lpstr>PowerPoint Presentation</vt:lpstr>
      <vt:lpstr>PowerPoint Presentation</vt:lpstr>
      <vt:lpstr>What we’ll cover</vt:lpstr>
      <vt:lpstr>Service scope &amp; scale</vt:lpstr>
      <vt:lpstr>The programme in five numbers</vt:lpstr>
      <vt:lpstr>Channels and coverage</vt:lpstr>
      <vt:lpstr>Where the hours went — by market</vt:lpstr>
      <vt:lpstr>The delivery stack</vt:lpstr>
      <vt:lpstr>3 layers, live on the account today</vt:lpstr>
      <vt:lpstr>Review &amp; project recap</vt:lpstr>
      <vt:lpstr>Where the plan stands </vt:lpstr>
      <vt:lpstr>Action by action — what’s closed</vt:lpstr>
      <vt:lpstr>The look-back period</vt:lpstr>
      <vt:lpstr>Sustained delivery, Jul 2024 → Jul 2026</vt:lpstr>
      <vt:lpstr>By activity type</vt:lpstr>
      <vt:lpstr>The scheduled-task families behind the hours</vt:lpstr>
      <vt:lpstr>The value delivered</vt:lpstr>
      <vt:lpstr>Two years delivered, a third given</vt:lpstr>
      <vt:lpstr>The protection work, quantified</vt:lpstr>
      <vt:lpstr>The A/B test archive</vt:lpstr>
      <vt:lpstr>36 tests, read straight</vt:lpstr>
      <vt:lpstr>The archive by test type</vt:lpstr>
      <vt:lpstr>Reading the average straight</vt:lpstr>
      <vt:lpstr>Keyword tests — the results that moved</vt:lpstr>
      <vt:lpstr>Brand in the title — it depends</vt:lpstr>
      <vt:lpstr>Four launches that woke dormant stock</vt:lpstr>
      <vt:lpstr>Team &amp; ways of working</vt:lpstr>
      <vt:lpstr>One manager, one pod, one cadence</vt:lpstr>
      <vt:lpstr>Feed optimisation score</vt:lpstr>
      <vt:lpstr>Superdry feed optimisation — 70 / 100</vt:lpstr>
      <vt:lpstr>The GB feed, scored — 22,527 SKUs</vt:lpstr>
      <vt:lpstr>AI readiness</vt:lpstr>
      <vt:lpstr>Where Superdry sits on the climb</vt:lpstr>
      <vt:lpstr>PowerPoint Presentation</vt:lpstr>
      <vt:lpstr>Roadmap — next quarter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comes next</vt:lpstr>
      <vt:lpstr>Actual Roadmap</vt:lpstr>
      <vt:lpstr>Questions?</vt:lpstr>
    </vt:vector>
  </TitlesOfParts>
  <Company>FeedSpark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FeedSpark Template</dc:title>
  <dc:creator>FeedSpark</dc:creator>
  <cp:lastModifiedBy>Ray Vu</cp:lastModifiedBy>
  <cp:revision>8</cp:revision>
  <dcterms:modified xsi:type="dcterms:W3CDTF">2026-08-05T19:30:40Z</dcterms:modified>
</cp:coreProperties>
</file>