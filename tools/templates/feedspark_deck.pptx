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/>
  <p:notesSz cx="6858000" cy="9144000"/>
  <p:defaultTextStyle>
    <a:defPPr>
      <a:defRPr lang="en-GB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F7941E">
                  <a:alpha val="15000"/>
                </a:srgbClr>
              </a:gs>
              <a:gs pos="100000">
                <a:srgbClr val="F7941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31520" y="1828800"/>
            <a:ext cx="43560" cy="274104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Title"/>
          <p:cNvSpPr>
            <a:spLocks noGrp="1"/>
          </p:cNvSpPr>
          <p:nvPr>
            <p:ph type="ctrTitle"/>
          </p:nvPr>
        </p:nvSpPr>
        <p:spPr>
          <a:xfrm>
            <a:off x="914400" y="1828800"/>
            <a:ext cx="9599040" cy="136944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4000"/>
              </a:lnSpc>
              <a:defRPr sz="54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Subtitle"/>
          <p:cNvSpPr>
            <a:spLocks noGrp="1"/>
          </p:cNvSpPr>
          <p:nvPr>
            <p:ph type="subTitle" idx="1"/>
          </p:nvPr>
        </p:nvSpPr>
        <p:spPr>
          <a:xfrm>
            <a:off x="914400" y="3300000"/>
            <a:ext cx="959904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defRPr sz="2000" b="0" i="0">
                <a:solidFill>
                  <a:srgbClr val="94A3B8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Date / Prepared by"/>
          <p:cNvSpPr>
            <a:spLocks noGrp="1"/>
          </p:cNvSpPr>
          <p:nvPr>
            <p:ph type="body" idx="11"/>
          </p:nvPr>
        </p:nvSpPr>
        <p:spPr>
          <a:xfrm>
            <a:off x="914400" y="4150000"/>
            <a:ext cx="9599040" cy="38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defRPr sz="1400" b="1" i="0">
                <a:solidFill>
                  <a:srgbClr val="F7941E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Marker">
    <p:bg>
      <p:bgPr>
        <a:solidFill>
          <a:srgbClr val="F79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gCircle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SmallCircle"/>
          <p:cNvSpPr/>
          <p:nvPr/>
        </p:nvSpPr>
        <p:spPr>
          <a:xfrm>
            <a:off x="10058400" y="9144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77240" y="1828800"/>
            <a:ext cx="45720" cy="228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Section Label"/>
          <p:cNvSpPr>
            <a:spLocks noGrp="1"/>
          </p:cNvSpPr>
          <p:nvPr>
            <p:ph type="body" idx="11"/>
          </p:nvPr>
        </p:nvSpPr>
        <p:spPr>
          <a:xfrm>
            <a:off x="960120" y="1874520"/>
            <a:ext cx="5486400" cy="32004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400" b="0" i="0" spc="40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ection Title"/>
          <p:cNvSpPr>
            <a:spLocks noGrp="1"/>
          </p:cNvSpPr>
          <p:nvPr>
            <p:ph type="title"/>
          </p:nvPr>
        </p:nvSpPr>
        <p:spPr>
          <a:xfrm>
            <a:off x="960120" y="2194560"/>
            <a:ext cx="10058400" cy="1371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4000"/>
              </a:lnSpc>
              <a:defRPr sz="48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6" name="Section Subtitle"/>
          <p:cNvSpPr>
            <a:spLocks noGrp="1"/>
          </p:cNvSpPr>
          <p:nvPr>
            <p:ph type="body" idx="1"/>
          </p:nvPr>
        </p:nvSpPr>
        <p:spPr>
          <a:xfrm>
            <a:off x="960120" y="3657600"/>
            <a:ext cx="9601200" cy="54864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600" b="0" i="0">
                <a:solidFill>
                  <a:srgbClr val="FFE4C4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FFFFF"/>
                </a:solidFill>
              </a:rPr>
              <a:t>FeedSpark</a:t>
            </a: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ontent"/>
          <p:cNvSpPr>
            <a:spLocks noGrp="1"/>
          </p:cNvSpPr>
          <p:nvPr>
            <p:ph type="body" idx="1"/>
          </p:nvPr>
        </p:nvSpPr>
        <p:spPr>
          <a:xfrm>
            <a:off x="609480" y="1780000"/>
            <a:ext cx="1097304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Left Content"/>
          <p:cNvSpPr>
            <a:spLocks noGrp="1"/>
          </p:cNvSpPr>
          <p:nvPr>
            <p:ph type="body" idx="1"/>
          </p:nvPr>
        </p:nvSpPr>
        <p:spPr>
          <a:xfrm>
            <a:off x="609480" y="1780000"/>
            <a:ext cx="533052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defRPr sz="16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Right Content"/>
          <p:cNvSpPr>
            <a:spLocks noGrp="1"/>
          </p:cNvSpPr>
          <p:nvPr>
            <p:ph type="body" idx="2"/>
          </p:nvPr>
        </p:nvSpPr>
        <p:spPr>
          <a:xfrm>
            <a:off x="6252000" y="1780000"/>
            <a:ext cx="533052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defRPr sz="16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2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0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Left, Content R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Underline"/>
          <p:cNvSpPr/>
          <p:nvPr/>
        </p:nvSpPr>
        <p:spPr>
          <a:xfrm>
            <a:off x="609480" y="119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Image"/>
          <p:cNvSpPr>
            <a:spLocks noGrp="1"/>
          </p:cNvSpPr>
          <p:nvPr>
            <p:ph type="pic" idx="1"/>
          </p:nvPr>
        </p:nvSpPr>
        <p:spPr>
          <a:xfrm>
            <a:off x="609480" y="1500000"/>
            <a:ext cx="5400000" cy="39600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Content"/>
          <p:cNvSpPr>
            <a:spLocks noGrp="1"/>
          </p:cNvSpPr>
          <p:nvPr>
            <p:ph type="body" idx="1"/>
          </p:nvPr>
        </p:nvSpPr>
        <p:spPr>
          <a:xfrm>
            <a:off x="6429480" y="1500000"/>
            <a:ext cx="5153040" cy="39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2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Content Left, Image R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Underline"/>
          <p:cNvSpPr/>
          <p:nvPr/>
        </p:nvSpPr>
        <p:spPr>
          <a:xfrm>
            <a:off x="609480" y="119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Content"/>
          <p:cNvSpPr>
            <a:spLocks noGrp="1"/>
          </p:cNvSpPr>
          <p:nvPr>
            <p:ph type="body" idx="1"/>
          </p:nvPr>
        </p:nvSpPr>
        <p:spPr>
          <a:xfrm>
            <a:off x="609480" y="1500000"/>
            <a:ext cx="5153040" cy="39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2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4" name="Image"/>
          <p:cNvSpPr>
            <a:spLocks noGrp="1"/>
          </p:cNvSpPr>
          <p:nvPr>
            <p:ph type="pic" idx="1"/>
          </p:nvPr>
        </p:nvSpPr>
        <p:spPr>
          <a:xfrm>
            <a:off x="6182520" y="1500000"/>
            <a:ext cx="5400000" cy="39600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5330520" cy="364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364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488052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6252000" y="1760000"/>
            <a:ext cx="5330520" cy="364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6252000" y="1760000"/>
            <a:ext cx="73152" cy="364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650200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6502000" y="2440000"/>
            <a:ext cx="488052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5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26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6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7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364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364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364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0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6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6252000" y="176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6252000" y="1760000"/>
            <a:ext cx="73152" cy="176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650200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6502000" y="244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609480" y="375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609480" y="3750000"/>
            <a:ext cx="73152" cy="176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59480" y="390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59480" y="443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252000" y="375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252000" y="3750000"/>
            <a:ext cx="73152" cy="176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6502000" y="390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6502000" y="443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3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4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4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5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ive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9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179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179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249032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2490320" y="3780000"/>
            <a:ext cx="73152" cy="179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274032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274032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625200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CE7F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6252000" y="3780000"/>
            <a:ext cx="73152" cy="1790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Card 5 Heading"/>
          <p:cNvSpPr>
            <a:spLocks noGrp="1"/>
          </p:cNvSpPr>
          <p:nvPr>
            <p:ph type="body" idx="9"/>
          </p:nvPr>
        </p:nvSpPr>
        <p:spPr>
          <a:xfrm>
            <a:off x="650200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3" name="Card 5 Body"/>
          <p:cNvSpPr>
            <a:spLocks noGrp="1"/>
          </p:cNvSpPr>
          <p:nvPr>
            <p:ph type="body" idx="10"/>
          </p:nvPr>
        </p:nvSpPr>
        <p:spPr>
          <a:xfrm>
            <a:off x="650200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4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5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6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8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8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9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x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9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179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179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3780000"/>
            <a:ext cx="73152" cy="179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85948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85948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437116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CE7F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4371160" y="3780000"/>
            <a:ext cx="73152" cy="1790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Card 5 Heading"/>
          <p:cNvSpPr>
            <a:spLocks noGrp="1"/>
          </p:cNvSpPr>
          <p:nvPr>
            <p:ph type="body" idx="9"/>
          </p:nvPr>
        </p:nvSpPr>
        <p:spPr>
          <a:xfrm>
            <a:off x="462116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3" name="Card 5 Body"/>
          <p:cNvSpPr>
            <a:spLocks noGrp="1"/>
          </p:cNvSpPr>
          <p:nvPr>
            <p:ph type="body" idx="10"/>
          </p:nvPr>
        </p:nvSpPr>
        <p:spPr>
          <a:xfrm>
            <a:off x="462116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4" name="Card"/>
          <p:cNvSpPr/>
          <p:nvPr/>
        </p:nvSpPr>
        <p:spPr>
          <a:xfrm>
            <a:off x="813284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5" name="CardAccent"/>
          <p:cNvSpPr/>
          <p:nvPr/>
        </p:nvSpPr>
        <p:spPr>
          <a:xfrm>
            <a:off x="8132840" y="3780000"/>
            <a:ext cx="73152" cy="179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6" name="Card 6 Heading"/>
          <p:cNvSpPr>
            <a:spLocks noGrp="1"/>
          </p:cNvSpPr>
          <p:nvPr>
            <p:ph type="body" idx="11"/>
          </p:nvPr>
        </p:nvSpPr>
        <p:spPr>
          <a:xfrm>
            <a:off x="838284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7" name="Card 6 Body"/>
          <p:cNvSpPr>
            <a:spLocks noGrp="1"/>
          </p:cNvSpPr>
          <p:nvPr>
            <p:ph type="body" idx="12"/>
          </p:nvPr>
        </p:nvSpPr>
        <p:spPr>
          <a:xfrm>
            <a:off x="838284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8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9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42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42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43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g Sta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Stat 1 Number"/>
          <p:cNvSpPr>
            <a:spLocks noGrp="1"/>
          </p:cNvSpPr>
          <p:nvPr>
            <p:ph type="body" idx="1"/>
          </p:nvPr>
        </p:nvSpPr>
        <p:spPr>
          <a:xfrm>
            <a:off x="6094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6000" b="1" i="0">
                <a:solidFill>
                  <a:srgbClr val="F7941E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tat 1 Label"/>
          <p:cNvSpPr>
            <a:spLocks noGrp="1"/>
          </p:cNvSpPr>
          <p:nvPr>
            <p:ph type="body" idx="2"/>
          </p:nvPr>
        </p:nvSpPr>
        <p:spPr>
          <a:xfrm>
            <a:off x="6094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Stat 2 Number"/>
          <p:cNvSpPr>
            <a:spLocks noGrp="1"/>
          </p:cNvSpPr>
          <p:nvPr>
            <p:ph type="body" idx="3"/>
          </p:nvPr>
        </p:nvSpPr>
        <p:spPr>
          <a:xfrm>
            <a:off x="43908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6000" b="1" i="0">
                <a:solidFill>
                  <a:srgbClr val="3B82F6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Stat 2 Label"/>
          <p:cNvSpPr>
            <a:spLocks noGrp="1"/>
          </p:cNvSpPr>
          <p:nvPr>
            <p:ph type="body" idx="4"/>
          </p:nvPr>
        </p:nvSpPr>
        <p:spPr>
          <a:xfrm>
            <a:off x="43908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tat 3 Number"/>
          <p:cNvSpPr>
            <a:spLocks noGrp="1"/>
          </p:cNvSpPr>
          <p:nvPr>
            <p:ph type="body" idx="5"/>
          </p:nvPr>
        </p:nvSpPr>
        <p:spPr>
          <a:xfrm>
            <a:off x="81722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6000" b="1" i="0">
                <a:solidFill>
                  <a:srgbClr val="8B5CF6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6" name="Stat 3 Label"/>
          <p:cNvSpPr>
            <a:spLocks noGrp="1"/>
          </p:cNvSpPr>
          <p:nvPr>
            <p:ph type="body" idx="6"/>
          </p:nvPr>
        </p:nvSpPr>
        <p:spPr>
          <a:xfrm>
            <a:off x="81722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0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3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24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4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5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4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5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Step 1 Circle"/>
          <p:cNvSpPr/>
          <p:nvPr/>
        </p:nvSpPr>
        <p:spPr>
          <a:xfrm>
            <a:off x="1956680" y="1840000"/>
            <a:ext cx="760000" cy="760000"/>
          </a:xfrm>
          <a:prstGeom prst="ellipse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Step 1 Number"/>
          <p:cNvSpPr>
            <a:spLocks noGrp="1"/>
          </p:cNvSpPr>
          <p:nvPr>
            <p:ph type="body" idx="1"/>
          </p:nvPr>
        </p:nvSpPr>
        <p:spPr>
          <a:xfrm>
            <a:off x="19566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3" name="Step 1 Heading"/>
          <p:cNvSpPr>
            <a:spLocks noGrp="1"/>
          </p:cNvSpPr>
          <p:nvPr>
            <p:ph type="body" idx="2"/>
          </p:nvPr>
        </p:nvSpPr>
        <p:spPr>
          <a:xfrm>
            <a:off x="6094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defRPr sz="18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Step 1 Detail"/>
          <p:cNvSpPr>
            <a:spLocks noGrp="1"/>
          </p:cNvSpPr>
          <p:nvPr>
            <p:ph type="body" idx="3"/>
          </p:nvPr>
        </p:nvSpPr>
        <p:spPr>
          <a:xfrm>
            <a:off x="6094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tep 2 Circle"/>
          <p:cNvSpPr/>
          <p:nvPr/>
        </p:nvSpPr>
        <p:spPr>
          <a:xfrm>
            <a:off x="5738080" y="1840000"/>
            <a:ext cx="760000" cy="76000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Step 2 Number"/>
          <p:cNvSpPr>
            <a:spLocks noGrp="1"/>
          </p:cNvSpPr>
          <p:nvPr>
            <p:ph type="body" idx="4"/>
          </p:nvPr>
        </p:nvSpPr>
        <p:spPr>
          <a:xfrm>
            <a:off x="57380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Step 2 Heading"/>
          <p:cNvSpPr>
            <a:spLocks noGrp="1"/>
          </p:cNvSpPr>
          <p:nvPr>
            <p:ph type="body" idx="5"/>
          </p:nvPr>
        </p:nvSpPr>
        <p:spPr>
          <a:xfrm>
            <a:off x="43908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defRPr sz="18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8" name="Step 2 Detail"/>
          <p:cNvSpPr>
            <a:spLocks noGrp="1"/>
          </p:cNvSpPr>
          <p:nvPr>
            <p:ph type="body" idx="6"/>
          </p:nvPr>
        </p:nvSpPr>
        <p:spPr>
          <a:xfrm>
            <a:off x="43908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Step 3 Circle"/>
          <p:cNvSpPr/>
          <p:nvPr/>
        </p:nvSpPr>
        <p:spPr>
          <a:xfrm>
            <a:off x="9519480" y="1840000"/>
            <a:ext cx="760000" cy="7600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Step 3 Number"/>
          <p:cNvSpPr>
            <a:spLocks noGrp="1"/>
          </p:cNvSpPr>
          <p:nvPr>
            <p:ph type="body" idx="7"/>
          </p:nvPr>
        </p:nvSpPr>
        <p:spPr>
          <a:xfrm>
            <a:off x="95194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Step 3 Heading"/>
          <p:cNvSpPr>
            <a:spLocks noGrp="1"/>
          </p:cNvSpPr>
          <p:nvPr>
            <p:ph type="body" idx="8"/>
          </p:nvPr>
        </p:nvSpPr>
        <p:spPr>
          <a:xfrm>
            <a:off x="81722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defRPr sz="18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2" name="Step 3 Detail"/>
          <p:cNvSpPr>
            <a:spLocks noGrp="1"/>
          </p:cNvSpPr>
          <p:nvPr>
            <p:ph type="body" idx="9"/>
          </p:nvPr>
        </p:nvSpPr>
        <p:spPr>
          <a:xfrm>
            <a:off x="81722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0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icing / Tier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7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8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Tier 1 Card"/>
          <p:cNvSpPr/>
          <p:nvPr/>
        </p:nvSpPr>
        <p:spPr>
          <a:xfrm>
            <a:off x="6094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Tier 1 Band"/>
          <p:cNvSpPr/>
          <p:nvPr/>
        </p:nvSpPr>
        <p:spPr>
          <a:xfrm>
            <a:off x="6094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64748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Tier 1 Name"/>
          <p:cNvSpPr>
            <a:spLocks noGrp="1"/>
          </p:cNvSpPr>
          <p:nvPr>
            <p:ph type="body" idx="1"/>
          </p:nvPr>
        </p:nvSpPr>
        <p:spPr>
          <a:xfrm>
            <a:off x="6094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Tier 1 Price"/>
          <p:cNvSpPr>
            <a:spLocks noGrp="1"/>
          </p:cNvSpPr>
          <p:nvPr>
            <p:ph type="body" idx="2"/>
          </p:nvPr>
        </p:nvSpPr>
        <p:spPr>
          <a:xfrm>
            <a:off x="7594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Tier 1 Features"/>
          <p:cNvSpPr>
            <a:spLocks noGrp="1"/>
          </p:cNvSpPr>
          <p:nvPr>
            <p:ph type="body" idx="3"/>
          </p:nvPr>
        </p:nvSpPr>
        <p:spPr>
          <a:xfrm>
            <a:off x="8694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Tier 2 Card"/>
          <p:cNvSpPr/>
          <p:nvPr/>
        </p:nvSpPr>
        <p:spPr>
          <a:xfrm>
            <a:off x="43908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7941E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Tier 2 Band"/>
          <p:cNvSpPr/>
          <p:nvPr/>
        </p:nvSpPr>
        <p:spPr>
          <a:xfrm>
            <a:off x="43908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Tier 2 Name"/>
          <p:cNvSpPr>
            <a:spLocks noGrp="1"/>
          </p:cNvSpPr>
          <p:nvPr>
            <p:ph type="body" idx="4"/>
          </p:nvPr>
        </p:nvSpPr>
        <p:spPr>
          <a:xfrm>
            <a:off x="43908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9" name="Tier 2 Price"/>
          <p:cNvSpPr>
            <a:spLocks noGrp="1"/>
          </p:cNvSpPr>
          <p:nvPr>
            <p:ph type="body" idx="5"/>
          </p:nvPr>
        </p:nvSpPr>
        <p:spPr>
          <a:xfrm>
            <a:off x="45408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0" name="Tier 2 Features"/>
          <p:cNvSpPr>
            <a:spLocks noGrp="1"/>
          </p:cNvSpPr>
          <p:nvPr>
            <p:ph type="body" idx="6"/>
          </p:nvPr>
        </p:nvSpPr>
        <p:spPr>
          <a:xfrm>
            <a:off x="46508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1" name="Tier 3 Card"/>
          <p:cNvSpPr/>
          <p:nvPr/>
        </p:nvSpPr>
        <p:spPr>
          <a:xfrm>
            <a:off x="81722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" name="Tier 3 Band"/>
          <p:cNvSpPr/>
          <p:nvPr/>
        </p:nvSpPr>
        <p:spPr>
          <a:xfrm>
            <a:off x="81722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Tier 3 Name"/>
          <p:cNvSpPr>
            <a:spLocks noGrp="1"/>
          </p:cNvSpPr>
          <p:nvPr>
            <p:ph type="body" idx="7"/>
          </p:nvPr>
        </p:nvSpPr>
        <p:spPr>
          <a:xfrm>
            <a:off x="81722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4" name="Tier 3 Price"/>
          <p:cNvSpPr>
            <a:spLocks noGrp="1"/>
          </p:cNvSpPr>
          <p:nvPr>
            <p:ph type="body" idx="8"/>
          </p:nvPr>
        </p:nvSpPr>
        <p:spPr>
          <a:xfrm>
            <a:off x="83222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Tier 3 Features"/>
          <p:cNvSpPr>
            <a:spLocks noGrp="1"/>
          </p:cNvSpPr>
          <p:nvPr>
            <p:ph type="body" idx="9"/>
          </p:nvPr>
        </p:nvSpPr>
        <p:spPr>
          <a:xfrm>
            <a:off x="84322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0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2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3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3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4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8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8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19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/ Statemen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F7941E">
                  <a:alpha val="15000"/>
                </a:srgbClr>
              </a:gs>
              <a:gs pos="100000">
                <a:srgbClr val="F7941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QuoteMark"/>
          <p:cNvSpPr/>
          <p:nvPr/>
        </p:nvSpPr>
        <p:spPr>
          <a:xfrm>
            <a:off x="609480" y="1120000"/>
            <a:ext cx="1900000" cy="14000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r>
              <a:rPr lang="en-GB" sz="9600" b="1">
                <a:solidFill>
                  <a:srgbClr val="F7941E"/>
                </a:solidFill>
                <a:latin typeface="+mj-lt"/>
              </a:rPr>
              <a:t>“</a:t>
            </a:r>
          </a:p>
        </p:txBody>
      </p:sp>
      <p:sp>
        <p:nvSpPr>
          <p:cNvPr id="14" name="Quote"/>
          <p:cNvSpPr>
            <a:spLocks noGrp="1"/>
          </p:cNvSpPr>
          <p:nvPr>
            <p:ph type="body" idx="1"/>
          </p:nvPr>
        </p:nvSpPr>
        <p:spPr>
          <a:xfrm>
            <a:off x="609480" y="2520000"/>
            <a:ext cx="10973040" cy="22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3200" b="0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Attribution"/>
          <p:cNvSpPr>
            <a:spLocks noGrp="1"/>
          </p:cNvSpPr>
          <p:nvPr>
            <p:ph type="body" idx="11"/>
          </p:nvPr>
        </p:nvSpPr>
        <p:spPr>
          <a:xfrm>
            <a:off x="609480" y="4900000"/>
            <a:ext cx="1097304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600" b="0" i="0">
                <a:solidFill>
                  <a:srgbClr val="94A3B8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7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7}" type="slidenum">
              <a:rPr lang="en-GB" sz="1100">
                <a:solidFill>
                  <a:srgbClr val="94A3B8"/>
                </a:solidFill>
              </a:rPr>
              <a:t>‹#›</a:t>
            </a:fld>
            <a:endParaRPr lang="en-GB" sz="1100">
              <a:solidFill>
                <a:srgbClr val="94A3B8"/>
              </a:solidFill>
            </a:endParaRP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losing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F7941E">
                  <a:alpha val="15000"/>
                </a:srgbClr>
              </a:gs>
              <a:gs pos="100000">
                <a:srgbClr val="F7941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31520" y="1371600"/>
            <a:ext cx="45720" cy="310896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914400" y="1371600"/>
            <a:ext cx="9599040" cy="10972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54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Divider"/>
          <p:cNvSpPr/>
          <p:nvPr/>
        </p:nvSpPr>
        <p:spPr>
          <a:xfrm>
            <a:off x="914400" y="2480000"/>
            <a:ext cx="3200400" cy="2286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Name"/>
          <p:cNvSpPr>
            <a:spLocks noGrp="1"/>
          </p:cNvSpPr>
          <p:nvPr>
            <p:ph type="body" idx="1"/>
          </p:nvPr>
        </p:nvSpPr>
        <p:spPr>
          <a:xfrm>
            <a:off x="914400" y="2620000"/>
            <a:ext cx="540000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Role / Title"/>
          <p:cNvSpPr>
            <a:spLocks noGrp="1"/>
          </p:cNvSpPr>
          <p:nvPr>
            <p:ph type="body" idx="11"/>
          </p:nvPr>
        </p:nvSpPr>
        <p:spPr>
          <a:xfrm>
            <a:off x="914400" y="3090000"/>
            <a:ext cx="5400000" cy="3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600" b="1" i="0">
                <a:solidFill>
                  <a:srgbClr val="F7941E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ontact details"/>
          <p:cNvSpPr>
            <a:spLocks noGrp="1"/>
          </p:cNvSpPr>
          <p:nvPr>
            <p:ph type="body" idx="2"/>
          </p:nvPr>
        </p:nvSpPr>
        <p:spPr>
          <a:xfrm>
            <a:off x="914400" y="3620000"/>
            <a:ext cx="54000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32000"/>
              </a:lnSpc>
              <a:defRPr sz="1500" b="0" i="0">
                <a:solidFill>
                  <a:srgbClr val="E2E8F0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Second-Column Heading"/>
          <p:cNvSpPr>
            <a:spLocks noGrp="1"/>
          </p:cNvSpPr>
          <p:nvPr>
            <p:ph type="body" idx="3"/>
          </p:nvPr>
        </p:nvSpPr>
        <p:spPr>
          <a:xfrm>
            <a:off x="6858000" y="3090000"/>
            <a:ext cx="4700000" cy="3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400" b="1" i="0" spc="200">
                <a:solidFill>
                  <a:srgbClr val="F7941E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0" name="Second-Column Content"/>
          <p:cNvSpPr>
            <a:spLocks noGrp="1"/>
          </p:cNvSpPr>
          <p:nvPr>
            <p:ph type="body" idx="4"/>
          </p:nvPr>
        </p:nvSpPr>
        <p:spPr>
          <a:xfrm>
            <a:off x="6858000" y="3560000"/>
            <a:ext cx="47000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30000"/>
              </a:lnSpc>
              <a:defRPr sz="1400" b="0" i="0">
                <a:solidFill>
                  <a:srgbClr val="E2E8F0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22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2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2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13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82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/>
              <a:t>Click to edit Master title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609480" y="1500000"/>
            <a:ext cx="10973040" cy="470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Master text styles</a:t>
            </a:r>
          </a:p>
        </p:txBody>
      </p:sp>
      <p:sp>
        <p:nvSpPr>
          <p:cNvPr id="904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905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905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90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>
        <a:lnSpc>
          <a:spcPct val="100000"/>
        </a:lnSpc>
        <a:defRPr sz="3600" b="1">
          <a:solidFill>
            <a:srgbClr val="0F172A"/>
          </a:solidFill>
          <a:latin typeface="+mj-lt"/>
        </a:defRPr>
      </a:lvl1pPr>
    </p:titleStyle>
    <p:bodyStyle>
      <a:lvl1pPr marL="0" indent="0">
        <a:lnSpc>
          <a:spcPct val="118000"/>
        </a:lnSpc>
        <a:spcBef>
          <a:spcPts val="600"/>
        </a:spcBef>
        <a:buNone/>
        <a:defRPr sz="1600">
          <a:solidFill>
            <a:srgbClr val="475569"/>
          </a:solidFill>
          <a:latin typeface="+mn-lt"/>
        </a:defRPr>
      </a:lvl1pPr>
      <a:lvl2pPr marL="274320" indent="-274320">
        <a:lnSpc>
          <a:spcPct val="118000"/>
        </a:lnSpc>
        <a:spcBef>
          <a:spcPts val="500"/>
        </a:spcBef>
        <a:buClr>
          <a:srgbClr val="F7941E"/>
        </a:buClr>
        <a:buFont typeface="Arial"/>
        <a:buChar char="•"/>
        <a:defRPr sz="1500">
          <a:solidFill>
            <a:srgbClr val="475569"/>
          </a:solidFill>
          <a:latin typeface="+mn-lt"/>
        </a:defRPr>
      </a:lvl2pPr>
      <a:lvl3pPr marL="548640" indent="-274320">
        <a:spcBef>
          <a:spcPts val="300"/>
        </a:spcBef>
        <a:buClr>
          <a:srgbClr val="94A3B8"/>
        </a:buClr>
        <a:buFont typeface="Arial"/>
        <a:buChar char="–"/>
        <a:defRPr sz="1400">
          <a:solidFill>
            <a:srgbClr val="475569"/>
          </a:solidFill>
        </a:defRPr>
      </a:lvl3pPr>
    </p:bodyStyle>
    <p:otherStyle>
      <a:defPPr>
        <a:defRPr lang="en-GB"/>
      </a:defPPr>
    </p:otherStyle>
  </p:txStyles>
</p:sldMaster>
</file>

<file path=ppt/theme/theme1.xml><?xml version="1.0" encoding="utf-8"?>
<a:theme xmlns:a="http://schemas.openxmlformats.org/drawingml/2006/main" name="Office Theme">
  <a:themeElements>
    <a:clrScheme name="FeedSpark Modern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F7941E"/>
      </a:accent1>
      <a:accent2>
        <a:srgbClr val="0F172A"/>
      </a:accent2>
      <a:accent3>
        <a:srgbClr val="3B82F6"/>
      </a:accent3>
      <a:accent4>
        <a:srgbClr val="10B981"/>
      </a:accent4>
      <a:accent5>
        <a:srgbClr val="8B5CF6"/>
      </a:accent5>
      <a:accent6>
        <a:srgbClr val="EC4899"/>
      </a:accent6>
      <a:hlink>
        <a:srgbClr val="F7941E"/>
      </a:hlink>
      <a:folHlink>
        <a:srgbClr val="94A3B8"/>
      </a:folHlink>
    </a:clrScheme>
    <a:fontScheme name="FeedSpark Modern">
      <a:majorFont>
        <a:latin typeface="Inter" panose="02110004020202020204"/>
        <a:ea typeface=""/>
        <a:cs typeface=""/>
      </a:majorFont>
      <a:minorFont>
        <a:latin typeface="Inter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4449</Words>
  <Application>Microsoft Office PowerPoint</Application>
  <PresentationFormat>Widescreen</PresentationFormat>
  <Paragraphs>523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Inter</vt:lpstr>
      <vt:lpstr>Office Theme</vt:lpstr>
      <vt:lpstr>Superdry × FeedSpark</vt:lpstr>
      <vt:lpstr>PowerPoint Presentation</vt:lpstr>
      <vt:lpstr>What we’ll cover</vt:lpstr>
      <vt:lpstr>Service scope &amp; scale</vt:lpstr>
      <vt:lpstr>The programme in five numbers</vt:lpstr>
      <vt:lpstr>Channels and coverage</vt:lpstr>
      <vt:lpstr>Where the hours went — by market</vt:lpstr>
      <vt:lpstr>The delivery stack</vt:lpstr>
      <vt:lpstr>Four layers, live on the account today</vt:lpstr>
      <vt:lpstr>Review &amp; project recap</vt:lpstr>
      <vt:lpstr>Where the plan stands</vt:lpstr>
      <vt:lpstr>Action by action — what’s closed</vt:lpstr>
      <vt:lpstr>Action by action — open and parked</vt:lpstr>
      <vt:lpstr>The look-back period</vt:lpstr>
      <vt:lpstr>Sustained delivery, Jul 2024 → Jul 2026</vt:lpstr>
      <vt:lpstr>By activity type</vt:lpstr>
      <vt:lpstr>The task families behind the hours</vt:lpstr>
      <vt:lpstr>The value delivered</vt:lpstr>
      <vt:lpstr>Two years delivered, a third given</vt:lpstr>
      <vt:lpstr>The invested-hours story</vt:lpstr>
      <vt:lpstr>The protection work, quantified</vt:lpstr>
      <vt:lpstr>Automation &amp; readiness</vt:lpstr>
      <vt:lpstr>What runs on rules</vt:lpstr>
      <vt:lpstr>What still needs a hand</vt:lpstr>
      <vt:lpstr>The A/B test archive</vt:lpstr>
      <vt:lpstr>36 tests, read straight</vt:lpstr>
      <vt:lpstr>The archive by test type</vt:lpstr>
      <vt:lpstr>Reading the average straight</vt:lpstr>
      <vt:lpstr>Keyword tests — the results that moved</vt:lpstr>
      <vt:lpstr>Brand in the title — it depends</vt:lpstr>
      <vt:lpstr>External benchmark — retail feeds</vt:lpstr>
      <vt:lpstr>Four launches that woke dormant stock</vt:lpstr>
      <vt:lpstr>Team &amp; ways of working</vt:lpstr>
      <vt:lpstr>One manager, one pod, one cadence</vt:lpstr>
      <vt:lpstr>How work moves</vt:lpstr>
      <vt:lpstr>Feed optimisation score</vt:lpstr>
      <vt:lpstr>Superdry feed optimisation — 70 / 100</vt:lpstr>
      <vt:lpstr>The GB feed, scored — 22,527 SKUs</vt:lpstr>
      <vt:lpstr>Where plan and feed agree — and don’t</vt:lpstr>
      <vt:lpstr>A second internal signal worth flagging</vt:lpstr>
      <vt:lpstr>AI readiness</vt:lpstr>
      <vt:lpstr>Where Superdry sits on the climb</vt:lpstr>
      <vt:lpstr>AI-readiness audit — Superdry GB</vt:lpstr>
      <vt:lpstr>PowerPoint Presentation</vt:lpstr>
      <vt:lpstr>Roadmap — next quarter</vt:lpstr>
      <vt:lpstr>What comes next</vt:lpstr>
      <vt:lpstr>The tests queued for the coming quarter</vt:lpstr>
      <vt:lpstr>The testing queue — medium and low</vt:lpstr>
      <vt:lpstr>PowerPoint Presentation</vt:lpstr>
      <vt:lpstr>Questions?</vt:lpstr>
    </vt:vector>
  </TitlesOfParts>
  <Company>FeedSpark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FeedSpark Template</dc:title>
  <dc:creator>FeedSpark</dc:creator>
  <cp:lastModifiedBy>Ray Vu</cp:lastModifiedBy>
  <cp:revision>1</cp:revision>
  <dcterms:modified xsi:type="dcterms:W3CDTF">2026-08-04T13:18:53Z</dcterms:modified>
</cp:coreProperties>
</file>