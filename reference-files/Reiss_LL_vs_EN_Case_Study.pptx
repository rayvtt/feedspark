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NPV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AT</c:v>
                </c:pt>
                <c:pt idx="1">
                  <c:v>BE</c:v>
                </c:pt>
                <c:pt idx="2">
                  <c:v>CH</c:v>
                </c:pt>
                <c:pt idx="3">
                  <c:v>CZ</c:v>
                </c:pt>
                <c:pt idx="4">
                  <c:v>DE</c:v>
                </c:pt>
                <c:pt idx="5">
                  <c:v>DK</c:v>
                </c:pt>
                <c:pt idx="6">
                  <c:v>ES</c:v>
                </c:pt>
                <c:pt idx="7">
                  <c:v>FR</c:v>
                </c:pt>
                <c:pt idx="8">
                  <c:v>GR</c:v>
                </c:pt>
                <c:pt idx="9">
                  <c:v>IT</c:v>
                </c:pt>
                <c:pt idx="10">
                  <c:v>NL</c:v>
                </c:pt>
                <c:pt idx="11">
                  <c:v>PL</c:v>
                </c:pt>
                <c:pt idx="12">
                  <c:v>RO</c:v>
                </c:pt>
                <c:pt idx="13">
                  <c:v>SA</c:v>
                </c:pt>
                <c:pt idx="14">
                  <c:v>SE</c:v>
                </c:pt>
                <c:pt idx="15">
                  <c:v>UAE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1.9</c:v>
                </c:pt>
                <c:pt idx="1">
                  <c:v>1.33</c:v>
                </c:pt>
                <c:pt idx="2">
                  <c:v>1.83</c:v>
                </c:pt>
                <c:pt idx="3">
                  <c:v>1.67</c:v>
                </c:pt>
                <c:pt idx="4">
                  <c:v>2.13</c:v>
                </c:pt>
                <c:pt idx="5">
                  <c:v>1.31</c:v>
                </c:pt>
                <c:pt idx="6">
                  <c:v>1.6</c:v>
                </c:pt>
                <c:pt idx="7">
                  <c:v>2.06</c:v>
                </c:pt>
                <c:pt idx="8">
                  <c:v>1.43</c:v>
                </c:pt>
                <c:pt idx="9">
                  <c:v>1.59</c:v>
                </c:pt>
                <c:pt idx="10">
                  <c:v>1.89</c:v>
                </c:pt>
                <c:pt idx="11">
                  <c:v>0.99</c:v>
                </c:pt>
                <c:pt idx="12">
                  <c:v>2.1800000000000002</c:v>
                </c:pt>
                <c:pt idx="13">
                  <c:v>1.42</c:v>
                </c:pt>
                <c:pt idx="14">
                  <c:v>1.59</c:v>
                </c:pt>
                <c:pt idx="15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63-4E0A-B190-18ABD82C1D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 (1.5x)</c:v>
                </c:pt>
              </c:strCache>
            </c:strRef>
          </c:tx>
          <c:spPr>
            <a:ln w="25400" cap="flat">
              <a:solidFill>
                <a:srgbClr val="33333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AT</c:v>
                </c:pt>
                <c:pt idx="1">
                  <c:v>BE</c:v>
                </c:pt>
                <c:pt idx="2">
                  <c:v>CH</c:v>
                </c:pt>
                <c:pt idx="3">
                  <c:v>CZ</c:v>
                </c:pt>
                <c:pt idx="4">
                  <c:v>DE</c:v>
                </c:pt>
                <c:pt idx="5">
                  <c:v>DK</c:v>
                </c:pt>
                <c:pt idx="6">
                  <c:v>ES</c:v>
                </c:pt>
                <c:pt idx="7">
                  <c:v>FR</c:v>
                </c:pt>
                <c:pt idx="8">
                  <c:v>GR</c:v>
                </c:pt>
                <c:pt idx="9">
                  <c:v>IT</c:v>
                </c:pt>
                <c:pt idx="10">
                  <c:v>NL</c:v>
                </c:pt>
                <c:pt idx="11">
                  <c:v>PL</c:v>
                </c:pt>
                <c:pt idx="12">
                  <c:v>RO</c:v>
                </c:pt>
                <c:pt idx="13">
                  <c:v>SA</c:v>
                </c:pt>
                <c:pt idx="14">
                  <c:v>SE</c:v>
                </c:pt>
                <c:pt idx="15">
                  <c:v>UAE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1.5</c:v>
                </c:pt>
                <c:pt idx="1">
                  <c:v>1.5</c:v>
                </c:pt>
                <c:pt idx="2">
                  <c:v>1.5</c:v>
                </c:pt>
                <c:pt idx="3">
                  <c:v>1.5</c:v>
                </c:pt>
                <c:pt idx="4">
                  <c:v>1.5</c:v>
                </c:pt>
                <c:pt idx="5">
                  <c:v>1.5</c:v>
                </c:pt>
                <c:pt idx="6">
                  <c:v>1.5</c:v>
                </c:pt>
                <c:pt idx="7">
                  <c:v>1.5</c:v>
                </c:pt>
                <c:pt idx="8">
                  <c:v>1.5</c:v>
                </c:pt>
                <c:pt idx="9">
                  <c:v>1.5</c:v>
                </c:pt>
                <c:pt idx="10">
                  <c:v>1.5</c:v>
                </c:pt>
                <c:pt idx="11">
                  <c:v>1.5</c:v>
                </c:pt>
                <c:pt idx="12">
                  <c:v>1.5</c:v>
                </c:pt>
                <c:pt idx="13">
                  <c:v>1.5</c:v>
                </c:pt>
                <c:pt idx="14">
                  <c:v>1.5</c:v>
                </c:pt>
                <c:pt idx="15">
                  <c:v>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63-4E0A-B190-18ABD82C1D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5A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Traffic share (LL)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</c:v>
                </c:pt>
                <c:pt idx="1">
                  <c:v>IT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</c:v>
                </c:pt>
                <c:pt idx="1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9A-46EC-9D69-03686694D3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share (LL)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FR</c:v>
                </c:pt>
                <c:pt idx="1">
                  <c:v>IT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84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9A-46EC-9D69-03686694D3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5A5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28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D6F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FEEDSPARK 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1783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Language Wins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A5A5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case for Local-Language Google Shopping campaigns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Reiss  ·  ShopGen performance analysis  ·  1 May – 13 Jun 2026 (excl. EOSS Sale)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18120" y="4160520"/>
            <a:ext cx="3794760" cy="1920240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092440" y="43159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A62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 / 16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092440" y="50292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markets already driving more Shopping traffic through Local Language than English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FeedSpark · Private &amp; Confidential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6F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HEADLINE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Language Is Winning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Across Reiss’s 16 live Local Language markets (1 May – 13 Jun 2026, excl. EOSS Sale), Local Language Shopping campaigns are consistently outperforming English-language equivalents on traffic, revenue, spend efficiency and profitability.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94360" cy="594360"/>
          </a:xfrm>
          <a:prstGeom prst="ellipse">
            <a:avLst/>
          </a:prstGeom>
          <a:solidFill>
            <a:srgbClr val="FCE8C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47436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9514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11 / 16 markets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30815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see more Shopping traffic through Local Language than English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6537960" y="2331720"/>
            <a:ext cx="594360" cy="594360"/>
          </a:xfrm>
          <a:prstGeom prst="ellipse">
            <a:avLst/>
          </a:prstGeom>
          <a:solidFill>
            <a:srgbClr val="FCE8C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606" y="247436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29514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 / 16 markets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37960" y="30815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 the majority of their Shopping revenue via LL — DE reaches 93%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42519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731520" y="4526280"/>
            <a:ext cx="594360" cy="594360"/>
          </a:xfrm>
          <a:prstGeom prst="ellipse">
            <a:avLst/>
          </a:prstGeom>
          <a:solidFill>
            <a:srgbClr val="FCE8C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6689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48970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Lower CPCs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731520" y="52760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LL traffic share consistently beats LL cost share, e.g. FR: 93% of traffic for 84% of cost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4251960"/>
            <a:ext cx="5440680" cy="1874520"/>
          </a:xfrm>
          <a:prstGeom prst="roundRect">
            <a:avLst>
              <a:gd name="adj" fmla="val 3902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6537960" y="4526280"/>
            <a:ext cx="594360" cy="594360"/>
          </a:xfrm>
          <a:prstGeom prst="ellipse">
            <a:avLst/>
          </a:prstGeom>
          <a:solidFill>
            <a:srgbClr val="FCE8C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606" y="466892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489704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Above target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6537960" y="527608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most LL activity is delivering NPV over our 1.5x benchmark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FeedSpark · Private &amp; Confidential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6F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PROFITABILITY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Local Language NPV vs Target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Media cost, revenue and NPV by market, Local Language only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75895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75320" y="1554480"/>
            <a:ext cx="3429000" cy="4160520"/>
          </a:xfrm>
          <a:prstGeom prst="roundRect">
            <a:avLst>
              <a:gd name="adj" fmla="val 2133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81051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9828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to do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549640" y="2423160"/>
            <a:ext cx="2880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DK and SA sit furthest below the 1.5x target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 dipped due to early surge-testing — expected to recover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DK, PL, SA and SE all came in under target this period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Recommended pause candidates: DK, SE, SA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FeedSpark · Private &amp; Confidential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6F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COST EFFICIENCY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More Traffic, Same or Lower Spend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Traffic share vs. cost share — FR &amp; IT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54480"/>
          <a:ext cx="5120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34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Share of ShopGen cost already through Local Language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47548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CE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48280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6F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94%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5120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94560" y="47548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CE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194560" y="48280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6F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194560" y="5120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31920" y="4754880"/>
            <a:ext cx="1600200" cy="685800"/>
          </a:xfrm>
          <a:prstGeom prst="roundRect">
            <a:avLst>
              <a:gd name="adj" fmla="val 8000"/>
            </a:avLst>
          </a:prstGeom>
          <a:solidFill>
            <a:srgbClr val="FCE8C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931920" y="48280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6F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89%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931920" y="5120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1554480"/>
            <a:ext cx="5806440" cy="3886200"/>
          </a:xfrm>
          <a:prstGeom prst="roundRect">
            <a:avLst>
              <a:gd name="adj" fmla="val 1882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172200" y="17830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Why DE Still Leads Despite a Higher CPC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172200" y="23774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DE’s Local Language CPC (£0.37) is more than double FR’s (£0.14) — the market where FR and DE both run EN and LL side by side. Even so, DE remains the larger revenue driver: its AOV and conversion rate run nearly double FR’s, more than offsetting the higher click cost.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72200" y="3931920"/>
            <a:ext cx="53035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172200" y="4114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5A5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Read-across: lower CPC alone doesn’t decide which market leads — AOV and conversion rate matter just as much when prioritising LL budget.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FeedSpark · Private &amp; Confidential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D6F0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SPEND HEALTH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 Share Is Keeping Pace With Cost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760720" cy="41605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Market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Revenue vs. cost share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Status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Level with cost share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Balanced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FR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Level with cost share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Balanced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NL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Level with cost share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Balanced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PL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Revenue share ahead of cost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Ahead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GR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Revenue share ahead of cost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Ahead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RO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Revenue share ahead of cost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5A62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Ahead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AT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Revenue share trailing cost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D6F0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Watch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DK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Revenue share trailing cost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D6F0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Watch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SA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Revenue share trailing cost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ED6F0B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Watch</a:t>
                      </a:r>
                      <a:endParaRPr lang="en-US" sz="115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3716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5F5F5"/>
          </a:solidFill>
          <a:ln w="12700">
            <a:solidFill>
              <a:srgbClr val="E6E6E6"/>
            </a:solidFill>
            <a:prstDash val="solid"/>
          </a:ln>
          <a:effectLst>
            <a:outerShdw blurRad="762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0020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0" y="15727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766560" y="2286000"/>
            <a:ext cx="4617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Pause or reassess LL spend in DK, SE and SA — consistently under the 1.5x NPV target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Give PL time to recover post surge-testing before making a call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Reinvest freed budget into DE, NL and UAE — the highest-NPV markets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Expand BE beyond French-only to Dutch LL — Dutch is more widely spoken (56% vs 38%) and BE’s LL activity is currently held back to one language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FeedSpark · Private &amp; Confidential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533</Words>
  <Application>Microsoft Office PowerPoint</Application>
  <PresentationFormat>Widescreen</PresentationFormat>
  <Paragraphs>90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Ray Vu</cp:lastModifiedBy>
  <cp:revision>1</cp:revision>
  <dcterms:created xsi:type="dcterms:W3CDTF">2026-07-17T13:37:44Z</dcterms:created>
  <dcterms:modified xsi:type="dcterms:W3CDTF">2026-07-17T14:00:29Z</dcterms:modified>
</cp:coreProperties>
</file>